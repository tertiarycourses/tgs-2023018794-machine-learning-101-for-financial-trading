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685800"/>
            <a:ext cx="822960" cy="822960"/>
          </a:xfrm>
          <a:prstGeom prst="ellipse">
            <a:avLst/>
          </a:prstGeom>
          <a:solidFill>
            <a:srgbClr val="0F2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85800"/>
            <a:ext cx="822960" cy="822960"/>
          </a:xfrm>
          <a:prstGeom prst="rect">
            <a:avLst/>
          </a:prstGeom>
          <a:noFill/>
        </p:spPr>
        <p:txBody>
          <a:bodyPr wrap="square" anchor="ctr">
            <a:spAutoFit/>
          </a:bodyPr>
          <a:lstStyle/>
          <a:p>
            <a:pPr algn="ctr">
              <a:spcAft>
                <a:spcPts val="400"/>
              </a:spcAft>
            </a:pPr>
            <a:r>
              <a:rPr sz="3400" b="1">
                <a:solidFill>
                  <a:srgbClr val="FFFFFF"/>
                </a:solidFill>
                <a:latin typeface="Arial"/>
              </a:rPr>
              <a:t>T</a:t>
            </a:r>
          </a:p>
        </p:txBody>
      </p:sp>
      <p:sp>
        <p:nvSpPr>
          <p:cNvPr id="7" name="TextBox 6"/>
          <p:cNvSpPr txBox="1"/>
          <p:nvPr/>
        </p:nvSpPr>
        <p:spPr>
          <a:xfrm>
            <a:off x="731520" y="1874519"/>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TRAINER SLIDES  ·  IBF-STS ACCREDITED</a:t>
            </a:r>
          </a:p>
        </p:txBody>
      </p:sp>
      <p:sp>
        <p:nvSpPr>
          <p:cNvPr id="8" name="TextBox 7"/>
          <p:cNvSpPr txBox="1"/>
          <p:nvPr/>
        </p:nvSpPr>
        <p:spPr>
          <a:xfrm>
            <a:off x="731520" y="2331720"/>
            <a:ext cx="10607040" cy="1097280"/>
          </a:xfrm>
          <a:prstGeom prst="rect">
            <a:avLst/>
          </a:prstGeom>
          <a:noFill/>
        </p:spPr>
        <p:txBody>
          <a:bodyPr wrap="square" anchor="t">
            <a:spAutoFit/>
          </a:bodyPr>
          <a:lstStyle/>
          <a:p>
            <a:pPr algn="l">
              <a:spcAft>
                <a:spcPts val="400"/>
              </a:spcAft>
            </a:pPr>
            <a:r>
              <a:rPr sz="3400" b="1">
                <a:solidFill>
                  <a:srgbClr val="161B26"/>
                </a:solidFill>
                <a:latin typeface="Arial"/>
              </a:rPr>
              <a:t>Machine Learning 101 for Financial Trading</a:t>
            </a:r>
          </a:p>
        </p:txBody>
      </p:sp>
      <p:sp>
        <p:nvSpPr>
          <p:cNvPr id="9" name="Rectangle 8"/>
          <p:cNvSpPr/>
          <p:nvPr/>
        </p:nvSpPr>
        <p:spPr>
          <a:xfrm>
            <a:off x="731520" y="3611880"/>
            <a:ext cx="201168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886200"/>
            <a:ext cx="10607040" cy="1371600"/>
          </a:xfrm>
          <a:prstGeom prst="rect">
            <a:avLst/>
          </a:prstGeom>
          <a:noFill/>
        </p:spPr>
        <p:txBody>
          <a:bodyPr wrap="square" anchor="t">
            <a:spAutoFit/>
          </a:bodyPr>
          <a:lstStyle/>
          <a:p>
            <a:pPr algn="l">
              <a:spcAft>
                <a:spcPts val="700"/>
              </a:spcAft>
            </a:pPr>
            <a:r>
              <a:rPr sz="1500" b="0">
                <a:solidFill>
                  <a:srgbClr val="5B6372"/>
                </a:solidFill>
                <a:latin typeface="Arial"/>
              </a:rPr>
              <a:t>FSE-DAT-3019-1.1  ·  Data Analytics and Computational Modelling  ·  Proficiency Level 3</a:t>
            </a:r>
          </a:p>
          <a:p>
            <a:pPr algn="l">
              <a:spcAft>
                <a:spcPts val="700"/>
              </a:spcAft>
            </a:pPr>
            <a:r>
              <a:rPr sz="1500" b="0">
                <a:solidFill>
                  <a:srgbClr val="5B6372"/>
                </a:solidFill>
                <a:latin typeface="Arial"/>
              </a:rPr>
              <a:t>Conducted by Tertiary Infotech Academy Pte Ltd  ·  UEN 201200696W</a:t>
            </a:r>
          </a:p>
          <a:p>
            <a:pPr algn="l">
              <a:spcAft>
                <a:spcPts val="700"/>
              </a:spcAft>
            </a:pPr>
            <a:r>
              <a:rPr sz="1400" b="1">
                <a:solidFill>
                  <a:srgbClr val="1F6FEB"/>
                </a:solidFill>
                <a:latin typeface="Arial"/>
              </a:rPr>
              <a:t>Version 2.4  ·  22 October 2026</a:t>
            </a:r>
          </a:p>
        </p:txBody>
      </p:sp>
      <p:sp>
        <p:nvSpPr>
          <p:cNvPr id="11" name="TextBox 10"/>
          <p:cNvSpPr txBox="1"/>
          <p:nvPr/>
        </p:nvSpPr>
        <p:spPr>
          <a:xfrm>
            <a:off x="731520" y="5943600"/>
            <a:ext cx="10607040" cy="365760"/>
          </a:xfrm>
          <a:prstGeom prst="rect">
            <a:avLst/>
          </a:prstGeom>
          <a:noFill/>
        </p:spPr>
        <p:txBody>
          <a:bodyPr wrap="square" anchor="t">
            <a:spAutoFit/>
          </a:bodyPr>
          <a:lstStyle/>
          <a:p>
            <a:pPr algn="l">
              <a:spcAft>
                <a:spcPts val="400"/>
              </a:spcAft>
            </a:pPr>
            <a:r>
              <a:rPr sz="1000" b="0">
                <a:solidFill>
                  <a:srgbClr val="5B6372"/>
                </a:solidFill>
                <a:latin typeface="Arial"/>
              </a:rPr>
              <a:t>© Tertiary Infotech Academy Pte Ltd. All rights reserved.  ·  www.tertiarycourses.com.sg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ATTENDANCE · IBF-STS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Attendance and IBF-STS Funding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Sign in every session</a:t>
            </a:r>
          </a:p>
          <a:p>
            <a:pPr algn="l">
              <a:spcAft>
                <a:spcPts val="300"/>
              </a:spcAft>
            </a:pPr>
            <a:r>
              <a:rPr sz="1300" b="0">
                <a:solidFill>
                  <a:srgbClr val="5B6372"/>
                </a:solidFill>
                <a:latin typeface="Arial"/>
              </a:rPr>
              <a:t>Mark attendance at the start of each session and after lunch.</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attendance</a:t>
            </a:r>
          </a:p>
          <a:p>
            <a:pPr algn="l">
              <a:spcAft>
                <a:spcPts val="300"/>
              </a:spcAft>
            </a:pPr>
            <a:r>
              <a:rPr sz="1300" b="0">
                <a:solidFill>
                  <a:srgbClr val="5B6372"/>
                </a:solidFill>
                <a:latin typeface="Arial"/>
              </a:rPr>
              <a:t>IBF-STS funding requires at least 75% attendance.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Pass the assessment</a:t>
            </a:r>
          </a:p>
          <a:p>
            <a:pPr algn="l">
              <a:spcAft>
                <a:spcPts val="300"/>
              </a:spcAft>
            </a:pPr>
            <a:r>
              <a:rPr sz="1300" b="0">
                <a:solidFill>
                  <a:srgbClr val="5B6372"/>
                </a:solidFill>
                <a:latin typeface="Arial"/>
              </a:rPr>
              <a:t>Funding also requires passing both assessment components.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Assessment attendance</a:t>
            </a:r>
          </a:p>
          <a:p>
            <a:pPr algn="l">
              <a:spcAft>
                <a:spcPts val="300"/>
              </a:spcAft>
            </a:pPr>
            <a:r>
              <a:rPr sz="1300" b="0">
                <a:solidFill>
                  <a:srgbClr val="5B6372"/>
                </a:solidFill>
                <a:latin typeface="Arial"/>
              </a:rPr>
              <a:t>A separate record is signed before the assessment begins.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________________________</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Complete this panel with your own details before delivery.</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Course Developer · Trainer · Assessor for this IBF-STS programme.</a:t>
            </a:r>
          </a:p>
        </p:txBody>
      </p:sp>
      <p:sp>
        <p:nvSpPr>
          <p:cNvPr id="13" name="Rectangle 12"/>
          <p:cNvSpPr/>
          <p:nvPr/>
        </p:nvSpPr>
        <p:spPr>
          <a:xfrm>
            <a:off x="4480560" y="1783080"/>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713232"/>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300" b="0">
                <a:solidFill>
                  <a:srgbClr val="161B26"/>
                </a:solidFill>
                <a:latin typeface="Arial"/>
              </a:rPr>
              <a:t>Course Developer, Trainer and Assessor</a:t>
            </a:r>
          </a:p>
        </p:txBody>
      </p:sp>
      <p:sp>
        <p:nvSpPr>
          <p:cNvPr id="16" name="Rectangle 15"/>
          <p:cNvSpPr/>
          <p:nvPr/>
        </p:nvSpPr>
        <p:spPr>
          <a:xfrm>
            <a:off x="4480560" y="2679192"/>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679192"/>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679192"/>
            <a:ext cx="6400800" cy="713232"/>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300" b="0">
                <a:solidFill>
                  <a:srgbClr val="161B26"/>
                </a:solidFill>
                <a:latin typeface="Arial"/>
              </a:rPr>
              <a:t>ACTA · DACE · PhD</a:t>
            </a:r>
          </a:p>
        </p:txBody>
      </p:sp>
      <p:sp>
        <p:nvSpPr>
          <p:cNvPr id="19" name="Rectangle 18"/>
          <p:cNvSpPr/>
          <p:nvPr/>
        </p:nvSpPr>
        <p:spPr>
          <a:xfrm>
            <a:off x="4480560" y="3575304"/>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575304"/>
            <a:ext cx="91440"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575304"/>
            <a:ext cx="6400800" cy="713232"/>
          </a:xfrm>
          <a:prstGeom prst="rect">
            <a:avLst/>
          </a:prstGeom>
          <a:noFill/>
        </p:spPr>
        <p:txBody>
          <a:bodyPr wrap="square" anchor="ctr">
            <a:spAutoFit/>
          </a:bodyPr>
          <a:lstStyle/>
          <a:p>
            <a:pPr algn="l">
              <a:spcAft>
                <a:spcPts val="300"/>
              </a:spcAft>
            </a:pPr>
            <a:r>
              <a:rPr sz="1100" b="1">
                <a:solidFill>
                  <a:srgbClr val="7C3AED"/>
                </a:solidFill>
                <a:latin typeface="Arial"/>
              </a:rPr>
              <a:t>FINANCIAL SERVICES</a:t>
            </a:r>
          </a:p>
          <a:p>
            <a:pPr algn="l">
              <a:spcAft>
                <a:spcPts val="300"/>
              </a:spcAft>
            </a:pPr>
            <a:r>
              <a:rPr sz="1300" b="0">
                <a:solidFill>
                  <a:srgbClr val="161B26"/>
                </a:solidFill>
                <a:latin typeface="Arial"/>
              </a:rPr>
              <a:t>IBF-STS programmes in AI, algorithmic trading and fintech</a:t>
            </a:r>
          </a:p>
        </p:txBody>
      </p:sp>
      <p:sp>
        <p:nvSpPr>
          <p:cNvPr id="22" name="Rectangle 21"/>
          <p:cNvSpPr/>
          <p:nvPr/>
        </p:nvSpPr>
        <p:spPr>
          <a:xfrm>
            <a:off x="4480560" y="4471416"/>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471416"/>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471416"/>
            <a:ext cx="6400800" cy="713232"/>
          </a:xfrm>
          <a:prstGeom prst="rect">
            <a:avLst/>
          </a:prstGeom>
          <a:noFill/>
        </p:spPr>
        <p:txBody>
          <a:bodyPr wrap="square" anchor="ctr">
            <a:spAutoFit/>
          </a:bodyPr>
          <a:lstStyle/>
          <a:p>
            <a:pPr algn="l">
              <a:spcAft>
                <a:spcPts val="300"/>
              </a:spcAft>
            </a:pPr>
            <a:r>
              <a:rPr sz="1100" b="1">
                <a:solidFill>
                  <a:srgbClr val="F59E0B"/>
                </a:solidFill>
                <a:latin typeface="Arial"/>
              </a:rPr>
              <a:t>DELIVERS</a:t>
            </a:r>
          </a:p>
          <a:p>
            <a:pPr algn="l">
              <a:spcAft>
                <a:spcPts val="300"/>
              </a:spcAft>
            </a:pPr>
            <a:r>
              <a:rPr sz="1300" b="0">
                <a:solidFill>
                  <a:srgbClr val="161B26"/>
                </a:solidFill>
                <a:latin typeface="Arial"/>
              </a:rPr>
              <a:t>AI, machine learning and data programmes for financial institutions</a:t>
            </a:r>
          </a:p>
        </p:txBody>
      </p:sp>
      <p:sp>
        <p:nvSpPr>
          <p:cNvPr id="25" name="Rectangle 24"/>
          <p:cNvSpPr/>
          <p:nvPr/>
        </p:nvSpPr>
        <p:spPr>
          <a:xfrm>
            <a:off x="4480560" y="5367528"/>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5367528"/>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5367528"/>
            <a:ext cx="6400800" cy="713232"/>
          </a:xfrm>
          <a:prstGeom prst="rect">
            <a:avLst/>
          </a:prstGeom>
          <a:noFill/>
        </p:spPr>
        <p:txBody>
          <a:bodyPr wrap="square" anchor="ctr">
            <a:spAutoFit/>
          </a:bodyPr>
          <a:lstStyle/>
          <a:p>
            <a:pPr algn="l">
              <a:spcAft>
                <a:spcPts val="300"/>
              </a:spcAft>
            </a:pPr>
            <a:r>
              <a:rPr sz="1100" b="1">
                <a:solidFill>
                  <a:srgbClr val="1F6FEB"/>
                </a:solidFill>
                <a:latin typeface="Arial"/>
              </a:rPr>
              <a:t>FOUNDER</a:t>
            </a:r>
          </a:p>
          <a:p>
            <a:pPr algn="l">
              <a:spcAft>
                <a:spcPts val="300"/>
              </a:spcAft>
            </a:pPr>
            <a:r>
              <a:rPr sz="1300" b="0">
                <a:solidFill>
                  <a:srgbClr val="161B26"/>
                </a:solidFill>
                <a:latin typeface="Arial"/>
              </a:rPr>
              <a:t>Tertiary Infotech Academy Pte Ltd</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74519"/>
            <a:ext cx="10515600" cy="4297680"/>
          </a:xfrm>
          <a:prstGeom prst="rect">
            <a:avLst/>
          </a:prstGeom>
          <a:noFill/>
        </p:spPr>
        <p:txBody>
          <a:bodyPr wrap="square">
            <a:spAutoFit/>
          </a:bodyPr>
          <a:lstStyle/>
          <a:p>
            <a:pPr>
              <a:spcAft>
                <a:spcPts val="1000"/>
              </a:spcAft>
            </a:pPr>
            <a:r>
              <a:rPr sz="1700">
                <a:solidFill>
                  <a:srgbClr val="161B26"/>
                </a:solidFill>
                <a:latin typeface="Arial"/>
              </a:rPr>
              <a:t>•  Your name, your institution and your role.</a:t>
            </a:r>
          </a:p>
          <a:p>
            <a:pPr>
              <a:spcAft>
                <a:spcPts val="1000"/>
              </a:spcAft>
            </a:pPr>
            <a:r>
              <a:rPr sz="1700">
                <a:solidFill>
                  <a:srgbClr val="161B26"/>
                </a:solidFill>
                <a:latin typeface="Arial"/>
              </a:rPr>
              <a:t>•  Do you trade, invest, analyse or build systems for markets today?</a:t>
            </a:r>
          </a:p>
          <a:p>
            <a:pPr>
              <a:spcAft>
                <a:spcPts val="1000"/>
              </a:spcAft>
            </a:pPr>
            <a:r>
              <a:rPr sz="1700">
                <a:solidFill>
                  <a:srgbClr val="161B26"/>
                </a:solidFill>
                <a:latin typeface="Arial"/>
              </a:rPr>
              <a:t>•  Have you used TradingView, a broker API or Python before?</a:t>
            </a:r>
          </a:p>
          <a:p>
            <a:pPr>
              <a:spcAft>
                <a:spcPts val="1000"/>
              </a:spcAft>
            </a:pPr>
            <a:r>
              <a:rPr sz="1700">
                <a:solidFill>
                  <a:srgbClr val="161B26"/>
                </a:solidFill>
                <a:latin typeface="Arial"/>
              </a:rPr>
              <a:t>•  One trading rule you believe works — we will test it this week.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Be on time</a:t>
            </a:r>
          </a:p>
          <a:p>
            <a:pPr algn="l">
              <a:spcAft>
                <a:spcPts val="300"/>
              </a:spcAft>
            </a:pPr>
            <a:r>
              <a:rPr sz="1300" b="0">
                <a:solidFill>
                  <a:srgbClr val="5B6372"/>
                </a:solidFill>
                <a:latin typeface="Arial"/>
              </a:rPr>
              <a:t>Sessions restart promptly after each break.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Phones on silent</a:t>
            </a:r>
          </a:p>
          <a:p>
            <a:pPr algn="l">
              <a:spcAft>
                <a:spcPts val="300"/>
              </a:spcAft>
            </a:pPr>
            <a:r>
              <a:rPr sz="1300" b="0">
                <a:solidFill>
                  <a:srgbClr val="5B6372"/>
                </a:solidFill>
                <a:latin typeface="Arial"/>
              </a:rPr>
              <a:t>Take calls outside the room.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Ask as we go</a:t>
            </a:r>
          </a:p>
          <a:p>
            <a:pPr algn="l">
              <a:spcAft>
                <a:spcPts val="300"/>
              </a:spcAft>
            </a:pPr>
            <a:r>
              <a:rPr sz="1300" b="0">
                <a:solidFill>
                  <a:srgbClr val="5B6372"/>
                </a:solidFill>
                <a:latin typeface="Arial"/>
              </a:rPr>
              <a:t>Questions are welcome at any point.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Hands on the keyboard</a:t>
            </a:r>
          </a:p>
          <a:p>
            <a:pPr algn="l">
              <a:spcAft>
                <a:spcPts val="300"/>
              </a:spcAft>
            </a:pPr>
            <a:r>
              <a:rPr sz="1300" b="0">
                <a:solidFill>
                  <a:srgbClr val="5B6372"/>
                </a:solidFill>
                <a:latin typeface="Arial"/>
              </a:rPr>
              <a:t>Twenty labs — follow along on your own laptop.</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Paper trading only</a:t>
            </a:r>
          </a:p>
          <a:p>
            <a:pPr algn="l">
              <a:spcAft>
                <a:spcPts val="300"/>
              </a:spcAft>
            </a:pPr>
            <a:r>
              <a:rPr sz="1300" b="0">
                <a:solidFill>
                  <a:srgbClr val="5B6372"/>
                </a:solidFill>
                <a:latin typeface="Arial"/>
              </a:rPr>
              <a:t>No real money is used anywhere in this course.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Not investment advice</a:t>
            </a:r>
          </a:p>
          <a:p>
            <a:pPr algn="l">
              <a:spcAft>
                <a:spcPts val="300"/>
              </a:spcAft>
            </a:pPr>
            <a:r>
              <a:rPr sz="1300" b="0">
                <a:solidFill>
                  <a:srgbClr val="5B6372"/>
                </a:solidFill>
                <a:latin typeface="Arial"/>
              </a:rPr>
              <a:t>Lion City Capital and all scenarios are fictitious.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Login to TMS and 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ms-tms-portal.png"/>
          <p:cNvPicPr>
            <a:picLocks noChangeAspect="1"/>
          </p:cNvPicPr>
          <p:nvPr/>
        </p:nvPicPr>
        <p:blipFill>
          <a:blip r:embed="rId2"/>
          <a:stretch>
            <a:fillRect/>
          </a:stretch>
        </p:blipFill>
        <p:spPr>
          <a:xfrm>
            <a:off x="2557716" y="2057400"/>
            <a:ext cx="7076261" cy="3520440"/>
          </a:xfrm>
          <a:prstGeom prst="rect">
            <a:avLst/>
          </a:prstGeom>
        </p:spPr>
      </p:pic>
      <p:sp>
        <p:nvSpPr>
          <p:cNvPr id="8" name="Rectangle 7"/>
          <p:cNvSpPr/>
          <p:nvPr/>
        </p:nvSpPr>
        <p:spPr>
          <a:xfrm>
            <a:off x="2546744" y="2046427"/>
            <a:ext cx="7098206"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24144"/>
            <a:ext cx="9144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Log in at lms-tms.tertiaryinfotech.com with your registered email + the OTP from your inbox, then download the slides, Learner Guide and labs.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 · STEPS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4343"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1" name="TextBox 10"/>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Go to lms-tms. tertiaryinfotech.com</a:t>
            </a:r>
          </a:p>
        </p:txBody>
      </p:sp>
      <p:sp>
        <p:nvSpPr>
          <p:cNvPr id="12" name="TextBox 11"/>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13" name="Rectangle 12"/>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6101"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7" name="TextBox 16"/>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Enter your registered email and click Send OTP</a:t>
            </a:r>
          </a:p>
        </p:txBody>
      </p:sp>
      <p:sp>
        <p:nvSpPr>
          <p:cNvPr id="18" name="TextBox 17"/>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19" name="Rectangle 18"/>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37859"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3" name="TextBox 22"/>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Key in the one-time password from your inbox</a:t>
            </a:r>
          </a:p>
        </p:txBody>
      </p:sp>
      <p:sp>
        <p:nvSpPr>
          <p:cNvPr id="24" name="TextBox 23"/>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5" name="Rectangle 24"/>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22514"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19617"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29" name="TextBox 28"/>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Open this course: download the Learner Slides + Learner Guide PDFs</a:t>
            </a:r>
          </a:p>
        </p:txBody>
      </p:sp>
      <p:sp>
        <p:nvSpPr>
          <p:cNvPr id="30" name="TextBox 29"/>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31" name="Rectangle 30"/>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04272" y="2240280"/>
            <a:ext cx="190743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01375"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5" name="TextBox 34"/>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Activities / Lab: download the labs folder (lab manuals)</a:t>
            </a:r>
          </a:p>
        </p:txBody>
      </p:sp>
      <p:sp>
        <p:nvSpPr>
          <p:cNvPr id="36" name="Rectangle 3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Keep the Learner Guide open all course — the assessment is open book.</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COURSE PORTAL · GITHUB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Download the Labs and Simulator (GitHub)</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5180076"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518007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4741164" cy="548640"/>
          </a:xfrm>
          <a:prstGeom prst="rect">
            <a:avLst/>
          </a:prstGeom>
          <a:noFill/>
        </p:spPr>
        <p:txBody>
          <a:bodyPr wrap="square" anchor="t">
            <a:spAutoFit/>
          </a:bodyPr>
          <a:lstStyle/>
          <a:p>
            <a:pPr algn="l">
              <a:spcAft>
                <a:spcPts val="400"/>
              </a:spcAft>
            </a:pPr>
            <a:r>
              <a:rPr sz="1600" b="1">
                <a:solidFill>
                  <a:srgbClr val="1F6FEB"/>
                </a:solidFill>
                <a:latin typeface="Arial"/>
              </a:rPr>
              <a:t>Course repository</a:t>
            </a:r>
          </a:p>
        </p:txBody>
      </p:sp>
      <p:sp>
        <p:nvSpPr>
          <p:cNvPr id="10" name="TextBox 9"/>
          <p:cNvSpPr txBox="1"/>
          <p:nvPr/>
        </p:nvSpPr>
        <p:spPr>
          <a:xfrm>
            <a:off x="996696"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github.com/tertiarycourses/TGS-2023018794-Machine-Learning-101-for-Financial-Trading
Learner Guide, Learner Slides, Lesson Plan and the 20 lab instruction PDFs.
Code &gt; Download ZIP.</a:t>
            </a:r>
          </a:p>
        </p:txBody>
      </p:sp>
      <p:sp>
        <p:nvSpPr>
          <p:cNvPr id="11" name="Rectangle 10"/>
          <p:cNvSpPr/>
          <p:nvPr/>
        </p:nvSpPr>
        <p:spPr>
          <a:xfrm>
            <a:off x="6231636" y="1965960"/>
            <a:ext cx="5180076"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965960"/>
            <a:ext cx="518007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1092" y="2331720"/>
            <a:ext cx="4741164" cy="548640"/>
          </a:xfrm>
          <a:prstGeom prst="rect">
            <a:avLst/>
          </a:prstGeom>
          <a:noFill/>
        </p:spPr>
        <p:txBody>
          <a:bodyPr wrap="square" anchor="t">
            <a:spAutoFit/>
          </a:bodyPr>
          <a:lstStyle/>
          <a:p>
            <a:pPr algn="l">
              <a:spcAft>
                <a:spcPts val="400"/>
              </a:spcAft>
            </a:pPr>
            <a:r>
              <a:rPr sz="1600" b="1">
                <a:solidFill>
                  <a:srgbClr val="10B981"/>
                </a:solidFill>
                <a:latin typeface="Arial"/>
              </a:rPr>
              <a:t>Trading simulator software</a:t>
            </a:r>
          </a:p>
        </p:txBody>
      </p:sp>
      <p:sp>
        <p:nvSpPr>
          <p:cNvPr id="14" name="TextBox 13"/>
          <p:cNvSpPr txBox="1"/>
          <p:nvPr/>
        </p:nvSpPr>
        <p:spPr>
          <a:xfrm>
            <a:off x="6451092"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github.com/alfredang/algorithmic-trader-bot
The quant / algo trading simulator the labs run in: backtest, forward test, paper trading, analytics.
Install steps: next section and the Learner Guide.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You'll Achieve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LO1  ·  A1, A6</a:t>
            </a:r>
          </a:p>
          <a:p>
            <a:pPr algn="l">
              <a:spcAft>
                <a:spcPts val="300"/>
              </a:spcAft>
            </a:pPr>
            <a:r>
              <a:rPr sz="1000" b="0">
                <a:solidFill>
                  <a:srgbClr val="5B6372"/>
                </a:solidFill>
                <a:latin typeface="Arial"/>
              </a:rPr>
              <a:t>Develop hypotheses for implementing data analytics and computational modelling activities in algorithmic trading, and identify possible big data applications across the forms of data within financial services.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LO2  ·  A2, A3</a:t>
            </a:r>
          </a:p>
          <a:p>
            <a:pPr algn="l">
              <a:spcAft>
                <a:spcPts val="300"/>
              </a:spcAft>
            </a:pPr>
            <a:r>
              <a:rPr sz="1000" b="0">
                <a:solidFill>
                  <a:srgbClr val="5B6372"/>
                </a:solidFill>
                <a:latin typeface="Arial"/>
              </a:rPr>
              <a:t>Identify appropriate statistical algorithms and data models to test trading hypotheses, and use appropriate analytics platforms, analytical tools and statistical methods given specific analytics and reporting requirements.</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LO3  ·  A4, A5</a:t>
            </a:r>
          </a:p>
          <a:p>
            <a:pPr algn="l">
              <a:spcAft>
                <a:spcPts val="300"/>
              </a:spcAft>
            </a:pPr>
            <a:r>
              <a:rPr sz="1000" b="0">
                <a:solidFill>
                  <a:srgbClr val="5B6372"/>
                </a:solidFill>
                <a:latin typeface="Arial"/>
              </a:rPr>
              <a:t>Conduct statistical modelling of market data with machine learning models to derive patterns and solutions, and perform A/B testing of trading strategies based on different hypotheses.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LO4  ·  A7, A8, A9, A10</a:t>
            </a:r>
          </a:p>
          <a:p>
            <a:pPr algn="l">
              <a:spcAft>
                <a:spcPts val="300"/>
              </a:spcAft>
            </a:pPr>
            <a:r>
              <a:rPr sz="1000" b="0">
                <a:solidFill>
                  <a:srgbClr val="5B6372"/>
                </a:solidFill>
                <a:latin typeface="Arial"/>
              </a:rPr>
              <a:t>Perform coding and configuration of an automated trading program based on selected models or algorithms, conduct tests on its actions and outcomes, diagnose unintended outcomes, and draw insights from the results to support decisions and report accordingly.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COURSE JOURNEY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Course Journey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Topic 1 — Quant and Algo Trading Foundations</a:t>
            </a:r>
          </a:p>
          <a:p>
            <a:pPr algn="l">
              <a:spcAft>
                <a:spcPts val="300"/>
              </a:spcAft>
            </a:pPr>
            <a:r>
              <a:rPr sz="1100" b="0">
                <a:solidFill>
                  <a:srgbClr val="5B6372"/>
                </a:solidFill>
                <a:latin typeface="Arial"/>
              </a:rPr>
              <a:t>Day 1  ·  Labs 1–4  ·  A1, A6, K1, K9  ·  Foundations of Quant and Algorithmic Trading: From Thorp to AI Agents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Topic 2 — Indicators, Strategies and Metrics</a:t>
            </a:r>
          </a:p>
          <a:p>
            <a:pPr algn="l">
              <a:spcAft>
                <a:spcPts val="300"/>
              </a:spcAft>
            </a:pPr>
            <a:r>
              <a:rPr sz="1100" b="0">
                <a:solidFill>
                  <a:srgbClr val="5B6372"/>
                </a:solidFill>
                <a:latin typeface="Arial"/>
              </a:rPr>
              <a:t>Day 1  ·  Labs 5–9  ·  A2, A3, K3, K5, K7  ·  Technical Indicators, Trading Strategies and Metrics with TradingView and Alpaca</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Topic 3 — ML Models and A/B Testing</a:t>
            </a:r>
          </a:p>
          <a:p>
            <a:pPr algn="l">
              <a:spcAft>
                <a:spcPts val="300"/>
              </a:spcAft>
            </a:pPr>
            <a:r>
              <a:rPr sz="1100" b="0">
                <a:solidFill>
                  <a:srgbClr val="5B6372"/>
                </a:solidFill>
                <a:latin typeface="Arial"/>
              </a:rPr>
              <a:t>Day 2  ·  Labs 10–14  ·  A4, A5, K2, K4, K6  ·  Machine Learning Models, Statistical Modelling and A/B Testing for Trading Signals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Topic 4 — End-to-End Trading Pipeline</a:t>
            </a:r>
          </a:p>
          <a:p>
            <a:pPr algn="l">
              <a:spcAft>
                <a:spcPts val="300"/>
              </a:spcAft>
            </a:pPr>
            <a:r>
              <a:rPr sz="1100" b="0">
                <a:solidFill>
                  <a:srgbClr val="5B6372"/>
                </a:solidFill>
                <a:latin typeface="Arial"/>
              </a:rPr>
              <a:t>Day 2  ·  Labs 15–20  ·  A7, A8, A9, A10, K7, K8  ·  Building an End-to-End Algorithmic Trading Pipeline: Backtest, Forward Test and Performance Analysis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920240"/>
            <a:ext cx="9692640" cy="365760"/>
          </a:xfrm>
          <a:prstGeom prst="rect">
            <a:avLst/>
          </a:prstGeom>
          <a:noFill/>
        </p:spPr>
        <p:txBody>
          <a:bodyPr wrap="square" anchor="t">
            <a:spAutoFit/>
          </a:bodyPr>
          <a:lstStyle/>
          <a:p>
            <a:pPr algn="l">
              <a:spcAft>
                <a:spcPts val="400"/>
              </a:spcAft>
            </a:pPr>
            <a:r>
              <a:rPr sz="1400" b="1">
                <a:solidFill>
                  <a:srgbClr val="10B981"/>
                </a:solidFill>
                <a:latin typeface="Arial"/>
              </a:rPr>
              <a:t>THE PARADIGM SHIFT · HOW THIS COURSE WORKS</a:t>
            </a:r>
          </a:p>
        </p:txBody>
      </p:sp>
      <p:sp>
        <p:nvSpPr>
          <p:cNvPr id="5" name="TextBox 4"/>
          <p:cNvSpPr txBox="1"/>
          <p:nvPr/>
        </p:nvSpPr>
        <p:spPr>
          <a:xfrm>
            <a:off x="1188720" y="2377440"/>
            <a:ext cx="9692640" cy="1645920"/>
          </a:xfrm>
          <a:prstGeom prst="rect">
            <a:avLst/>
          </a:prstGeom>
          <a:noFill/>
        </p:spPr>
        <p:txBody>
          <a:bodyPr wrap="square" anchor="t">
            <a:spAutoFit/>
          </a:bodyPr>
          <a:lstStyle/>
          <a:p>
            <a:pPr algn="l">
              <a:spcAft>
                <a:spcPts val="400"/>
              </a:spcAft>
            </a:pPr>
            <a:r>
              <a:rPr sz="3400" b="1">
                <a:solidFill>
                  <a:srgbClr val="161B26"/>
                </a:solidFill>
                <a:latin typeface="Arial"/>
              </a:rPr>
              <a:t>Low code. You own the algorithm.</a:t>
            </a:r>
          </a:p>
        </p:txBody>
      </p:sp>
      <p:sp>
        <p:nvSpPr>
          <p:cNvPr id="6" name="TextBox 5"/>
          <p:cNvSpPr txBox="1"/>
          <p:nvPr/>
        </p:nvSpPr>
        <p:spPr>
          <a:xfrm>
            <a:off x="1188720" y="4206240"/>
            <a:ext cx="9692640" cy="1097280"/>
          </a:xfrm>
          <a:prstGeom prst="rect">
            <a:avLst/>
          </a:prstGeom>
          <a:noFill/>
        </p:spPr>
        <p:txBody>
          <a:bodyPr wrap="square" anchor="t">
            <a:spAutoFit/>
          </a:bodyPr>
          <a:lstStyle/>
          <a:p>
            <a:pPr algn="l">
              <a:spcAft>
                <a:spcPts val="400"/>
              </a:spcAft>
            </a:pPr>
            <a:r>
              <a:rPr sz="1600" b="0">
                <a:solidFill>
                  <a:srgbClr val="5B6372"/>
                </a:solidFill>
                <a:latin typeface="Arial"/>
              </a:rPr>
              <a:t>This is a low-code course. Every lab runs in the Trading Simulator: you set the hypothesis, choose and configure the algorithm, run the tests and judge the results, while the software does the programming. What matters is the big concepts: the hypothesis, how each algorithm makes its decision, how it is tested without bias and with costs, how risk is controlled, and how the results are judged.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PARADIGM SHIFT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Your Role versus the Software's Role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Your job: the hypothesis</a:t>
            </a:r>
          </a:p>
          <a:p>
            <a:pPr algn="l">
              <a:spcAft>
                <a:spcPts val="300"/>
              </a:spcAft>
            </a:pPr>
            <a:r>
              <a:rPr sz="1050" b="0">
                <a:solidFill>
                  <a:srgbClr val="5B6372"/>
                </a:solidFill>
                <a:latin typeface="Arial"/>
              </a:rPr>
              <a:t>What edge do you expect, why, and how will you know it is real?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Your job: the algorithm's logic</a:t>
            </a:r>
          </a:p>
          <a:p>
            <a:pPr algn="l">
              <a:spcAft>
                <a:spcPts val="300"/>
              </a:spcAft>
            </a:pPr>
            <a:r>
              <a:rPr sz="1050" b="0">
                <a:solidFill>
                  <a:srgbClr val="5B6372"/>
                </a:solidFill>
                <a:latin typeface="Arial"/>
              </a:rPr>
              <a:t>The rule or model, its inputs, and when it buys or sells.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Your job: testing and judgement</a:t>
            </a:r>
          </a:p>
          <a:p>
            <a:pPr algn="l">
              <a:spcAft>
                <a:spcPts val="300"/>
              </a:spcAft>
            </a:pPr>
            <a:r>
              <a:rPr sz="1050" b="0">
                <a:solidFill>
                  <a:srgbClr val="5B6372"/>
                </a:solidFill>
                <a:latin typeface="Arial"/>
              </a:rPr>
              <a:t>Out-of-sample, next-bar, net of costs; read the metrics.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Your job: risk and accountability</a:t>
            </a:r>
          </a:p>
          <a:p>
            <a:pPr algn="l">
              <a:spcAft>
                <a:spcPts val="300"/>
              </a:spcAft>
            </a:pPr>
            <a:r>
              <a:rPr sz="1050" b="0">
                <a:solidFill>
                  <a:srgbClr val="5B6372"/>
                </a:solidFill>
                <a:latin typeface="Arial"/>
              </a:rPr>
              <a:t>Limits, kill switch, approval - you answer for every trade.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The simulator's job: the code</a:t>
            </a:r>
          </a:p>
          <a:p>
            <a:pPr algn="l">
              <a:spcAft>
                <a:spcPts val="300"/>
              </a:spcAft>
            </a:pPr>
            <a:r>
              <a:rPr sz="1050" b="0">
                <a:solidFill>
                  <a:srgbClr val="5B6372"/>
                </a:solidFill>
                <a:latin typeface="Arial"/>
              </a:rPr>
              <a:t>It runs every stage - data, signals, backtests, paper orders and reports - from settings you choose.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450" b="1">
                <a:solidFill>
                  <a:srgbClr val="161B26"/>
                </a:solidFill>
                <a:latin typeface="Arial"/>
              </a:rPr>
              <a:t>The simulator's job: the drudgery</a:t>
            </a:r>
          </a:p>
          <a:p>
            <a:pPr algn="l">
              <a:spcAft>
                <a:spcPts val="300"/>
              </a:spcAft>
            </a:pPr>
            <a:r>
              <a:rPr sz="1050" b="0">
                <a:solidFill>
                  <a:srgbClr val="5B6372"/>
                </a:solidFill>
                <a:latin typeface="Arial"/>
              </a:rPr>
              <a:t>Data plumbing, charts, Pine Script export, reports - you review what it produces.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FSE-DAT-3019-1.1 · ABILITIES 1-5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TSC Alignment — Abilities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A1</a:t>
            </a:r>
          </a:p>
          <a:p>
            <a:pPr algn="l">
              <a:spcAft>
                <a:spcPts val="300"/>
              </a:spcAft>
            </a:pPr>
            <a:r>
              <a:rPr sz="1000" b="0">
                <a:solidFill>
                  <a:srgbClr val="5B6372"/>
                </a:solidFill>
                <a:latin typeface="Arial"/>
              </a:rPr>
              <a:t>Develop hypotheses for implementing data analytics and computational modelling activities</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A2</a:t>
            </a:r>
          </a:p>
          <a:p>
            <a:pPr algn="l">
              <a:spcAft>
                <a:spcPts val="300"/>
              </a:spcAft>
            </a:pPr>
            <a:r>
              <a:rPr sz="1000" b="0">
                <a:solidFill>
                  <a:srgbClr val="5B6372"/>
                </a:solidFill>
                <a:latin typeface="Arial"/>
              </a:rPr>
              <a:t>Identify appropriate statistical algorithms and data models to test hypotheses and/or theories</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A3</a:t>
            </a:r>
          </a:p>
          <a:p>
            <a:pPr algn="l">
              <a:spcAft>
                <a:spcPts val="300"/>
              </a:spcAft>
            </a:pPr>
            <a:r>
              <a:rPr sz="1000" b="0">
                <a:solidFill>
                  <a:srgbClr val="5B6372"/>
                </a:solidFill>
                <a:latin typeface="Arial"/>
              </a:rPr>
              <a:t>Use appropriate analytics platforms, analytical tools, statistical methods and analytical approaches given specific analytics and reporting requirements</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A4</a:t>
            </a:r>
          </a:p>
          <a:p>
            <a:pPr algn="l">
              <a:spcAft>
                <a:spcPts val="300"/>
              </a:spcAft>
            </a:pPr>
            <a:r>
              <a:rPr sz="1000" b="0">
                <a:solidFill>
                  <a:srgbClr val="5B6372"/>
                </a:solidFill>
                <a:latin typeface="Arial"/>
              </a:rPr>
              <a:t>Conduct statistical modelling of data to derive patterns and solutions</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A5</a:t>
            </a:r>
          </a:p>
          <a:p>
            <a:pPr algn="l">
              <a:spcAft>
                <a:spcPts val="300"/>
              </a:spcAft>
            </a:pPr>
            <a:r>
              <a:rPr sz="1000" b="0">
                <a:solidFill>
                  <a:srgbClr val="5B6372"/>
                </a:solidFill>
                <a:latin typeface="Arial"/>
              </a:rPr>
              <a:t>Perform A/B testing based on different hypotheses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FSE-DAT-3019-1.1 · ABILITIES 6-10</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TSC Alignment — Abilities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A6</a:t>
            </a:r>
          </a:p>
          <a:p>
            <a:pPr algn="l">
              <a:spcAft>
                <a:spcPts val="300"/>
              </a:spcAft>
            </a:pPr>
            <a:r>
              <a:rPr sz="1000" b="0">
                <a:solidFill>
                  <a:srgbClr val="5B6372"/>
                </a:solidFill>
                <a:latin typeface="Arial"/>
              </a:rPr>
              <a:t>Identify possible big data applications</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A7</a:t>
            </a:r>
          </a:p>
          <a:p>
            <a:pPr algn="l">
              <a:spcAft>
                <a:spcPts val="300"/>
              </a:spcAft>
            </a:pPr>
            <a:r>
              <a:rPr sz="1000" b="0">
                <a:solidFill>
                  <a:srgbClr val="5B6372"/>
                </a:solidFill>
                <a:latin typeface="Arial"/>
              </a:rPr>
              <a:t>Perform coding and configuration of software agents or programs based on selected models or algorithms</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A8</a:t>
            </a:r>
          </a:p>
          <a:p>
            <a:pPr algn="l">
              <a:spcAft>
                <a:spcPts val="300"/>
              </a:spcAft>
            </a:pPr>
            <a:r>
              <a:rPr sz="1000" b="0">
                <a:solidFill>
                  <a:srgbClr val="5B6372"/>
                </a:solidFill>
                <a:latin typeface="Arial"/>
              </a:rPr>
              <a:t>Conduct tests on the actions taken and outcomes to assess effectiveness of the models</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A9</a:t>
            </a:r>
          </a:p>
          <a:p>
            <a:pPr algn="l">
              <a:spcAft>
                <a:spcPts val="300"/>
              </a:spcAft>
            </a:pPr>
            <a:r>
              <a:rPr sz="1000" b="0">
                <a:solidFill>
                  <a:srgbClr val="5B6372"/>
                </a:solidFill>
                <a:latin typeface="Arial"/>
              </a:rPr>
              <a:t>Diagnose unintended outcomes produced by statistical models</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A10</a:t>
            </a:r>
          </a:p>
          <a:p>
            <a:pPr algn="l">
              <a:spcAft>
                <a:spcPts val="300"/>
              </a:spcAft>
            </a:pPr>
            <a:r>
              <a:rPr sz="1000" b="0">
                <a:solidFill>
                  <a:srgbClr val="5B6372"/>
                </a:solidFill>
                <a:latin typeface="Arial"/>
              </a:rPr>
              <a:t>Draw relevant trends and insights from data analysis to support decisions and report accordingly</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FSE-DAT-3019-1.1 · KNOWLEDGE 1-5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TSC Alignment — Knowledge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K1</a:t>
            </a:r>
          </a:p>
          <a:p>
            <a:pPr algn="l">
              <a:spcAft>
                <a:spcPts val="300"/>
              </a:spcAft>
            </a:pPr>
            <a:r>
              <a:rPr sz="1000" b="0">
                <a:solidFill>
                  <a:srgbClr val="5B6372"/>
                </a:solidFill>
                <a:latin typeface="Arial"/>
              </a:rPr>
              <a:t>Data analytics and modelling business use cases</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K2</a:t>
            </a:r>
          </a:p>
          <a:p>
            <a:pPr algn="l">
              <a:spcAft>
                <a:spcPts val="300"/>
              </a:spcAft>
            </a:pPr>
            <a:r>
              <a:rPr sz="1000" b="0">
                <a:solidFill>
                  <a:srgbClr val="5B6372"/>
                </a:solidFill>
                <a:latin typeface="Arial"/>
              </a:rPr>
              <a:t>Types of statistical analyses, data models, algorithms and advanced computational methods</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K3</a:t>
            </a:r>
          </a:p>
          <a:p>
            <a:pPr algn="l">
              <a:spcAft>
                <a:spcPts val="300"/>
              </a:spcAft>
            </a:pPr>
            <a:r>
              <a:rPr sz="1000" b="0">
                <a:solidFill>
                  <a:srgbClr val="5B6372"/>
                </a:solidFill>
                <a:latin typeface="Arial"/>
              </a:rPr>
              <a:t>Range and application of various statistical methods and algorithms</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K4</a:t>
            </a:r>
          </a:p>
          <a:p>
            <a:pPr algn="l">
              <a:spcAft>
                <a:spcPts val="300"/>
              </a:spcAft>
            </a:pPr>
            <a:r>
              <a:rPr sz="1000" b="0">
                <a:solidFill>
                  <a:srgbClr val="5B6372"/>
                </a:solidFill>
                <a:latin typeface="Arial"/>
              </a:rPr>
              <a:t>Range and application of various types of data models</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K5</a:t>
            </a:r>
          </a:p>
          <a:p>
            <a:pPr algn="l">
              <a:spcAft>
                <a:spcPts val="300"/>
              </a:spcAft>
            </a:pPr>
            <a:r>
              <a:rPr sz="1000" b="0">
                <a:solidFill>
                  <a:srgbClr val="5B6372"/>
                </a:solidFill>
                <a:latin typeface="Arial"/>
              </a:rPr>
              <a:t>Usage of analytics platforms and tools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FSE-DAT-3019-1.1 · KNOWLEDGE 6-9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TSC Alignment — Knowledge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K6</a:t>
            </a:r>
          </a:p>
          <a:p>
            <a:pPr algn="l">
              <a:spcAft>
                <a:spcPts val="300"/>
              </a:spcAft>
            </a:pPr>
            <a:r>
              <a:rPr sz="1000" b="0">
                <a:solidFill>
                  <a:srgbClr val="5B6372"/>
                </a:solidFill>
                <a:latin typeface="Arial"/>
              </a:rPr>
              <a:t>Statistical modelling techniques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K7</a:t>
            </a:r>
          </a:p>
          <a:p>
            <a:pPr algn="l">
              <a:spcAft>
                <a:spcPts val="300"/>
              </a:spcAft>
            </a:pPr>
            <a:r>
              <a:rPr sz="1000" b="0">
                <a:solidFill>
                  <a:srgbClr val="5B6372"/>
                </a:solidFill>
                <a:latin typeface="Arial"/>
              </a:rPr>
              <a:t>Coding languages for programming of algorithms and signals</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K8</a:t>
            </a:r>
          </a:p>
          <a:p>
            <a:pPr algn="l">
              <a:spcAft>
                <a:spcPts val="300"/>
              </a:spcAft>
            </a:pPr>
            <a:r>
              <a:rPr sz="1000" b="0">
                <a:solidFill>
                  <a:srgbClr val="5B6372"/>
                </a:solidFill>
                <a:latin typeface="Arial"/>
              </a:rPr>
              <a:t>Potential reasons for unintended outcomes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K9</a:t>
            </a:r>
          </a:p>
          <a:p>
            <a:pPr algn="l">
              <a:spcAft>
                <a:spcPts val="300"/>
              </a:spcAft>
            </a:pPr>
            <a:r>
              <a:rPr sz="1000" b="0">
                <a:solidFill>
                  <a:srgbClr val="5B6372"/>
                </a:solidFill>
                <a:latin typeface="Arial"/>
              </a:rPr>
              <a:t>Forms of data within financial services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Day 1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09:00 - 18:30  ·  8 instructional hours  ·  excluding 1-hour lunch and two tea breaks</a:t>
            </a:r>
          </a:p>
        </p:txBody>
      </p:sp>
      <p:sp>
        <p:nvSpPr>
          <p:cNvPr id="8" name="TextBox 7"/>
          <p:cNvSpPr txBox="1"/>
          <p:nvPr/>
        </p:nvSpPr>
        <p:spPr>
          <a:xfrm>
            <a:off x="822960" y="2011680"/>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09:00 - 09:30</a:t>
            </a:r>
          </a:p>
        </p:txBody>
      </p:sp>
      <p:sp>
        <p:nvSpPr>
          <p:cNvPr id="9" name="TextBox 8"/>
          <p:cNvSpPr txBox="1"/>
          <p:nvPr/>
        </p:nvSpPr>
        <p:spPr>
          <a:xfrm>
            <a:off x="2377440" y="2011680"/>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Course Overview, Trainer Introduction and Ground Rules</a:t>
            </a:r>
          </a:p>
        </p:txBody>
      </p:sp>
      <p:sp>
        <p:nvSpPr>
          <p:cNvPr id="10" name="TextBox 9"/>
          <p:cNvSpPr txBox="1"/>
          <p:nvPr/>
        </p:nvSpPr>
        <p:spPr>
          <a:xfrm>
            <a:off x="10287000" y="2011680"/>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11" name="TextBox 10"/>
          <p:cNvSpPr txBox="1"/>
          <p:nvPr/>
        </p:nvSpPr>
        <p:spPr>
          <a:xfrm>
            <a:off x="822960" y="2395728"/>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09:30 - 10:45</a:t>
            </a:r>
          </a:p>
        </p:txBody>
      </p:sp>
      <p:sp>
        <p:nvSpPr>
          <p:cNvPr id="12" name="TextBox 11"/>
          <p:cNvSpPr txBox="1"/>
          <p:nvPr/>
        </p:nvSpPr>
        <p:spPr>
          <a:xfrm>
            <a:off x="2377440" y="2395728"/>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T1.1-1.4 Quant Success Stories, the Evolution of Quant, the ML-to-LLM Shift, and Agentic AI versus AI Agents</a:t>
            </a:r>
          </a:p>
        </p:txBody>
      </p:sp>
      <p:sp>
        <p:nvSpPr>
          <p:cNvPr id="13" name="TextBox 12"/>
          <p:cNvSpPr txBox="1"/>
          <p:nvPr/>
        </p:nvSpPr>
        <p:spPr>
          <a:xfrm>
            <a:off x="10287000" y="2395728"/>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K1, K9</a:t>
            </a:r>
          </a:p>
        </p:txBody>
      </p:sp>
      <p:sp>
        <p:nvSpPr>
          <p:cNvPr id="14" name="Rectangle 13"/>
          <p:cNvSpPr/>
          <p:nvPr/>
        </p:nvSpPr>
        <p:spPr>
          <a:xfrm>
            <a:off x="777240" y="2779776"/>
            <a:ext cx="10634472" cy="3566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2779776"/>
            <a:ext cx="10241280" cy="356616"/>
          </a:xfrm>
          <a:prstGeom prst="rect">
            <a:avLst/>
          </a:prstGeom>
          <a:noFill/>
        </p:spPr>
        <p:txBody>
          <a:bodyPr wrap="square" anchor="ctr">
            <a:spAutoFit/>
          </a:bodyPr>
          <a:lstStyle/>
          <a:p>
            <a:pPr algn="l">
              <a:spcAft>
                <a:spcPts val="400"/>
              </a:spcAft>
            </a:pPr>
            <a:r>
              <a:rPr sz="1050" b="1">
                <a:solidFill>
                  <a:srgbClr val="5B6372"/>
                </a:solidFill>
                <a:latin typeface="Arial"/>
              </a:rPr>
              <a:t>10:45 - 11:00      Tea Break</a:t>
            </a:r>
          </a:p>
        </p:txBody>
      </p:sp>
      <p:sp>
        <p:nvSpPr>
          <p:cNvPr id="16" name="TextBox 15"/>
          <p:cNvSpPr txBox="1"/>
          <p:nvPr/>
        </p:nvSpPr>
        <p:spPr>
          <a:xfrm>
            <a:off x="822960" y="3163824"/>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11:00 - 11:30</a:t>
            </a:r>
          </a:p>
        </p:txBody>
      </p:sp>
      <p:sp>
        <p:nvSpPr>
          <p:cNvPr id="17" name="TextBox 16"/>
          <p:cNvSpPr txBox="1"/>
          <p:nvPr/>
        </p:nvSpPr>
        <p:spPr>
          <a:xfrm>
            <a:off x="2377440" y="3163824"/>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T1.5-1.6 Forms of Financial Data, Big Data Applications and Trading Hypotheses</a:t>
            </a:r>
          </a:p>
        </p:txBody>
      </p:sp>
      <p:sp>
        <p:nvSpPr>
          <p:cNvPr id="18" name="TextBox 17"/>
          <p:cNvSpPr txBox="1"/>
          <p:nvPr/>
        </p:nvSpPr>
        <p:spPr>
          <a:xfrm>
            <a:off x="10287000" y="3163824"/>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A1, A6, K1, K9</a:t>
            </a:r>
          </a:p>
        </p:txBody>
      </p:sp>
      <p:sp>
        <p:nvSpPr>
          <p:cNvPr id="19" name="TextBox 18"/>
          <p:cNvSpPr txBox="1"/>
          <p:nvPr/>
        </p:nvSpPr>
        <p:spPr>
          <a:xfrm>
            <a:off x="822960" y="3547872"/>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11:30 - 11:50</a:t>
            </a:r>
          </a:p>
        </p:txBody>
      </p:sp>
      <p:sp>
        <p:nvSpPr>
          <p:cNvPr id="20" name="TextBox 19"/>
          <p:cNvSpPr txBox="1"/>
          <p:nvPr/>
        </p:nvSpPr>
        <p:spPr>
          <a:xfrm>
            <a:off x="2377440" y="3547872"/>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1: Pipeline Skeleton, Configuration and the Alpaca Paper Account</a:t>
            </a:r>
          </a:p>
        </p:txBody>
      </p:sp>
      <p:sp>
        <p:nvSpPr>
          <p:cNvPr id="21" name="TextBox 20"/>
          <p:cNvSpPr txBox="1"/>
          <p:nvPr/>
        </p:nvSpPr>
        <p:spPr>
          <a:xfrm>
            <a:off x="10287000" y="3547872"/>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K5</a:t>
            </a:r>
          </a:p>
        </p:txBody>
      </p:sp>
      <p:sp>
        <p:nvSpPr>
          <p:cNvPr id="22" name="TextBox 21"/>
          <p:cNvSpPr txBox="1"/>
          <p:nvPr/>
        </p:nvSpPr>
        <p:spPr>
          <a:xfrm>
            <a:off x="822960" y="3931920"/>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11:50 - 12:10</a:t>
            </a:r>
          </a:p>
        </p:txBody>
      </p:sp>
      <p:sp>
        <p:nvSpPr>
          <p:cNvPr id="23" name="TextBox 22"/>
          <p:cNvSpPr txBox="1"/>
          <p:nvPr/>
        </p:nvSpPr>
        <p:spPr>
          <a:xfrm>
            <a:off x="2377440" y="3931920"/>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2: Data-Validation Stage: Cross-Check Pipeline Bars against TradingView</a:t>
            </a:r>
          </a:p>
        </p:txBody>
      </p:sp>
      <p:sp>
        <p:nvSpPr>
          <p:cNvPr id="24" name="TextBox 23"/>
          <p:cNvSpPr txBox="1"/>
          <p:nvPr/>
        </p:nvSpPr>
        <p:spPr>
          <a:xfrm>
            <a:off x="10287000" y="3931920"/>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A3, K5, K9</a:t>
            </a:r>
          </a:p>
        </p:txBody>
      </p:sp>
      <p:sp>
        <p:nvSpPr>
          <p:cNvPr id="25" name="TextBox 24"/>
          <p:cNvSpPr txBox="1"/>
          <p:nvPr/>
        </p:nvSpPr>
        <p:spPr>
          <a:xfrm>
            <a:off x="822960" y="4315968"/>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12:10 - 12:30</a:t>
            </a:r>
          </a:p>
        </p:txBody>
      </p:sp>
      <p:sp>
        <p:nvSpPr>
          <p:cNvPr id="26" name="TextBox 25"/>
          <p:cNvSpPr txBox="1"/>
          <p:nvPr/>
        </p:nvSpPr>
        <p:spPr>
          <a:xfrm>
            <a:off x="2377440" y="4315968"/>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3: Ingestion Stage: Multi-Timeframe Bars, Headlines and Data Quality</a:t>
            </a:r>
          </a:p>
        </p:txBody>
      </p:sp>
      <p:sp>
        <p:nvSpPr>
          <p:cNvPr id="27" name="TextBox 26"/>
          <p:cNvSpPr txBox="1"/>
          <p:nvPr/>
        </p:nvSpPr>
        <p:spPr>
          <a:xfrm>
            <a:off x="10287000" y="4315968"/>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A6, K9</a:t>
            </a:r>
          </a:p>
        </p:txBody>
      </p:sp>
      <p:sp>
        <p:nvSpPr>
          <p:cNvPr id="28" name="Rectangle 27"/>
          <p:cNvSpPr/>
          <p:nvPr/>
        </p:nvSpPr>
        <p:spPr>
          <a:xfrm>
            <a:off x="777240" y="4700016"/>
            <a:ext cx="10634472" cy="3566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0120" y="4700016"/>
            <a:ext cx="10241280" cy="356616"/>
          </a:xfrm>
          <a:prstGeom prst="rect">
            <a:avLst/>
          </a:prstGeom>
          <a:noFill/>
        </p:spPr>
        <p:txBody>
          <a:bodyPr wrap="square" anchor="ctr">
            <a:spAutoFit/>
          </a:bodyPr>
          <a:lstStyle/>
          <a:p>
            <a:pPr algn="l">
              <a:spcAft>
                <a:spcPts val="400"/>
              </a:spcAft>
            </a:pPr>
            <a:r>
              <a:rPr sz="1050" b="1">
                <a:solidFill>
                  <a:srgbClr val="5B6372"/>
                </a:solidFill>
                <a:latin typeface="Arial"/>
              </a:rPr>
              <a:t>12:30 - 13:30      Lunch Break</a:t>
            </a:r>
          </a:p>
        </p:txBody>
      </p:sp>
      <p:sp>
        <p:nvSpPr>
          <p:cNvPr id="30" name="TextBox 29"/>
          <p:cNvSpPr txBox="1"/>
          <p:nvPr/>
        </p:nvSpPr>
        <p:spPr>
          <a:xfrm>
            <a:off x="822960" y="5084064"/>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13:30 - 13:45</a:t>
            </a:r>
          </a:p>
        </p:txBody>
      </p:sp>
      <p:sp>
        <p:nvSpPr>
          <p:cNvPr id="31" name="TextBox 30"/>
          <p:cNvSpPr txBox="1"/>
          <p:nvPr/>
        </p:nvSpPr>
        <p:spPr>
          <a:xfrm>
            <a:off x="2377440" y="5084064"/>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4: Hypothesis Stage: from a Written Card to an Automated Statistical Test</a:t>
            </a:r>
          </a:p>
        </p:txBody>
      </p:sp>
      <p:sp>
        <p:nvSpPr>
          <p:cNvPr id="32" name="TextBox 31"/>
          <p:cNvSpPr txBox="1"/>
          <p:nvPr/>
        </p:nvSpPr>
        <p:spPr>
          <a:xfrm>
            <a:off x="10287000" y="5084064"/>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A1, A6, K1</a:t>
            </a:r>
          </a:p>
        </p:txBody>
      </p:sp>
      <p:sp>
        <p:nvSpPr>
          <p:cNvPr id="33" name="TextBox 32"/>
          <p:cNvSpPr txBox="1"/>
          <p:nvPr/>
        </p:nvSpPr>
        <p:spPr>
          <a:xfrm>
            <a:off x="822960" y="5468112"/>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13:45 - 14:30</a:t>
            </a:r>
          </a:p>
        </p:txBody>
      </p:sp>
      <p:sp>
        <p:nvSpPr>
          <p:cNvPr id="34" name="TextBox 33"/>
          <p:cNvSpPr txBox="1"/>
          <p:nvPr/>
        </p:nvSpPr>
        <p:spPr>
          <a:xfrm>
            <a:off x="2377440" y="5468112"/>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T2.1-2.2 Technical Indicators and Standard Algorithmic Trading Strategies</a:t>
            </a:r>
          </a:p>
        </p:txBody>
      </p:sp>
      <p:sp>
        <p:nvSpPr>
          <p:cNvPr id="35" name="TextBox 34"/>
          <p:cNvSpPr txBox="1"/>
          <p:nvPr/>
        </p:nvSpPr>
        <p:spPr>
          <a:xfrm>
            <a:off x="10287000" y="5468112"/>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A2, K3</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Day 1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09:00 - 18:30  ·  8 instructional hours  ·  excluding 1-hour lunch and two tea breaks</a:t>
            </a:r>
          </a:p>
        </p:txBody>
      </p:sp>
      <p:sp>
        <p:nvSpPr>
          <p:cNvPr id="8" name="TextBox 7"/>
          <p:cNvSpPr txBox="1"/>
          <p:nvPr/>
        </p:nvSpPr>
        <p:spPr>
          <a:xfrm>
            <a:off x="822960" y="2011680"/>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14:30 - 14:55</a:t>
            </a:r>
          </a:p>
        </p:txBody>
      </p:sp>
      <p:sp>
        <p:nvSpPr>
          <p:cNvPr id="9" name="TextBox 8"/>
          <p:cNvSpPr txBox="1"/>
          <p:nvPr/>
        </p:nvSpPr>
        <p:spPr>
          <a:xfrm>
            <a:off x="2377440" y="2011680"/>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5: Indicator Stage: Pine Script v6 Indicators and their Python Twins</a:t>
            </a:r>
          </a:p>
        </p:txBody>
      </p:sp>
      <p:sp>
        <p:nvSpPr>
          <p:cNvPr id="10" name="TextBox 9"/>
          <p:cNvSpPr txBox="1"/>
          <p:nvPr/>
        </p:nvSpPr>
        <p:spPr>
          <a:xfrm>
            <a:off x="10287000" y="2011680"/>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A3, K3, K7</a:t>
            </a:r>
          </a:p>
        </p:txBody>
      </p:sp>
      <p:sp>
        <p:nvSpPr>
          <p:cNvPr id="11" name="TextBox 10"/>
          <p:cNvSpPr txBox="1"/>
          <p:nvPr/>
        </p:nvSpPr>
        <p:spPr>
          <a:xfrm>
            <a:off x="822960" y="2395728"/>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14:55 - 15:25</a:t>
            </a:r>
          </a:p>
        </p:txBody>
      </p:sp>
      <p:sp>
        <p:nvSpPr>
          <p:cNvPr id="12" name="TextBox 11"/>
          <p:cNvSpPr txBox="1"/>
          <p:nvPr/>
        </p:nvSpPr>
        <p:spPr>
          <a:xfrm>
            <a:off x="2377440" y="2395728"/>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6: Strategy Prototype: TradingView Strategy Tester, Paper Trading from the Chart and Pipeline Reconciliation</a:t>
            </a:r>
          </a:p>
        </p:txBody>
      </p:sp>
      <p:sp>
        <p:nvSpPr>
          <p:cNvPr id="13" name="TextBox 12"/>
          <p:cNvSpPr txBox="1"/>
          <p:nvPr/>
        </p:nvSpPr>
        <p:spPr>
          <a:xfrm>
            <a:off x="10287000" y="2395728"/>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A2, A3, K3, K7</a:t>
            </a:r>
          </a:p>
        </p:txBody>
      </p:sp>
      <p:sp>
        <p:nvSpPr>
          <p:cNvPr id="14" name="Rectangle 13"/>
          <p:cNvSpPr/>
          <p:nvPr/>
        </p:nvSpPr>
        <p:spPr>
          <a:xfrm>
            <a:off x="777240" y="2779776"/>
            <a:ext cx="10634472" cy="3566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2779776"/>
            <a:ext cx="10241280" cy="356616"/>
          </a:xfrm>
          <a:prstGeom prst="rect">
            <a:avLst/>
          </a:prstGeom>
          <a:noFill/>
        </p:spPr>
        <p:txBody>
          <a:bodyPr wrap="square" anchor="ctr">
            <a:spAutoFit/>
          </a:bodyPr>
          <a:lstStyle/>
          <a:p>
            <a:pPr algn="l">
              <a:spcAft>
                <a:spcPts val="400"/>
              </a:spcAft>
            </a:pPr>
            <a:r>
              <a:rPr sz="1050" b="1">
                <a:solidFill>
                  <a:srgbClr val="5B6372"/>
                </a:solidFill>
                <a:latin typeface="Arial"/>
              </a:rPr>
              <a:t>15:25 - 15:40      Tea Break</a:t>
            </a:r>
          </a:p>
        </p:txBody>
      </p:sp>
      <p:sp>
        <p:nvSpPr>
          <p:cNvPr id="16" name="TextBox 15"/>
          <p:cNvSpPr txBox="1"/>
          <p:nvPr/>
        </p:nvSpPr>
        <p:spPr>
          <a:xfrm>
            <a:off x="822960" y="3163824"/>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15:40 - 16:05</a:t>
            </a:r>
          </a:p>
        </p:txBody>
      </p:sp>
      <p:sp>
        <p:nvSpPr>
          <p:cNvPr id="17" name="TextBox 16"/>
          <p:cNvSpPr txBox="1"/>
          <p:nvPr/>
        </p:nvSpPr>
        <p:spPr>
          <a:xfrm>
            <a:off x="2377440" y="3163824"/>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7: Signal Stage: a Library of Trend, Mean-Reversion, Momentum and Breakout Signals</a:t>
            </a:r>
          </a:p>
        </p:txBody>
      </p:sp>
      <p:sp>
        <p:nvSpPr>
          <p:cNvPr id="18" name="TextBox 17"/>
          <p:cNvSpPr txBox="1"/>
          <p:nvPr/>
        </p:nvSpPr>
        <p:spPr>
          <a:xfrm>
            <a:off x="10287000" y="3163824"/>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A2, K3, K7</a:t>
            </a:r>
          </a:p>
        </p:txBody>
      </p:sp>
      <p:sp>
        <p:nvSpPr>
          <p:cNvPr id="19" name="TextBox 18"/>
          <p:cNvSpPr txBox="1"/>
          <p:nvPr/>
        </p:nvSpPr>
        <p:spPr>
          <a:xfrm>
            <a:off x="822960" y="3547872"/>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16:05 - 16:50</a:t>
            </a:r>
          </a:p>
        </p:txBody>
      </p:sp>
      <p:sp>
        <p:nvSpPr>
          <p:cNvPr id="20" name="TextBox 19"/>
          <p:cNvSpPr txBox="1"/>
          <p:nvPr/>
        </p:nvSpPr>
        <p:spPr>
          <a:xfrm>
            <a:off x="2377440" y="3547872"/>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T2.3-2.4 Analytics Platforms, Coding Languages and Order Placement</a:t>
            </a:r>
          </a:p>
        </p:txBody>
      </p:sp>
      <p:sp>
        <p:nvSpPr>
          <p:cNvPr id="21" name="TextBox 20"/>
          <p:cNvSpPr txBox="1"/>
          <p:nvPr/>
        </p:nvSpPr>
        <p:spPr>
          <a:xfrm>
            <a:off x="10287000" y="3547872"/>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A3, K5, K7</a:t>
            </a:r>
          </a:p>
        </p:txBody>
      </p:sp>
      <p:sp>
        <p:nvSpPr>
          <p:cNvPr id="22" name="TextBox 21"/>
          <p:cNvSpPr txBox="1"/>
          <p:nvPr/>
        </p:nvSpPr>
        <p:spPr>
          <a:xfrm>
            <a:off x="822960" y="3931920"/>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16:50 - 17:20</a:t>
            </a:r>
          </a:p>
        </p:txBody>
      </p:sp>
      <p:sp>
        <p:nvSpPr>
          <p:cNvPr id="23" name="TextBox 22"/>
          <p:cNvSpPr txBox="1"/>
          <p:nvPr/>
        </p:nvSpPr>
        <p:spPr>
          <a:xfrm>
            <a:off x="2377440" y="3931920"/>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8: Execution Stage: an Order Manager that Trades the Paper Account in Any Session</a:t>
            </a:r>
          </a:p>
        </p:txBody>
      </p:sp>
      <p:sp>
        <p:nvSpPr>
          <p:cNvPr id="24" name="TextBox 23"/>
          <p:cNvSpPr txBox="1"/>
          <p:nvPr/>
        </p:nvSpPr>
        <p:spPr>
          <a:xfrm>
            <a:off x="10287000" y="3931920"/>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A3, K5</a:t>
            </a:r>
          </a:p>
        </p:txBody>
      </p:sp>
      <p:sp>
        <p:nvSpPr>
          <p:cNvPr id="25" name="TextBox 24"/>
          <p:cNvSpPr txBox="1"/>
          <p:nvPr/>
        </p:nvSpPr>
        <p:spPr>
          <a:xfrm>
            <a:off x="822960" y="4315968"/>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17:20 - 17:50</a:t>
            </a:r>
          </a:p>
        </p:txBody>
      </p:sp>
      <p:sp>
        <p:nvSpPr>
          <p:cNvPr id="26" name="TextBox 25"/>
          <p:cNvSpPr txBox="1"/>
          <p:nvPr/>
        </p:nvSpPr>
        <p:spPr>
          <a:xfrm>
            <a:off x="2377440" y="4315968"/>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T2.5 Performance and Risk Metric Definitions</a:t>
            </a:r>
          </a:p>
        </p:txBody>
      </p:sp>
      <p:sp>
        <p:nvSpPr>
          <p:cNvPr id="27" name="TextBox 26"/>
          <p:cNvSpPr txBox="1"/>
          <p:nvPr/>
        </p:nvSpPr>
        <p:spPr>
          <a:xfrm>
            <a:off x="10287000" y="4315968"/>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A3, K3</a:t>
            </a:r>
          </a:p>
        </p:txBody>
      </p:sp>
      <p:sp>
        <p:nvSpPr>
          <p:cNvPr id="28" name="TextBox 27"/>
          <p:cNvSpPr txBox="1"/>
          <p:nvPr/>
        </p:nvSpPr>
        <p:spPr>
          <a:xfrm>
            <a:off x="822960" y="4700016"/>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17:50 - 18:15</a:t>
            </a:r>
          </a:p>
        </p:txBody>
      </p:sp>
      <p:sp>
        <p:nvSpPr>
          <p:cNvPr id="29" name="TextBox 28"/>
          <p:cNvSpPr txBox="1"/>
          <p:nvPr/>
        </p:nvSpPr>
        <p:spPr>
          <a:xfrm>
            <a:off x="2377440" y="4700016"/>
            <a:ext cx="7863840" cy="356616"/>
          </a:xfrm>
          <a:prstGeom prst="rect">
            <a:avLst/>
          </a:prstGeom>
          <a:noFill/>
        </p:spPr>
        <p:txBody>
          <a:bodyPr wrap="square" anchor="ctr">
            <a:spAutoFit/>
          </a:bodyPr>
          <a:lstStyle/>
          <a:p>
            <a:pPr algn="l">
              <a:spcAft>
                <a:spcPts val="400"/>
              </a:spcAft>
            </a:pPr>
            <a:r>
              <a:rPr sz="1050" b="1">
                <a:solidFill>
                  <a:srgbClr val="10B981"/>
                </a:solidFill>
                <a:latin typeface="Arial"/>
              </a:rPr>
              <a:t>Lab 9: Evaluation Stage: Performance and Risk Metrics with a Benchmark Table</a:t>
            </a:r>
          </a:p>
        </p:txBody>
      </p:sp>
      <p:sp>
        <p:nvSpPr>
          <p:cNvPr id="30" name="TextBox 29"/>
          <p:cNvSpPr txBox="1"/>
          <p:nvPr/>
        </p:nvSpPr>
        <p:spPr>
          <a:xfrm>
            <a:off x="10287000" y="4700016"/>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A3, K3</a:t>
            </a:r>
          </a:p>
        </p:txBody>
      </p:sp>
      <p:sp>
        <p:nvSpPr>
          <p:cNvPr id="31" name="TextBox 30"/>
          <p:cNvSpPr txBox="1"/>
          <p:nvPr/>
        </p:nvSpPr>
        <p:spPr>
          <a:xfrm>
            <a:off x="822960" y="5084064"/>
            <a:ext cx="1463040" cy="356616"/>
          </a:xfrm>
          <a:prstGeom prst="rect">
            <a:avLst/>
          </a:prstGeom>
          <a:noFill/>
        </p:spPr>
        <p:txBody>
          <a:bodyPr wrap="square" anchor="ctr">
            <a:spAutoFit/>
          </a:bodyPr>
          <a:lstStyle/>
          <a:p>
            <a:pPr algn="l">
              <a:spcAft>
                <a:spcPts val="400"/>
              </a:spcAft>
            </a:pPr>
            <a:r>
              <a:rPr sz="1000" b="1">
                <a:solidFill>
                  <a:srgbClr val="5B6372"/>
                </a:solidFill>
                <a:latin typeface="Arial"/>
              </a:rPr>
              <a:t>18:15 - 18:30</a:t>
            </a:r>
          </a:p>
        </p:txBody>
      </p:sp>
      <p:sp>
        <p:nvSpPr>
          <p:cNvPr id="32" name="TextBox 31"/>
          <p:cNvSpPr txBox="1"/>
          <p:nvPr/>
        </p:nvSpPr>
        <p:spPr>
          <a:xfrm>
            <a:off x="2377440" y="5084064"/>
            <a:ext cx="7863840" cy="356616"/>
          </a:xfrm>
          <a:prstGeom prst="rect">
            <a:avLst/>
          </a:prstGeom>
          <a:noFill/>
        </p:spPr>
        <p:txBody>
          <a:bodyPr wrap="square" anchor="ctr">
            <a:spAutoFit/>
          </a:bodyPr>
          <a:lstStyle/>
          <a:p>
            <a:pPr algn="l">
              <a:spcAft>
                <a:spcPts val="400"/>
              </a:spcAft>
            </a:pPr>
            <a:r>
              <a:rPr sz="1050" b="0">
                <a:solidFill>
                  <a:srgbClr val="161B26"/>
                </a:solidFill>
                <a:latin typeface="Arial"/>
              </a:rPr>
              <a:t>Day 1 Recap and Q&amp;A</a:t>
            </a:r>
          </a:p>
        </p:txBody>
      </p:sp>
      <p:sp>
        <p:nvSpPr>
          <p:cNvPr id="33" name="TextBox 32"/>
          <p:cNvSpPr txBox="1"/>
          <p:nvPr/>
        </p:nvSpPr>
        <p:spPr>
          <a:xfrm>
            <a:off x="10287000" y="5084064"/>
            <a:ext cx="1097280" cy="356616"/>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Day 2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09:00 - 18:30  ·  8 instructional hours  ·  excluding 1-hour lunch and two tea breaks</a:t>
            </a:r>
          </a:p>
        </p:txBody>
      </p:sp>
      <p:sp>
        <p:nvSpPr>
          <p:cNvPr id="8" name="TextBox 7"/>
          <p:cNvSpPr txBox="1"/>
          <p:nvPr/>
        </p:nvSpPr>
        <p:spPr>
          <a:xfrm>
            <a:off x="822960" y="201168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09:00 - 09:15</a:t>
            </a:r>
          </a:p>
        </p:txBody>
      </p:sp>
      <p:sp>
        <p:nvSpPr>
          <p:cNvPr id="9" name="TextBox 8"/>
          <p:cNvSpPr txBox="1"/>
          <p:nvPr/>
        </p:nvSpPr>
        <p:spPr>
          <a:xfrm>
            <a:off x="2377440" y="201168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Day 1 Recap and Day 2 Overview</a:t>
            </a:r>
          </a:p>
        </p:txBody>
      </p:sp>
      <p:sp>
        <p:nvSpPr>
          <p:cNvPr id="10" name="TextBox 9"/>
          <p:cNvSpPr txBox="1"/>
          <p:nvPr/>
        </p:nvSpPr>
        <p:spPr>
          <a:xfrm>
            <a:off x="10287000" y="201168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
            </a:r>
          </a:p>
        </p:txBody>
      </p:sp>
      <p:sp>
        <p:nvSpPr>
          <p:cNvPr id="11" name="TextBox 10"/>
          <p:cNvSpPr txBox="1"/>
          <p:nvPr/>
        </p:nvSpPr>
        <p:spPr>
          <a:xfrm>
            <a:off x="822960" y="235839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09:15 - 09:40</a:t>
            </a:r>
          </a:p>
        </p:txBody>
      </p:sp>
      <p:sp>
        <p:nvSpPr>
          <p:cNvPr id="12" name="TextBox 11"/>
          <p:cNvSpPr txBox="1"/>
          <p:nvPr/>
        </p:nvSpPr>
        <p:spPr>
          <a:xfrm>
            <a:off x="2377440" y="235839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T3.1-3.2 Statistical Analyses, Algorithms and Supervised Learning Models</a:t>
            </a:r>
          </a:p>
        </p:txBody>
      </p:sp>
      <p:sp>
        <p:nvSpPr>
          <p:cNvPr id="13" name="TextBox 12"/>
          <p:cNvSpPr txBox="1"/>
          <p:nvPr/>
        </p:nvSpPr>
        <p:spPr>
          <a:xfrm>
            <a:off x="10287000" y="235839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A4, K2, K4</a:t>
            </a:r>
          </a:p>
        </p:txBody>
      </p:sp>
      <p:sp>
        <p:nvSpPr>
          <p:cNvPr id="14" name="TextBox 13"/>
          <p:cNvSpPr txBox="1"/>
          <p:nvPr/>
        </p:nvSpPr>
        <p:spPr>
          <a:xfrm>
            <a:off x="822960" y="270510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09:40 - 10:00</a:t>
            </a:r>
          </a:p>
        </p:txBody>
      </p:sp>
      <p:sp>
        <p:nvSpPr>
          <p:cNvPr id="15" name="TextBox 14"/>
          <p:cNvSpPr txBox="1"/>
          <p:nvPr/>
        </p:nvSpPr>
        <p:spPr>
          <a:xfrm>
            <a:off x="2377440" y="270510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10: Strategy-Search Stage: Grid Search, Out-of-Sample Ranking and Decay</a:t>
            </a:r>
          </a:p>
        </p:txBody>
      </p:sp>
      <p:sp>
        <p:nvSpPr>
          <p:cNvPr id="16" name="TextBox 15"/>
          <p:cNvSpPr txBox="1"/>
          <p:nvPr/>
        </p:nvSpPr>
        <p:spPr>
          <a:xfrm>
            <a:off x="10287000" y="270510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A2, A4, K2</a:t>
            </a:r>
          </a:p>
        </p:txBody>
      </p:sp>
      <p:sp>
        <p:nvSpPr>
          <p:cNvPr id="17" name="TextBox 16"/>
          <p:cNvSpPr txBox="1"/>
          <p:nvPr/>
        </p:nvSpPr>
        <p:spPr>
          <a:xfrm>
            <a:off x="822960" y="305181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10:00 - 10:20</a:t>
            </a:r>
          </a:p>
        </p:txBody>
      </p:sp>
      <p:sp>
        <p:nvSpPr>
          <p:cNvPr id="18" name="TextBox 17"/>
          <p:cNvSpPr txBox="1"/>
          <p:nvPr/>
        </p:nvSpPr>
        <p:spPr>
          <a:xfrm>
            <a:off x="2377440" y="305181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11: ML-Signal Stage: a Walk-Forward Classifier from Probability to Position</a:t>
            </a:r>
          </a:p>
        </p:txBody>
      </p:sp>
      <p:sp>
        <p:nvSpPr>
          <p:cNvPr id="19" name="TextBox 18"/>
          <p:cNvSpPr txBox="1"/>
          <p:nvPr/>
        </p:nvSpPr>
        <p:spPr>
          <a:xfrm>
            <a:off x="10287000" y="305181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A4, K4, K6</a:t>
            </a:r>
          </a:p>
        </p:txBody>
      </p:sp>
      <p:sp>
        <p:nvSpPr>
          <p:cNvPr id="20" name="Rectangle 19"/>
          <p:cNvSpPr/>
          <p:nvPr/>
        </p:nvSpPr>
        <p:spPr>
          <a:xfrm>
            <a:off x="777240" y="3398520"/>
            <a:ext cx="10634472" cy="3192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3398520"/>
            <a:ext cx="10241280" cy="319277"/>
          </a:xfrm>
          <a:prstGeom prst="rect">
            <a:avLst/>
          </a:prstGeom>
          <a:noFill/>
        </p:spPr>
        <p:txBody>
          <a:bodyPr wrap="square" anchor="ctr">
            <a:spAutoFit/>
          </a:bodyPr>
          <a:lstStyle/>
          <a:p>
            <a:pPr algn="l">
              <a:spcAft>
                <a:spcPts val="400"/>
              </a:spcAft>
            </a:pPr>
            <a:r>
              <a:rPr sz="1050" b="1">
                <a:solidFill>
                  <a:srgbClr val="5B6372"/>
                </a:solidFill>
                <a:latin typeface="Arial"/>
              </a:rPr>
              <a:t>10:20 - 10:35      Tea Break</a:t>
            </a:r>
          </a:p>
        </p:txBody>
      </p:sp>
      <p:sp>
        <p:nvSpPr>
          <p:cNvPr id="22" name="TextBox 21"/>
          <p:cNvSpPr txBox="1"/>
          <p:nvPr/>
        </p:nvSpPr>
        <p:spPr>
          <a:xfrm>
            <a:off x="822960" y="374523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10:35 - 10:55</a:t>
            </a:r>
          </a:p>
        </p:txBody>
      </p:sp>
      <p:sp>
        <p:nvSpPr>
          <p:cNvPr id="23" name="TextBox 22"/>
          <p:cNvSpPr txBox="1"/>
          <p:nvPr/>
        </p:nvSpPr>
        <p:spPr>
          <a:xfrm>
            <a:off x="2377440" y="374523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T3.3-3.4 Unsupervised Learning and Statistical Modelling Techniques</a:t>
            </a:r>
          </a:p>
        </p:txBody>
      </p:sp>
      <p:sp>
        <p:nvSpPr>
          <p:cNvPr id="24" name="TextBox 23"/>
          <p:cNvSpPr txBox="1"/>
          <p:nvPr/>
        </p:nvSpPr>
        <p:spPr>
          <a:xfrm>
            <a:off x="10287000" y="374523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A4, K4, K6</a:t>
            </a:r>
          </a:p>
        </p:txBody>
      </p:sp>
      <p:sp>
        <p:nvSpPr>
          <p:cNvPr id="25" name="TextBox 24"/>
          <p:cNvSpPr txBox="1"/>
          <p:nvPr/>
        </p:nvSpPr>
        <p:spPr>
          <a:xfrm>
            <a:off x="822960" y="4091939"/>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10:55 - 11:10</a:t>
            </a:r>
          </a:p>
        </p:txBody>
      </p:sp>
      <p:sp>
        <p:nvSpPr>
          <p:cNvPr id="26" name="TextBox 25"/>
          <p:cNvSpPr txBox="1"/>
          <p:nvPr/>
        </p:nvSpPr>
        <p:spPr>
          <a:xfrm>
            <a:off x="2377440" y="4091939"/>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12: Regime-Filter Stage: PCA and K-Means as a Gate on the Signals</a:t>
            </a:r>
          </a:p>
        </p:txBody>
      </p:sp>
      <p:sp>
        <p:nvSpPr>
          <p:cNvPr id="27" name="TextBox 26"/>
          <p:cNvSpPr txBox="1"/>
          <p:nvPr/>
        </p:nvSpPr>
        <p:spPr>
          <a:xfrm>
            <a:off x="10287000" y="4091939"/>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A4, K4, K6</a:t>
            </a:r>
          </a:p>
        </p:txBody>
      </p:sp>
      <p:sp>
        <p:nvSpPr>
          <p:cNvPr id="28" name="TextBox 27"/>
          <p:cNvSpPr txBox="1"/>
          <p:nvPr/>
        </p:nvSpPr>
        <p:spPr>
          <a:xfrm>
            <a:off x="822960" y="443865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11:10 - 11:25</a:t>
            </a:r>
          </a:p>
        </p:txBody>
      </p:sp>
      <p:sp>
        <p:nvSpPr>
          <p:cNvPr id="29" name="TextBox 28"/>
          <p:cNvSpPr txBox="1"/>
          <p:nvPr/>
        </p:nvSpPr>
        <p:spPr>
          <a:xfrm>
            <a:off x="2377440" y="443865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T3.5-3.6 A/B Testing, and Pairs Trading as a Hedging Algorithm</a:t>
            </a:r>
          </a:p>
        </p:txBody>
      </p:sp>
      <p:sp>
        <p:nvSpPr>
          <p:cNvPr id="30" name="TextBox 29"/>
          <p:cNvSpPr txBox="1"/>
          <p:nvPr/>
        </p:nvSpPr>
        <p:spPr>
          <a:xfrm>
            <a:off x="10287000" y="443865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A4, A5, K2, K6</a:t>
            </a:r>
          </a:p>
        </p:txBody>
      </p:sp>
      <p:sp>
        <p:nvSpPr>
          <p:cNvPr id="31" name="TextBox 30"/>
          <p:cNvSpPr txBox="1"/>
          <p:nvPr/>
        </p:nvSpPr>
        <p:spPr>
          <a:xfrm>
            <a:off x="822960" y="478536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11:25 - 11:40</a:t>
            </a:r>
          </a:p>
        </p:txBody>
      </p:sp>
      <p:sp>
        <p:nvSpPr>
          <p:cNvPr id="32" name="TextBox 31"/>
          <p:cNvSpPr txBox="1"/>
          <p:nvPr/>
        </p:nvSpPr>
        <p:spPr>
          <a:xfrm>
            <a:off x="2377440" y="478536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13: A/B-Test Stage: a Statistical Decision before Capital Moves</a:t>
            </a:r>
          </a:p>
        </p:txBody>
      </p:sp>
      <p:sp>
        <p:nvSpPr>
          <p:cNvPr id="33" name="TextBox 32"/>
          <p:cNvSpPr txBox="1"/>
          <p:nvPr/>
        </p:nvSpPr>
        <p:spPr>
          <a:xfrm>
            <a:off x="10287000" y="478536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A5, K2</a:t>
            </a:r>
          </a:p>
        </p:txBody>
      </p:sp>
      <p:sp>
        <p:nvSpPr>
          <p:cNvPr id="34" name="TextBox 33"/>
          <p:cNvSpPr txBox="1"/>
          <p:nvPr/>
        </p:nvSpPr>
        <p:spPr>
          <a:xfrm>
            <a:off x="822960" y="513207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11:40 - 12:00</a:t>
            </a:r>
          </a:p>
        </p:txBody>
      </p:sp>
      <p:sp>
        <p:nvSpPr>
          <p:cNvPr id="35" name="TextBox 34"/>
          <p:cNvSpPr txBox="1"/>
          <p:nvPr/>
        </p:nvSpPr>
        <p:spPr>
          <a:xfrm>
            <a:off x="2377440" y="513207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14: Pairs Stage: a Hedged, Market-Neutral Statistical-Arbitrage Sleeve</a:t>
            </a:r>
          </a:p>
        </p:txBody>
      </p:sp>
      <p:sp>
        <p:nvSpPr>
          <p:cNvPr id="36" name="TextBox 35"/>
          <p:cNvSpPr txBox="1"/>
          <p:nvPr/>
        </p:nvSpPr>
        <p:spPr>
          <a:xfrm>
            <a:off x="10287000" y="513207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A4, K6</a:t>
            </a:r>
          </a:p>
        </p:txBody>
      </p:sp>
      <p:sp>
        <p:nvSpPr>
          <p:cNvPr id="37" name="TextBox 36"/>
          <p:cNvSpPr txBox="1"/>
          <p:nvPr/>
        </p:nvSpPr>
        <p:spPr>
          <a:xfrm>
            <a:off x="822960" y="547878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12:00 - 12:30</a:t>
            </a:r>
          </a:p>
        </p:txBody>
      </p:sp>
      <p:sp>
        <p:nvSpPr>
          <p:cNvPr id="38" name="TextBox 37"/>
          <p:cNvSpPr txBox="1"/>
          <p:nvPr/>
        </p:nvSpPr>
        <p:spPr>
          <a:xfrm>
            <a:off x="2377440" y="547878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T4.1-4.2 Pipeline Architecture and Backtesting with Trading Costs</a:t>
            </a:r>
          </a:p>
        </p:txBody>
      </p:sp>
      <p:sp>
        <p:nvSpPr>
          <p:cNvPr id="39" name="TextBox 38"/>
          <p:cNvSpPr txBox="1"/>
          <p:nvPr/>
        </p:nvSpPr>
        <p:spPr>
          <a:xfrm>
            <a:off x="10287000" y="547878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A7, A8, K7</a:t>
            </a:r>
          </a:p>
        </p:txBody>
      </p:sp>
      <p:sp>
        <p:nvSpPr>
          <p:cNvPr id="40" name="Rectangle 39"/>
          <p:cNvSpPr/>
          <p:nvPr/>
        </p:nvSpPr>
        <p:spPr>
          <a:xfrm>
            <a:off x="777240" y="5825490"/>
            <a:ext cx="10634472" cy="3192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60120" y="5825490"/>
            <a:ext cx="10241280" cy="319277"/>
          </a:xfrm>
          <a:prstGeom prst="rect">
            <a:avLst/>
          </a:prstGeom>
          <a:noFill/>
        </p:spPr>
        <p:txBody>
          <a:bodyPr wrap="square" anchor="ctr">
            <a:spAutoFit/>
          </a:bodyPr>
          <a:lstStyle/>
          <a:p>
            <a:pPr algn="l">
              <a:spcAft>
                <a:spcPts val="400"/>
              </a:spcAft>
            </a:pPr>
            <a:r>
              <a:rPr sz="1050" b="1">
                <a:solidFill>
                  <a:srgbClr val="5B6372"/>
                </a:solidFill>
                <a:latin typeface="Arial"/>
              </a:rPr>
              <a:t>12:30 - 13:30      Lunch Break</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Day 2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09:00 - 18:30  ·  8 instructional hours  ·  excluding 1-hour lunch and two tea breaks</a:t>
            </a:r>
          </a:p>
        </p:txBody>
      </p:sp>
      <p:sp>
        <p:nvSpPr>
          <p:cNvPr id="8" name="TextBox 7"/>
          <p:cNvSpPr txBox="1"/>
          <p:nvPr/>
        </p:nvSpPr>
        <p:spPr>
          <a:xfrm>
            <a:off x="822960" y="201168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13:30 - 13:55</a:t>
            </a:r>
          </a:p>
        </p:txBody>
      </p:sp>
      <p:sp>
        <p:nvSpPr>
          <p:cNvPr id="9" name="TextBox 8"/>
          <p:cNvSpPr txBox="1"/>
          <p:nvPr/>
        </p:nvSpPr>
        <p:spPr>
          <a:xfrm>
            <a:off x="2377440" y="201168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15: Backtest-Engine Stage: Cost Models, Execution Timing and Break-Even</a:t>
            </a:r>
          </a:p>
        </p:txBody>
      </p:sp>
      <p:sp>
        <p:nvSpPr>
          <p:cNvPr id="10" name="TextBox 9"/>
          <p:cNvSpPr txBox="1"/>
          <p:nvPr/>
        </p:nvSpPr>
        <p:spPr>
          <a:xfrm>
            <a:off x="10287000" y="201168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A7, A8, K7</a:t>
            </a:r>
          </a:p>
        </p:txBody>
      </p:sp>
      <p:sp>
        <p:nvSpPr>
          <p:cNvPr id="11" name="TextBox 10"/>
          <p:cNvSpPr txBox="1"/>
          <p:nvPr/>
        </p:nvSpPr>
        <p:spPr>
          <a:xfrm>
            <a:off x="822960" y="235839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13:55 - 14:05</a:t>
            </a:r>
          </a:p>
        </p:txBody>
      </p:sp>
      <p:sp>
        <p:nvSpPr>
          <p:cNvPr id="12" name="TextBox 11"/>
          <p:cNvSpPr txBox="1"/>
          <p:nvPr/>
        </p:nvSpPr>
        <p:spPr>
          <a:xfrm>
            <a:off x="2377440" y="235839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T4.3 Forward Testing with Automated Paper Trading</a:t>
            </a:r>
          </a:p>
        </p:txBody>
      </p:sp>
      <p:sp>
        <p:nvSpPr>
          <p:cNvPr id="13" name="TextBox 12"/>
          <p:cNvSpPr txBox="1"/>
          <p:nvPr/>
        </p:nvSpPr>
        <p:spPr>
          <a:xfrm>
            <a:off x="10287000" y="235839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A7, A8</a:t>
            </a:r>
          </a:p>
        </p:txBody>
      </p:sp>
      <p:sp>
        <p:nvSpPr>
          <p:cNvPr id="14" name="TextBox 13"/>
          <p:cNvSpPr txBox="1"/>
          <p:nvPr/>
        </p:nvSpPr>
        <p:spPr>
          <a:xfrm>
            <a:off x="822960" y="270510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14:05 - 14:30</a:t>
            </a:r>
          </a:p>
        </p:txBody>
      </p:sp>
      <p:sp>
        <p:nvSpPr>
          <p:cNvPr id="15" name="TextBox 14"/>
          <p:cNvSpPr txBox="1"/>
          <p:nvPr/>
        </p:nvSpPr>
        <p:spPr>
          <a:xfrm>
            <a:off x="2377440" y="270510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16: Automation Stage: a Scheduled, Risk-Checked Forward Test and Live Paper Trading</a:t>
            </a:r>
          </a:p>
        </p:txBody>
      </p:sp>
      <p:sp>
        <p:nvSpPr>
          <p:cNvPr id="16" name="TextBox 15"/>
          <p:cNvSpPr txBox="1"/>
          <p:nvPr/>
        </p:nvSpPr>
        <p:spPr>
          <a:xfrm>
            <a:off x="10287000" y="270510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A7, A8, K7</a:t>
            </a:r>
          </a:p>
        </p:txBody>
      </p:sp>
      <p:sp>
        <p:nvSpPr>
          <p:cNvPr id="17" name="TextBox 16"/>
          <p:cNvSpPr txBox="1"/>
          <p:nvPr/>
        </p:nvSpPr>
        <p:spPr>
          <a:xfrm>
            <a:off x="822960" y="305181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14:30 - 14:50</a:t>
            </a:r>
          </a:p>
        </p:txBody>
      </p:sp>
      <p:sp>
        <p:nvSpPr>
          <p:cNvPr id="18" name="TextBox 17"/>
          <p:cNvSpPr txBox="1"/>
          <p:nvPr/>
        </p:nvSpPr>
        <p:spPr>
          <a:xfrm>
            <a:off x="2377440" y="305181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17: Event-Driven Automation: TradingView Webhook to Signal, Risk and Execution</a:t>
            </a:r>
          </a:p>
        </p:txBody>
      </p:sp>
      <p:sp>
        <p:nvSpPr>
          <p:cNvPr id="19" name="TextBox 18"/>
          <p:cNvSpPr txBox="1"/>
          <p:nvPr/>
        </p:nvSpPr>
        <p:spPr>
          <a:xfrm>
            <a:off x="10287000" y="305181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A7, K5, K7</a:t>
            </a:r>
          </a:p>
        </p:txBody>
      </p:sp>
      <p:sp>
        <p:nvSpPr>
          <p:cNvPr id="20" name="TextBox 19"/>
          <p:cNvSpPr txBox="1"/>
          <p:nvPr/>
        </p:nvSpPr>
        <p:spPr>
          <a:xfrm>
            <a:off x="822960" y="339852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14:50 - 15:00</a:t>
            </a:r>
          </a:p>
        </p:txBody>
      </p:sp>
      <p:sp>
        <p:nvSpPr>
          <p:cNvPr id="21" name="TextBox 20"/>
          <p:cNvSpPr txBox="1"/>
          <p:nvPr/>
        </p:nvSpPr>
        <p:spPr>
          <a:xfrm>
            <a:off x="2377440" y="339852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T4.4 Potential Reasons for Unintended Outcomes</a:t>
            </a:r>
          </a:p>
        </p:txBody>
      </p:sp>
      <p:sp>
        <p:nvSpPr>
          <p:cNvPr id="22" name="TextBox 21"/>
          <p:cNvSpPr txBox="1"/>
          <p:nvPr/>
        </p:nvSpPr>
        <p:spPr>
          <a:xfrm>
            <a:off x="10287000" y="339852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A9, K8</a:t>
            </a:r>
          </a:p>
        </p:txBody>
      </p:sp>
      <p:sp>
        <p:nvSpPr>
          <p:cNvPr id="23" name="TextBox 22"/>
          <p:cNvSpPr txBox="1"/>
          <p:nvPr/>
        </p:nvSpPr>
        <p:spPr>
          <a:xfrm>
            <a:off x="822960" y="374523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15:00 - 15:20</a:t>
            </a:r>
          </a:p>
        </p:txBody>
      </p:sp>
      <p:sp>
        <p:nvSpPr>
          <p:cNvPr id="24" name="TextBox 23"/>
          <p:cNvSpPr txBox="1"/>
          <p:nvPr/>
        </p:nvSpPr>
        <p:spPr>
          <a:xfrm>
            <a:off x="2377440" y="374523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18: Diagnostics Stage: Automated Bias Checks before Go-Live</a:t>
            </a:r>
          </a:p>
        </p:txBody>
      </p:sp>
      <p:sp>
        <p:nvSpPr>
          <p:cNvPr id="25" name="TextBox 24"/>
          <p:cNvSpPr txBox="1"/>
          <p:nvPr/>
        </p:nvSpPr>
        <p:spPr>
          <a:xfrm>
            <a:off x="10287000" y="374523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A9, K8</a:t>
            </a:r>
          </a:p>
        </p:txBody>
      </p:sp>
      <p:sp>
        <p:nvSpPr>
          <p:cNvPr id="26" name="Rectangle 25"/>
          <p:cNvSpPr/>
          <p:nvPr/>
        </p:nvSpPr>
        <p:spPr>
          <a:xfrm>
            <a:off x="777240" y="4091939"/>
            <a:ext cx="10634472" cy="3192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0120" y="4091939"/>
            <a:ext cx="10241280" cy="319277"/>
          </a:xfrm>
          <a:prstGeom prst="rect">
            <a:avLst/>
          </a:prstGeom>
          <a:noFill/>
        </p:spPr>
        <p:txBody>
          <a:bodyPr wrap="square" anchor="ctr">
            <a:spAutoFit/>
          </a:bodyPr>
          <a:lstStyle/>
          <a:p>
            <a:pPr algn="l">
              <a:spcAft>
                <a:spcPts val="400"/>
              </a:spcAft>
            </a:pPr>
            <a:r>
              <a:rPr sz="1050" b="1">
                <a:solidFill>
                  <a:srgbClr val="5B6372"/>
                </a:solidFill>
                <a:latin typeface="Arial"/>
              </a:rPr>
              <a:t>15:20 - 15:35      Tea Break</a:t>
            </a:r>
          </a:p>
        </p:txBody>
      </p:sp>
      <p:sp>
        <p:nvSpPr>
          <p:cNvPr id="28" name="TextBox 27"/>
          <p:cNvSpPr txBox="1"/>
          <p:nvPr/>
        </p:nvSpPr>
        <p:spPr>
          <a:xfrm>
            <a:off x="822960" y="443865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15:35 - 15:45</a:t>
            </a:r>
          </a:p>
        </p:txBody>
      </p:sp>
      <p:sp>
        <p:nvSpPr>
          <p:cNvPr id="29" name="TextBox 28"/>
          <p:cNvSpPr txBox="1"/>
          <p:nvPr/>
        </p:nvSpPr>
        <p:spPr>
          <a:xfrm>
            <a:off x="2377440" y="4438650"/>
            <a:ext cx="7863840" cy="319277"/>
          </a:xfrm>
          <a:prstGeom prst="rect">
            <a:avLst/>
          </a:prstGeom>
          <a:noFill/>
        </p:spPr>
        <p:txBody>
          <a:bodyPr wrap="square" anchor="ctr">
            <a:spAutoFit/>
          </a:bodyPr>
          <a:lstStyle/>
          <a:p>
            <a:pPr algn="l">
              <a:spcAft>
                <a:spcPts val="400"/>
              </a:spcAft>
            </a:pPr>
            <a:r>
              <a:rPr sz="1050" b="0">
                <a:solidFill>
                  <a:srgbClr val="161B26"/>
                </a:solidFill>
                <a:latin typeface="Arial"/>
              </a:rPr>
              <a:t>T4.5 Performance Analysis, Insights and Reporting</a:t>
            </a:r>
          </a:p>
        </p:txBody>
      </p:sp>
      <p:sp>
        <p:nvSpPr>
          <p:cNvPr id="30" name="TextBox 29"/>
          <p:cNvSpPr txBox="1"/>
          <p:nvPr/>
        </p:nvSpPr>
        <p:spPr>
          <a:xfrm>
            <a:off x="10287000" y="443865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A10</a:t>
            </a:r>
          </a:p>
        </p:txBody>
      </p:sp>
      <p:sp>
        <p:nvSpPr>
          <p:cNvPr id="31" name="TextBox 30"/>
          <p:cNvSpPr txBox="1"/>
          <p:nvPr/>
        </p:nvSpPr>
        <p:spPr>
          <a:xfrm>
            <a:off x="822960" y="478536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15:45 - 16:10</a:t>
            </a:r>
          </a:p>
        </p:txBody>
      </p:sp>
      <p:sp>
        <p:nvSpPr>
          <p:cNvPr id="32" name="TextBox 31"/>
          <p:cNvSpPr txBox="1"/>
          <p:nvPr/>
        </p:nvSpPr>
        <p:spPr>
          <a:xfrm>
            <a:off x="2377440" y="478536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19: Monitoring and Reporting Stage: Automated Tearsheet and Backtest-vs-Forward Report</a:t>
            </a:r>
          </a:p>
        </p:txBody>
      </p:sp>
      <p:sp>
        <p:nvSpPr>
          <p:cNvPr id="33" name="TextBox 32"/>
          <p:cNvSpPr txBox="1"/>
          <p:nvPr/>
        </p:nvSpPr>
        <p:spPr>
          <a:xfrm>
            <a:off x="10287000" y="478536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A8, A10</a:t>
            </a:r>
          </a:p>
        </p:txBody>
      </p:sp>
      <p:sp>
        <p:nvSpPr>
          <p:cNvPr id="34" name="TextBox 33"/>
          <p:cNvSpPr txBox="1"/>
          <p:nvPr/>
        </p:nvSpPr>
        <p:spPr>
          <a:xfrm>
            <a:off x="822960" y="513207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16:10 - 16:30</a:t>
            </a:r>
          </a:p>
        </p:txBody>
      </p:sp>
      <p:sp>
        <p:nvSpPr>
          <p:cNvPr id="35" name="TextBox 34"/>
          <p:cNvSpPr txBox="1"/>
          <p:nvPr/>
        </p:nvSpPr>
        <p:spPr>
          <a:xfrm>
            <a:off x="2377440" y="5132070"/>
            <a:ext cx="7863840" cy="319277"/>
          </a:xfrm>
          <a:prstGeom prst="rect">
            <a:avLst/>
          </a:prstGeom>
          <a:noFill/>
        </p:spPr>
        <p:txBody>
          <a:bodyPr wrap="square" anchor="ctr">
            <a:spAutoFit/>
          </a:bodyPr>
          <a:lstStyle/>
          <a:p>
            <a:pPr algn="l">
              <a:spcAft>
                <a:spcPts val="400"/>
              </a:spcAft>
            </a:pPr>
            <a:r>
              <a:rPr sz="1050" b="1">
                <a:solidFill>
                  <a:srgbClr val="10B981"/>
                </a:solidFill>
                <a:latin typeface="Arial"/>
              </a:rPr>
              <a:t>Lab 20: Capstone: One Command Runs the Pipeline End to End, with an Agentic Layer and Human Approval</a:t>
            </a:r>
          </a:p>
        </p:txBody>
      </p:sp>
      <p:sp>
        <p:nvSpPr>
          <p:cNvPr id="36" name="TextBox 35"/>
          <p:cNvSpPr txBox="1"/>
          <p:nvPr/>
        </p:nvSpPr>
        <p:spPr>
          <a:xfrm>
            <a:off x="10287000" y="513207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A7, A10, K1</a:t>
            </a:r>
          </a:p>
        </p:txBody>
      </p:sp>
      <p:sp>
        <p:nvSpPr>
          <p:cNvPr id="37" name="TextBox 36"/>
          <p:cNvSpPr txBox="1"/>
          <p:nvPr/>
        </p:nvSpPr>
        <p:spPr>
          <a:xfrm>
            <a:off x="822960" y="547878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16:30 - 17:15</a:t>
            </a:r>
          </a:p>
        </p:txBody>
      </p:sp>
      <p:sp>
        <p:nvSpPr>
          <p:cNvPr id="38" name="TextBox 37"/>
          <p:cNvSpPr txBox="1"/>
          <p:nvPr/>
        </p:nvSpPr>
        <p:spPr>
          <a:xfrm>
            <a:off x="2377440" y="5478780"/>
            <a:ext cx="7863840" cy="319277"/>
          </a:xfrm>
          <a:prstGeom prst="rect">
            <a:avLst/>
          </a:prstGeom>
          <a:noFill/>
        </p:spPr>
        <p:txBody>
          <a:bodyPr wrap="square" anchor="ctr">
            <a:spAutoFit/>
          </a:bodyPr>
          <a:lstStyle/>
          <a:p>
            <a:pPr algn="l">
              <a:spcAft>
                <a:spcPts val="400"/>
              </a:spcAft>
            </a:pPr>
            <a:r>
              <a:rPr sz="1050" b="1">
                <a:solidFill>
                  <a:srgbClr val="7C3AED"/>
                </a:solidFill>
                <a:latin typeface="Arial"/>
              </a:rPr>
              <a:t>Written Assessment (Short Answer Questions)</a:t>
            </a:r>
          </a:p>
        </p:txBody>
      </p:sp>
      <p:sp>
        <p:nvSpPr>
          <p:cNvPr id="39" name="TextBox 38"/>
          <p:cNvSpPr txBox="1"/>
          <p:nvPr/>
        </p:nvSpPr>
        <p:spPr>
          <a:xfrm>
            <a:off x="10287000" y="547878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K1 - K9</a:t>
            </a:r>
          </a:p>
        </p:txBody>
      </p:sp>
      <p:sp>
        <p:nvSpPr>
          <p:cNvPr id="40" name="TextBox 39"/>
          <p:cNvSpPr txBox="1"/>
          <p:nvPr/>
        </p:nvSpPr>
        <p:spPr>
          <a:xfrm>
            <a:off x="822960" y="5825490"/>
            <a:ext cx="1463040" cy="319277"/>
          </a:xfrm>
          <a:prstGeom prst="rect">
            <a:avLst/>
          </a:prstGeom>
          <a:noFill/>
        </p:spPr>
        <p:txBody>
          <a:bodyPr wrap="square" anchor="ctr">
            <a:spAutoFit/>
          </a:bodyPr>
          <a:lstStyle/>
          <a:p>
            <a:pPr algn="l">
              <a:spcAft>
                <a:spcPts val="400"/>
              </a:spcAft>
            </a:pPr>
            <a:r>
              <a:rPr sz="1000" b="1">
                <a:solidFill>
                  <a:srgbClr val="5B6372"/>
                </a:solidFill>
                <a:latin typeface="Arial"/>
              </a:rPr>
              <a:t>17:15 - 18:30</a:t>
            </a:r>
          </a:p>
        </p:txBody>
      </p:sp>
      <p:sp>
        <p:nvSpPr>
          <p:cNvPr id="41" name="TextBox 40"/>
          <p:cNvSpPr txBox="1"/>
          <p:nvPr/>
        </p:nvSpPr>
        <p:spPr>
          <a:xfrm>
            <a:off x="2377440" y="5825490"/>
            <a:ext cx="7863840" cy="319277"/>
          </a:xfrm>
          <a:prstGeom prst="rect">
            <a:avLst/>
          </a:prstGeom>
          <a:noFill/>
        </p:spPr>
        <p:txBody>
          <a:bodyPr wrap="square" anchor="ctr">
            <a:spAutoFit/>
          </a:bodyPr>
          <a:lstStyle/>
          <a:p>
            <a:pPr algn="l">
              <a:spcAft>
                <a:spcPts val="400"/>
              </a:spcAft>
            </a:pPr>
            <a:r>
              <a:rPr sz="1050" b="1">
                <a:solidFill>
                  <a:srgbClr val="7C3AED"/>
                </a:solidFill>
                <a:latin typeface="Arial"/>
              </a:rPr>
              <a:t>Practical Performance Assessment</a:t>
            </a:r>
          </a:p>
        </p:txBody>
      </p:sp>
      <p:sp>
        <p:nvSpPr>
          <p:cNvPr id="42" name="TextBox 41"/>
          <p:cNvSpPr txBox="1"/>
          <p:nvPr/>
        </p:nvSpPr>
        <p:spPr>
          <a:xfrm>
            <a:off x="10287000" y="5825490"/>
            <a:ext cx="1097280" cy="319277"/>
          </a:xfrm>
          <a:prstGeom prst="rect">
            <a:avLst/>
          </a:prstGeom>
          <a:noFill/>
        </p:spPr>
        <p:txBody>
          <a:bodyPr wrap="square" anchor="ctr">
            <a:spAutoFit/>
          </a:bodyPr>
          <a:lstStyle/>
          <a:p>
            <a:pPr algn="r">
              <a:spcAft>
                <a:spcPts val="400"/>
              </a:spcAft>
            </a:pPr>
            <a:r>
              <a:rPr sz="900" b="0">
                <a:solidFill>
                  <a:srgbClr val="5B6372"/>
                </a:solidFill>
                <a:latin typeface="Arial"/>
              </a:rPr>
              <a:t>A1 - A10</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BEFORE THE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Open book</a:t>
            </a:r>
          </a:p>
          <a:p>
            <a:pPr algn="l">
              <a:spcAft>
                <a:spcPts val="300"/>
              </a:spcAft>
            </a:pPr>
            <a:r>
              <a:rPr sz="1300" b="0">
                <a:solidFill>
                  <a:srgbClr val="5B6372"/>
                </a:solidFill>
                <a:latin typeface="Arial"/>
              </a:rPr>
              <a:t>You may use your Learner Guide, lab manuals and your own notes.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Two components</a:t>
            </a:r>
          </a:p>
          <a:p>
            <a:pPr algn="l">
              <a:spcAft>
                <a:spcPts val="300"/>
              </a:spcAft>
            </a:pPr>
            <a:r>
              <a:rPr sz="1300" b="0">
                <a:solidFill>
                  <a:srgbClr val="5B6372"/>
                </a:solidFill>
                <a:latin typeface="Arial"/>
              </a:rPr>
              <a:t>Written Assessment (45 min) and Practical Performance (75 min).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Both must be passed</a:t>
            </a:r>
          </a:p>
          <a:p>
            <a:pPr algn="l">
              <a:spcAft>
                <a:spcPts val="300"/>
              </a:spcAft>
            </a:pPr>
            <a:r>
              <a:rPr sz="1300" b="0">
                <a:solidFill>
                  <a:srgbClr val="5B6372"/>
                </a:solidFill>
                <a:latin typeface="Arial"/>
              </a:rPr>
              <a:t>Competent in BOTH is required to be awarded the module.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All your own work</a:t>
            </a:r>
          </a:p>
          <a:p>
            <a:pPr algn="l">
              <a:spcAft>
                <a:spcPts val="300"/>
              </a:spcAft>
            </a:pPr>
            <a:r>
              <a:rPr sz="1300" b="0">
                <a:solidFill>
                  <a:srgbClr val="5B6372"/>
                </a:solidFill>
                <a:latin typeface="Arial"/>
              </a:rPr>
              <a:t>Collaboration results in a Not Yet Competent outcome.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Ask if unclear</a:t>
            </a:r>
          </a:p>
          <a:p>
            <a:pPr algn="l">
              <a:spcAft>
                <a:spcPts val="300"/>
              </a:spcAft>
            </a:pPr>
            <a:r>
              <a:rPr sz="1300" b="0">
                <a:solidFill>
                  <a:srgbClr val="5B6372"/>
                </a:solidFill>
                <a:latin typeface="Arial"/>
              </a:rPr>
              <a:t>The assessor can explain a question, but not how to answer it.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Not Yet Competent?</a:t>
            </a:r>
          </a:p>
          <a:p>
            <a:pPr algn="l">
              <a:spcAft>
                <a:spcPts val="300"/>
              </a:spcAft>
            </a:pPr>
            <a:r>
              <a:rPr sz="1300" b="0">
                <a:solidFill>
                  <a:srgbClr val="5B6372"/>
                </a:solidFill>
                <a:latin typeface="Arial"/>
              </a:rPr>
              <a:t>You will be counselled on the gaps and offered a re-assessment.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Final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5180076"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518007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4741164" cy="548640"/>
          </a:xfrm>
          <a:prstGeom prst="rect">
            <a:avLst/>
          </a:prstGeom>
          <a:noFill/>
        </p:spPr>
        <p:txBody>
          <a:bodyPr wrap="square" anchor="t">
            <a:spAutoFit/>
          </a:bodyPr>
          <a:lstStyle/>
          <a:p>
            <a:pPr algn="l">
              <a:spcAft>
                <a:spcPts val="400"/>
              </a:spcAft>
            </a:pPr>
            <a:r>
              <a:rPr sz="1600" b="1">
                <a:solidFill>
                  <a:srgbClr val="1F6FEB"/>
                </a:solidFill>
                <a:latin typeface="Arial"/>
              </a:rPr>
              <a:t>Written Assessment</a:t>
            </a:r>
          </a:p>
        </p:txBody>
      </p:sp>
      <p:sp>
        <p:nvSpPr>
          <p:cNvPr id="10" name="TextBox 9"/>
          <p:cNvSpPr txBox="1"/>
          <p:nvPr/>
        </p:nvSpPr>
        <p:spPr>
          <a:xfrm>
            <a:off x="996696"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Short Answer Questions · 45 minutes · open book.
9 open-ended questions — one for each knowledge statement K1 - K9.
No multiple-choice questions.</a:t>
            </a:r>
          </a:p>
        </p:txBody>
      </p:sp>
      <p:sp>
        <p:nvSpPr>
          <p:cNvPr id="11" name="Rectangle 10"/>
          <p:cNvSpPr/>
          <p:nvPr/>
        </p:nvSpPr>
        <p:spPr>
          <a:xfrm>
            <a:off x="6231636" y="1965960"/>
            <a:ext cx="5180076"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965960"/>
            <a:ext cx="518007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1092" y="2331720"/>
            <a:ext cx="4741164" cy="548640"/>
          </a:xfrm>
          <a:prstGeom prst="rect">
            <a:avLst/>
          </a:prstGeom>
          <a:noFill/>
        </p:spPr>
        <p:txBody>
          <a:bodyPr wrap="square" anchor="t">
            <a:spAutoFit/>
          </a:bodyPr>
          <a:lstStyle/>
          <a:p>
            <a:pPr algn="l">
              <a:spcAft>
                <a:spcPts val="400"/>
              </a:spcAft>
            </a:pPr>
            <a:r>
              <a:rPr sz="1600" b="1">
                <a:solidFill>
                  <a:srgbClr val="10B981"/>
                </a:solidFill>
                <a:latin typeface="Arial"/>
              </a:rPr>
              <a:t>Practical Performance</a:t>
            </a:r>
          </a:p>
        </p:txBody>
      </p:sp>
      <p:sp>
        <p:nvSpPr>
          <p:cNvPr id="14" name="TextBox 13"/>
          <p:cNvSpPr txBox="1"/>
          <p:nvPr/>
        </p:nvSpPr>
        <p:spPr>
          <a:xfrm>
            <a:off x="6451092"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Configure and run the provided trading program - no coding · 75 minutes · open book.
4 practical tasks covering ability statements A1 - A10.
A new trading scenario, using the same pipeline tool-kit as the labs.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4343"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1" name="TextBox 10"/>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the assessment attendance record</a:t>
            </a:r>
          </a:p>
        </p:txBody>
      </p:sp>
      <p:sp>
        <p:nvSpPr>
          <p:cNvPr id="12" name="TextBox 11"/>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13" name="Rectangle 12"/>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6101"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7" name="TextBox 16"/>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Assessor briefing (not assessed)</a:t>
            </a:r>
          </a:p>
        </p:txBody>
      </p:sp>
      <p:sp>
        <p:nvSpPr>
          <p:cNvPr id="18" name="TextBox 17"/>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19" name="Rectangle 18"/>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37859"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3" name="TextBox 22"/>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Sit the WA (45 min) then the PP (75 min) — open book</a:t>
            </a:r>
          </a:p>
        </p:txBody>
      </p:sp>
      <p:sp>
        <p:nvSpPr>
          <p:cNvPr id="24" name="TextBox 23"/>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5" name="Rectangle 24"/>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22514"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19617"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29" name="TextBox 28"/>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Submit your answers on the LMS</a:t>
            </a:r>
          </a:p>
        </p:txBody>
      </p:sp>
      <p:sp>
        <p:nvSpPr>
          <p:cNvPr id="30" name="TextBox 29"/>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31" name="Rectangle 30"/>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04272"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01375"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5" name="TextBox 34"/>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the Assessment Summary Record</a:t>
            </a:r>
          </a:p>
        </p:txBody>
      </p:sp>
      <p:sp>
        <p:nvSpPr>
          <p:cNvPr id="36" name="Rectangle 3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77240" y="5257800"/>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Both components are open book. You must be Competent in BOTH to be awarded the module.</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8778240" cy="457200"/>
          </a:xfrm>
          <a:prstGeom prst="rect">
            <a:avLst/>
          </a:prstGeom>
          <a:noFill/>
        </p:spPr>
        <p:txBody>
          <a:bodyPr wrap="square" anchor="t">
            <a:spAutoFit/>
          </a:bodyPr>
          <a:lstStyle/>
          <a:p>
            <a:pPr algn="l">
              <a:spcAft>
                <a:spcPts val="400"/>
              </a:spcAft>
            </a:pPr>
            <a:r>
              <a:rPr sz="1600" b="1">
                <a:solidFill>
                  <a:srgbClr val="1F6FEB"/>
                </a:solidFill>
                <a:latin typeface="Arial"/>
              </a:rPr>
              <a:t>GETTING STARTED</a:t>
            </a:r>
          </a:p>
        </p:txBody>
      </p:sp>
      <p:sp>
        <p:nvSpPr>
          <p:cNvPr id="5" name="TextBox 4"/>
          <p:cNvSpPr txBox="1"/>
          <p:nvPr/>
        </p:nvSpPr>
        <p:spPr>
          <a:xfrm>
            <a:off x="1188720" y="2331720"/>
            <a:ext cx="9509760" cy="914400"/>
          </a:xfrm>
          <a:prstGeom prst="rect">
            <a:avLst/>
          </a:prstGeom>
          <a:noFill/>
        </p:spPr>
        <p:txBody>
          <a:bodyPr wrap="square" anchor="t">
            <a:spAutoFit/>
          </a:bodyPr>
          <a:lstStyle/>
          <a:p>
            <a:pPr algn="l">
              <a:spcAft>
                <a:spcPts val="400"/>
              </a:spcAft>
            </a:pPr>
            <a:r>
              <a:rPr sz="4000" b="1">
                <a:solidFill>
                  <a:srgbClr val="161B26"/>
                </a:solidFill>
                <a:latin typeface="Arial"/>
              </a:rPr>
              <a:t>Set Up Alpaca and TradingView</a:t>
            </a:r>
          </a:p>
        </p:txBody>
      </p:sp>
      <p:sp>
        <p:nvSpPr>
          <p:cNvPr id="6" name="Rectangle 5"/>
          <p:cNvSpPr/>
          <p:nvPr/>
        </p:nvSpPr>
        <p:spPr>
          <a:xfrm>
            <a:off x="1188720" y="3429000"/>
            <a:ext cx="95097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8720" y="3429000"/>
            <a:ext cx="82296" cy="1234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429000"/>
            <a:ext cx="9052560" cy="1234440"/>
          </a:xfrm>
          <a:prstGeom prst="rect">
            <a:avLst/>
          </a:prstGeom>
          <a:noFill/>
        </p:spPr>
        <p:txBody>
          <a:bodyPr wrap="square" anchor="ctr">
            <a:spAutoFit/>
          </a:bodyPr>
          <a:lstStyle/>
          <a:p>
            <a:pPr algn="l">
              <a:spcAft>
                <a:spcPts val="400"/>
              </a:spcAft>
            </a:pPr>
            <a:r>
              <a:rPr sz="1050" b="1">
                <a:solidFill>
                  <a:srgbClr val="1F6FEB"/>
                </a:solidFill>
                <a:latin typeface="Arial"/>
              </a:rPr>
              <a:t>LEARNING OUTCOME</a:t>
            </a:r>
          </a:p>
          <a:p>
            <a:pPr algn="l">
              <a:spcAft>
                <a:spcPts val="400"/>
              </a:spcAft>
            </a:pPr>
            <a:r>
              <a:rPr sz="1350" b="0">
                <a:solidFill>
                  <a:srgbClr val="161B26"/>
                </a:solidFill>
                <a:latin typeface="Arial"/>
              </a:rPr>
              <a:t>Install the Trading Simulator and create the free accounts every lab uses. Everything runs on paper — no real money at any point.</a:t>
            </a:r>
          </a:p>
        </p:txBody>
      </p:sp>
      <p:sp>
        <p:nvSpPr>
          <p:cNvPr id="9" name="TextBox 8"/>
          <p:cNvSpPr txBox="1"/>
          <p:nvPr/>
        </p:nvSpPr>
        <p:spPr>
          <a:xfrm>
            <a:off x="9692640" y="914400"/>
            <a:ext cx="2011680" cy="2011680"/>
          </a:xfrm>
          <a:prstGeom prst="rect">
            <a:avLst/>
          </a:prstGeom>
          <a:noFill/>
        </p:spPr>
        <p:txBody>
          <a:bodyPr wrap="square" anchor="t">
            <a:spAutoFit/>
          </a:bodyPr>
          <a:lstStyle/>
          <a:p>
            <a:pPr algn="r">
              <a:spcAft>
                <a:spcPts val="400"/>
              </a:spcAft>
            </a:pPr>
            <a:r>
              <a:rPr sz="9600" b="1">
                <a:solidFill>
                  <a:srgbClr val="F5F8FC"/>
                </a:solidFill>
                <a:latin typeface="Arial"/>
              </a:rPr>
              <a:t>01</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Download, Install and Start the Trading Simulator Software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Full step-by-step guide: Learner Guide, 'Platform Guides'.</a:t>
            </a:r>
          </a:p>
        </p:txBody>
      </p:sp>
      <p:sp>
        <p:nvSpPr>
          <p:cNvPr id="8" name="Rectangle 7"/>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9253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2" name="TextBox 11"/>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Install Docker Desktop - or Python 3.11+ and uv</a:t>
            </a:r>
          </a:p>
        </p:txBody>
      </p:sp>
      <p:sp>
        <p:nvSpPr>
          <p:cNvPr id="13" name="TextBox 12"/>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4" name="Rectangle 13"/>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95372"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10662"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8" name="TextBox 17"/>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Download the simulator: GitHub &gt; Code &gt; Download ZIP</a:t>
            </a:r>
          </a:p>
        </p:txBody>
      </p:sp>
      <p:sp>
        <p:nvSpPr>
          <p:cNvPr id="19" name="TextBox 18"/>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0" name="Rectangle 19"/>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3504"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828794"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4" name="TextBox 23"/>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Start it: docker compose up -d  (or uv sync, then uv run trader serve --with-worker)</a:t>
            </a:r>
          </a:p>
        </p:txBody>
      </p:sp>
      <p:sp>
        <p:nvSpPr>
          <p:cNvPr id="25" name="TextBox 24"/>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6" name="Rectangle 25"/>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31636"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646926"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0" name="TextBox 29"/>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Load the demo data: Settings &gt; Load demo data</a:t>
            </a:r>
          </a:p>
        </p:txBody>
      </p:sp>
      <p:sp>
        <p:nvSpPr>
          <p:cNvPr id="31" name="TextBox 30"/>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2" name="Rectangle 31"/>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465058"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6" name="TextBox 35"/>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Open http://localhost:8000 &gt; Course Labs</a:t>
            </a:r>
          </a:p>
        </p:txBody>
      </p:sp>
      <p:sp>
        <p:nvSpPr>
          <p:cNvPr id="37" name="TextBox 36"/>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8" name="Rectangle 37"/>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86790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28319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2" name="TextBox 41"/>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Keys: Integrations page (no files to edit)</a:t>
            </a:r>
          </a:p>
        </p:txBody>
      </p:sp>
      <p:sp>
        <p:nvSpPr>
          <p:cNvPr id="43" name="Rectangle 42"/>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Simulator: github.com/alfredang/algorithmic-trader-bot - the README has the full start-up steps and troubleshooting.</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Trading Simulator — Pipeline Map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pipeline_map.png"/>
          <p:cNvPicPr>
            <a:picLocks noChangeAspect="1"/>
          </p:cNvPicPr>
          <p:nvPr/>
        </p:nvPicPr>
        <p:blipFill>
          <a:blip r:embed="rId2"/>
          <a:stretch>
            <a:fillRect/>
          </a:stretch>
        </p:blipFill>
        <p:spPr>
          <a:xfrm>
            <a:off x="2491013" y="2057400"/>
            <a:ext cx="7209668" cy="3520440"/>
          </a:xfrm>
          <a:prstGeom prst="rect">
            <a:avLst/>
          </a:prstGeom>
        </p:spPr>
      </p:pic>
      <p:sp>
        <p:nvSpPr>
          <p:cNvPr id="8" name="Rectangle 7"/>
          <p:cNvSpPr/>
          <p:nvPr/>
        </p:nvSpPr>
        <p:spPr>
          <a:xfrm>
            <a:off x="2480040" y="2046427"/>
            <a:ext cx="7231613"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2414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Once the simulator is running, Pipeline Map shows every stage of the automated pipeline and its live state. Click a stage to see its most recent activity.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Sign Up for Alpaca and Open the Paper-Trading Account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Full step-by-step guide: Learner Guide, 'Platform Guides'.</a:t>
            </a:r>
          </a:p>
        </p:txBody>
      </p:sp>
      <p:sp>
        <p:nvSpPr>
          <p:cNvPr id="8" name="Rectangle 7"/>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374343"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2" name="TextBox 11"/>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up at alpaca.markets and verify your email</a:t>
            </a:r>
          </a:p>
        </p:txBody>
      </p:sp>
      <p:sp>
        <p:nvSpPr>
          <p:cNvPr id="13" name="TextBox 12"/>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4" name="Rectangle 13"/>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8998"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56101"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8" name="TextBox 17"/>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Log in; choose 'Paper Trading' (upper left)</a:t>
            </a:r>
          </a:p>
        </p:txBody>
      </p:sp>
      <p:sp>
        <p:nvSpPr>
          <p:cNvPr id="19" name="TextBox 18"/>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0" name="Rectangle 19"/>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37859"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4" name="TextBox 23"/>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API section: generate key - copy the secret once</a:t>
            </a:r>
          </a:p>
        </p:txBody>
      </p:sp>
      <p:sp>
        <p:nvSpPr>
          <p:cNvPr id="25" name="TextBox 24"/>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6" name="Rectangle 25"/>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919617"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0" name="TextBox 29"/>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Simulator: Integrations &gt; Alpaca &gt; paste &gt; Save &amp; test</a:t>
            </a:r>
          </a:p>
        </p:txBody>
      </p:sp>
      <p:sp>
        <p:nvSpPr>
          <p:cNvPr id="31" name="TextBox 30"/>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2" name="Rectangle 31"/>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504272"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101375"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6" name="TextBox 35"/>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Test connection: 'Paper account ACTIVE'</a:t>
            </a:r>
          </a:p>
        </p:txBody>
      </p:sp>
      <p:sp>
        <p:nvSpPr>
          <p:cNvPr id="37" name="Rectangle 36"/>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No funding needed. Paper keys only work on paper-api.alpaca.markets. No account? Every lab also runs offline.</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Your Alpaca Paper-Trading Dashboard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lpaca_paper_home.png"/>
          <p:cNvPicPr>
            <a:picLocks noChangeAspect="1"/>
          </p:cNvPicPr>
          <p:nvPr/>
        </p:nvPicPr>
        <p:blipFill>
          <a:blip r:embed="rId2"/>
          <a:stretch>
            <a:fillRect/>
          </a:stretch>
        </p:blipFill>
        <p:spPr>
          <a:xfrm>
            <a:off x="1701184" y="2057400"/>
            <a:ext cx="8789325" cy="3520440"/>
          </a:xfrm>
          <a:prstGeom prst="rect">
            <a:avLst/>
          </a:prstGeom>
        </p:spPr>
      </p:pic>
      <p:sp>
        <p:nvSpPr>
          <p:cNvPr id="8" name="Rectangle 7"/>
          <p:cNvSpPr/>
          <p:nvPr/>
        </p:nvSpPr>
        <p:spPr>
          <a:xfrm>
            <a:off x="1690211" y="2046427"/>
            <a:ext cx="8811271"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2414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Check that the account selector shows 'Paper'. The banner confirms that no real money is being used. The API keys for the labs are generated from this account.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Connect Alpaca to the Simulator — Integrations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integrations.png"/>
          <p:cNvPicPr>
            <a:picLocks noChangeAspect="1"/>
          </p:cNvPicPr>
          <p:nvPr/>
        </p:nvPicPr>
        <p:blipFill>
          <a:blip r:embed="rId2"/>
          <a:stretch>
            <a:fillRect/>
          </a:stretch>
        </p:blipFill>
        <p:spPr>
          <a:xfrm>
            <a:off x="1977491" y="2057400"/>
            <a:ext cx="8236712" cy="3520440"/>
          </a:xfrm>
          <a:prstGeom prst="rect">
            <a:avLst/>
          </a:prstGeom>
        </p:spPr>
      </p:pic>
      <p:sp>
        <p:nvSpPr>
          <p:cNvPr id="8" name="Rectangle 7"/>
          <p:cNvSpPr/>
          <p:nvPr/>
        </p:nvSpPr>
        <p:spPr>
          <a:xfrm>
            <a:off x="1966518" y="2046427"/>
            <a:ext cx="8258657"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2414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Paste the paper Key ID and Secret into the Alpaca card, then press Save &amp; test. Keys stay on your computer and are only shown masked. Without keys, every lab still runs offline.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Sign Up for TradingView and Find the Tools You Will Use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Full step-by-step guide: Learner Guide, 'Platform Guides'.</a:t>
            </a:r>
          </a:p>
        </p:txBody>
      </p:sp>
      <p:sp>
        <p:nvSpPr>
          <p:cNvPr id="8" name="Rectangle 7"/>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374343"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2" name="TextBox 11"/>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up at tradingview.com (email, Google or Apple)</a:t>
            </a:r>
          </a:p>
        </p:txBody>
      </p:sp>
      <p:sp>
        <p:nvSpPr>
          <p:cNvPr id="13" name="TextBox 12"/>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4" name="Rectangle 13"/>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8998"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56101"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8" name="TextBox 17"/>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Keep the free plan</a:t>
            </a:r>
          </a:p>
        </p:txBody>
      </p:sp>
      <p:sp>
        <p:nvSpPr>
          <p:cNvPr id="19" name="TextBox 18"/>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0" name="Rectangle 19"/>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40756"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737859"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4" name="TextBox 23"/>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Products &gt; Supercharts; search NASDAQ:AAPL or SGX:D05</a:t>
            </a:r>
          </a:p>
        </p:txBody>
      </p:sp>
      <p:sp>
        <p:nvSpPr>
          <p:cNvPr id="25" name="TextBox 24"/>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6" name="Rectangle 25"/>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22514"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919617"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0" name="TextBox 29"/>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Set time zone to Singapore</a:t>
            </a:r>
          </a:p>
        </p:txBody>
      </p:sp>
      <p:sp>
        <p:nvSpPr>
          <p:cNvPr id="31" name="TextBox 30"/>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2" name="Rectangle 31"/>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504272"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101375"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6" name="TextBox 35"/>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Find Indicators, Pine Editor, Strategy Tester, Trade</a:t>
            </a:r>
          </a:p>
        </p:txBody>
      </p:sp>
      <p:sp>
        <p:nvSpPr>
          <p:cNvPr id="37" name="Rectangle 36"/>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The free plan covers Labs 2, 5 and 6. Webhook alerts in Lab 17 need a paid plan - the lab includes a local simulator.</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TradingView — Chart, Watchlist and Symbol Panel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radingview_chart.png"/>
          <p:cNvPicPr>
            <a:picLocks noChangeAspect="1"/>
          </p:cNvPicPr>
          <p:nvPr/>
        </p:nvPicPr>
        <p:blipFill>
          <a:blip r:embed="rId2"/>
          <a:stretch>
            <a:fillRect/>
          </a:stretch>
        </p:blipFill>
        <p:spPr>
          <a:xfrm>
            <a:off x="2493368" y="2057400"/>
            <a:ext cx="7204958" cy="3520440"/>
          </a:xfrm>
          <a:prstGeom prst="rect">
            <a:avLst/>
          </a:prstGeom>
        </p:spPr>
      </p:pic>
      <p:sp>
        <p:nvSpPr>
          <p:cNvPr id="8" name="Rectangle 7"/>
          <p:cNvSpPr/>
          <p:nvPr/>
        </p:nvSpPr>
        <p:spPr>
          <a:xfrm>
            <a:off x="2482395" y="2046427"/>
            <a:ext cx="7226903"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72414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Search for a symbol, pick the interval, and add Indicators. Pine Script and the Strategy Tester open from the panel below the chart, and Trade opens Paper Trading.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GETTING STARTED · LOW CODE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No Coding Needed - and a Prompt Library if You Want the Code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3361944"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336194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923032" cy="548640"/>
          </a:xfrm>
          <a:prstGeom prst="rect">
            <a:avLst/>
          </a:prstGeom>
          <a:noFill/>
        </p:spPr>
        <p:txBody>
          <a:bodyPr wrap="square" anchor="t">
            <a:spAutoFit/>
          </a:bodyPr>
          <a:lstStyle/>
          <a:p>
            <a:pPr algn="l">
              <a:spcAft>
                <a:spcPts val="400"/>
              </a:spcAft>
            </a:pPr>
            <a:r>
              <a:rPr sz="1600" b="1">
                <a:solidFill>
                  <a:srgbClr val="1F6FEB"/>
                </a:solidFill>
                <a:latin typeface="Arial"/>
              </a:rPr>
              <a:t>Every lab, no code</a:t>
            </a:r>
          </a:p>
        </p:txBody>
      </p:sp>
      <p:sp>
        <p:nvSpPr>
          <p:cNvPr id="10" name="TextBox 9"/>
          <p:cNvSpPr txBox="1"/>
          <p:nvPr/>
        </p:nvSpPr>
        <p:spPr>
          <a:xfrm>
            <a:off x="996696"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Each lab runs in the Trading Simulator: choose settings, press Run, read the result. The lab manual gives every step and check.</a:t>
            </a:r>
          </a:p>
        </p:txBody>
      </p:sp>
      <p:sp>
        <p:nvSpPr>
          <p:cNvPr id="11" name="Rectangle 10"/>
          <p:cNvSpPr/>
          <p:nvPr/>
        </p:nvSpPr>
        <p:spPr>
          <a:xfrm>
            <a:off x="4413504" y="1965960"/>
            <a:ext cx="3361944"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965960"/>
            <a:ext cx="336194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2960" y="2331720"/>
            <a:ext cx="2923032" cy="548640"/>
          </a:xfrm>
          <a:prstGeom prst="rect">
            <a:avLst/>
          </a:prstGeom>
          <a:noFill/>
        </p:spPr>
        <p:txBody>
          <a:bodyPr wrap="square" anchor="t">
            <a:spAutoFit/>
          </a:bodyPr>
          <a:lstStyle/>
          <a:p>
            <a:pPr algn="l">
              <a:spcAft>
                <a:spcPts val="400"/>
              </a:spcAft>
            </a:pPr>
            <a:r>
              <a:rPr sz="1600" b="1">
                <a:solidFill>
                  <a:srgbClr val="10B981"/>
                </a:solidFill>
                <a:latin typeface="Arial"/>
              </a:rPr>
              <a:t>Want to see the code?</a:t>
            </a:r>
          </a:p>
        </p:txBody>
      </p:sp>
      <p:sp>
        <p:nvSpPr>
          <p:cNvPr id="14" name="TextBox 13"/>
          <p:cNvSpPr txBox="1"/>
          <p:nvPr/>
        </p:nvSpPr>
        <p:spPr>
          <a:xfrm>
            <a:off x="4632960"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labs_lowcode/Prompt_Library.html has one prompt per lab. One click opens Claude or ChatGPT with the prompt filled in - the AI writes the code for you.</a:t>
            </a:r>
          </a:p>
        </p:txBody>
      </p:sp>
      <p:sp>
        <p:nvSpPr>
          <p:cNvPr id="15" name="Rectangle 14"/>
          <p:cNvSpPr/>
          <p:nvPr/>
        </p:nvSpPr>
        <p:spPr>
          <a:xfrm>
            <a:off x="8049768" y="1965960"/>
            <a:ext cx="3361944"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9768" y="1965960"/>
            <a:ext cx="336194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9224" y="2331720"/>
            <a:ext cx="2923032" cy="548640"/>
          </a:xfrm>
          <a:prstGeom prst="rect">
            <a:avLst/>
          </a:prstGeom>
          <a:noFill/>
        </p:spPr>
        <p:txBody>
          <a:bodyPr wrap="square" anchor="t">
            <a:spAutoFit/>
          </a:bodyPr>
          <a:lstStyle/>
          <a:p>
            <a:pPr algn="l">
              <a:spcAft>
                <a:spcPts val="400"/>
              </a:spcAft>
            </a:pPr>
            <a:r>
              <a:rPr sz="1600" b="1">
                <a:solidFill>
                  <a:srgbClr val="7C3AED"/>
                </a:solidFill>
                <a:latin typeface="Arial"/>
              </a:rPr>
              <a:t>Run it without installing</a:t>
            </a:r>
          </a:p>
        </p:txBody>
      </p:sp>
      <p:sp>
        <p:nvSpPr>
          <p:cNvPr id="18" name="TextBox 17"/>
          <p:cNvSpPr txBox="1"/>
          <p:nvPr/>
        </p:nvSpPr>
        <p:spPr>
          <a:xfrm>
            <a:off x="8269224"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Paste the code into Google Colab and press Run, or paste a strategy into the simulator's Strategy Builder. Never paste API keys into an AI chat.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920240"/>
            <a:ext cx="9692640" cy="365760"/>
          </a:xfrm>
          <a:prstGeom prst="rect">
            <a:avLst/>
          </a:prstGeom>
          <a:noFill/>
        </p:spPr>
        <p:txBody>
          <a:bodyPr wrap="square" anchor="t">
            <a:spAutoFit/>
          </a:bodyPr>
          <a:lstStyle/>
          <a:p>
            <a:pPr algn="l">
              <a:spcAft>
                <a:spcPts val="400"/>
              </a:spcAft>
            </a:pPr>
            <a:r>
              <a:rPr sz="1400" b="1">
                <a:solidFill>
                  <a:srgbClr val="10B981"/>
                </a:solidFill>
                <a:latin typeface="Arial"/>
              </a:rPr>
              <a:t>PLATFORM · THE IDEA THAT MATTERS MOST</a:t>
            </a:r>
          </a:p>
        </p:txBody>
      </p:sp>
      <p:sp>
        <p:nvSpPr>
          <p:cNvPr id="5" name="TextBox 4"/>
          <p:cNvSpPr txBox="1"/>
          <p:nvPr/>
        </p:nvSpPr>
        <p:spPr>
          <a:xfrm>
            <a:off x="1188720" y="2377440"/>
            <a:ext cx="9692640" cy="1645920"/>
          </a:xfrm>
          <a:prstGeom prst="rect">
            <a:avLst/>
          </a:prstGeom>
          <a:noFill/>
        </p:spPr>
        <p:txBody>
          <a:bodyPr wrap="square" anchor="t">
            <a:spAutoFit/>
          </a:bodyPr>
          <a:lstStyle/>
          <a:p>
            <a:pPr algn="l">
              <a:spcAft>
                <a:spcPts val="400"/>
              </a:spcAft>
            </a:pPr>
            <a:r>
              <a:rPr sz="3400" b="1">
                <a:solidFill>
                  <a:srgbClr val="161B26"/>
                </a:solidFill>
                <a:latin typeface="Arial"/>
              </a:rPr>
              <a:t>Paper first. Always.</a:t>
            </a:r>
          </a:p>
        </p:txBody>
      </p:sp>
      <p:sp>
        <p:nvSpPr>
          <p:cNvPr id="6" name="TextBox 5"/>
          <p:cNvSpPr txBox="1"/>
          <p:nvPr/>
        </p:nvSpPr>
        <p:spPr>
          <a:xfrm>
            <a:off x="1188720" y="4206240"/>
            <a:ext cx="9692640" cy="1097280"/>
          </a:xfrm>
          <a:prstGeom prst="rect">
            <a:avLst/>
          </a:prstGeom>
          <a:noFill/>
        </p:spPr>
        <p:txBody>
          <a:bodyPr wrap="square" anchor="t">
            <a:spAutoFit/>
          </a:bodyPr>
          <a:lstStyle/>
          <a:p>
            <a:pPr algn="l">
              <a:spcAft>
                <a:spcPts val="400"/>
              </a:spcAft>
            </a:pPr>
            <a:r>
              <a:rPr sz="1600" b="0">
                <a:solidFill>
                  <a:srgbClr val="5B6372"/>
                </a:solidFill>
                <a:latin typeface="Arial"/>
              </a:rPr>
              <a:t>Every strategy in this course is tested on history, then forward-tested on a paper account with automatic orders, before anyone would consider real capital. That discipline is the course.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8778240" cy="457200"/>
          </a:xfrm>
          <a:prstGeom prst="rect">
            <a:avLst/>
          </a:prstGeom>
          <a:noFill/>
        </p:spPr>
        <p:txBody>
          <a:bodyPr wrap="square" anchor="t">
            <a:spAutoFit/>
          </a:bodyPr>
          <a:lstStyle/>
          <a:p>
            <a:pPr algn="l">
              <a:spcAft>
                <a:spcPts val="400"/>
              </a:spcAft>
            </a:pPr>
            <a:r>
              <a:rPr sz="1600" b="1">
                <a:solidFill>
                  <a:srgbClr val="1F6FEB"/>
                </a:solidFill>
                <a:latin typeface="Arial"/>
              </a:rPr>
              <a:t>TOPIC 1</a:t>
            </a:r>
          </a:p>
        </p:txBody>
      </p:sp>
      <p:sp>
        <p:nvSpPr>
          <p:cNvPr id="5" name="TextBox 4"/>
          <p:cNvSpPr txBox="1"/>
          <p:nvPr/>
        </p:nvSpPr>
        <p:spPr>
          <a:xfrm>
            <a:off x="1188720" y="2331720"/>
            <a:ext cx="9509760" cy="914400"/>
          </a:xfrm>
          <a:prstGeom prst="rect">
            <a:avLst/>
          </a:prstGeom>
          <a:noFill/>
        </p:spPr>
        <p:txBody>
          <a:bodyPr wrap="square" anchor="t">
            <a:spAutoFit/>
          </a:bodyPr>
          <a:lstStyle/>
          <a:p>
            <a:pPr algn="l">
              <a:spcAft>
                <a:spcPts val="400"/>
              </a:spcAft>
            </a:pPr>
            <a:r>
              <a:rPr sz="4000" b="1">
                <a:solidFill>
                  <a:srgbClr val="161B26"/>
                </a:solidFill>
                <a:latin typeface="Arial"/>
              </a:rPr>
              <a:t>Quant and Algo Trading Foundations</a:t>
            </a:r>
          </a:p>
        </p:txBody>
      </p:sp>
      <p:sp>
        <p:nvSpPr>
          <p:cNvPr id="6" name="Rectangle 5"/>
          <p:cNvSpPr/>
          <p:nvPr/>
        </p:nvSpPr>
        <p:spPr>
          <a:xfrm>
            <a:off x="1188720" y="3429000"/>
            <a:ext cx="95097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8720" y="3429000"/>
            <a:ext cx="82296" cy="1234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429000"/>
            <a:ext cx="9052560" cy="1234440"/>
          </a:xfrm>
          <a:prstGeom prst="rect">
            <a:avLst/>
          </a:prstGeom>
          <a:noFill/>
        </p:spPr>
        <p:txBody>
          <a:bodyPr wrap="square" anchor="ctr">
            <a:spAutoFit/>
          </a:bodyPr>
          <a:lstStyle/>
          <a:p>
            <a:pPr algn="l">
              <a:spcAft>
                <a:spcPts val="400"/>
              </a:spcAft>
            </a:pPr>
            <a:r>
              <a:rPr sz="1050" b="1">
                <a:solidFill>
                  <a:srgbClr val="1F6FEB"/>
                </a:solidFill>
                <a:latin typeface="Arial"/>
              </a:rPr>
              <a:t>LEARNING OUTCOME</a:t>
            </a:r>
          </a:p>
          <a:p>
            <a:pPr algn="l">
              <a:spcAft>
                <a:spcPts val="400"/>
              </a:spcAft>
            </a:pPr>
            <a:r>
              <a:rPr sz="1350" b="0">
                <a:solidFill>
                  <a:srgbClr val="161B26"/>
                </a:solidFill>
                <a:latin typeface="Arial"/>
              </a:rPr>
              <a:t>Develop hypotheses for implementing data analytics and computational modelling activities in algorithmic trading, and identify possible big data applications across the forms of data within financial services.</a:t>
            </a:r>
          </a:p>
        </p:txBody>
      </p:sp>
      <p:sp>
        <p:nvSpPr>
          <p:cNvPr id="9" name="TextBox 8"/>
          <p:cNvSpPr txBox="1"/>
          <p:nvPr/>
        </p:nvSpPr>
        <p:spPr>
          <a:xfrm>
            <a:off x="1188720" y="4892040"/>
            <a:ext cx="9509760" cy="457200"/>
          </a:xfrm>
          <a:prstGeom prst="rect">
            <a:avLst/>
          </a:prstGeom>
          <a:noFill/>
        </p:spPr>
        <p:txBody>
          <a:bodyPr wrap="square" anchor="t">
            <a:spAutoFit/>
          </a:bodyPr>
          <a:lstStyle/>
          <a:p>
            <a:pPr algn="l">
              <a:spcAft>
                <a:spcPts val="400"/>
              </a:spcAft>
            </a:pPr>
            <a:r>
              <a:rPr sz="1150" b="0">
                <a:solidFill>
                  <a:srgbClr val="5B6372"/>
                </a:solidFill>
                <a:latin typeface="Arial"/>
              </a:rPr>
              <a:t>Abilities A1, A6  ·  Knowledge K1, K9   ·   Day 1   ·   Labs 1–4   ·   Assessed by PP Task 1 and WA Q1, Q9</a:t>
            </a:r>
          </a:p>
        </p:txBody>
      </p:sp>
      <p:sp>
        <p:nvSpPr>
          <p:cNvPr id="10" name="TextBox 9"/>
          <p:cNvSpPr txBox="1"/>
          <p:nvPr/>
        </p:nvSpPr>
        <p:spPr>
          <a:xfrm>
            <a:off x="9692640" y="914400"/>
            <a:ext cx="2011680" cy="2011680"/>
          </a:xfrm>
          <a:prstGeom prst="rect">
            <a:avLst/>
          </a:prstGeom>
          <a:noFill/>
        </p:spPr>
        <p:txBody>
          <a:bodyPr wrap="square" anchor="t">
            <a:spAutoFit/>
          </a:bodyPr>
          <a:lstStyle/>
          <a:p>
            <a:pPr algn="r">
              <a:spcAft>
                <a:spcPts val="400"/>
              </a:spcAft>
            </a:pPr>
            <a:r>
              <a:rPr sz="9600" b="1">
                <a:solidFill>
                  <a:srgbClr val="F5F8FC"/>
                </a:solidFill>
                <a:latin typeface="Arial"/>
              </a:rPr>
              <a:t>01</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QUANT SUCCESS STORIES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 Success Stories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Ed Thorp - Princeton Newport  ·  1969</a:t>
            </a:r>
          </a:p>
          <a:p>
            <a:pPr algn="l">
              <a:spcAft>
                <a:spcPts val="300"/>
              </a:spcAft>
            </a:pPr>
            <a:r>
              <a:rPr sz="1000" b="0">
                <a:solidFill>
                  <a:srgbClr val="5B6372"/>
                </a:solidFill>
                <a:latin typeface="Arial"/>
              </a:rPr>
              <a:t>First market-neutral quant fund: about 20% a year after fees for two decades by hedging warrants and convertibles</a:t>
            </a:r>
          </a:p>
        </p:txBody>
      </p:sp>
      <p:sp>
        <p:nvSpPr>
          <p:cNvPr id="15" name="Rectangle 14"/>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Renaissance - Medallion  ·  1988</a:t>
            </a:r>
          </a:p>
          <a:p>
            <a:pPr algn="l">
              <a:spcAft>
                <a:spcPts val="300"/>
              </a:spcAft>
            </a:pPr>
            <a:r>
              <a:rPr sz="1000" b="0">
                <a:solidFill>
                  <a:srgbClr val="5B6372"/>
                </a:solidFill>
                <a:latin typeface="Arial"/>
              </a:rPr>
              <a:t>Purely model-driven; about 66% a year before fees, 39% after (1988-2018); closed to outsiders, employee-owned</a:t>
            </a:r>
          </a:p>
        </p:txBody>
      </p:sp>
      <p:sp>
        <p:nvSpPr>
          <p:cNvPr id="20" name="Rectangle 19"/>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D.E. Shaw  ·  1988</a:t>
            </a:r>
          </a:p>
          <a:p>
            <a:pPr algn="l">
              <a:spcAft>
                <a:spcPts val="300"/>
              </a:spcAft>
            </a:pPr>
            <a:r>
              <a:rPr sz="1000" b="0">
                <a:solidFill>
                  <a:srgbClr val="5B6372"/>
                </a:solidFill>
                <a:latin typeface="Arial"/>
              </a:rPr>
              <a:t>Founded by a computer-science professor from Morgan Stanley's quant group; models and software; about US$60-65bn</a:t>
            </a:r>
          </a:p>
        </p:txBody>
      </p:sp>
      <p:sp>
        <p:nvSpPr>
          <p:cNvPr id="25" name="Rectangle 24"/>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Man AHL  ·  1987</a:t>
            </a:r>
          </a:p>
          <a:p>
            <a:pPr algn="l">
              <a:spcAft>
                <a:spcPts val="300"/>
              </a:spcAft>
            </a:pPr>
            <a:r>
              <a:rPr sz="1000" b="0">
                <a:solidFill>
                  <a:srgbClr val="5B6372"/>
                </a:solidFill>
                <a:latin typeface="Arial"/>
              </a:rPr>
              <a:t>Systematic trend following from hand-typed price histories to momentum models across 800+ markets</a:t>
            </a:r>
          </a:p>
        </p:txBody>
      </p:sp>
      <p:sp>
        <p:nvSpPr>
          <p:cNvPr id="30" name="Rectangle 29"/>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Two Sigma  ·  2001</a:t>
            </a:r>
          </a:p>
          <a:p>
            <a:pPr algn="l">
              <a:spcAft>
                <a:spcPts val="300"/>
              </a:spcAft>
            </a:pPr>
            <a:r>
              <a:rPr sz="1000" b="0">
                <a:solidFill>
                  <a:srgbClr val="5B6372"/>
                </a:solidFill>
                <a:latin typeface="Arial"/>
              </a:rPr>
              <a:t>AI, machine learning and distributed computing applied to trading; about US$70bn under management</a:t>
            </a:r>
          </a:p>
        </p:txBody>
      </p:sp>
      <p:sp>
        <p:nvSpPr>
          <p:cNvPr id="35" name="Rectangle 34"/>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7219188"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Jane Street  ·  2024</a:t>
            </a:r>
          </a:p>
          <a:p>
            <a:pPr algn="l">
              <a:spcAft>
                <a:spcPts val="300"/>
              </a:spcAft>
            </a:pPr>
            <a:r>
              <a:rPr sz="1000" b="0">
                <a:solidFill>
                  <a:srgbClr val="5B6372"/>
                </a:solidFill>
                <a:latin typeface="Arial"/>
              </a:rPr>
              <a:t>Quant market maker: about US$20.5bn net trading revenue; nearly a quarter of primary US ETF activity</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QUANT SUCCESS STORIES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Spotlight: Renaissance Technologies and the Medallion Fund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Founded by a mathematician</a:t>
            </a:r>
          </a:p>
          <a:p>
            <a:pPr algn="l">
              <a:spcAft>
                <a:spcPts val="300"/>
              </a:spcAft>
            </a:pPr>
            <a:r>
              <a:rPr sz="1100" b="0">
                <a:solidFill>
                  <a:srgbClr val="5B6372"/>
                </a:solidFill>
                <a:latin typeface="Arial"/>
              </a:rPr>
              <a:t>Jim Simons founds Monemetrics in 1978; renamed Renaissance Technologies in 1982</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Medallion fund, 1988</a:t>
            </a:r>
          </a:p>
          <a:p>
            <a:pPr algn="l">
              <a:spcAft>
                <a:spcPts val="300"/>
              </a:spcAft>
            </a:pPr>
            <a:r>
              <a:rPr sz="1100" b="0">
                <a:solidFill>
                  <a:srgbClr val="5B6372"/>
                </a:solidFill>
                <a:latin typeface="Arial"/>
              </a:rPr>
              <a:t>The flagship fund trades purely on mathematical models of market data</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About 66% a year before fees</a:t>
            </a:r>
          </a:p>
          <a:p>
            <a:pPr algn="l">
              <a:spcAft>
                <a:spcPts val="300"/>
              </a:spcAft>
            </a:pPr>
            <a:r>
              <a:rPr sz="1100" b="0">
                <a:solidFill>
                  <a:srgbClr val="5B6372"/>
                </a:solidFill>
                <a:latin typeface="Arial"/>
              </a:rPr>
              <a:t>Average gross return 1988-2018, about 39% after its high fees; closed to outsiders, employee-owned</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The lesson for this course</a:t>
            </a:r>
          </a:p>
          <a:p>
            <a:pPr algn="l">
              <a:spcAft>
                <a:spcPts val="300"/>
              </a:spcAft>
            </a:pPr>
            <a:r>
              <a:rPr sz="1100" b="0">
                <a:solidFill>
                  <a:srgbClr val="5B6372"/>
                </a:solidFill>
                <a:latin typeface="Arial"/>
              </a:rPr>
              <a:t>The edge came from data, rigorous testing, costs and risk control - not from one clever indicator</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QUANT SUCCESS STORIES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the Success Stories Have in Common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Hypothesis first</a:t>
            </a:r>
          </a:p>
          <a:p>
            <a:pPr algn="l">
              <a:spcAft>
                <a:spcPts val="300"/>
              </a:spcAft>
            </a:pPr>
            <a:r>
              <a:rPr sz="1050" b="0">
                <a:solidFill>
                  <a:srgbClr val="5B6372"/>
                </a:solidFill>
                <a:latin typeface="Arial"/>
              </a:rPr>
              <a:t>Each started from a testable idea about prices, not from a tool</a:t>
            </a:r>
          </a:p>
        </p:txBody>
      </p:sp>
      <p:sp>
        <p:nvSpPr>
          <p:cNvPr id="15" name="Rectangle 14"/>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832811"/>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Data and testing</a:t>
            </a:r>
          </a:p>
          <a:p>
            <a:pPr algn="l">
              <a:spcAft>
                <a:spcPts val="300"/>
              </a:spcAft>
            </a:pPr>
            <a:r>
              <a:rPr sz="1050" b="0">
                <a:solidFill>
                  <a:srgbClr val="5B6372"/>
                </a:solidFill>
                <a:latin typeface="Arial"/>
              </a:rPr>
              <a:t>Clean data and out-of-sample tests before capital</a:t>
            </a:r>
          </a:p>
        </p:txBody>
      </p:sp>
      <p:sp>
        <p:nvSpPr>
          <p:cNvPr id="20" name="Rectangle 19"/>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75452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Many small edges</a:t>
            </a:r>
          </a:p>
          <a:p>
            <a:pPr algn="l">
              <a:spcAft>
                <a:spcPts val="300"/>
              </a:spcAft>
            </a:pPr>
            <a:r>
              <a:rPr sz="1050" b="0">
                <a:solidFill>
                  <a:srgbClr val="5B6372"/>
                </a:solidFill>
                <a:latin typeface="Arial"/>
              </a:rPr>
              <a:t>Diversified, market-neutral bets rather than one big call</a:t>
            </a:r>
          </a:p>
        </p:txBody>
      </p:sp>
      <p:sp>
        <p:nvSpPr>
          <p:cNvPr id="25" name="Rectangle 24"/>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676241"/>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Costs and risk</a:t>
            </a:r>
          </a:p>
          <a:p>
            <a:pPr algn="l">
              <a:spcAft>
                <a:spcPts val="300"/>
              </a:spcAft>
            </a:pPr>
            <a:r>
              <a:rPr sz="1050" b="0">
                <a:solidFill>
                  <a:srgbClr val="5B6372"/>
                </a:solidFill>
                <a:latin typeface="Arial"/>
              </a:rPr>
              <a:t>Execution cost, leverage and risk limits decide survival - see LTCM 1998</a:t>
            </a:r>
          </a:p>
        </p:txBody>
      </p:sp>
      <p:sp>
        <p:nvSpPr>
          <p:cNvPr id="30" name="Rectangle 29"/>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559795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Citadel Securities</a:t>
            </a:r>
          </a:p>
          <a:p>
            <a:pPr algn="l">
              <a:spcAft>
                <a:spcPts val="300"/>
              </a:spcAft>
            </a:pPr>
            <a:r>
              <a:rPr sz="1050" b="0">
                <a:solidFill>
                  <a:srgbClr val="5B6372"/>
                </a:solidFill>
                <a:latin typeface="Arial"/>
              </a:rPr>
              <a:t>Quant market maker estimated to handle about a quarter of all US equities trading</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920240"/>
            <a:ext cx="9692640" cy="365760"/>
          </a:xfrm>
          <a:prstGeom prst="rect">
            <a:avLst/>
          </a:prstGeom>
          <a:noFill/>
        </p:spPr>
        <p:txBody>
          <a:bodyPr wrap="square" anchor="t">
            <a:spAutoFit/>
          </a:bodyPr>
          <a:lstStyle/>
          <a:p>
            <a:pPr algn="l">
              <a:spcAft>
                <a:spcPts val="400"/>
              </a:spcAft>
            </a:pPr>
            <a:r>
              <a:rPr sz="1400" b="1">
                <a:solidFill>
                  <a:srgbClr val="1F6FEB"/>
                </a:solidFill>
                <a:latin typeface="Arial"/>
              </a:rPr>
              <a:t>TOPIC 1 · DEFINITION</a:t>
            </a:r>
          </a:p>
        </p:txBody>
      </p:sp>
      <p:sp>
        <p:nvSpPr>
          <p:cNvPr id="5" name="TextBox 4"/>
          <p:cNvSpPr txBox="1"/>
          <p:nvPr/>
        </p:nvSpPr>
        <p:spPr>
          <a:xfrm>
            <a:off x="1188720" y="2377440"/>
            <a:ext cx="9692640" cy="1645920"/>
          </a:xfrm>
          <a:prstGeom prst="rect">
            <a:avLst/>
          </a:prstGeom>
          <a:noFill/>
        </p:spPr>
        <p:txBody>
          <a:bodyPr wrap="square" anchor="t">
            <a:spAutoFit/>
          </a:bodyPr>
          <a:lstStyle/>
          <a:p>
            <a:pPr algn="l">
              <a:spcAft>
                <a:spcPts val="400"/>
              </a:spcAft>
            </a:pPr>
            <a:r>
              <a:rPr sz="3400" b="1">
                <a:solidFill>
                  <a:srgbClr val="161B26"/>
                </a:solidFill>
                <a:latin typeface="Arial"/>
              </a:rPr>
              <a:t>Algorithmic trading</a:t>
            </a:r>
          </a:p>
        </p:txBody>
      </p:sp>
      <p:sp>
        <p:nvSpPr>
          <p:cNvPr id="6" name="TextBox 5"/>
          <p:cNvSpPr txBox="1"/>
          <p:nvPr/>
        </p:nvSpPr>
        <p:spPr>
          <a:xfrm>
            <a:off x="1188720" y="4206240"/>
            <a:ext cx="9692640" cy="1097280"/>
          </a:xfrm>
          <a:prstGeom prst="rect">
            <a:avLst/>
          </a:prstGeom>
          <a:noFill/>
        </p:spPr>
        <p:txBody>
          <a:bodyPr wrap="square" anchor="t">
            <a:spAutoFit/>
          </a:bodyPr>
          <a:lstStyle/>
          <a:p>
            <a:pPr algn="l">
              <a:spcAft>
                <a:spcPts val="400"/>
              </a:spcAft>
            </a:pPr>
            <a:r>
              <a:rPr sz="1600" b="0">
                <a:solidFill>
                  <a:srgbClr val="5B6372"/>
                </a:solidFill>
                <a:latin typeface="Arial"/>
              </a:rPr>
              <a:t>Using computer programs that follow predefined rules on price, timing, volume or models to generate and execute orders automatically, with limited or no human intervention.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EVOLUTION OF QUANT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Evolution of Quant: From Thorp to HFT to 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2663"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266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1950s-70s: portfolio theory, arbitrage and option pricing</a:t>
            </a:r>
          </a:p>
        </p:txBody>
      </p:sp>
      <p:sp>
        <p:nvSpPr>
          <p:cNvPr id="15" name="TextBox 14"/>
          <p:cNvSpPr txBox="1"/>
          <p:nvPr/>
        </p:nvSpPr>
        <p:spPr>
          <a:xfrm>
            <a:off x="2043030"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16" name="Rectangle 15"/>
          <p:cNvSpPr/>
          <p:nvPr/>
        </p:nvSpPr>
        <p:spPr>
          <a:xfrm>
            <a:off x="2335638"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335638"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621061"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62106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2463654"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1970s-80s: factor risk models and program trading</a:t>
            </a:r>
          </a:p>
        </p:txBody>
      </p:sp>
      <p:sp>
        <p:nvSpPr>
          <p:cNvPr id="21" name="TextBox 20"/>
          <p:cNvSpPr txBox="1"/>
          <p:nvPr/>
        </p:nvSpPr>
        <p:spPr>
          <a:xfrm>
            <a:off x="3601428"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2" name="Rectangle 21"/>
          <p:cNvSpPr/>
          <p:nvPr/>
        </p:nvSpPr>
        <p:spPr>
          <a:xfrm>
            <a:off x="3894036"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894036"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179459"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794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4022052"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1980s-90s: statistical arbitrage and pairs trading</a:t>
            </a:r>
          </a:p>
        </p:txBody>
      </p:sp>
      <p:sp>
        <p:nvSpPr>
          <p:cNvPr id="27" name="TextBox 26"/>
          <p:cNvSpPr txBox="1"/>
          <p:nvPr/>
        </p:nvSpPr>
        <p:spPr>
          <a:xfrm>
            <a:off x="5159826"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8" name="Rectangle 27"/>
          <p:cNvSpPr/>
          <p:nvPr/>
        </p:nvSpPr>
        <p:spPr>
          <a:xfrm>
            <a:off x="5452434"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52434"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737857"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73785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5580450"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1988 on: fully systematic signal mining (Renaissance, D.E. Shaw)</a:t>
            </a:r>
          </a:p>
        </p:txBody>
      </p:sp>
      <p:sp>
        <p:nvSpPr>
          <p:cNvPr id="33" name="TextBox 32"/>
          <p:cNvSpPr txBox="1"/>
          <p:nvPr/>
        </p:nvSpPr>
        <p:spPr>
          <a:xfrm>
            <a:off x="6718224"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34" name="Rectangle 33"/>
          <p:cNvSpPr/>
          <p:nvPr/>
        </p:nvSpPr>
        <p:spPr>
          <a:xfrm>
            <a:off x="7010832"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010832"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296255"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9625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7138848"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2000s: electronic market making and HFT</a:t>
            </a:r>
          </a:p>
        </p:txBody>
      </p:sp>
      <p:sp>
        <p:nvSpPr>
          <p:cNvPr id="39" name="TextBox 38"/>
          <p:cNvSpPr txBox="1"/>
          <p:nvPr/>
        </p:nvSpPr>
        <p:spPr>
          <a:xfrm>
            <a:off x="8276622"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40" name="Rectangle 39"/>
          <p:cNvSpPr/>
          <p:nvPr/>
        </p:nvSpPr>
        <p:spPr>
          <a:xfrm>
            <a:off x="8569230"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569230"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8854653"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85465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4" name="TextBox 43"/>
          <p:cNvSpPr txBox="1"/>
          <p:nvPr/>
        </p:nvSpPr>
        <p:spPr>
          <a:xfrm>
            <a:off x="8697246"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2010s: speed race - co-location, microwave, microseconds</a:t>
            </a:r>
          </a:p>
        </p:txBody>
      </p:sp>
      <p:sp>
        <p:nvSpPr>
          <p:cNvPr id="45" name="TextBox 44"/>
          <p:cNvSpPr txBox="1"/>
          <p:nvPr/>
        </p:nvSpPr>
        <p:spPr>
          <a:xfrm>
            <a:off x="9835020"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46" name="Rectangle 45"/>
          <p:cNvSpPr/>
          <p:nvPr/>
        </p:nvSpPr>
        <p:spPr>
          <a:xfrm>
            <a:off x="10127628"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0127628" y="2240280"/>
            <a:ext cx="12840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0413051"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41305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7</a:t>
            </a:r>
          </a:p>
        </p:txBody>
      </p:sp>
      <p:sp>
        <p:nvSpPr>
          <p:cNvPr id="50" name="TextBox 49"/>
          <p:cNvSpPr txBox="1"/>
          <p:nvPr/>
        </p:nvSpPr>
        <p:spPr>
          <a:xfrm>
            <a:off x="10255644"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2020s: ML on alternative data, then LLM and agentic quant</a:t>
            </a:r>
          </a:p>
        </p:txBody>
      </p:sp>
      <p:sp>
        <p:nvSpPr>
          <p:cNvPr id="51" name="Rectangle 50"/>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Each era kept the last era's discipline - hypothesis, data, testing, costs, risk - and added speed or new data.</a:t>
            </a:r>
          </a:p>
        </p:txBody>
      </p:sp>
      <p:sp>
        <p:nvSpPr>
          <p:cNvPr id="54" name="TextBox 5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55" name="TextBox 5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6" name="TextBox 5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HISTORY OF QUANT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The Evolution of Quant and Algorithmic Trading (1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1952</a:t>
            </a:r>
          </a:p>
          <a:p>
            <a:pPr algn="ctr">
              <a:spcAft>
                <a:spcPts val="100"/>
              </a:spcAft>
            </a:pPr>
            <a:r>
              <a:rPr sz="1150" b="1">
                <a:solidFill>
                  <a:srgbClr val="161B26"/>
                </a:solidFill>
                <a:latin typeface="Arial"/>
              </a:rPr>
              <a:t>Modern portfolio theory</a:t>
            </a:r>
          </a:p>
          <a:p>
            <a:pPr algn="ctr">
              <a:spcAft>
                <a:spcPts val="100"/>
              </a:spcAft>
            </a:pPr>
            <a:r>
              <a:rPr sz="950" b="0">
                <a:solidFill>
                  <a:srgbClr val="5B6372"/>
                </a:solidFill>
                <a:latin typeface="Arial"/>
              </a:rPr>
              <a:t>Markowitz's 'Portfolio Selection' measures risk as variance: diversification becomes maths</a:t>
            </a:r>
          </a:p>
        </p:txBody>
      </p:sp>
      <p:sp>
        <p:nvSpPr>
          <p:cNvPr id="14" name="Oval 13"/>
          <p:cNvSpPr/>
          <p:nvPr/>
        </p:nvSpPr>
        <p:spPr>
          <a:xfrm>
            <a:off x="2840126"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1683"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84578"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1967</a:t>
            </a:r>
          </a:p>
          <a:p>
            <a:pPr algn="ctr">
              <a:spcAft>
                <a:spcPts val="100"/>
              </a:spcAft>
            </a:pPr>
            <a:r>
              <a:rPr sz="1150" b="1">
                <a:solidFill>
                  <a:srgbClr val="161B26"/>
                </a:solidFill>
                <a:latin typeface="Arial"/>
              </a:rPr>
              <a:t>Thorp's 'Beat the Market'</a:t>
            </a:r>
          </a:p>
          <a:p>
            <a:pPr algn="ctr">
              <a:spcAft>
                <a:spcPts val="100"/>
              </a:spcAft>
            </a:pPr>
            <a:r>
              <a:rPr sz="950" b="0">
                <a:solidFill>
                  <a:srgbClr val="5B6372"/>
                </a:solidFill>
                <a:latin typeface="Arial"/>
              </a:rPr>
              <a:t>Ed Thorp applies probability to hedging warrants - an early quant trading playbook</a:t>
            </a:r>
          </a:p>
        </p:txBody>
      </p:sp>
      <p:sp>
        <p:nvSpPr>
          <p:cNvPr id="17" name="Oval 16"/>
          <p:cNvSpPr/>
          <p:nvPr/>
        </p:nvSpPr>
        <p:spPr>
          <a:xfrm>
            <a:off x="4930444"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42001"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74896"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1969</a:t>
            </a:r>
          </a:p>
          <a:p>
            <a:pPr algn="ctr">
              <a:spcAft>
                <a:spcPts val="100"/>
              </a:spcAft>
            </a:pPr>
            <a:r>
              <a:rPr sz="1150" b="1">
                <a:solidFill>
                  <a:srgbClr val="161B26"/>
                </a:solidFill>
                <a:latin typeface="Arial"/>
              </a:rPr>
              <a:t>First market-neutral quant fund</a:t>
            </a:r>
          </a:p>
          <a:p>
            <a:pPr algn="ctr">
              <a:spcAft>
                <a:spcPts val="100"/>
              </a:spcAft>
            </a:pPr>
            <a:r>
              <a:rPr sz="950" b="0">
                <a:solidFill>
                  <a:srgbClr val="5B6372"/>
                </a:solidFill>
                <a:latin typeface="Arial"/>
              </a:rPr>
              <a:t>Thorp's fund (Princeton Newport from 1974) earns about 20% a year after fees for two decades</a:t>
            </a:r>
          </a:p>
        </p:txBody>
      </p:sp>
      <p:sp>
        <p:nvSpPr>
          <p:cNvPr id="20" name="Oval 19"/>
          <p:cNvSpPr/>
          <p:nvPr/>
        </p:nvSpPr>
        <p:spPr>
          <a:xfrm>
            <a:off x="7020763"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32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65215"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1973</a:t>
            </a:r>
          </a:p>
          <a:p>
            <a:pPr algn="ctr">
              <a:spcAft>
                <a:spcPts val="100"/>
              </a:spcAft>
            </a:pPr>
            <a:r>
              <a:rPr sz="1150" b="1">
                <a:solidFill>
                  <a:srgbClr val="161B26"/>
                </a:solidFill>
                <a:latin typeface="Arial"/>
              </a:rPr>
              <a:t>Black-Scholes and the CBOE</a:t>
            </a:r>
          </a:p>
          <a:p>
            <a:pPr algn="ctr">
              <a:spcAft>
                <a:spcPts val="100"/>
              </a:spcAft>
            </a:pPr>
            <a:r>
              <a:rPr sz="950" b="0">
                <a:solidFill>
                  <a:srgbClr val="5B6372"/>
                </a:solidFill>
                <a:latin typeface="Arial"/>
              </a:rPr>
              <a:t>Option-pricing formula published as the CBOE opens (Apr 1973); CBOE adopts it by 1975</a:t>
            </a:r>
          </a:p>
        </p:txBody>
      </p:sp>
      <p:sp>
        <p:nvSpPr>
          <p:cNvPr id="23" name="Oval 22"/>
          <p:cNvSpPr/>
          <p:nvPr/>
        </p:nvSpPr>
        <p:spPr>
          <a:xfrm>
            <a:off x="9111081"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22638"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55533"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Mid-1970s</a:t>
            </a:r>
          </a:p>
          <a:p>
            <a:pPr algn="ctr">
              <a:spcAft>
                <a:spcPts val="100"/>
              </a:spcAft>
            </a:pPr>
            <a:r>
              <a:rPr sz="1150" b="1">
                <a:solidFill>
                  <a:srgbClr val="161B26"/>
                </a:solidFill>
                <a:latin typeface="Arial"/>
              </a:rPr>
              <a:t>Factor risk models</a:t>
            </a:r>
          </a:p>
          <a:p>
            <a:pPr algn="ctr">
              <a:spcAft>
                <a:spcPts val="100"/>
              </a:spcAft>
            </a:pPr>
            <a:r>
              <a:rPr sz="950" b="0">
                <a:solidFill>
                  <a:srgbClr val="5B6372"/>
                </a:solidFill>
                <a:latin typeface="Arial"/>
              </a:rPr>
              <a:t>Barr Rosenberg's Barra models portfolio risk from style, industry and size factors</a:t>
            </a:r>
          </a:p>
        </p:txBody>
      </p:sp>
      <p:sp>
        <p:nvSpPr>
          <p:cNvPr id="26" name="Oval 25"/>
          <p:cNvSpPr/>
          <p:nvPr/>
        </p:nvSpPr>
        <p:spPr>
          <a:xfrm>
            <a:off x="1120140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31295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9147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1978</a:t>
            </a:r>
          </a:p>
          <a:p>
            <a:pPr algn="ctr">
              <a:spcAft>
                <a:spcPts val="100"/>
              </a:spcAft>
            </a:pPr>
            <a:r>
              <a:rPr sz="1150" b="1">
                <a:solidFill>
                  <a:srgbClr val="161B26"/>
                </a:solidFill>
                <a:latin typeface="Arial"/>
              </a:rPr>
              <a:t>Renaissance is founded</a:t>
            </a:r>
          </a:p>
          <a:p>
            <a:pPr algn="ctr">
              <a:spcAft>
                <a:spcPts val="100"/>
              </a:spcAft>
            </a:pPr>
            <a:r>
              <a:rPr sz="950" b="0">
                <a:solidFill>
                  <a:srgbClr val="5B6372"/>
                </a:solidFill>
                <a:latin typeface="Arial"/>
              </a:rPr>
              <a:t>Mathematician Jim Simons founds Monemetrics; renamed Renaissance Technologies in 1982</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HISTORY OF QUANT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The Evolution of Quant and Algorithmic Trading (2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1980s</a:t>
            </a:r>
          </a:p>
          <a:p>
            <a:pPr algn="ctr">
              <a:spcAft>
                <a:spcPts val="100"/>
              </a:spcAft>
            </a:pPr>
            <a:r>
              <a:rPr sz="1150" b="1">
                <a:solidFill>
                  <a:srgbClr val="161B26"/>
                </a:solidFill>
                <a:latin typeface="Arial"/>
              </a:rPr>
              <a:t>Statistical arbitrage</a:t>
            </a:r>
          </a:p>
          <a:p>
            <a:pPr algn="ctr">
              <a:spcAft>
                <a:spcPts val="100"/>
              </a:spcAft>
            </a:pPr>
            <a:r>
              <a:rPr sz="950" b="0">
                <a:solidFill>
                  <a:srgbClr val="5B6372"/>
                </a:solidFill>
                <a:latin typeface="Arial"/>
              </a:rPr>
              <a:t>Bamberger and Tartaglia's Morgan Stanley group trades pairs of co-moving stocks by rule</a:t>
            </a:r>
          </a:p>
        </p:txBody>
      </p:sp>
      <p:sp>
        <p:nvSpPr>
          <p:cNvPr id="14" name="Oval 13"/>
          <p:cNvSpPr/>
          <p:nvPr/>
        </p:nvSpPr>
        <p:spPr>
          <a:xfrm>
            <a:off x="2840126"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1683"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84578"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1987</a:t>
            </a:r>
          </a:p>
          <a:p>
            <a:pPr algn="ctr">
              <a:spcAft>
                <a:spcPts val="100"/>
              </a:spcAft>
            </a:pPr>
            <a:r>
              <a:rPr sz="1150" b="1">
                <a:solidFill>
                  <a:srgbClr val="161B26"/>
                </a:solidFill>
                <a:latin typeface="Arial"/>
              </a:rPr>
              <a:t>Black Monday</a:t>
            </a:r>
          </a:p>
          <a:p>
            <a:pPr algn="ctr">
              <a:spcAft>
                <a:spcPts val="100"/>
              </a:spcAft>
            </a:pPr>
            <a:r>
              <a:rPr sz="950" b="0">
                <a:solidFill>
                  <a:srgbClr val="5B6372"/>
                </a:solidFill>
                <a:latin typeface="Arial"/>
              </a:rPr>
              <a:t>Dow falls 22.6% on 19 Oct; portfolio-insurance program selling deepens the crash</a:t>
            </a:r>
          </a:p>
        </p:txBody>
      </p:sp>
      <p:sp>
        <p:nvSpPr>
          <p:cNvPr id="17" name="Oval 16"/>
          <p:cNvSpPr/>
          <p:nvPr/>
        </p:nvSpPr>
        <p:spPr>
          <a:xfrm>
            <a:off x="4930444"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42001"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74896"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1988</a:t>
            </a:r>
          </a:p>
          <a:p>
            <a:pPr algn="ctr">
              <a:spcAft>
                <a:spcPts val="100"/>
              </a:spcAft>
            </a:pPr>
            <a:r>
              <a:rPr sz="1150" b="1">
                <a:solidFill>
                  <a:srgbClr val="161B26"/>
                </a:solidFill>
                <a:latin typeface="Arial"/>
              </a:rPr>
              <a:t>Medallion and D.E. Shaw</a:t>
            </a:r>
          </a:p>
          <a:p>
            <a:pPr algn="ctr">
              <a:spcAft>
                <a:spcPts val="100"/>
              </a:spcAft>
            </a:pPr>
            <a:r>
              <a:rPr sz="950" b="0">
                <a:solidFill>
                  <a:srgbClr val="5B6372"/>
                </a:solidFill>
                <a:latin typeface="Arial"/>
              </a:rPr>
              <a:t>Renaissance launches Medallion; ex-Morgan Stanley quant David Shaw founds D.E. Shaw</a:t>
            </a:r>
          </a:p>
        </p:txBody>
      </p:sp>
      <p:sp>
        <p:nvSpPr>
          <p:cNvPr id="20" name="Oval 19"/>
          <p:cNvSpPr/>
          <p:nvPr/>
        </p:nvSpPr>
        <p:spPr>
          <a:xfrm>
            <a:off x="7020763"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32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65215"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1996</a:t>
            </a:r>
          </a:p>
          <a:p>
            <a:pPr algn="ctr">
              <a:spcAft>
                <a:spcPts val="100"/>
              </a:spcAft>
            </a:pPr>
            <a:r>
              <a:rPr sz="1150" b="1">
                <a:solidFill>
                  <a:srgbClr val="161B26"/>
                </a:solidFill>
                <a:latin typeface="Arial"/>
              </a:rPr>
              <a:t>Island ECN</a:t>
            </a:r>
          </a:p>
          <a:p>
            <a:pPr algn="ctr">
              <a:spcAft>
                <a:spcPts val="100"/>
              </a:spcAft>
            </a:pPr>
            <a:r>
              <a:rPr sz="950" b="0">
                <a:solidFill>
                  <a:srgbClr val="5B6372"/>
                </a:solidFill>
                <a:latin typeface="Arial"/>
              </a:rPr>
              <a:t>Fast electronic order book (trading from 1997) becomes a hub for early HFT firms</a:t>
            </a:r>
          </a:p>
        </p:txBody>
      </p:sp>
      <p:sp>
        <p:nvSpPr>
          <p:cNvPr id="23" name="Oval 22"/>
          <p:cNvSpPr/>
          <p:nvPr/>
        </p:nvSpPr>
        <p:spPr>
          <a:xfrm>
            <a:off x="9111081"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22638"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55533"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1998</a:t>
            </a:r>
          </a:p>
          <a:p>
            <a:pPr algn="ctr">
              <a:spcAft>
                <a:spcPts val="100"/>
              </a:spcAft>
            </a:pPr>
            <a:r>
              <a:rPr sz="1150" b="1">
                <a:solidFill>
                  <a:srgbClr val="161B26"/>
                </a:solidFill>
                <a:latin typeface="Arial"/>
              </a:rPr>
              <a:t>LTCM collapses</a:t>
            </a:r>
          </a:p>
          <a:p>
            <a:pPr algn="ctr">
              <a:spcAft>
                <a:spcPts val="100"/>
              </a:spcAft>
            </a:pPr>
            <a:r>
              <a:rPr sz="950" b="0">
                <a:solidFill>
                  <a:srgbClr val="5B6372"/>
                </a:solidFill>
                <a:latin typeface="Arial"/>
              </a:rPr>
              <a:t>Leveraged relative-value fund loses US$4.6bn; Fed-supervised US$3.65bn recapitalisation</a:t>
            </a:r>
          </a:p>
        </p:txBody>
      </p:sp>
      <p:sp>
        <p:nvSpPr>
          <p:cNvPr id="26" name="Oval 25"/>
          <p:cNvSpPr/>
          <p:nvPr/>
        </p:nvSpPr>
        <p:spPr>
          <a:xfrm>
            <a:off x="1120140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31295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9147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2001</a:t>
            </a:r>
          </a:p>
          <a:p>
            <a:pPr algn="ctr">
              <a:spcAft>
                <a:spcPts val="100"/>
              </a:spcAft>
            </a:pPr>
            <a:r>
              <a:rPr sz="1150" b="1">
                <a:solidFill>
                  <a:srgbClr val="161B26"/>
                </a:solidFill>
                <a:latin typeface="Arial"/>
              </a:rPr>
              <a:t>Decimalisation</a:t>
            </a:r>
          </a:p>
          <a:p>
            <a:pPr algn="ctr">
              <a:spcAft>
                <a:spcPts val="100"/>
              </a:spcAft>
            </a:pPr>
            <a:r>
              <a:rPr sz="950" b="0">
                <a:solidFill>
                  <a:srgbClr val="5B6372"/>
                </a:solidFill>
                <a:latin typeface="Arial"/>
              </a:rPr>
              <a:t>US stocks quote in cents, not 1/16ths; spreads narrow and electronic market making grows</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HISTORY OF QUANT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The Evolution of Quant and Algorithmic Trading (3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2005</a:t>
            </a:r>
          </a:p>
          <a:p>
            <a:pPr algn="ctr">
              <a:spcAft>
                <a:spcPts val="100"/>
              </a:spcAft>
            </a:pPr>
            <a:r>
              <a:rPr sz="1150" b="1">
                <a:solidFill>
                  <a:srgbClr val="161B26"/>
                </a:solidFill>
                <a:latin typeface="Arial"/>
              </a:rPr>
              <a:t>Regulation NMS</a:t>
            </a:r>
          </a:p>
          <a:p>
            <a:pPr algn="ctr">
              <a:spcAft>
                <a:spcPts val="100"/>
              </a:spcAft>
            </a:pPr>
            <a:r>
              <a:rPr sz="950" b="0">
                <a:solidFill>
                  <a:srgbClr val="5B6372"/>
                </a:solidFill>
                <a:latin typeface="Arial"/>
              </a:rPr>
              <a:t>SEC rule (in force 2007) links venues; fragmentation rewards speed and smart order routing</a:t>
            </a:r>
          </a:p>
        </p:txBody>
      </p:sp>
      <p:sp>
        <p:nvSpPr>
          <p:cNvPr id="14" name="Oval 13"/>
          <p:cNvSpPr/>
          <p:nvPr/>
        </p:nvSpPr>
        <p:spPr>
          <a:xfrm>
            <a:off x="2840126"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1683"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84578"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2007</a:t>
            </a:r>
          </a:p>
          <a:p>
            <a:pPr algn="ctr">
              <a:spcAft>
                <a:spcPts val="100"/>
              </a:spcAft>
            </a:pPr>
            <a:r>
              <a:rPr sz="1150" b="1">
                <a:solidFill>
                  <a:srgbClr val="161B26"/>
                </a:solidFill>
                <a:latin typeface="Arial"/>
              </a:rPr>
              <a:t>The quant quake</a:t>
            </a:r>
          </a:p>
          <a:p>
            <a:pPr algn="ctr">
              <a:spcAft>
                <a:spcPts val="100"/>
              </a:spcAft>
            </a:pPr>
            <a:r>
              <a:rPr sz="950" b="0">
                <a:solidFill>
                  <a:srgbClr val="5B6372"/>
                </a:solidFill>
                <a:latin typeface="Arial"/>
              </a:rPr>
              <a:t>Week of 6 Aug: crowded quant market-neutral funds suffer sudden losses as positions unwind</a:t>
            </a:r>
          </a:p>
        </p:txBody>
      </p:sp>
      <p:sp>
        <p:nvSpPr>
          <p:cNvPr id="17" name="Oval 16"/>
          <p:cNvSpPr/>
          <p:nvPr/>
        </p:nvSpPr>
        <p:spPr>
          <a:xfrm>
            <a:off x="4930444"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42001"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74896"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2010</a:t>
            </a:r>
          </a:p>
          <a:p>
            <a:pPr algn="ctr">
              <a:spcAft>
                <a:spcPts val="100"/>
              </a:spcAft>
            </a:pPr>
            <a:r>
              <a:rPr sz="1150" b="1">
                <a:solidFill>
                  <a:srgbClr val="161B26"/>
                </a:solidFill>
                <a:latin typeface="Arial"/>
              </a:rPr>
              <a:t>Flash Crash</a:t>
            </a:r>
          </a:p>
          <a:p>
            <a:pPr algn="ctr">
              <a:spcAft>
                <a:spcPts val="100"/>
              </a:spcAft>
            </a:pPr>
            <a:r>
              <a:rPr sz="950" b="0">
                <a:solidFill>
                  <a:srgbClr val="5B6372"/>
                </a:solidFill>
                <a:latin typeface="Arial"/>
              </a:rPr>
              <a:t>6 May: the Dow drops nearly 1,000 points in minutes after a large algorithmic sell order</a:t>
            </a:r>
          </a:p>
        </p:txBody>
      </p:sp>
      <p:sp>
        <p:nvSpPr>
          <p:cNvPr id="20" name="Oval 19"/>
          <p:cNvSpPr/>
          <p:nvPr/>
        </p:nvSpPr>
        <p:spPr>
          <a:xfrm>
            <a:off x="7020763"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32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65215"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2010</a:t>
            </a:r>
          </a:p>
          <a:p>
            <a:pPr algn="ctr">
              <a:spcAft>
                <a:spcPts val="100"/>
              </a:spcAft>
            </a:pPr>
            <a:r>
              <a:rPr sz="1150" b="1">
                <a:solidFill>
                  <a:srgbClr val="161B26"/>
                </a:solidFill>
                <a:latin typeface="Arial"/>
              </a:rPr>
              <a:t>The speed race</a:t>
            </a:r>
          </a:p>
          <a:p>
            <a:pPr algn="ctr">
              <a:spcAft>
                <a:spcPts val="100"/>
              </a:spcAft>
            </a:pPr>
            <a:r>
              <a:rPr sz="950" b="0">
                <a:solidFill>
                  <a:srgbClr val="5B6372"/>
                </a:solidFill>
                <a:latin typeface="Arial"/>
              </a:rPr>
              <a:t>US$300m straight fibre New York-Chicago cuts about 3 ms; microwave links soon beat it</a:t>
            </a:r>
          </a:p>
        </p:txBody>
      </p:sp>
      <p:sp>
        <p:nvSpPr>
          <p:cNvPr id="23" name="Oval 22"/>
          <p:cNvSpPr/>
          <p:nvPr/>
        </p:nvSpPr>
        <p:spPr>
          <a:xfrm>
            <a:off x="9111081"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22638"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55533"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2012</a:t>
            </a:r>
          </a:p>
          <a:p>
            <a:pPr algn="ctr">
              <a:spcAft>
                <a:spcPts val="100"/>
              </a:spcAft>
            </a:pPr>
            <a:r>
              <a:rPr sz="1150" b="1">
                <a:solidFill>
                  <a:srgbClr val="161B26"/>
                </a:solidFill>
                <a:latin typeface="Arial"/>
              </a:rPr>
              <a:t>Knight Capital</a:t>
            </a:r>
          </a:p>
          <a:p>
            <a:pPr algn="ctr">
              <a:spcAft>
                <a:spcPts val="100"/>
              </a:spcAft>
            </a:pPr>
            <a:r>
              <a:rPr sz="950" b="0">
                <a:solidFill>
                  <a:srgbClr val="5B6372"/>
                </a:solidFill>
                <a:latin typeface="Arial"/>
              </a:rPr>
              <a:t>A faulty deployment sends millions of orders in 45 minutes; Knight loses over US$460m</a:t>
            </a:r>
          </a:p>
        </p:txBody>
      </p:sp>
      <p:sp>
        <p:nvSpPr>
          <p:cNvPr id="26" name="Oval 25"/>
          <p:cNvSpPr/>
          <p:nvPr/>
        </p:nvSpPr>
        <p:spPr>
          <a:xfrm>
            <a:off x="1120140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31295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9147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2016</a:t>
            </a:r>
          </a:p>
          <a:p>
            <a:pPr algn="ctr">
              <a:spcAft>
                <a:spcPts val="100"/>
              </a:spcAft>
            </a:pPr>
            <a:r>
              <a:rPr sz="1150" b="1">
                <a:solidFill>
                  <a:srgbClr val="161B26"/>
                </a:solidFill>
                <a:latin typeface="Arial"/>
              </a:rPr>
              <a:t>IEX speed bump</a:t>
            </a:r>
          </a:p>
          <a:p>
            <a:pPr algn="ctr">
              <a:spcAft>
                <a:spcPts val="100"/>
              </a:spcAft>
            </a:pPr>
            <a:r>
              <a:rPr sz="950" b="0">
                <a:solidFill>
                  <a:srgbClr val="5B6372"/>
                </a:solidFill>
                <a:latin typeface="Arial"/>
              </a:rPr>
              <a:t>SEC approves IEX as an exchange with a 350-microsecond delay against latency arbitrage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HISTORY OF QUANT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The Evolution of Quant and Algorithmic Trading (4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2018</a:t>
            </a:r>
          </a:p>
          <a:p>
            <a:pPr algn="ctr">
              <a:spcAft>
                <a:spcPts val="100"/>
              </a:spcAft>
            </a:pPr>
            <a:r>
              <a:rPr sz="1150" b="1">
                <a:solidFill>
                  <a:srgbClr val="161B26"/>
                </a:solidFill>
                <a:latin typeface="Arial"/>
              </a:rPr>
              <a:t>MiFID II</a:t>
            </a:r>
          </a:p>
          <a:p>
            <a:pPr algn="ctr">
              <a:spcAft>
                <a:spcPts val="100"/>
              </a:spcAft>
            </a:pPr>
            <a:r>
              <a:rPr sz="950" b="0">
                <a:solidFill>
                  <a:srgbClr val="5B6372"/>
                </a:solidFill>
                <a:latin typeface="Arial"/>
              </a:rPr>
              <a:t>EU requires algorithm testing, kill switches and records; HFT formally defined</a:t>
            </a:r>
          </a:p>
        </p:txBody>
      </p:sp>
      <p:sp>
        <p:nvSpPr>
          <p:cNvPr id="14" name="Oval 13"/>
          <p:cNvSpPr/>
          <p:nvPr/>
        </p:nvSpPr>
        <p:spPr>
          <a:xfrm>
            <a:off x="2840126"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1683"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84578"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2018</a:t>
            </a:r>
          </a:p>
          <a:p>
            <a:pPr algn="ctr">
              <a:spcAft>
                <a:spcPts val="100"/>
              </a:spcAft>
            </a:pPr>
            <a:r>
              <a:rPr sz="1150" b="1">
                <a:solidFill>
                  <a:srgbClr val="161B26"/>
                </a:solidFill>
                <a:latin typeface="Arial"/>
              </a:rPr>
              <a:t>API-first brokers</a:t>
            </a:r>
          </a:p>
          <a:p>
            <a:pPr algn="ctr">
              <a:spcAft>
                <a:spcPts val="100"/>
              </a:spcAft>
            </a:pPr>
            <a:r>
              <a:rPr sz="950" b="0">
                <a:solidFill>
                  <a:srgbClr val="5B6372"/>
                </a:solidFill>
                <a:latin typeface="Arial"/>
              </a:rPr>
              <a:t>Alpaca's commission-free trading API opens algorithmic stock trading to individuals</a:t>
            </a:r>
          </a:p>
        </p:txBody>
      </p:sp>
      <p:sp>
        <p:nvSpPr>
          <p:cNvPr id="17" name="Oval 16"/>
          <p:cNvSpPr/>
          <p:nvPr/>
        </p:nvSpPr>
        <p:spPr>
          <a:xfrm>
            <a:off x="4930444"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42001"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74896"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2020</a:t>
            </a:r>
          </a:p>
          <a:p>
            <a:pPr algn="ctr">
              <a:spcAft>
                <a:spcPts val="100"/>
              </a:spcAft>
            </a:pPr>
            <a:r>
              <a:rPr sz="1150" b="1">
                <a:solidFill>
                  <a:srgbClr val="161B26"/>
                </a:solidFill>
                <a:latin typeface="Arial"/>
              </a:rPr>
              <a:t>SGX RegCo algo guide</a:t>
            </a:r>
          </a:p>
          <a:p>
            <a:pPr algn="ctr">
              <a:spcAft>
                <a:spcPts val="100"/>
              </a:spcAft>
            </a:pPr>
            <a:r>
              <a:rPr sz="950" b="0">
                <a:solidFill>
                  <a:srgbClr val="5B6372"/>
                </a:solidFill>
                <a:latin typeface="Arial"/>
              </a:rPr>
              <a:t>Sets expectations for governance, risk controls and testing of algorithms by SGX members</a:t>
            </a:r>
          </a:p>
        </p:txBody>
      </p:sp>
      <p:sp>
        <p:nvSpPr>
          <p:cNvPr id="20" name="Oval 19"/>
          <p:cNvSpPr/>
          <p:nvPr/>
        </p:nvSpPr>
        <p:spPr>
          <a:xfrm>
            <a:off x="7020763"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32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65215"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2023</a:t>
            </a:r>
          </a:p>
          <a:p>
            <a:pPr algn="ctr">
              <a:spcAft>
                <a:spcPts val="100"/>
              </a:spcAft>
            </a:pPr>
            <a:r>
              <a:rPr sz="1150" b="1">
                <a:solidFill>
                  <a:srgbClr val="161B26"/>
                </a:solidFill>
                <a:latin typeface="Arial"/>
              </a:rPr>
              <a:t>LLM trading signals</a:t>
            </a:r>
          </a:p>
          <a:p>
            <a:pPr algn="ctr">
              <a:spcAft>
                <a:spcPts val="100"/>
              </a:spcAft>
            </a:pPr>
            <a:r>
              <a:rPr sz="950" b="0">
                <a:solidFill>
                  <a:srgbClr val="5B6372"/>
                </a:solidFill>
                <a:latin typeface="Arial"/>
              </a:rPr>
              <a:t>ChatGPT headline sentiment predicts next-day stock returns (Lopez-Lira and Tang)</a:t>
            </a:r>
          </a:p>
        </p:txBody>
      </p:sp>
      <p:sp>
        <p:nvSpPr>
          <p:cNvPr id="23" name="Oval 22"/>
          <p:cNvSpPr/>
          <p:nvPr/>
        </p:nvSpPr>
        <p:spPr>
          <a:xfrm>
            <a:off x="9111081"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22638"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55533"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2024</a:t>
            </a:r>
          </a:p>
          <a:p>
            <a:pPr algn="ctr">
              <a:spcAft>
                <a:spcPts val="100"/>
              </a:spcAft>
            </a:pPr>
            <a:r>
              <a:rPr sz="1150" b="1">
                <a:solidFill>
                  <a:srgbClr val="161B26"/>
                </a:solidFill>
                <a:latin typeface="Arial"/>
              </a:rPr>
              <a:t>Multi-agent LLM trading</a:t>
            </a:r>
          </a:p>
          <a:p>
            <a:pPr algn="ctr">
              <a:spcAft>
                <a:spcPts val="100"/>
              </a:spcAft>
            </a:pPr>
            <a:r>
              <a:rPr sz="950" b="0">
                <a:solidFill>
                  <a:srgbClr val="5B6372"/>
                </a:solidFill>
                <a:latin typeface="Arial"/>
              </a:rPr>
              <a:t>TradingAgents (Dec 2024): analyst, debate, trader and risk agents trade stocks</a:t>
            </a:r>
          </a:p>
        </p:txBody>
      </p:sp>
      <p:sp>
        <p:nvSpPr>
          <p:cNvPr id="26" name="Oval 25"/>
          <p:cNvSpPr/>
          <p:nvPr/>
        </p:nvSpPr>
        <p:spPr>
          <a:xfrm>
            <a:off x="1120140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31295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9147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2026</a:t>
            </a:r>
          </a:p>
          <a:p>
            <a:pPr algn="ctr">
              <a:spcAft>
                <a:spcPts val="100"/>
              </a:spcAft>
            </a:pPr>
            <a:r>
              <a:rPr sz="1150" b="1">
                <a:solidFill>
                  <a:srgbClr val="161B26"/>
                </a:solidFill>
                <a:latin typeface="Arial"/>
              </a:rPr>
              <a:t>MAS AI Risk Management</a:t>
            </a:r>
          </a:p>
          <a:p>
            <a:pPr algn="ctr">
              <a:spcAft>
                <a:spcPts val="100"/>
              </a:spcAft>
            </a:pPr>
            <a:r>
              <a:rPr sz="950" b="0">
                <a:solidFill>
                  <a:srgbClr val="5B6372"/>
                </a:solidFill>
                <a:latin typeface="Arial"/>
              </a:rPr>
              <a:t>Guidelines issued 7 Oct 2026, effective 7 Oct 2027: AI inventories and lifecycle controls</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PARADIGM SHIFTS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Six Paradigm Shifts in Quant and Algorithmic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intuition to probability  ·  1950s-1970s</a:t>
            </a:r>
          </a:p>
          <a:p>
            <a:pPr algn="l">
              <a:spcAft>
                <a:spcPts val="300"/>
              </a:spcAft>
            </a:pPr>
            <a:r>
              <a:rPr sz="950" b="0">
                <a:solidFill>
                  <a:srgbClr val="5B6372"/>
                </a:solidFill>
                <a:latin typeface="Arial"/>
              </a:rPr>
              <a:t>Markowitz, Thorp and Black-Scholes make risk, hedging and option value mathematical</a:t>
            </a:r>
          </a:p>
        </p:txBody>
      </p:sp>
      <p:sp>
        <p:nvSpPr>
          <p:cNvPr id="15" name="Rectangle 14"/>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stocks to factors  ·  1970s-1980s</a:t>
            </a:r>
          </a:p>
          <a:p>
            <a:pPr algn="l">
              <a:spcAft>
                <a:spcPts val="300"/>
              </a:spcAft>
            </a:pPr>
            <a:r>
              <a:rPr sz="950" b="0">
                <a:solidFill>
                  <a:srgbClr val="5B6372"/>
                </a:solidFill>
                <a:latin typeface="Arial"/>
              </a:rPr>
              <a:t>Barra factor models and program trading treat portfolios as baskets of risk exposures</a:t>
            </a:r>
          </a:p>
        </p:txBody>
      </p:sp>
      <p:sp>
        <p:nvSpPr>
          <p:cNvPr id="20" name="Rectangle 19"/>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447288"/>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factors to statistical arbitrage  ·  1980s-2000s</a:t>
            </a:r>
          </a:p>
          <a:p>
            <a:pPr algn="l">
              <a:spcAft>
                <a:spcPts val="300"/>
              </a:spcAft>
            </a:pPr>
            <a:r>
              <a:rPr sz="950" b="0">
                <a:solidFill>
                  <a:srgbClr val="5B6372"/>
                </a:solidFill>
                <a:latin typeface="Arial"/>
              </a:rPr>
              <a:t>Morgan Stanley's pairs group, D.E. Shaw and Renaissance harvest many small market-neutral edges</a:t>
            </a:r>
          </a:p>
        </p:txBody>
      </p:sp>
      <p:sp>
        <p:nvSpPr>
          <p:cNvPr id="25" name="Rectangle 24"/>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3447288"/>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floors to electronic speed  ·  1996-2010s</a:t>
            </a:r>
          </a:p>
          <a:p>
            <a:pPr algn="l">
              <a:spcAft>
                <a:spcPts val="300"/>
              </a:spcAft>
            </a:pPr>
            <a:r>
              <a:rPr sz="950" b="0">
                <a:solidFill>
                  <a:srgbClr val="5B6372"/>
                </a:solidFill>
                <a:latin typeface="Arial"/>
              </a:rPr>
              <a:t>ECNs, decimalisation and Reg NMS enable HFT: co-location, microwave links, microseconds</a:t>
            </a:r>
          </a:p>
        </p:txBody>
      </p:sp>
      <p:sp>
        <p:nvSpPr>
          <p:cNvPr id="30" name="Rectangle 29"/>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983480"/>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statistics to machine learning  ·  2000s-2010s</a:t>
            </a:r>
          </a:p>
          <a:p>
            <a:pPr algn="l">
              <a:spcAft>
                <a:spcPts val="300"/>
              </a:spcAft>
            </a:pPr>
            <a:r>
              <a:rPr sz="950" b="0">
                <a:solidFill>
                  <a:srgbClr val="5B6372"/>
                </a:solidFill>
                <a:latin typeface="Arial"/>
              </a:rPr>
              <a:t>Models learn non-linear patterns from prices, order books and alternative data</a:t>
            </a:r>
          </a:p>
        </p:txBody>
      </p:sp>
      <p:sp>
        <p:nvSpPr>
          <p:cNvPr id="35" name="Rectangle 34"/>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7219188" y="4983480"/>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From writing code to directing AI  ·  2023-present</a:t>
            </a:r>
          </a:p>
          <a:p>
            <a:pPr algn="l">
              <a:spcAft>
                <a:spcPts val="300"/>
              </a:spcAft>
            </a:pPr>
            <a:r>
              <a:rPr sz="950" b="0">
                <a:solidFill>
                  <a:srgbClr val="5B6372"/>
                </a:solidFill>
                <a:latin typeface="Arial"/>
              </a:rPr>
              <a:t>AI writes and runs the code; quants own the big concepts - hypothesis, algorithm logic, testing, risk</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Why Algorithms - and What Can Go Wrong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10235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510235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4645152" cy="365760"/>
          </a:xfrm>
          <a:prstGeom prst="rect">
            <a:avLst/>
          </a:prstGeom>
          <a:noFill/>
        </p:spPr>
        <p:txBody>
          <a:bodyPr wrap="square" anchor="t">
            <a:spAutoFit/>
          </a:bodyPr>
          <a:lstStyle/>
          <a:p>
            <a:pPr algn="l">
              <a:spcAft>
                <a:spcPts val="400"/>
              </a:spcAft>
            </a:pPr>
            <a:r>
              <a:rPr sz="1500" b="1">
                <a:solidFill>
                  <a:srgbClr val="1F6FEB"/>
                </a:solidFill>
                <a:latin typeface="Arial"/>
              </a:rPr>
              <a:t>Benefits</a:t>
            </a:r>
          </a:p>
        </p:txBody>
      </p:sp>
      <p:sp>
        <p:nvSpPr>
          <p:cNvPr id="10" name="TextBox 9"/>
          <p:cNvSpPr txBox="1"/>
          <p:nvPr/>
        </p:nvSpPr>
        <p:spPr>
          <a:xfrm>
            <a:off x="1005840" y="2514600"/>
            <a:ext cx="4645152" cy="3291840"/>
          </a:xfrm>
          <a:prstGeom prst="rect">
            <a:avLst/>
          </a:prstGeom>
          <a:noFill/>
        </p:spPr>
        <p:txBody>
          <a:bodyPr wrap="square">
            <a:spAutoFit/>
          </a:bodyPr>
          <a:lstStyle/>
          <a:p>
            <a:pPr>
              <a:spcAft>
                <a:spcPts val="800"/>
              </a:spcAft>
            </a:pPr>
            <a:r>
              <a:rPr sz="1250">
                <a:solidFill>
                  <a:srgbClr val="161B26"/>
                </a:solidFill>
                <a:latin typeface="Arial"/>
              </a:rPr>
              <a:t>•  Speed: reacts and executes in milliseconds</a:t>
            </a:r>
          </a:p>
          <a:p>
            <a:pPr>
              <a:spcAft>
                <a:spcPts val="800"/>
              </a:spcAft>
            </a:pPr>
            <a:r>
              <a:rPr sz="1250">
                <a:solidFill>
                  <a:srgbClr val="161B26"/>
                </a:solidFill>
                <a:latin typeface="Arial"/>
              </a:rPr>
              <a:t>•  Discipline: rules remove fear, greed and fatigue</a:t>
            </a:r>
          </a:p>
          <a:p>
            <a:pPr>
              <a:spcAft>
                <a:spcPts val="800"/>
              </a:spcAft>
            </a:pPr>
            <a:r>
              <a:rPr sz="1250">
                <a:solidFill>
                  <a:srgbClr val="161B26"/>
                </a:solidFill>
                <a:latin typeface="Arial"/>
              </a:rPr>
              <a:t>•  Backtesting: test ideas on historical data first</a:t>
            </a:r>
          </a:p>
          <a:p>
            <a:pPr>
              <a:spcAft>
                <a:spcPts val="800"/>
              </a:spcAft>
            </a:pPr>
            <a:r>
              <a:rPr sz="1250">
                <a:solidFill>
                  <a:srgbClr val="161B26"/>
                </a:solidFill>
                <a:latin typeface="Arial"/>
              </a:rPr>
              <a:t>•  Lower costs: split large orders to reduce market impact</a:t>
            </a:r>
          </a:p>
          <a:p>
            <a:pPr>
              <a:spcAft>
                <a:spcPts val="800"/>
              </a:spcAft>
            </a:pPr>
            <a:r>
              <a:rPr sz="1250">
                <a:solidFill>
                  <a:srgbClr val="161B26"/>
                </a:solidFill>
                <a:latin typeface="Arial"/>
              </a:rPr>
              <a:t>•  Scale: monitors many markets and assets around the clock</a:t>
            </a:r>
          </a:p>
        </p:txBody>
      </p:sp>
      <p:sp>
        <p:nvSpPr>
          <p:cNvPr id="11" name="Rectangle 10"/>
          <p:cNvSpPr/>
          <p:nvPr/>
        </p:nvSpPr>
        <p:spPr>
          <a:xfrm>
            <a:off x="6309360" y="1828800"/>
            <a:ext cx="5102352" cy="4206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1828800"/>
            <a:ext cx="510235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60" y="2057400"/>
            <a:ext cx="4645152" cy="365760"/>
          </a:xfrm>
          <a:prstGeom prst="rect">
            <a:avLst/>
          </a:prstGeom>
          <a:noFill/>
        </p:spPr>
        <p:txBody>
          <a:bodyPr wrap="square" anchor="t">
            <a:spAutoFit/>
          </a:bodyPr>
          <a:lstStyle/>
          <a:p>
            <a:pPr algn="l">
              <a:spcAft>
                <a:spcPts val="400"/>
              </a:spcAft>
            </a:pPr>
            <a:r>
              <a:rPr sz="1500" b="1">
                <a:solidFill>
                  <a:srgbClr val="10B981"/>
                </a:solidFill>
                <a:latin typeface="Arial"/>
              </a:rPr>
              <a:t>Risks</a:t>
            </a:r>
          </a:p>
        </p:txBody>
      </p:sp>
      <p:sp>
        <p:nvSpPr>
          <p:cNvPr id="14" name="TextBox 13"/>
          <p:cNvSpPr txBox="1"/>
          <p:nvPr/>
        </p:nvSpPr>
        <p:spPr>
          <a:xfrm>
            <a:off x="6537960" y="2514600"/>
            <a:ext cx="4645152" cy="3291840"/>
          </a:xfrm>
          <a:prstGeom prst="rect">
            <a:avLst/>
          </a:prstGeom>
          <a:noFill/>
        </p:spPr>
        <p:txBody>
          <a:bodyPr wrap="square">
            <a:spAutoFit/>
          </a:bodyPr>
          <a:lstStyle/>
          <a:p>
            <a:pPr>
              <a:spcAft>
                <a:spcPts val="800"/>
              </a:spcAft>
            </a:pPr>
            <a:r>
              <a:rPr sz="1250">
                <a:solidFill>
                  <a:srgbClr val="161B26"/>
                </a:solidFill>
                <a:latin typeface="Arial"/>
              </a:rPr>
              <a:t>•  Technical failure: bugs and outages (Knight Capital, 2012)</a:t>
            </a:r>
          </a:p>
          <a:p>
            <a:pPr>
              <a:spcAft>
                <a:spcPts val="800"/>
              </a:spcAft>
            </a:pPr>
            <a:r>
              <a:rPr sz="1250">
                <a:solidFill>
                  <a:srgbClr val="161B26"/>
                </a:solidFill>
                <a:latin typeface="Arial"/>
              </a:rPr>
              <a:t>•  Overfitting: great backtests that fail on live data</a:t>
            </a:r>
          </a:p>
          <a:p>
            <a:pPr>
              <a:spcAft>
                <a:spcPts val="800"/>
              </a:spcAft>
            </a:pPr>
            <a:r>
              <a:rPr sz="1250">
                <a:solidFill>
                  <a:srgbClr val="161B26"/>
                </a:solidFill>
                <a:latin typeface="Arial"/>
              </a:rPr>
              <a:t>•  Black swans and regime change the model has never seen</a:t>
            </a:r>
          </a:p>
          <a:p>
            <a:pPr>
              <a:spcAft>
                <a:spcPts val="800"/>
              </a:spcAft>
            </a:pPr>
            <a:r>
              <a:rPr sz="1250">
                <a:solidFill>
                  <a:srgbClr val="161B26"/>
                </a:solidFill>
                <a:latin typeface="Arial"/>
              </a:rPr>
              <a:t>•  Feedback loops between algorithms (2010 Flash Crash)</a:t>
            </a:r>
          </a:p>
          <a:p>
            <a:pPr>
              <a:spcAft>
                <a:spcPts val="800"/>
              </a:spcAft>
            </a:pPr>
            <a:r>
              <a:rPr sz="1250">
                <a:solidFill>
                  <a:srgbClr val="161B26"/>
                </a:solidFill>
                <a:latin typeface="Arial"/>
              </a:rPr>
              <a:t>•  Set-up, data and compliance costs; no guaranteed profit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AI IN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Eras of AI in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Symbolic AI  ·  1956-1980s</a:t>
            </a:r>
          </a:p>
          <a:p>
            <a:pPr algn="l">
              <a:spcAft>
                <a:spcPts val="300"/>
              </a:spcAft>
            </a:pPr>
            <a:r>
              <a:rPr sz="1000" b="0">
                <a:solidFill>
                  <a:srgbClr val="5B6372"/>
                </a:solidFill>
                <a:latin typeface="Arial"/>
              </a:rPr>
              <a:t>Hand-written rules: expert systems and rule-based program trading; brittle when markets change</a:t>
            </a:r>
          </a:p>
        </p:txBody>
      </p:sp>
      <p:sp>
        <p:nvSpPr>
          <p:cNvPr id="15" name="Rectangle 14"/>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Machine learning  ·  1990s-2000s</a:t>
            </a:r>
          </a:p>
          <a:p>
            <a:pPr algn="l">
              <a:spcAft>
                <a:spcPts val="300"/>
              </a:spcAft>
            </a:pPr>
            <a:r>
              <a:rPr sz="1000" b="0">
                <a:solidFill>
                  <a:srgbClr val="5B6372"/>
                </a:solidFill>
                <a:latin typeface="Arial"/>
              </a:rPr>
              <a:t>Models learn from data: regression, tree and boosting signals; statistical arbitrage at scale</a:t>
            </a:r>
          </a:p>
        </p:txBody>
      </p:sp>
      <p:sp>
        <p:nvSpPr>
          <p:cNvPr id="20" name="Rectangle 19"/>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Deep learning  ·  2012-2017</a:t>
            </a:r>
          </a:p>
          <a:p>
            <a:pPr algn="l">
              <a:spcAft>
                <a:spcPts val="300"/>
              </a:spcAft>
            </a:pPr>
            <a:r>
              <a:rPr sz="1000" b="0">
                <a:solidFill>
                  <a:srgbClr val="5B6372"/>
                </a:solidFill>
                <a:latin typeface="Arial"/>
              </a:rPr>
              <a:t>Many-layer networks on GPUs find non-linear patterns in prices, order books and alternative data</a:t>
            </a:r>
          </a:p>
        </p:txBody>
      </p:sp>
      <p:sp>
        <p:nvSpPr>
          <p:cNvPr id="25" name="Rectangle 24"/>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Generative AI  ·  2017-2023</a:t>
            </a:r>
          </a:p>
          <a:p>
            <a:pPr algn="l">
              <a:spcAft>
                <a:spcPts val="300"/>
              </a:spcAft>
            </a:pPr>
            <a:r>
              <a:rPr sz="1000" b="0">
                <a:solidFill>
                  <a:srgbClr val="5B6372"/>
                </a:solidFill>
                <a:latin typeface="Arial"/>
              </a:rPr>
              <a:t>Transformers and LLMs turn news, filings and earnings calls into trading signals</a:t>
            </a:r>
          </a:p>
        </p:txBody>
      </p:sp>
      <p:sp>
        <p:nvSpPr>
          <p:cNvPr id="30" name="Rectangle 29"/>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Agentic AI  ·  2024-present</a:t>
            </a:r>
          </a:p>
          <a:p>
            <a:pPr algn="l">
              <a:spcAft>
                <a:spcPts val="300"/>
              </a:spcAft>
            </a:pPr>
            <a:r>
              <a:rPr sz="1000" b="0">
                <a:solidFill>
                  <a:srgbClr val="5B6372"/>
                </a:solidFill>
                <a:latin typeface="Arial"/>
              </a:rPr>
              <a:t>LLM agents research, code, backtest and paper-trade strategies under hard risk limits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AI IN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AI Milestones and Their Trading Counterparts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1950</a:t>
            </a:r>
          </a:p>
          <a:p>
            <a:pPr algn="ctr">
              <a:spcAft>
                <a:spcPts val="100"/>
              </a:spcAft>
            </a:pPr>
            <a:r>
              <a:rPr sz="1150" b="1">
                <a:solidFill>
                  <a:srgbClr val="161B26"/>
                </a:solidFill>
                <a:latin typeface="Arial"/>
              </a:rPr>
              <a:t>Turing Test</a:t>
            </a:r>
          </a:p>
          <a:p>
            <a:pPr algn="ctr">
              <a:spcAft>
                <a:spcPts val="100"/>
              </a:spcAft>
            </a:pPr>
            <a:r>
              <a:rPr sz="950" b="0">
                <a:solidFill>
                  <a:srgbClr val="5B6372"/>
                </a:solidFill>
                <a:latin typeface="Arial"/>
              </a:rPr>
              <a:t>Turing asks if machines can think; in 1952 Markowitz turns portfolio choice into maths</a:t>
            </a:r>
          </a:p>
        </p:txBody>
      </p:sp>
      <p:sp>
        <p:nvSpPr>
          <p:cNvPr id="14" name="Oval 13"/>
          <p:cNvSpPr/>
          <p:nvPr/>
        </p:nvSpPr>
        <p:spPr>
          <a:xfrm>
            <a:off x="249174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0329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3619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1956</a:t>
            </a:r>
          </a:p>
          <a:p>
            <a:pPr algn="ctr">
              <a:spcAft>
                <a:spcPts val="100"/>
              </a:spcAft>
            </a:pPr>
            <a:r>
              <a:rPr sz="1150" b="1">
                <a:solidFill>
                  <a:srgbClr val="161B26"/>
                </a:solidFill>
                <a:latin typeface="Arial"/>
              </a:rPr>
              <a:t>'AI' is named</a:t>
            </a:r>
          </a:p>
          <a:p>
            <a:pPr algn="ctr">
              <a:spcAft>
                <a:spcPts val="100"/>
              </a:spcAft>
            </a:pPr>
            <a:r>
              <a:rPr sz="950" b="0">
                <a:solidFill>
                  <a:srgbClr val="5B6372"/>
                </a:solidFill>
                <a:latin typeface="Arial"/>
              </a:rPr>
              <a:t>AI becomes a field; Ed Thorp soon applies computers and probability to blackjack, then markets</a:t>
            </a:r>
          </a:p>
        </p:txBody>
      </p:sp>
      <p:sp>
        <p:nvSpPr>
          <p:cNvPr id="17" name="Oval 16"/>
          <p:cNvSpPr/>
          <p:nvPr/>
        </p:nvSpPr>
        <p:spPr>
          <a:xfrm>
            <a:off x="4233672"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45228"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78124"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1980s</a:t>
            </a:r>
          </a:p>
          <a:p>
            <a:pPr algn="ctr">
              <a:spcAft>
                <a:spcPts val="100"/>
              </a:spcAft>
            </a:pPr>
            <a:r>
              <a:rPr sz="1150" b="1">
                <a:solidFill>
                  <a:srgbClr val="161B26"/>
                </a:solidFill>
                <a:latin typeface="Arial"/>
              </a:rPr>
              <a:t>Expert systems</a:t>
            </a:r>
          </a:p>
          <a:p>
            <a:pPr algn="ctr">
              <a:spcAft>
                <a:spcPts val="100"/>
              </a:spcAft>
            </a:pPr>
            <a:r>
              <a:rPr sz="950" b="0">
                <a:solidFill>
                  <a:srgbClr val="5B6372"/>
                </a:solidFill>
                <a:latin typeface="Arial"/>
              </a:rPr>
              <a:t>Hand-written if-then rules - the same logic as the rule-based program trading of the 1980s</a:t>
            </a:r>
          </a:p>
        </p:txBody>
      </p:sp>
      <p:sp>
        <p:nvSpPr>
          <p:cNvPr id="20" name="Oval 19"/>
          <p:cNvSpPr/>
          <p:nvPr/>
        </p:nvSpPr>
        <p:spPr>
          <a:xfrm>
            <a:off x="5975604"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716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0056"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1986</a:t>
            </a:r>
          </a:p>
          <a:p>
            <a:pPr algn="ctr">
              <a:spcAft>
                <a:spcPts val="100"/>
              </a:spcAft>
            </a:pPr>
            <a:r>
              <a:rPr sz="1150" b="1">
                <a:solidFill>
                  <a:srgbClr val="161B26"/>
                </a:solidFill>
                <a:latin typeface="Arial"/>
              </a:rPr>
              <a:t>Backpropagation</a:t>
            </a:r>
          </a:p>
          <a:p>
            <a:pPr algn="ctr">
              <a:spcAft>
                <a:spcPts val="100"/>
              </a:spcAft>
            </a:pPr>
            <a:r>
              <a:rPr sz="950" b="0">
                <a:solidFill>
                  <a:srgbClr val="5B6372"/>
                </a:solidFill>
                <a:latin typeface="Arial"/>
              </a:rPr>
              <a:t>Multi-layer neural networks become trainable - the ancestor of today's price-prediction nets</a:t>
            </a:r>
          </a:p>
        </p:txBody>
      </p:sp>
      <p:sp>
        <p:nvSpPr>
          <p:cNvPr id="23" name="Oval 22"/>
          <p:cNvSpPr/>
          <p:nvPr/>
        </p:nvSpPr>
        <p:spPr>
          <a:xfrm>
            <a:off x="7717536"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829092"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1988"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1988</a:t>
            </a:r>
          </a:p>
          <a:p>
            <a:pPr algn="ctr">
              <a:spcAft>
                <a:spcPts val="100"/>
              </a:spcAft>
            </a:pPr>
            <a:r>
              <a:rPr sz="1150" b="1">
                <a:solidFill>
                  <a:srgbClr val="161B26"/>
                </a:solidFill>
                <a:latin typeface="Arial"/>
              </a:rPr>
              <a:t>Models trade markets</a:t>
            </a:r>
          </a:p>
          <a:p>
            <a:pPr algn="ctr">
              <a:spcAft>
                <a:spcPts val="100"/>
              </a:spcAft>
            </a:pPr>
            <a:r>
              <a:rPr sz="950" b="0">
                <a:solidFill>
                  <a:srgbClr val="5B6372"/>
                </a:solidFill>
                <a:latin typeface="Arial"/>
              </a:rPr>
              <a:t>Renaissance's Medallion fund launches, trading purely on mathematical models of market data</a:t>
            </a:r>
          </a:p>
        </p:txBody>
      </p:sp>
      <p:sp>
        <p:nvSpPr>
          <p:cNvPr id="26" name="Oval 25"/>
          <p:cNvSpPr/>
          <p:nvPr/>
        </p:nvSpPr>
        <p:spPr>
          <a:xfrm>
            <a:off x="9459468"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571024"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03920"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1997</a:t>
            </a:r>
          </a:p>
          <a:p>
            <a:pPr algn="ctr">
              <a:spcAft>
                <a:spcPts val="100"/>
              </a:spcAft>
            </a:pPr>
            <a:r>
              <a:rPr sz="1150" b="1">
                <a:solidFill>
                  <a:srgbClr val="161B26"/>
                </a:solidFill>
                <a:latin typeface="Arial"/>
              </a:rPr>
              <a:t>Deep Blue</a:t>
            </a:r>
          </a:p>
          <a:p>
            <a:pPr algn="ctr">
              <a:spcAft>
                <a:spcPts val="100"/>
              </a:spcAft>
            </a:pPr>
            <a:r>
              <a:rPr sz="950" b="0">
                <a:solidFill>
                  <a:srgbClr val="5B6372"/>
                </a:solidFill>
                <a:latin typeface="Arial"/>
              </a:rPr>
              <a:t>IBM beats Kasparov at chess; computer-driven quant firms such as D.E. Shaw are already trading</a:t>
            </a:r>
          </a:p>
        </p:txBody>
      </p:sp>
      <p:sp>
        <p:nvSpPr>
          <p:cNvPr id="29" name="Oval 28"/>
          <p:cNvSpPr/>
          <p:nvPr/>
        </p:nvSpPr>
        <p:spPr>
          <a:xfrm>
            <a:off x="11201400"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312956"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491472"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2012</a:t>
            </a:r>
          </a:p>
          <a:p>
            <a:pPr algn="ctr">
              <a:spcAft>
                <a:spcPts val="100"/>
              </a:spcAft>
            </a:pPr>
            <a:r>
              <a:rPr sz="1150" b="1">
                <a:solidFill>
                  <a:srgbClr val="161B26"/>
                </a:solidFill>
                <a:latin typeface="Arial"/>
              </a:rPr>
              <a:t>Deep learning</a:t>
            </a:r>
          </a:p>
          <a:p>
            <a:pPr algn="ctr">
              <a:spcAft>
                <a:spcPts val="100"/>
              </a:spcAft>
            </a:pPr>
            <a:r>
              <a:rPr sz="950" b="0">
                <a:solidFill>
                  <a:srgbClr val="5B6372"/>
                </a:solidFill>
                <a:latin typeface="Arial"/>
              </a:rPr>
              <a:t>GPU-trained deep networks win ImageNet; deep learning becomes a new tool for market data</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AI IN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AI Milestones and Their Trading Counterparts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868680" y="3954779"/>
            <a:ext cx="10451592" cy="457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1364"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2016</a:t>
            </a:r>
          </a:p>
          <a:p>
            <a:pPr algn="ctr">
              <a:spcAft>
                <a:spcPts val="100"/>
              </a:spcAft>
            </a:pPr>
            <a:r>
              <a:rPr sz="1150" b="1">
                <a:solidFill>
                  <a:srgbClr val="161B26"/>
                </a:solidFill>
                <a:latin typeface="Arial"/>
              </a:rPr>
              <a:t>AlphaGo</a:t>
            </a:r>
          </a:p>
          <a:p>
            <a:pPr algn="ctr">
              <a:spcAft>
                <a:spcPts val="100"/>
              </a:spcAft>
            </a:pPr>
            <a:r>
              <a:rPr sz="950" b="0">
                <a:solidFill>
                  <a:srgbClr val="5B6372"/>
                </a:solidFill>
                <a:latin typeface="Arial"/>
              </a:rPr>
              <a:t>Deep reinforcement learning wins at Go; RL is researched for order execution and portfolios</a:t>
            </a:r>
          </a:p>
        </p:txBody>
      </p:sp>
      <p:sp>
        <p:nvSpPr>
          <p:cNvPr id="14" name="Oval 13"/>
          <p:cNvSpPr/>
          <p:nvPr/>
        </p:nvSpPr>
        <p:spPr>
          <a:xfrm>
            <a:off x="2491740"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03296"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36192"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2017</a:t>
            </a:r>
          </a:p>
          <a:p>
            <a:pPr algn="ctr">
              <a:spcAft>
                <a:spcPts val="100"/>
              </a:spcAft>
            </a:pPr>
            <a:r>
              <a:rPr sz="1150" b="1">
                <a:solidFill>
                  <a:srgbClr val="161B26"/>
                </a:solidFill>
                <a:latin typeface="Arial"/>
              </a:rPr>
              <a:t>Transformer</a:t>
            </a:r>
          </a:p>
          <a:p>
            <a:pPr algn="ctr">
              <a:spcAft>
                <a:spcPts val="100"/>
              </a:spcAft>
            </a:pPr>
            <a:r>
              <a:rPr sz="950" b="0">
                <a:solidFill>
                  <a:srgbClr val="5B6372"/>
                </a:solidFill>
                <a:latin typeface="Arial"/>
              </a:rPr>
              <a:t>The architecture behind every LLM - later used to read news and filings for trading signals</a:t>
            </a:r>
          </a:p>
        </p:txBody>
      </p:sp>
      <p:sp>
        <p:nvSpPr>
          <p:cNvPr id="17" name="Oval 16"/>
          <p:cNvSpPr/>
          <p:nvPr/>
        </p:nvSpPr>
        <p:spPr>
          <a:xfrm>
            <a:off x="4233672"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45228"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78124"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2023</a:t>
            </a:r>
          </a:p>
          <a:p>
            <a:pPr algn="ctr">
              <a:spcAft>
                <a:spcPts val="100"/>
              </a:spcAft>
            </a:pPr>
            <a:r>
              <a:rPr sz="1150" b="1">
                <a:solidFill>
                  <a:srgbClr val="161B26"/>
                </a:solidFill>
                <a:latin typeface="Arial"/>
              </a:rPr>
              <a:t>LLMs meet markets</a:t>
            </a:r>
          </a:p>
          <a:p>
            <a:pPr algn="ctr">
              <a:spcAft>
                <a:spcPts val="100"/>
              </a:spcAft>
            </a:pPr>
            <a:r>
              <a:rPr sz="950" b="0">
                <a:solidFill>
                  <a:srgbClr val="5B6372"/>
                </a:solidFill>
                <a:latin typeface="Arial"/>
              </a:rPr>
              <a:t>BloombergGPT (50bn parameters); ChatGPT headline sentiment predicts next-day stock returns</a:t>
            </a:r>
          </a:p>
        </p:txBody>
      </p:sp>
      <p:sp>
        <p:nvSpPr>
          <p:cNvPr id="20" name="Oval 19"/>
          <p:cNvSpPr/>
          <p:nvPr/>
        </p:nvSpPr>
        <p:spPr>
          <a:xfrm>
            <a:off x="5975604" y="3858768"/>
            <a:ext cx="237744" cy="23774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87160" y="4096512"/>
            <a:ext cx="14630" cy="6126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0056" y="4754880"/>
            <a:ext cx="2148840" cy="1371600"/>
          </a:xfrm>
          <a:prstGeom prst="rect">
            <a:avLst/>
          </a:prstGeom>
          <a:noFill/>
        </p:spPr>
        <p:txBody>
          <a:bodyPr wrap="square" anchor="t">
            <a:spAutoFit/>
          </a:bodyPr>
          <a:lstStyle/>
          <a:p>
            <a:pPr algn="ctr">
              <a:spcAft>
                <a:spcPts val="100"/>
              </a:spcAft>
            </a:pPr>
            <a:r>
              <a:rPr sz="1500" b="1">
                <a:solidFill>
                  <a:srgbClr val="F59E0B"/>
                </a:solidFill>
                <a:latin typeface="Arial"/>
              </a:rPr>
              <a:t>2024</a:t>
            </a:r>
          </a:p>
          <a:p>
            <a:pPr algn="ctr">
              <a:spcAft>
                <a:spcPts val="100"/>
              </a:spcAft>
            </a:pPr>
            <a:r>
              <a:rPr sz="1150" b="1">
                <a:solidFill>
                  <a:srgbClr val="161B26"/>
                </a:solidFill>
                <a:latin typeface="Arial"/>
              </a:rPr>
              <a:t>Multi-agent trading</a:t>
            </a:r>
          </a:p>
          <a:p>
            <a:pPr algn="ctr">
              <a:spcAft>
                <a:spcPts val="100"/>
              </a:spcAft>
            </a:pPr>
            <a:r>
              <a:rPr sz="950" b="0">
                <a:solidFill>
                  <a:srgbClr val="5B6372"/>
                </a:solidFill>
                <a:latin typeface="Arial"/>
              </a:rPr>
              <a:t>TradingAgents models a trading firm: analyst, bull/bear debate, trader and risk agents</a:t>
            </a:r>
          </a:p>
        </p:txBody>
      </p:sp>
      <p:sp>
        <p:nvSpPr>
          <p:cNvPr id="23" name="Oval 22"/>
          <p:cNvSpPr/>
          <p:nvPr/>
        </p:nvSpPr>
        <p:spPr>
          <a:xfrm>
            <a:off x="7717536" y="3858768"/>
            <a:ext cx="237744" cy="23774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829092" y="3246120"/>
            <a:ext cx="14630" cy="6126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61988" y="2011680"/>
            <a:ext cx="2148840" cy="1234440"/>
          </a:xfrm>
          <a:prstGeom prst="rect">
            <a:avLst/>
          </a:prstGeom>
          <a:noFill/>
        </p:spPr>
        <p:txBody>
          <a:bodyPr wrap="square" anchor="b">
            <a:spAutoFit/>
          </a:bodyPr>
          <a:lstStyle/>
          <a:p>
            <a:pPr algn="ctr">
              <a:spcAft>
                <a:spcPts val="100"/>
              </a:spcAft>
            </a:pPr>
            <a:r>
              <a:rPr sz="1500" b="1">
                <a:solidFill>
                  <a:srgbClr val="1F6FEB"/>
                </a:solidFill>
                <a:latin typeface="Arial"/>
              </a:rPr>
              <a:t>2025</a:t>
            </a:r>
          </a:p>
          <a:p>
            <a:pPr algn="ctr">
              <a:spcAft>
                <a:spcPts val="100"/>
              </a:spcAft>
            </a:pPr>
            <a:r>
              <a:rPr sz="1150" b="1">
                <a:solidFill>
                  <a:srgbClr val="161B26"/>
                </a:solidFill>
                <a:latin typeface="Arial"/>
              </a:rPr>
              <a:t>Agentic quant research</a:t>
            </a:r>
          </a:p>
          <a:p>
            <a:pPr algn="ctr">
              <a:spcAft>
                <a:spcPts val="100"/>
              </a:spcAft>
            </a:pPr>
            <a:r>
              <a:rPr sz="950" b="0">
                <a:solidFill>
                  <a:srgbClr val="5B6372"/>
                </a:solidFill>
                <a:latin typeface="Arial"/>
              </a:rPr>
              <a:t>LLM agents mine formulaic alphas and write backtests (e.g. Alpha-GPT, AlphaAgent)</a:t>
            </a:r>
          </a:p>
        </p:txBody>
      </p:sp>
      <p:sp>
        <p:nvSpPr>
          <p:cNvPr id="26" name="Oval 25"/>
          <p:cNvSpPr/>
          <p:nvPr/>
        </p:nvSpPr>
        <p:spPr>
          <a:xfrm>
            <a:off x="9459468" y="3858768"/>
            <a:ext cx="237744" cy="23774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571024" y="4096512"/>
            <a:ext cx="14630" cy="6126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03920" y="4754880"/>
            <a:ext cx="2148840" cy="1371600"/>
          </a:xfrm>
          <a:prstGeom prst="rect">
            <a:avLst/>
          </a:prstGeom>
          <a:noFill/>
        </p:spPr>
        <p:txBody>
          <a:bodyPr wrap="square" anchor="t">
            <a:spAutoFit/>
          </a:bodyPr>
          <a:lstStyle/>
          <a:p>
            <a:pPr algn="ctr">
              <a:spcAft>
                <a:spcPts val="100"/>
              </a:spcAft>
            </a:pPr>
            <a:r>
              <a:rPr sz="1500" b="1">
                <a:solidFill>
                  <a:srgbClr val="10B981"/>
                </a:solidFill>
                <a:latin typeface="Arial"/>
              </a:rPr>
              <a:t>2026</a:t>
            </a:r>
          </a:p>
          <a:p>
            <a:pPr algn="ctr">
              <a:spcAft>
                <a:spcPts val="100"/>
              </a:spcAft>
            </a:pPr>
            <a:r>
              <a:rPr sz="1150" b="1">
                <a:solidFill>
                  <a:srgbClr val="161B26"/>
                </a:solidFill>
                <a:latin typeface="Arial"/>
              </a:rPr>
              <a:t>Always-on AI agents</a:t>
            </a:r>
          </a:p>
          <a:p>
            <a:pPr algn="ctr">
              <a:spcAft>
                <a:spcPts val="100"/>
              </a:spcAft>
            </a:pPr>
            <a:r>
              <a:rPr sz="950" b="0">
                <a:solidFill>
                  <a:srgbClr val="5B6372"/>
                </a:solidFill>
                <a:latin typeface="Arial"/>
              </a:rPr>
              <a:t>OpenClaw, Hermes Agent and OpenAI Dots stand by 24/7: agentic AI that keeps working</a:t>
            </a:r>
          </a:p>
        </p:txBody>
      </p:sp>
      <p:sp>
        <p:nvSpPr>
          <p:cNvPr id="29" name="Oval 28"/>
          <p:cNvSpPr/>
          <p:nvPr/>
        </p:nvSpPr>
        <p:spPr>
          <a:xfrm>
            <a:off x="11201400" y="3858768"/>
            <a:ext cx="237744" cy="23774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312956" y="3246120"/>
            <a:ext cx="14630" cy="6126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491472" y="2011680"/>
            <a:ext cx="2148840" cy="1234440"/>
          </a:xfrm>
          <a:prstGeom prst="rect">
            <a:avLst/>
          </a:prstGeom>
          <a:noFill/>
        </p:spPr>
        <p:txBody>
          <a:bodyPr wrap="square" anchor="b">
            <a:spAutoFit/>
          </a:bodyPr>
          <a:lstStyle/>
          <a:p>
            <a:pPr algn="ctr">
              <a:spcAft>
                <a:spcPts val="100"/>
              </a:spcAft>
            </a:pPr>
            <a:r>
              <a:rPr sz="1500" b="1">
                <a:solidFill>
                  <a:srgbClr val="7C3AED"/>
                </a:solidFill>
                <a:latin typeface="Arial"/>
              </a:rPr>
              <a:t>2026</a:t>
            </a:r>
          </a:p>
          <a:p>
            <a:pPr algn="ctr">
              <a:spcAft>
                <a:spcPts val="100"/>
              </a:spcAft>
            </a:pPr>
            <a:r>
              <a:rPr sz="1150" b="1">
                <a:solidFill>
                  <a:srgbClr val="161B26"/>
                </a:solidFill>
                <a:latin typeface="Arial"/>
              </a:rPr>
              <a:t>Governed AI</a:t>
            </a:r>
          </a:p>
          <a:p>
            <a:pPr algn="ctr">
              <a:spcAft>
                <a:spcPts val="100"/>
              </a:spcAft>
            </a:pPr>
            <a:r>
              <a:rPr sz="950" b="0">
                <a:solidFill>
                  <a:srgbClr val="5B6372"/>
                </a:solidFill>
                <a:latin typeface="Arial"/>
              </a:rPr>
              <a:t>MAS AI Risk Management Guidelines (7 Oct 2026) set lifecycle controls for AI in finance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K9 · ML TO LLM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Paradigm Shift: Machine-Learning Quant versus LLM-Era Quant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F6FEB"/>
                </a:solidFill>
                <a:latin typeface="Arial"/>
              </a:rPr>
              <a:t>K1  K9</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Machine-learning quant</a:t>
            </a: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LLM-era quant</a:t>
            </a:r>
          </a:p>
        </p:txBody>
      </p:sp>
      <p:sp>
        <p:nvSpPr>
          <p:cNvPr id="14" name="Rectangle 13"/>
          <p:cNvSpPr/>
          <p:nvPr/>
        </p:nvSpPr>
        <p:spPr>
          <a:xfrm>
            <a:off x="777240" y="228600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Main data</a:t>
            </a:r>
          </a:p>
        </p:txBody>
      </p:sp>
      <p:sp>
        <p:nvSpPr>
          <p:cNvPr id="16" name="TextBox 15"/>
          <p:cNvSpPr txBox="1"/>
          <p:nvPr/>
        </p:nvSpPr>
        <p:spPr>
          <a:xfrm>
            <a:off x="3017520" y="228600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Structured: prices, volumes, fundamentals</a:t>
            </a:r>
          </a:p>
        </p:txBody>
      </p:sp>
      <p:sp>
        <p:nvSpPr>
          <p:cNvPr id="17" name="TextBox 16"/>
          <p:cNvSpPr txBox="1"/>
          <p:nvPr/>
        </p:nvSpPr>
        <p:spPr>
          <a:xfrm>
            <a:off x="7260336" y="228600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Adds unstructured text: news, filings, earnings calls, research</a:t>
            </a:r>
          </a:p>
        </p:txBody>
      </p:sp>
      <p:sp>
        <p:nvSpPr>
          <p:cNvPr id="18" name="TextBox 17"/>
          <p:cNvSpPr txBox="1"/>
          <p:nvPr/>
        </p:nvSpPr>
        <p:spPr>
          <a:xfrm>
            <a:off x="886968" y="2783205"/>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Features</a:t>
            </a:r>
          </a:p>
        </p:txBody>
      </p:sp>
      <p:sp>
        <p:nvSpPr>
          <p:cNvPr id="19" name="TextBox 18"/>
          <p:cNvSpPr txBox="1"/>
          <p:nvPr/>
        </p:nvSpPr>
        <p:spPr>
          <a:xfrm>
            <a:off x="3017520" y="2783205"/>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Hand-engineered by the quant (lags, RSI, factors)</a:t>
            </a:r>
          </a:p>
        </p:txBody>
      </p:sp>
      <p:sp>
        <p:nvSpPr>
          <p:cNvPr id="20" name="TextBox 19"/>
          <p:cNvSpPr txBox="1"/>
          <p:nvPr/>
        </p:nvSpPr>
        <p:spPr>
          <a:xfrm>
            <a:off x="7260336" y="2783205"/>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Text read directly; LLM scores sentiment and events</a:t>
            </a:r>
          </a:p>
        </p:txBody>
      </p:sp>
      <p:sp>
        <p:nvSpPr>
          <p:cNvPr id="21" name="Rectangle 20"/>
          <p:cNvSpPr/>
          <p:nvPr/>
        </p:nvSpPr>
        <p:spPr>
          <a:xfrm>
            <a:off x="777240" y="328041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28041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Model building</a:t>
            </a:r>
          </a:p>
        </p:txBody>
      </p:sp>
      <p:sp>
        <p:nvSpPr>
          <p:cNvPr id="23" name="TextBox 22"/>
          <p:cNvSpPr txBox="1"/>
          <p:nvPr/>
        </p:nvSpPr>
        <p:spPr>
          <a:xfrm>
            <a:off x="3017520" y="328041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Fit regressions, trees, boosting on labelled data</a:t>
            </a:r>
          </a:p>
        </p:txBody>
      </p:sp>
      <p:sp>
        <p:nvSpPr>
          <p:cNvPr id="24" name="TextBox 23"/>
          <p:cNvSpPr txBox="1"/>
          <p:nvPr/>
        </p:nvSpPr>
        <p:spPr>
          <a:xfrm>
            <a:off x="7260336" y="328041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Prompt or fine-tune pretrained LLMs; agents propose alphas</a:t>
            </a:r>
          </a:p>
        </p:txBody>
      </p:sp>
      <p:sp>
        <p:nvSpPr>
          <p:cNvPr id="25" name="TextBox 24"/>
          <p:cNvSpPr txBox="1"/>
          <p:nvPr/>
        </p:nvSpPr>
        <p:spPr>
          <a:xfrm>
            <a:off x="886968" y="3777614"/>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Who writes the code</a:t>
            </a:r>
          </a:p>
        </p:txBody>
      </p:sp>
      <p:sp>
        <p:nvSpPr>
          <p:cNvPr id="26" name="TextBox 25"/>
          <p:cNvSpPr txBox="1"/>
          <p:nvPr/>
        </p:nvSpPr>
        <p:spPr>
          <a:xfrm>
            <a:off x="3017520" y="3777614"/>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The quant, line by line</a:t>
            </a:r>
          </a:p>
        </p:txBody>
      </p:sp>
      <p:sp>
        <p:nvSpPr>
          <p:cNvPr id="27" name="TextBox 26"/>
          <p:cNvSpPr txBox="1"/>
          <p:nvPr/>
        </p:nvSpPr>
        <p:spPr>
          <a:xfrm>
            <a:off x="7260336" y="3777614"/>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AI writes it; the quant directs and reviews</a:t>
            </a:r>
          </a:p>
        </p:txBody>
      </p:sp>
      <p:sp>
        <p:nvSpPr>
          <p:cNvPr id="28" name="Rectangle 27"/>
          <p:cNvSpPr/>
          <p:nvPr/>
        </p:nvSpPr>
        <p:spPr>
          <a:xfrm>
            <a:off x="777240" y="427482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27482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Research workflow</a:t>
            </a:r>
          </a:p>
        </p:txBody>
      </p:sp>
      <p:sp>
        <p:nvSpPr>
          <p:cNvPr id="30" name="TextBox 29"/>
          <p:cNvSpPr txBox="1"/>
          <p:nvPr/>
        </p:nvSpPr>
        <p:spPr>
          <a:xfrm>
            <a:off x="3017520" y="427482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The quant writes every line of code</a:t>
            </a:r>
          </a:p>
        </p:txBody>
      </p:sp>
      <p:sp>
        <p:nvSpPr>
          <p:cNvPr id="31" name="TextBox 30"/>
          <p:cNvSpPr txBox="1"/>
          <p:nvPr/>
        </p:nvSpPr>
        <p:spPr>
          <a:xfrm>
            <a:off x="7260336" y="427482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Coding agents draft code and backtests; the quant reviews</a:t>
            </a:r>
          </a:p>
        </p:txBody>
      </p:sp>
      <p:sp>
        <p:nvSpPr>
          <p:cNvPr id="32" name="TextBox 31"/>
          <p:cNvSpPr txBox="1"/>
          <p:nvPr/>
        </p:nvSpPr>
        <p:spPr>
          <a:xfrm>
            <a:off x="886968" y="4772025"/>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Alpha decay</a:t>
            </a:r>
          </a:p>
        </p:txBody>
      </p:sp>
      <p:sp>
        <p:nvSpPr>
          <p:cNvPr id="33" name="TextBox 32"/>
          <p:cNvSpPr txBox="1"/>
          <p:nvPr/>
        </p:nvSpPr>
        <p:spPr>
          <a:xfrm>
            <a:off x="3017520" y="4772025"/>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Signals fade as more funds trade them</a:t>
            </a:r>
          </a:p>
        </p:txBody>
      </p:sp>
      <p:sp>
        <p:nvSpPr>
          <p:cNvPr id="34" name="TextBox 33"/>
          <p:cNvSpPr txBox="1"/>
          <p:nvPr/>
        </p:nvSpPr>
        <p:spPr>
          <a:xfrm>
            <a:off x="7260336" y="4772025"/>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LLM signals fade too as LLM adoption rises</a:t>
            </a:r>
          </a:p>
        </p:txBody>
      </p:sp>
      <p:sp>
        <p:nvSpPr>
          <p:cNvPr id="35" name="Rectangle 34"/>
          <p:cNvSpPr/>
          <p:nvPr/>
        </p:nvSpPr>
        <p:spPr>
          <a:xfrm>
            <a:off x="777240" y="5269229"/>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5269229"/>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New risks</a:t>
            </a:r>
          </a:p>
        </p:txBody>
      </p:sp>
      <p:sp>
        <p:nvSpPr>
          <p:cNvPr id="37" name="TextBox 36"/>
          <p:cNvSpPr txBox="1"/>
          <p:nvPr/>
        </p:nvSpPr>
        <p:spPr>
          <a:xfrm>
            <a:off x="3017520" y="5269229"/>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Overfitting; look-ahead in features</a:t>
            </a:r>
          </a:p>
        </p:txBody>
      </p:sp>
      <p:sp>
        <p:nvSpPr>
          <p:cNvPr id="38" name="TextBox 37"/>
          <p:cNvSpPr txBox="1"/>
          <p:nvPr/>
        </p:nvSpPr>
        <p:spPr>
          <a:xfrm>
            <a:off x="7260336" y="5269229"/>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LLM training-data look-ahead and 'distraction'; homogeneous factors</a:t>
            </a:r>
          </a:p>
        </p:txBody>
      </p:sp>
      <p:sp>
        <p:nvSpPr>
          <p:cNvPr id="39" name="TextBox 38"/>
          <p:cNvSpPr txBox="1"/>
          <p:nvPr/>
        </p:nvSpPr>
        <p:spPr>
          <a:xfrm>
            <a:off x="886968" y="5766434"/>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Human role</a:t>
            </a:r>
          </a:p>
        </p:txBody>
      </p:sp>
      <p:sp>
        <p:nvSpPr>
          <p:cNvPr id="40" name="TextBox 39"/>
          <p:cNvSpPr txBox="1"/>
          <p:nvPr/>
        </p:nvSpPr>
        <p:spPr>
          <a:xfrm>
            <a:off x="3017520" y="5766434"/>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Model builder</a:t>
            </a:r>
          </a:p>
        </p:txBody>
      </p:sp>
      <p:sp>
        <p:nvSpPr>
          <p:cNvPr id="41" name="TextBox 40"/>
          <p:cNvSpPr txBox="1"/>
          <p:nvPr/>
        </p:nvSpPr>
        <p:spPr>
          <a:xfrm>
            <a:off x="7260336" y="5766434"/>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Supervisor: hypothesis, testing, risk sign-off</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K9 · ML TO LLM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Impact of LLMs on Quant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F6FEB"/>
                </a:solidFill>
                <a:latin typeface="Arial"/>
              </a:rPr>
              <a:t>K1  K9</a:t>
            </a:r>
          </a:p>
        </p:txBody>
      </p:sp>
      <p:sp>
        <p:nvSpPr>
          <p:cNvPr id="10" name="Rectangle 9"/>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Text becomes a signal</a:t>
            </a:r>
          </a:p>
          <a:p>
            <a:pPr algn="l">
              <a:spcAft>
                <a:spcPts val="300"/>
              </a:spcAft>
            </a:pPr>
            <a:r>
              <a:rPr sz="950" b="0">
                <a:solidFill>
                  <a:srgbClr val="5B6372"/>
                </a:solidFill>
                <a:latin typeface="Arial"/>
              </a:rPr>
              <a:t>ChatGPT headline scores predict next-day returns, strongest for small stocks and bad news (Lopez-Lira and Tang)</a:t>
            </a:r>
          </a:p>
        </p:txBody>
      </p:sp>
      <p:sp>
        <p:nvSpPr>
          <p:cNvPr id="15" name="Rectangle 14"/>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Finance-specific LLMs</a:t>
            </a:r>
          </a:p>
          <a:p>
            <a:pPr algn="l">
              <a:spcAft>
                <a:spcPts val="300"/>
              </a:spcAft>
            </a:pPr>
            <a:r>
              <a:rPr sz="950" b="0">
                <a:solidFill>
                  <a:srgbClr val="5B6372"/>
                </a:solidFill>
                <a:latin typeface="Arial"/>
              </a:rPr>
              <a:t>BloombergGPT (2023): 50bn parameters trained with 363bn tokens of Bloomberg financial data</a:t>
            </a:r>
          </a:p>
        </p:txBody>
      </p:sp>
      <p:sp>
        <p:nvSpPr>
          <p:cNvPr id="20" name="Rectangle 19"/>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447288"/>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Automated alpha mining</a:t>
            </a:r>
          </a:p>
          <a:p>
            <a:pPr algn="l">
              <a:spcAft>
                <a:spcPts val="300"/>
              </a:spcAft>
            </a:pPr>
            <a:r>
              <a:rPr sz="950" b="0">
                <a:solidFill>
                  <a:srgbClr val="5B6372"/>
                </a:solidFill>
                <a:latin typeface="Arial"/>
              </a:rPr>
              <a:t>Alpha-GPT turns ideas into formulaic alphas; AlphaAgent targets alpha decay and crowding</a:t>
            </a:r>
          </a:p>
        </p:txBody>
      </p:sp>
      <p:sp>
        <p:nvSpPr>
          <p:cNvPr id="25" name="Rectangle 24"/>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3447288"/>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Backtests need new controls</a:t>
            </a:r>
          </a:p>
          <a:p>
            <a:pPr algn="l">
              <a:spcAft>
                <a:spcPts val="300"/>
              </a:spcAft>
            </a:pPr>
            <a:r>
              <a:rPr sz="950" b="0">
                <a:solidFill>
                  <a:srgbClr val="5B6372"/>
                </a:solidFill>
                <a:latin typeface="Arial"/>
              </a:rPr>
              <a:t>LLMs may 'know' in-sample history: test after the knowledge cutoff and anonymise firms (Glasserman and Lin)</a:t>
            </a:r>
          </a:p>
        </p:txBody>
      </p:sp>
      <p:sp>
        <p:nvSpPr>
          <p:cNvPr id="30" name="Rectangle 29"/>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983480"/>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Faster crowding</a:t>
            </a:r>
          </a:p>
          <a:p>
            <a:pPr algn="l">
              <a:spcAft>
                <a:spcPts val="300"/>
              </a:spcAft>
            </a:pPr>
            <a:r>
              <a:rPr sz="950" b="0">
                <a:solidFill>
                  <a:srgbClr val="5B6372"/>
                </a:solidFill>
                <a:latin typeface="Arial"/>
              </a:rPr>
              <a:t>Strategy returns decline as LLM adoption rises - prices become more efficient (Lopez-Lira and Tang)</a:t>
            </a:r>
          </a:p>
        </p:txBody>
      </p:sp>
      <p:sp>
        <p:nvSpPr>
          <p:cNvPr id="35" name="Rectangle 34"/>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7219188" y="4983480"/>
            <a:ext cx="3973068" cy="1115568"/>
          </a:xfrm>
          <a:prstGeom prst="rect">
            <a:avLst/>
          </a:prstGeom>
          <a:noFill/>
        </p:spPr>
        <p:txBody>
          <a:bodyPr wrap="square" anchor="ctr">
            <a:spAutoFit/>
          </a:bodyPr>
          <a:lstStyle/>
          <a:p>
            <a:pPr algn="l">
              <a:spcAft>
                <a:spcPts val="300"/>
              </a:spcAft>
            </a:pPr>
            <a:r>
              <a:rPr sz="1350" b="1">
                <a:solidFill>
                  <a:srgbClr val="161B26"/>
                </a:solidFill>
                <a:latin typeface="Arial"/>
              </a:rPr>
              <a:t>Agents still need limits</a:t>
            </a:r>
          </a:p>
          <a:p>
            <a:pPr algn="l">
              <a:spcAft>
                <a:spcPts val="300"/>
              </a:spcAft>
            </a:pPr>
            <a:r>
              <a:rPr sz="950" b="0">
                <a:solidFill>
                  <a:srgbClr val="5B6372"/>
                </a:solidFill>
                <a:latin typeface="Arial"/>
              </a:rPr>
              <a:t>Agents propose trades; hard-coded risk checks and humans approve them</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AGENTIC AI</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Agentic AI versus AI Agents in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5180076"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518007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4741164" cy="548640"/>
          </a:xfrm>
          <a:prstGeom prst="rect">
            <a:avLst/>
          </a:prstGeom>
          <a:noFill/>
        </p:spPr>
        <p:txBody>
          <a:bodyPr wrap="square" anchor="t">
            <a:spAutoFit/>
          </a:bodyPr>
          <a:lstStyle/>
          <a:p>
            <a:pPr algn="l">
              <a:spcAft>
                <a:spcPts val="400"/>
              </a:spcAft>
            </a:pPr>
            <a:r>
              <a:rPr sz="1600" b="1">
                <a:solidFill>
                  <a:srgbClr val="1F6FEB"/>
                </a:solidFill>
                <a:latin typeface="Arial"/>
              </a:rPr>
              <a:t>Agentic AI - the capability</a:t>
            </a:r>
          </a:p>
        </p:txBody>
      </p:sp>
      <p:sp>
        <p:nvSpPr>
          <p:cNvPr id="10" name="TextBox 9"/>
          <p:cNvSpPr txBox="1"/>
          <p:nvPr/>
        </p:nvSpPr>
        <p:spPr>
          <a:xfrm>
            <a:off x="996696"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The capability of AI to plan and act: it calls tools, uses skills and memory, and follows instructions to complete multi-step work when it is asked.
Trading example: On request, an LLM fetches a stock's bars and news through tools, checks its memory of past trades and proposes an order within its instructions</a:t>
            </a:r>
          </a:p>
        </p:txBody>
      </p:sp>
      <p:sp>
        <p:nvSpPr>
          <p:cNvPr id="11" name="Rectangle 10"/>
          <p:cNvSpPr/>
          <p:nvPr/>
        </p:nvSpPr>
        <p:spPr>
          <a:xfrm>
            <a:off x="6231636" y="1965960"/>
            <a:ext cx="5180076"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965960"/>
            <a:ext cx="518007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1092" y="2331720"/>
            <a:ext cx="4741164" cy="548640"/>
          </a:xfrm>
          <a:prstGeom prst="rect">
            <a:avLst/>
          </a:prstGeom>
          <a:noFill/>
        </p:spPr>
        <p:txBody>
          <a:bodyPr wrap="square" anchor="t">
            <a:spAutoFit/>
          </a:bodyPr>
          <a:lstStyle/>
          <a:p>
            <a:pPr algn="l">
              <a:spcAft>
                <a:spcPts val="400"/>
              </a:spcAft>
            </a:pPr>
            <a:r>
              <a:rPr sz="1600" b="1">
                <a:solidFill>
                  <a:srgbClr val="10B981"/>
                </a:solidFill>
                <a:latin typeface="Arial"/>
              </a:rPr>
              <a:t>AI Agent - always on, 24/7</a:t>
            </a:r>
          </a:p>
        </p:txBody>
      </p:sp>
      <p:sp>
        <p:nvSpPr>
          <p:cNvPr id="14" name="TextBox 13"/>
          <p:cNvSpPr txBox="1"/>
          <p:nvPr/>
        </p:nvSpPr>
        <p:spPr>
          <a:xfrm>
            <a:off x="6451092"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A special class of agentic AI that stands by 24/7 and works all the time: always on, woken by schedules, events and messages, with its own long-term memory.
Examples: OpenClaw, Hermes Agent, OpenAI Dots.
Trading example: A round-the-clock trading agent that watches prices and news overnight and proposes paper trades within risk limits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AGENTIC AI</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AI Agents vs Agentic AI - Side by Side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AI Agents</a:t>
            </a: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Agentic AI</a:t>
            </a:r>
          </a:p>
        </p:txBody>
      </p:sp>
      <p:sp>
        <p:nvSpPr>
          <p:cNvPr id="14" name="Rectangle 13"/>
          <p:cNvSpPr/>
          <p:nvPr/>
        </p:nvSpPr>
        <p:spPr>
          <a:xfrm>
            <a:off x="777240" y="228600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What it is</a:t>
            </a:r>
          </a:p>
        </p:txBody>
      </p:sp>
      <p:sp>
        <p:nvSpPr>
          <p:cNvPr id="16" name="TextBox 15"/>
          <p:cNvSpPr txBox="1"/>
          <p:nvPr/>
        </p:nvSpPr>
        <p:spPr>
          <a:xfrm>
            <a:off x="3017520" y="228600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A special class of agentic AI that is always on</a:t>
            </a:r>
          </a:p>
        </p:txBody>
      </p:sp>
      <p:sp>
        <p:nvSpPr>
          <p:cNvPr id="17" name="TextBox 16"/>
          <p:cNvSpPr txBox="1"/>
          <p:nvPr/>
        </p:nvSpPr>
        <p:spPr>
          <a:xfrm>
            <a:off x="7260336" y="228600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Capability to plan and act with tools, skills, memory</a:t>
            </a:r>
          </a:p>
        </p:txBody>
      </p:sp>
      <p:sp>
        <p:nvSpPr>
          <p:cNvPr id="18" name="TextBox 17"/>
          <p:cNvSpPr txBox="1"/>
          <p:nvPr/>
        </p:nvSpPr>
        <p:spPr>
          <a:xfrm>
            <a:off x="886968" y="2783205"/>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Runtime</a:t>
            </a:r>
          </a:p>
        </p:txBody>
      </p:sp>
      <p:sp>
        <p:nvSpPr>
          <p:cNvPr id="19" name="TextBox 18"/>
          <p:cNvSpPr txBox="1"/>
          <p:nvPr/>
        </p:nvSpPr>
        <p:spPr>
          <a:xfrm>
            <a:off x="3017520" y="2783205"/>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Persistent: stands by 24/7 on a server or PC</a:t>
            </a:r>
          </a:p>
        </p:txBody>
      </p:sp>
      <p:sp>
        <p:nvSpPr>
          <p:cNvPr id="20" name="TextBox 19"/>
          <p:cNvSpPr txBox="1"/>
          <p:nvPr/>
        </p:nvSpPr>
        <p:spPr>
          <a:xfrm>
            <a:off x="7260336" y="2783205"/>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Runs when invoked: a chat, workflow or pipeline</a:t>
            </a:r>
          </a:p>
        </p:txBody>
      </p:sp>
      <p:sp>
        <p:nvSpPr>
          <p:cNvPr id="21" name="Rectangle 20"/>
          <p:cNvSpPr/>
          <p:nvPr/>
        </p:nvSpPr>
        <p:spPr>
          <a:xfrm>
            <a:off x="777240" y="328041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28041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Trigger</a:t>
            </a:r>
          </a:p>
        </p:txBody>
      </p:sp>
      <p:sp>
        <p:nvSpPr>
          <p:cNvPr id="23" name="TextBox 22"/>
          <p:cNvSpPr txBox="1"/>
          <p:nvPr/>
        </p:nvSpPr>
        <p:spPr>
          <a:xfrm>
            <a:off x="3017520" y="328041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Schedules, events, messages - unprompted</a:t>
            </a:r>
          </a:p>
        </p:txBody>
      </p:sp>
      <p:sp>
        <p:nvSpPr>
          <p:cNvPr id="24" name="TextBox 23"/>
          <p:cNvSpPr txBox="1"/>
          <p:nvPr/>
        </p:nvSpPr>
        <p:spPr>
          <a:xfrm>
            <a:off x="7260336" y="328041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A user prompt or a pipeline step</a:t>
            </a:r>
          </a:p>
        </p:txBody>
      </p:sp>
      <p:sp>
        <p:nvSpPr>
          <p:cNvPr id="25" name="TextBox 24"/>
          <p:cNvSpPr txBox="1"/>
          <p:nvPr/>
        </p:nvSpPr>
        <p:spPr>
          <a:xfrm>
            <a:off x="886968" y="3777614"/>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Memory</a:t>
            </a:r>
          </a:p>
        </p:txBody>
      </p:sp>
      <p:sp>
        <p:nvSpPr>
          <p:cNvPr id="26" name="TextBox 25"/>
          <p:cNvSpPr txBox="1"/>
          <p:nvPr/>
        </p:nvSpPr>
        <p:spPr>
          <a:xfrm>
            <a:off x="3017520" y="3777614"/>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Long-term memory across days and tasks</a:t>
            </a:r>
          </a:p>
        </p:txBody>
      </p:sp>
      <p:sp>
        <p:nvSpPr>
          <p:cNvPr id="27" name="TextBox 26"/>
          <p:cNvSpPr txBox="1"/>
          <p:nvPr/>
        </p:nvSpPr>
        <p:spPr>
          <a:xfrm>
            <a:off x="7260336" y="3777614"/>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Session or task memory; can use long-term memory</a:t>
            </a:r>
          </a:p>
        </p:txBody>
      </p:sp>
      <p:sp>
        <p:nvSpPr>
          <p:cNvPr id="28" name="Rectangle 27"/>
          <p:cNvSpPr/>
          <p:nvPr/>
        </p:nvSpPr>
        <p:spPr>
          <a:xfrm>
            <a:off x="777240" y="4274820"/>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274820"/>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Building blocks</a:t>
            </a:r>
          </a:p>
        </p:txBody>
      </p:sp>
      <p:sp>
        <p:nvSpPr>
          <p:cNvPr id="30" name="TextBox 29"/>
          <p:cNvSpPr txBox="1"/>
          <p:nvPr/>
        </p:nvSpPr>
        <p:spPr>
          <a:xfrm>
            <a:off x="3017520" y="4274820"/>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Agentic AI + always-on runtime and scheduler</a:t>
            </a:r>
          </a:p>
        </p:txBody>
      </p:sp>
      <p:sp>
        <p:nvSpPr>
          <p:cNvPr id="31" name="TextBox 30"/>
          <p:cNvSpPr txBox="1"/>
          <p:nvPr/>
        </p:nvSpPr>
        <p:spPr>
          <a:xfrm>
            <a:off x="7260336" y="4274820"/>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LLM + tools + skills + memory + instructions</a:t>
            </a:r>
          </a:p>
        </p:txBody>
      </p:sp>
      <p:sp>
        <p:nvSpPr>
          <p:cNvPr id="32" name="TextBox 31"/>
          <p:cNvSpPr txBox="1"/>
          <p:nvPr/>
        </p:nvSpPr>
        <p:spPr>
          <a:xfrm>
            <a:off x="886968" y="4772025"/>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Examples</a:t>
            </a:r>
          </a:p>
        </p:txBody>
      </p:sp>
      <p:sp>
        <p:nvSpPr>
          <p:cNvPr id="33" name="TextBox 32"/>
          <p:cNvSpPr txBox="1"/>
          <p:nvPr/>
        </p:nvSpPr>
        <p:spPr>
          <a:xfrm>
            <a:off x="3017520" y="4772025"/>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OpenClaw, Hermes Agent, OpenAI Dots</a:t>
            </a:r>
          </a:p>
        </p:txBody>
      </p:sp>
      <p:sp>
        <p:nvSpPr>
          <p:cNvPr id="34" name="TextBox 33"/>
          <p:cNvSpPr txBox="1"/>
          <p:nvPr/>
        </p:nvSpPr>
        <p:spPr>
          <a:xfrm>
            <a:off x="7260336" y="4772025"/>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Claude Code, ChatGPT with tools, TradingAgents</a:t>
            </a:r>
          </a:p>
        </p:txBody>
      </p:sp>
      <p:sp>
        <p:nvSpPr>
          <p:cNvPr id="35" name="Rectangle 34"/>
          <p:cNvSpPr/>
          <p:nvPr/>
        </p:nvSpPr>
        <p:spPr>
          <a:xfrm>
            <a:off x="777240" y="5269229"/>
            <a:ext cx="10634472" cy="469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5269229"/>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Trading example</a:t>
            </a:r>
          </a:p>
        </p:txBody>
      </p:sp>
      <p:sp>
        <p:nvSpPr>
          <p:cNvPr id="37" name="TextBox 36"/>
          <p:cNvSpPr txBox="1"/>
          <p:nvPr/>
        </p:nvSpPr>
        <p:spPr>
          <a:xfrm>
            <a:off x="3017520" y="5269229"/>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24/7 market and news monitor proposing trades</a:t>
            </a:r>
          </a:p>
        </p:txBody>
      </p:sp>
      <p:sp>
        <p:nvSpPr>
          <p:cNvPr id="38" name="TextBox 37"/>
          <p:cNvSpPr txBox="1"/>
          <p:nvPr/>
        </p:nvSpPr>
        <p:spPr>
          <a:xfrm>
            <a:off x="7260336" y="5269229"/>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On-demand multi-agent analysis before a trade</a:t>
            </a:r>
          </a:p>
        </p:txBody>
      </p:sp>
      <p:sp>
        <p:nvSpPr>
          <p:cNvPr id="39" name="TextBox 38"/>
          <p:cNvSpPr txBox="1"/>
          <p:nvPr/>
        </p:nvSpPr>
        <p:spPr>
          <a:xfrm>
            <a:off x="886968" y="5766434"/>
            <a:ext cx="1965960" cy="469772"/>
          </a:xfrm>
          <a:prstGeom prst="rect">
            <a:avLst/>
          </a:prstGeom>
          <a:noFill/>
        </p:spPr>
        <p:txBody>
          <a:bodyPr wrap="square" anchor="ctr">
            <a:spAutoFit/>
          </a:bodyPr>
          <a:lstStyle/>
          <a:p>
            <a:pPr algn="l">
              <a:spcAft>
                <a:spcPts val="400"/>
              </a:spcAft>
            </a:pPr>
            <a:r>
              <a:rPr sz="1150" b="1">
                <a:solidFill>
                  <a:srgbClr val="161B26"/>
                </a:solidFill>
                <a:latin typeface="Arial"/>
              </a:rPr>
              <a:t>Main risks</a:t>
            </a:r>
          </a:p>
        </p:txBody>
      </p:sp>
      <p:sp>
        <p:nvSpPr>
          <p:cNvPr id="40" name="TextBox 39"/>
          <p:cNvSpPr txBox="1"/>
          <p:nvPr/>
        </p:nvSpPr>
        <p:spPr>
          <a:xfrm>
            <a:off x="3017520" y="5766434"/>
            <a:ext cx="4014216" cy="469772"/>
          </a:xfrm>
          <a:prstGeom prst="rect">
            <a:avLst/>
          </a:prstGeom>
          <a:noFill/>
        </p:spPr>
        <p:txBody>
          <a:bodyPr wrap="square" anchor="ctr">
            <a:spAutoFit/>
          </a:bodyPr>
          <a:lstStyle/>
          <a:p>
            <a:pPr algn="l">
              <a:spcAft>
                <a:spcPts val="400"/>
              </a:spcAft>
            </a:pPr>
            <a:r>
              <a:rPr sz="1050" b="0">
                <a:solidFill>
                  <a:srgbClr val="161B26"/>
                </a:solidFill>
                <a:latin typeface="Arial"/>
              </a:rPr>
              <a:t>Acting unsupervised overnight; runaway loops</a:t>
            </a:r>
          </a:p>
        </p:txBody>
      </p:sp>
      <p:sp>
        <p:nvSpPr>
          <p:cNvPr id="41" name="TextBox 40"/>
          <p:cNvSpPr txBox="1"/>
          <p:nvPr/>
        </p:nvSpPr>
        <p:spPr>
          <a:xfrm>
            <a:off x="7260336" y="5766434"/>
            <a:ext cx="4059936" cy="469772"/>
          </a:xfrm>
          <a:prstGeom prst="rect">
            <a:avLst/>
          </a:prstGeom>
          <a:noFill/>
        </p:spPr>
        <p:txBody>
          <a:bodyPr wrap="square" anchor="ctr">
            <a:spAutoFit/>
          </a:bodyPr>
          <a:lstStyle/>
          <a:p>
            <a:pPr algn="l">
              <a:spcAft>
                <a:spcPts val="400"/>
              </a:spcAft>
            </a:pPr>
            <a:r>
              <a:rPr sz="1050" b="0">
                <a:solidFill>
                  <a:srgbClr val="161B26"/>
                </a:solidFill>
                <a:latin typeface="Arial"/>
              </a:rPr>
              <a:t>Hallucination; prompt injection; tool misuse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AGENTIC AI</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From Chatbot to Always-On AI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24528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647063"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4706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2196846" cy="1371600"/>
          </a:xfrm>
          <a:prstGeom prst="rect">
            <a:avLst/>
          </a:prstGeom>
          <a:noFill/>
        </p:spPr>
        <p:txBody>
          <a:bodyPr wrap="square" anchor="t">
            <a:spAutoFit/>
          </a:bodyPr>
          <a:lstStyle/>
          <a:p>
            <a:pPr algn="ctr">
              <a:spcAft>
                <a:spcPts val="400"/>
              </a:spcAft>
            </a:pPr>
            <a:r>
              <a:rPr sz="1200" b="0">
                <a:solidFill>
                  <a:srgbClr val="161B26"/>
                </a:solidFill>
                <a:latin typeface="Arial"/>
              </a:rPr>
              <a:t>1 · Chatbot: Answers one prompt at a time; no tools, no actions</a:t>
            </a:r>
          </a:p>
        </p:txBody>
      </p:sp>
      <p:sp>
        <p:nvSpPr>
          <p:cNvPr id="15" name="TextBox 14"/>
          <p:cNvSpPr txBox="1"/>
          <p:nvPr/>
        </p:nvSpPr>
        <p:spPr>
          <a:xfrm>
            <a:off x="3211830"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16" name="Rectangle 15"/>
          <p:cNvSpPr/>
          <p:nvPr/>
        </p:nvSpPr>
        <p:spPr>
          <a:xfrm>
            <a:off x="3504438"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504438" y="2240280"/>
            <a:ext cx="24528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374261"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7426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3632454" y="3483864"/>
            <a:ext cx="2196846" cy="1371600"/>
          </a:xfrm>
          <a:prstGeom prst="rect">
            <a:avLst/>
          </a:prstGeom>
          <a:noFill/>
        </p:spPr>
        <p:txBody>
          <a:bodyPr wrap="square" anchor="t">
            <a:spAutoFit/>
          </a:bodyPr>
          <a:lstStyle/>
          <a:p>
            <a:pPr algn="ctr">
              <a:spcAft>
                <a:spcPts val="400"/>
              </a:spcAft>
            </a:pPr>
            <a:r>
              <a:rPr sz="1200" b="0">
                <a:solidFill>
                  <a:srgbClr val="161B26"/>
                </a:solidFill>
                <a:latin typeface="Arial"/>
              </a:rPr>
              <a:t>2 · Agentic AI: Plans and calls tools, skills, memory and instructions when asked</a:t>
            </a:r>
          </a:p>
        </p:txBody>
      </p:sp>
      <p:sp>
        <p:nvSpPr>
          <p:cNvPr id="21" name="TextBox 20"/>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2" name="Rectangle 21"/>
          <p:cNvSpPr/>
          <p:nvPr/>
        </p:nvSpPr>
        <p:spPr>
          <a:xfrm>
            <a:off x="6231636"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240280"/>
            <a:ext cx="24528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101459"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014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6359652" y="3483864"/>
            <a:ext cx="2196846" cy="1371600"/>
          </a:xfrm>
          <a:prstGeom prst="rect">
            <a:avLst/>
          </a:prstGeom>
          <a:noFill/>
        </p:spPr>
        <p:txBody>
          <a:bodyPr wrap="square" anchor="t">
            <a:spAutoFit/>
          </a:bodyPr>
          <a:lstStyle/>
          <a:p>
            <a:pPr algn="ctr">
              <a:spcAft>
                <a:spcPts val="400"/>
              </a:spcAft>
            </a:pPr>
            <a:r>
              <a:rPr sz="1200" b="0">
                <a:solidFill>
                  <a:srgbClr val="161B26"/>
                </a:solidFill>
                <a:latin typeface="Arial"/>
              </a:rPr>
              <a:t>3 · Multi-agent agentic system: Specialist agents coordinate: analysts, debate, trader, risk manager</a:t>
            </a:r>
          </a:p>
        </p:txBody>
      </p:sp>
      <p:sp>
        <p:nvSpPr>
          <p:cNvPr id="27" name="TextBox 26"/>
          <p:cNvSpPr txBox="1"/>
          <p:nvPr/>
        </p:nvSpPr>
        <p:spPr>
          <a:xfrm>
            <a:off x="8666226"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8" name="Rectangle 27"/>
          <p:cNvSpPr/>
          <p:nvPr/>
        </p:nvSpPr>
        <p:spPr>
          <a:xfrm>
            <a:off x="8958834" y="2240280"/>
            <a:ext cx="24528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958834" y="2240280"/>
            <a:ext cx="245287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28657"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2865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9086850" y="3483864"/>
            <a:ext cx="2196846" cy="1371600"/>
          </a:xfrm>
          <a:prstGeom prst="rect">
            <a:avLst/>
          </a:prstGeom>
          <a:noFill/>
        </p:spPr>
        <p:txBody>
          <a:bodyPr wrap="square" anchor="t">
            <a:spAutoFit/>
          </a:bodyPr>
          <a:lstStyle/>
          <a:p>
            <a:pPr algn="ctr">
              <a:spcAft>
                <a:spcPts val="400"/>
              </a:spcAft>
            </a:pPr>
            <a:r>
              <a:rPr sz="1200" b="0">
                <a:solidFill>
                  <a:srgbClr val="161B26"/>
                </a:solidFill>
                <a:latin typeface="Arial"/>
              </a:rPr>
              <a:t>4 · AI agent (always on): Stands by 24/7, wakes on schedules and events, works continuously within limits</a:t>
            </a:r>
          </a:p>
        </p:txBody>
      </p:sp>
      <p:sp>
        <p:nvSpPr>
          <p:cNvPr id="33" name="Rectangle 32"/>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An AI agent is agentic AI that never switches off - so its limits, kill switch and monitoring matter most.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MULTI-AGENT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Roles in a Multi-Agent Trading System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Fundamental Analyst</a:t>
            </a:r>
          </a:p>
          <a:p>
            <a:pPr algn="l">
              <a:spcAft>
                <a:spcPts val="300"/>
              </a:spcAft>
            </a:pPr>
            <a:r>
              <a:rPr sz="1000" b="0">
                <a:solidFill>
                  <a:srgbClr val="5B6372"/>
                </a:solidFill>
                <a:latin typeface="Arial"/>
              </a:rPr>
              <a:t>Reads filings, earnings and balance sheets to judge intrinsic value</a:t>
            </a:r>
          </a:p>
        </p:txBody>
      </p:sp>
      <p:sp>
        <p:nvSpPr>
          <p:cNvPr id="15" name="Rectangle 14"/>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Technical Analyst</a:t>
            </a:r>
          </a:p>
          <a:p>
            <a:pPr algn="l">
              <a:spcAft>
                <a:spcPts val="300"/>
              </a:spcAft>
            </a:pPr>
            <a:r>
              <a:rPr sz="1000" b="0">
                <a:solidFill>
                  <a:srgbClr val="5B6372"/>
                </a:solidFill>
                <a:latin typeface="Arial"/>
              </a:rPr>
              <a:t>Reads price, volume and indicators such as MACD and RSI</a:t>
            </a:r>
          </a:p>
        </p:txBody>
      </p:sp>
      <p:sp>
        <p:nvSpPr>
          <p:cNvPr id="20" name="Rectangle 19"/>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063240"/>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Sentiment Analyst</a:t>
            </a:r>
          </a:p>
          <a:p>
            <a:pPr algn="l">
              <a:spcAft>
                <a:spcPts val="300"/>
              </a:spcAft>
            </a:pPr>
            <a:r>
              <a:rPr sz="1000" b="0">
                <a:solidFill>
                  <a:srgbClr val="5B6372"/>
                </a:solidFill>
                <a:latin typeface="Arial"/>
              </a:rPr>
              <a:t>Gauges mood from social media, analyst ratings and options flow</a:t>
            </a:r>
          </a:p>
        </p:txBody>
      </p:sp>
      <p:sp>
        <p:nvSpPr>
          <p:cNvPr id="25" name="Rectangle 24"/>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3063240"/>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News Analyst</a:t>
            </a:r>
          </a:p>
          <a:p>
            <a:pPr algn="l">
              <a:spcAft>
                <a:spcPts val="300"/>
              </a:spcAft>
            </a:pPr>
            <a:r>
              <a:rPr sz="1000" b="0">
                <a:solidFill>
                  <a:srgbClr val="5B6372"/>
                </a:solidFill>
                <a:latin typeface="Arial"/>
              </a:rPr>
              <a:t>Tracks news wires, press releases and macro events</a:t>
            </a:r>
          </a:p>
        </p:txBody>
      </p:sp>
      <p:sp>
        <p:nvSpPr>
          <p:cNvPr id="30" name="Rectangle 29"/>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215384"/>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Bull / Bear Researchers</a:t>
            </a:r>
          </a:p>
          <a:p>
            <a:pPr algn="l">
              <a:spcAft>
                <a:spcPts val="300"/>
              </a:spcAft>
            </a:pPr>
            <a:r>
              <a:rPr sz="1000" b="0">
                <a:solidFill>
                  <a:srgbClr val="5B6372"/>
                </a:solidFill>
                <a:latin typeface="Arial"/>
              </a:rPr>
              <a:t>Argue for and against the trade so weak ideas are challenged</a:t>
            </a:r>
          </a:p>
        </p:txBody>
      </p:sp>
      <p:sp>
        <p:nvSpPr>
          <p:cNvPr id="35" name="Rectangle 34"/>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7219188" y="4215384"/>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Trader</a:t>
            </a:r>
          </a:p>
          <a:p>
            <a:pPr algn="l">
              <a:spcAft>
                <a:spcPts val="300"/>
              </a:spcAft>
            </a:pPr>
            <a:r>
              <a:rPr sz="1000" b="0">
                <a:solidFill>
                  <a:srgbClr val="5B6372"/>
                </a:solidFill>
                <a:latin typeface="Arial"/>
              </a:rPr>
              <a:t>Combines the reports into a buy, sell or hold call with timing and size</a:t>
            </a:r>
          </a:p>
        </p:txBody>
      </p:sp>
      <p:sp>
        <p:nvSpPr>
          <p:cNvPr id="40" name="Rectangle 39"/>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4" name="TextBox 43"/>
          <p:cNvSpPr txBox="1"/>
          <p:nvPr/>
        </p:nvSpPr>
        <p:spPr>
          <a:xfrm>
            <a:off x="1764792" y="5367528"/>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Risk Manager</a:t>
            </a:r>
          </a:p>
          <a:p>
            <a:pPr algn="l">
              <a:spcAft>
                <a:spcPts val="300"/>
              </a:spcAft>
            </a:pPr>
            <a:r>
              <a:rPr sz="1000" b="0">
                <a:solidFill>
                  <a:srgbClr val="5B6372"/>
                </a:solidFill>
                <a:latin typeface="Arial"/>
              </a:rPr>
              <a:t>Checks volatility, liquidity, exposure and drawdown limits</a:t>
            </a:r>
          </a:p>
        </p:txBody>
      </p:sp>
      <p:sp>
        <p:nvSpPr>
          <p:cNvPr id="45" name="Rectangle 44"/>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87668"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9" name="TextBox 48"/>
          <p:cNvSpPr txBox="1"/>
          <p:nvPr/>
        </p:nvSpPr>
        <p:spPr>
          <a:xfrm>
            <a:off x="7219188" y="5367528"/>
            <a:ext cx="3973068" cy="731520"/>
          </a:xfrm>
          <a:prstGeom prst="rect">
            <a:avLst/>
          </a:prstGeom>
          <a:noFill/>
        </p:spPr>
        <p:txBody>
          <a:bodyPr wrap="square" anchor="ctr">
            <a:spAutoFit/>
          </a:bodyPr>
          <a:lstStyle/>
          <a:p>
            <a:pPr algn="l">
              <a:spcAft>
                <a:spcPts val="300"/>
              </a:spcAft>
            </a:pPr>
            <a:r>
              <a:rPr sz="1400" b="1">
                <a:solidFill>
                  <a:srgbClr val="161B26"/>
                </a:solidFill>
                <a:latin typeface="Arial"/>
              </a:rPr>
              <a:t>Portfolio Manager</a:t>
            </a:r>
          </a:p>
          <a:p>
            <a:pPr algn="l">
              <a:spcAft>
                <a:spcPts val="300"/>
              </a:spcAft>
            </a:pPr>
            <a:r>
              <a:rPr sz="1000" b="0">
                <a:solidFill>
                  <a:srgbClr val="5B6372"/>
                </a:solidFill>
                <a:latin typeface="Arial"/>
              </a:rPr>
              <a:t>Approves or rejects the proposal and fits it into the whole portfolio</a:t>
            </a:r>
          </a:p>
        </p:txBody>
      </p:sp>
      <p:sp>
        <p:nvSpPr>
          <p:cNvPr id="50" name="TextBox 4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51" name="TextBox 5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2" name="TextBox 5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MULTI-AGENT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Stock-Trading Agent Frameworks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731520"/>
          </a:xfrm>
          <a:prstGeom prst="rect">
            <a:avLst/>
          </a:prstGeom>
          <a:noFill/>
        </p:spPr>
        <p:txBody>
          <a:bodyPr wrap="square" anchor="ctr">
            <a:spAutoFit/>
          </a:bodyPr>
          <a:lstStyle/>
          <a:p>
            <a:pPr algn="l">
              <a:spcAft>
                <a:spcPts val="300"/>
              </a:spcAft>
            </a:pPr>
            <a:r>
              <a:rPr sz="1350" b="1">
                <a:solidFill>
                  <a:srgbClr val="161B26"/>
                </a:solidFill>
                <a:latin typeface="Arial"/>
              </a:rPr>
              <a:t>TradingAgents (Xiao et al., 2024)</a:t>
            </a:r>
          </a:p>
          <a:p>
            <a:pPr algn="l">
              <a:spcAft>
                <a:spcPts val="300"/>
              </a:spcAft>
            </a:pPr>
            <a:r>
              <a:rPr sz="950" b="0">
                <a:solidFill>
                  <a:srgbClr val="5B6372"/>
                </a:solidFill>
                <a:latin typeface="Arial"/>
              </a:rPr>
              <a:t>Simulated stock-trading firm: fundamental, sentiment, news and technical analysts, bull/bear debate, trader, risk team</a:t>
            </a:r>
          </a:p>
        </p:txBody>
      </p:sp>
      <p:sp>
        <p:nvSpPr>
          <p:cNvPr id="15" name="Rectangle 14"/>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3063240"/>
            <a:ext cx="9427464" cy="731520"/>
          </a:xfrm>
          <a:prstGeom prst="rect">
            <a:avLst/>
          </a:prstGeom>
          <a:noFill/>
        </p:spPr>
        <p:txBody>
          <a:bodyPr wrap="square" anchor="ctr">
            <a:spAutoFit/>
          </a:bodyPr>
          <a:lstStyle/>
          <a:p>
            <a:pPr algn="l">
              <a:spcAft>
                <a:spcPts val="300"/>
              </a:spcAft>
            </a:pPr>
            <a:r>
              <a:rPr sz="1350" b="1">
                <a:solidFill>
                  <a:srgbClr val="161B26"/>
                </a:solidFill>
                <a:latin typeface="Arial"/>
              </a:rPr>
              <a:t>FinMem (Yu et al., 2023)</a:t>
            </a:r>
          </a:p>
          <a:p>
            <a:pPr algn="l">
              <a:spcAft>
                <a:spcPts val="300"/>
              </a:spcAft>
            </a:pPr>
            <a:r>
              <a:rPr sz="950" b="0">
                <a:solidFill>
                  <a:srgbClr val="5B6372"/>
                </a:solidFill>
                <a:latin typeface="Arial"/>
              </a:rPr>
              <a:t>LLM trading agent with profiling and layered memory making Buy / Sell / Hold decisions on individual stocks</a:t>
            </a:r>
          </a:p>
        </p:txBody>
      </p:sp>
      <p:sp>
        <p:nvSpPr>
          <p:cNvPr id="20" name="Rectangle 19"/>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9427464" cy="731520"/>
          </a:xfrm>
          <a:prstGeom prst="rect">
            <a:avLst/>
          </a:prstGeom>
          <a:noFill/>
        </p:spPr>
        <p:txBody>
          <a:bodyPr wrap="square" anchor="ctr">
            <a:spAutoFit/>
          </a:bodyPr>
          <a:lstStyle/>
          <a:p>
            <a:pPr algn="l">
              <a:spcAft>
                <a:spcPts val="300"/>
              </a:spcAft>
            </a:pPr>
            <a:r>
              <a:rPr sz="1350" b="1">
                <a:solidFill>
                  <a:srgbClr val="161B26"/>
                </a:solidFill>
                <a:latin typeface="Arial"/>
              </a:rPr>
              <a:t>FinAgent (Zhang et al., 2024)</a:t>
            </a:r>
          </a:p>
          <a:p>
            <a:pPr algn="l">
              <a:spcAft>
                <a:spcPts val="300"/>
              </a:spcAft>
            </a:pPr>
            <a:r>
              <a:rPr sz="950" b="0">
                <a:solidFill>
                  <a:srgbClr val="5B6372"/>
                </a:solidFill>
                <a:latin typeface="Arial"/>
              </a:rPr>
              <a:t>Multimodal agent reading prices, news and chart images, with dual-level reflection; tested on stocks and crypto</a:t>
            </a:r>
          </a:p>
        </p:txBody>
      </p:sp>
      <p:sp>
        <p:nvSpPr>
          <p:cNvPr id="25" name="Rectangle 24"/>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5367528"/>
            <a:ext cx="9427464" cy="731520"/>
          </a:xfrm>
          <a:prstGeom prst="rect">
            <a:avLst/>
          </a:prstGeom>
          <a:noFill/>
        </p:spPr>
        <p:txBody>
          <a:bodyPr wrap="square" anchor="ctr">
            <a:spAutoFit/>
          </a:bodyPr>
          <a:lstStyle/>
          <a:p>
            <a:pPr algn="l">
              <a:spcAft>
                <a:spcPts val="300"/>
              </a:spcAft>
            </a:pPr>
            <a:r>
              <a:rPr sz="1350" b="1">
                <a:solidFill>
                  <a:srgbClr val="161B26"/>
                </a:solidFill>
                <a:latin typeface="Arial"/>
              </a:rPr>
              <a:t>StockAgent (2024)</a:t>
            </a:r>
          </a:p>
          <a:p>
            <a:pPr algn="l">
              <a:spcAft>
                <a:spcPts val="300"/>
              </a:spcAft>
            </a:pPr>
            <a:r>
              <a:rPr sz="950" b="0">
                <a:solidFill>
                  <a:srgbClr val="5B6372"/>
                </a:solidFill>
                <a:latin typeface="Arial"/>
              </a:rPr>
              <a:t>LLM investor agents trade a simulated stock market under macro, policy and event shocks; avoids test-set leakage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MULTI-AGENT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Stock-Trading Agent Frameworks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1115568"/>
          </a:xfrm>
          <a:prstGeom prst="rect">
            <a:avLst/>
          </a:prstGeom>
          <a:noFill/>
        </p:spPr>
        <p:txBody>
          <a:bodyPr wrap="square" anchor="ctr">
            <a:spAutoFit/>
          </a:bodyPr>
          <a:lstStyle/>
          <a:p>
            <a:pPr algn="l">
              <a:spcAft>
                <a:spcPts val="300"/>
              </a:spcAft>
            </a:pPr>
            <a:r>
              <a:rPr sz="1350" b="1">
                <a:solidFill>
                  <a:srgbClr val="161B26"/>
                </a:solidFill>
                <a:latin typeface="Arial"/>
              </a:rPr>
              <a:t>QuantAgent (2025)</a:t>
            </a:r>
          </a:p>
          <a:p>
            <a:pPr algn="l">
              <a:spcAft>
                <a:spcPts val="300"/>
              </a:spcAft>
            </a:pPr>
            <a:r>
              <a:rPr sz="950" b="0">
                <a:solidFill>
                  <a:srgbClr val="5B6372"/>
                </a:solidFill>
                <a:latin typeface="Arial"/>
              </a:rPr>
              <a:t>Price-driven multi-agent system for high-frequency trading: Indicator, Pattern, Trend and Risk agents</a:t>
            </a:r>
          </a:p>
        </p:txBody>
      </p:sp>
      <p:sp>
        <p:nvSpPr>
          <p:cNvPr id="15" name="Rectangle 14"/>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3447288"/>
            <a:ext cx="9427464" cy="1115568"/>
          </a:xfrm>
          <a:prstGeom prst="rect">
            <a:avLst/>
          </a:prstGeom>
          <a:noFill/>
        </p:spPr>
        <p:txBody>
          <a:bodyPr wrap="square" anchor="ctr">
            <a:spAutoFit/>
          </a:bodyPr>
          <a:lstStyle/>
          <a:p>
            <a:pPr algn="l">
              <a:spcAft>
                <a:spcPts val="300"/>
              </a:spcAft>
            </a:pPr>
            <a:r>
              <a:rPr sz="1350" b="1">
                <a:solidFill>
                  <a:srgbClr val="161B26"/>
                </a:solidFill>
                <a:latin typeface="Arial"/>
              </a:rPr>
              <a:t>AI Hedge Fund (open source)</a:t>
            </a:r>
          </a:p>
          <a:p>
            <a:pPr algn="l">
              <a:spcAft>
                <a:spcPts val="300"/>
              </a:spcAft>
            </a:pPr>
            <a:r>
              <a:rPr sz="950" b="0">
                <a:solidFill>
                  <a:srgbClr val="5B6372"/>
                </a:solidFill>
                <a:latin typeface="Arial"/>
              </a:rPr>
              <a:t>Investor-persona agents (e.g. Warren Buffett), a risk manager and a portfolio manager decide trades for chosen tickers</a:t>
            </a:r>
          </a:p>
        </p:txBody>
      </p:sp>
      <p:sp>
        <p:nvSpPr>
          <p:cNvPr id="20" name="Rectangle 19"/>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983480"/>
            <a:ext cx="9427464" cy="1115568"/>
          </a:xfrm>
          <a:prstGeom prst="rect">
            <a:avLst/>
          </a:prstGeom>
          <a:noFill/>
        </p:spPr>
        <p:txBody>
          <a:bodyPr wrap="square" anchor="ctr">
            <a:spAutoFit/>
          </a:bodyPr>
          <a:lstStyle/>
          <a:p>
            <a:pPr algn="l">
              <a:spcAft>
                <a:spcPts val="300"/>
              </a:spcAft>
            </a:pPr>
            <a:r>
              <a:rPr sz="1350" b="1">
                <a:solidFill>
                  <a:srgbClr val="161B26"/>
                </a:solidFill>
                <a:latin typeface="Arial"/>
              </a:rPr>
              <a:t>Agentic Trading Lab (Open-Finance-Lab)</a:t>
            </a:r>
          </a:p>
          <a:p>
            <a:pPr algn="l">
              <a:spcAft>
                <a:spcPts val="300"/>
              </a:spcAft>
            </a:pPr>
            <a:r>
              <a:rPr sz="950" b="0">
                <a:solidFill>
                  <a:srgbClr val="5B6372"/>
                </a:solidFill>
                <a:latin typeface="Arial"/>
              </a:rPr>
              <a:t>Agent-run stock portfolios with backtests and paper trading through the Alpaca API</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 · GOVERNANCE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Risks and Controls for AI Agents in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What goes wrong</a:t>
            </a: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Control</a:t>
            </a:r>
          </a:p>
        </p:txBody>
      </p:sp>
      <p:sp>
        <p:nvSpPr>
          <p:cNvPr id="14" name="Rectangle 13"/>
          <p:cNvSpPr/>
          <p:nvPr/>
        </p:nvSpPr>
        <p:spPr>
          <a:xfrm>
            <a:off x="777240" y="228600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Hallucination</a:t>
            </a:r>
          </a:p>
        </p:txBody>
      </p:sp>
      <p:sp>
        <p:nvSpPr>
          <p:cNvPr id="16" name="TextBox 15"/>
          <p:cNvSpPr txBox="1"/>
          <p:nvPr/>
        </p:nvSpPr>
        <p:spPr>
          <a:xfrm>
            <a:off x="3017520" y="228600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An LLM states a wrong earnings figure or invents a signal with confidence</a:t>
            </a:r>
          </a:p>
        </p:txBody>
      </p:sp>
      <p:sp>
        <p:nvSpPr>
          <p:cNvPr id="17" name="TextBox 16"/>
          <p:cNvSpPr txBox="1"/>
          <p:nvPr/>
        </p:nvSpPr>
        <p:spPr>
          <a:xfrm>
            <a:off x="7260336" y="228600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Ground answers in tool or RAG data, log the reasoning, review unusual calls</a:t>
            </a:r>
          </a:p>
        </p:txBody>
      </p:sp>
      <p:sp>
        <p:nvSpPr>
          <p:cNvPr id="18" name="TextBox 17"/>
          <p:cNvSpPr txBox="1"/>
          <p:nvPr/>
        </p:nvSpPr>
        <p:spPr>
          <a:xfrm>
            <a:off x="886968" y="294894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Prompt injection</a:t>
            </a:r>
          </a:p>
        </p:txBody>
      </p:sp>
      <p:sp>
        <p:nvSpPr>
          <p:cNvPr id="19" name="TextBox 18"/>
          <p:cNvSpPr txBox="1"/>
          <p:nvPr/>
        </p:nvSpPr>
        <p:spPr>
          <a:xfrm>
            <a:off x="3017520" y="294894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Malicious text in news, web pages or files hijacks the agent's instructions</a:t>
            </a:r>
          </a:p>
        </p:txBody>
      </p:sp>
      <p:sp>
        <p:nvSpPr>
          <p:cNvPr id="20" name="TextBox 19"/>
          <p:cNvSpPr txBox="1"/>
          <p:nvPr/>
        </p:nvSpPr>
        <p:spPr>
          <a:xfrm>
            <a:off x="7260336" y="294894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Input and output guardrails, least-privilege API keys, no secrets in prompts</a:t>
            </a:r>
          </a:p>
        </p:txBody>
      </p:sp>
      <p:sp>
        <p:nvSpPr>
          <p:cNvPr id="21" name="Rectangle 20"/>
          <p:cNvSpPr/>
          <p:nvPr/>
        </p:nvSpPr>
        <p:spPr>
          <a:xfrm>
            <a:off x="777240" y="361188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61188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Overtrading and runaway loops</a:t>
            </a:r>
          </a:p>
        </p:txBody>
      </p:sp>
      <p:sp>
        <p:nvSpPr>
          <p:cNvPr id="23" name="TextBox 22"/>
          <p:cNvSpPr txBox="1"/>
          <p:nvPr/>
        </p:nvSpPr>
        <p:spPr>
          <a:xfrm>
            <a:off x="3017520" y="361188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Agents trade too often or amplify each other, compounding losses</a:t>
            </a:r>
          </a:p>
        </p:txBody>
      </p:sp>
      <p:sp>
        <p:nvSpPr>
          <p:cNvPr id="24" name="TextBox 23"/>
          <p:cNvSpPr txBox="1"/>
          <p:nvPr/>
        </p:nvSpPr>
        <p:spPr>
          <a:xfrm>
            <a:off x="7260336" y="361188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Order and position caps, daily-loss circuit breaker, kill switch</a:t>
            </a:r>
          </a:p>
        </p:txBody>
      </p:sp>
      <p:sp>
        <p:nvSpPr>
          <p:cNvPr id="25" name="TextBox 24"/>
          <p:cNvSpPr txBox="1"/>
          <p:nvPr/>
        </p:nvSpPr>
        <p:spPr>
          <a:xfrm>
            <a:off x="886968" y="427482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Model and backtest risk</a:t>
            </a:r>
          </a:p>
        </p:txBody>
      </p:sp>
      <p:sp>
        <p:nvSpPr>
          <p:cNvPr id="26" name="TextBox 25"/>
          <p:cNvSpPr txBox="1"/>
          <p:nvPr/>
        </p:nvSpPr>
        <p:spPr>
          <a:xfrm>
            <a:off x="3017520" y="427482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Overfitting, look-ahead bias and regime change: strong backtests, weak live results</a:t>
            </a:r>
          </a:p>
        </p:txBody>
      </p:sp>
      <p:sp>
        <p:nvSpPr>
          <p:cNvPr id="27" name="TextBox 26"/>
          <p:cNvSpPr txBox="1"/>
          <p:nvPr/>
        </p:nvSpPr>
        <p:spPr>
          <a:xfrm>
            <a:off x="7260336" y="427482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Walk-forward tests, paper trade first, monitor drift and costs</a:t>
            </a:r>
          </a:p>
        </p:txBody>
      </p:sp>
      <p:sp>
        <p:nvSpPr>
          <p:cNvPr id="28" name="Rectangle 27"/>
          <p:cNvSpPr/>
          <p:nvPr/>
        </p:nvSpPr>
        <p:spPr>
          <a:xfrm>
            <a:off x="777240" y="493776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93776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Accountability</a:t>
            </a:r>
          </a:p>
        </p:txBody>
      </p:sp>
      <p:sp>
        <p:nvSpPr>
          <p:cNvPr id="30" name="TextBox 29"/>
          <p:cNvSpPr txBox="1"/>
          <p:nvPr/>
        </p:nvSpPr>
        <p:spPr>
          <a:xfrm>
            <a:off x="3017520" y="493776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Unclear who answers for an autonomous agent's trade or a vendor's AI</a:t>
            </a:r>
          </a:p>
        </p:txBody>
      </p:sp>
      <p:sp>
        <p:nvSpPr>
          <p:cNvPr id="31" name="TextBox 30"/>
          <p:cNvSpPr txBox="1"/>
          <p:nvPr/>
        </p:nvSpPr>
        <p:spPr>
          <a:xfrm>
            <a:off x="7260336" y="493776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The firm stays accountable: human sign-off, audit trails, clear owners</a:t>
            </a:r>
          </a:p>
        </p:txBody>
      </p:sp>
      <p:sp>
        <p:nvSpPr>
          <p:cNvPr id="32" name="TextBox 31"/>
          <p:cNvSpPr txBox="1"/>
          <p:nvPr/>
        </p:nvSpPr>
        <p:spPr>
          <a:xfrm>
            <a:off x="886968" y="560070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Regulation (MAS)</a:t>
            </a:r>
          </a:p>
        </p:txBody>
      </p:sp>
      <p:sp>
        <p:nvSpPr>
          <p:cNvPr id="33" name="TextBox 32"/>
          <p:cNvSpPr txBox="1"/>
          <p:nvPr/>
        </p:nvSpPr>
        <p:spPr>
          <a:xfrm>
            <a:off x="3017520" y="560070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FEAT principles (2018) and MAS AI Risk Management Guidelines (issued Oct 2026)</a:t>
            </a:r>
          </a:p>
        </p:txBody>
      </p:sp>
      <p:sp>
        <p:nvSpPr>
          <p:cNvPr id="34" name="TextBox 33"/>
          <p:cNvSpPr txBox="1"/>
          <p:nvPr/>
        </p:nvSpPr>
        <p:spPr>
          <a:xfrm>
            <a:off x="7260336" y="560070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Board oversight, AI inventory, materiality assessment and lifecycle controls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Forms of Data within Financial Services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K9</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Market data</a:t>
            </a:r>
          </a:p>
          <a:p>
            <a:pPr algn="l">
              <a:spcAft>
                <a:spcPts val="300"/>
              </a:spcAft>
            </a:pPr>
            <a:r>
              <a:rPr sz="1150" b="0">
                <a:solidFill>
                  <a:srgbClr val="5B6372"/>
                </a:solidFill>
                <a:latin typeface="Arial"/>
              </a:rPr>
              <a:t>OHLCV bars, quotes, trades, order-book depth — Alpaca serves bars, quotes, trades, news.</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Reference &amp; corporate actions</a:t>
            </a:r>
          </a:p>
          <a:p>
            <a:pPr algn="l">
              <a:spcAft>
                <a:spcPts val="300"/>
              </a:spcAft>
            </a:pPr>
            <a:r>
              <a:rPr sz="1150" b="0">
                <a:solidFill>
                  <a:srgbClr val="5B6372"/>
                </a:solidFill>
                <a:latin typeface="Arial"/>
              </a:rPr>
              <a:t>Symbols, calendars, splits, dividends — unadjusted splits fake a crash.</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Fundamental &amp; macro</a:t>
            </a:r>
          </a:p>
          <a:p>
            <a:pPr algn="l">
              <a:spcAft>
                <a:spcPts val="300"/>
              </a:spcAft>
            </a:pPr>
            <a:r>
              <a:rPr sz="1150" b="0">
                <a:solidFill>
                  <a:srgbClr val="5B6372"/>
                </a:solidFill>
                <a:latin typeface="Arial"/>
              </a:rPr>
              <a:t>Statements, ratios, earnings; rates, inflation, central-bank decisions.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Alternative data</a:t>
            </a:r>
          </a:p>
          <a:p>
            <a:pPr algn="l">
              <a:spcAft>
                <a:spcPts val="300"/>
              </a:spcAft>
            </a:pPr>
            <a:r>
              <a:rPr sz="1150" b="0">
                <a:solidFill>
                  <a:srgbClr val="5B6372"/>
                </a:solidFill>
                <a:latin typeface="Arial"/>
              </a:rPr>
              <a:t>News and social sentiment, web traffic, satellite, card spend, ESG.</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Unstructured Data in Practice — Headlines and Sentiment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K9</a:t>
            </a:r>
          </a:p>
        </p:txBody>
      </p:sp>
      <p:pic>
        <p:nvPicPr>
          <p:cNvPr id="10" name="Picture 9" descr="sim_news_sentiment.png"/>
          <p:cNvPicPr>
            <a:picLocks noChangeAspect="1"/>
          </p:cNvPicPr>
          <p:nvPr/>
        </p:nvPicPr>
        <p:blipFill>
          <a:blip r:embed="rId2"/>
          <a:stretch>
            <a:fillRect/>
          </a:stretch>
        </p:blipFill>
        <p:spPr>
          <a:xfrm>
            <a:off x="2281608" y="2057400"/>
            <a:ext cx="7628479" cy="3520440"/>
          </a:xfrm>
          <a:prstGeom prst="rect">
            <a:avLst/>
          </a:prstGeom>
        </p:spPr>
      </p:pic>
      <p:sp>
        <p:nvSpPr>
          <p:cNvPr id="11" name="Rectangle 10"/>
          <p:cNvSpPr/>
          <p:nvPr/>
        </p:nvSpPr>
        <p:spPr>
          <a:xfrm>
            <a:off x="2270635" y="2046427"/>
            <a:ext cx="7650424"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5724144"/>
            <a:ext cx="9144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Data &gt; News &amp; sentiment: headlines (unstructured text) are scored by a lexicon model and stored as one sentiment number per symbol per day - structured data a strategy can use.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Big Data in Trading — the Four Vs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A6</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Volume</a:t>
            </a:r>
          </a:p>
          <a:p>
            <a:pPr algn="l">
              <a:spcAft>
                <a:spcPts val="300"/>
              </a:spcAft>
            </a:pPr>
            <a:r>
              <a:rPr sz="1150" b="0">
                <a:solidFill>
                  <a:srgbClr val="5B6372"/>
                </a:solidFill>
                <a:latin typeface="Arial"/>
              </a:rPr>
              <a:t>Tick data runs to billions of rows per year for one exchange.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Velocity</a:t>
            </a:r>
          </a:p>
          <a:p>
            <a:pPr algn="l">
              <a:spcAft>
                <a:spcPts val="300"/>
              </a:spcAft>
            </a:pPr>
            <a:r>
              <a:rPr sz="1150" b="0">
                <a:solidFill>
                  <a:srgbClr val="5B6372"/>
                </a:solidFill>
                <a:latin typeface="Arial"/>
              </a:rPr>
              <a:t>Streaming quotes and news arrive in milliseconds.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Variety</a:t>
            </a:r>
          </a:p>
          <a:p>
            <a:pPr algn="l">
              <a:spcAft>
                <a:spcPts val="300"/>
              </a:spcAft>
            </a:pPr>
            <a:r>
              <a:rPr sz="1150" b="0">
                <a:solidFill>
                  <a:srgbClr val="5B6372"/>
                </a:solidFill>
                <a:latin typeface="Arial"/>
              </a:rPr>
              <a:t>Prices, text, images, transcripts — structured and unstructured.</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Veracity</a:t>
            </a:r>
          </a:p>
          <a:p>
            <a:pPr algn="l">
              <a:spcAft>
                <a:spcPts val="300"/>
              </a:spcAft>
            </a:pPr>
            <a:r>
              <a:rPr sz="1150" b="0">
                <a:solidFill>
                  <a:srgbClr val="5B6372"/>
                </a:solidFill>
                <a:latin typeface="Arial"/>
              </a:rPr>
              <a:t>Bad ticks, survivorship, restatements — verify before you trust.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Big Data Applications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A6</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Execution analytics</a:t>
            </a:r>
          </a:p>
          <a:p>
            <a:pPr algn="l">
              <a:spcAft>
                <a:spcPts val="300"/>
              </a:spcAft>
            </a:pPr>
            <a:r>
              <a:rPr sz="1150" b="0">
                <a:solidFill>
                  <a:srgbClr val="5B6372"/>
                </a:solidFill>
                <a:latin typeface="Arial"/>
              </a:rPr>
              <a:t>Tick and quote data to measure and cut slippage.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Sentiment and event trading</a:t>
            </a:r>
          </a:p>
          <a:p>
            <a:pPr algn="l">
              <a:spcAft>
                <a:spcPts val="300"/>
              </a:spcAft>
            </a:pPr>
            <a:r>
              <a:rPr sz="1150" b="0">
                <a:solidFill>
                  <a:srgbClr val="5B6372"/>
                </a:solidFill>
                <a:latin typeface="Arial"/>
              </a:rPr>
              <a:t>News and social text scored by NLP and LLMs.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Regime detection</a:t>
            </a:r>
          </a:p>
          <a:p>
            <a:pPr algn="l">
              <a:spcAft>
                <a:spcPts val="300"/>
              </a:spcAft>
            </a:pPr>
            <a:r>
              <a:rPr sz="1150" b="0">
                <a:solidFill>
                  <a:srgbClr val="5B6372"/>
                </a:solidFill>
                <a:latin typeface="Arial"/>
              </a:rPr>
              <a:t>Cross-asset returns clustered into market states.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Surveillance and risk</a:t>
            </a:r>
          </a:p>
          <a:p>
            <a:pPr algn="l">
              <a:spcAft>
                <a:spcPts val="300"/>
              </a:spcAft>
            </a:pPr>
            <a:r>
              <a:rPr sz="1150" b="0">
                <a:solidFill>
                  <a:srgbClr val="5B6372"/>
                </a:solidFill>
                <a:latin typeface="Arial"/>
              </a:rPr>
              <a:t>Order and trade data scanned for market abuse; intraday risk.</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K1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Data Analytics and Modelling Use Cases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K1</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Signal generation</a:t>
            </a:r>
          </a:p>
          <a:p>
            <a:pPr algn="l">
              <a:spcAft>
                <a:spcPts val="300"/>
              </a:spcAft>
            </a:pPr>
            <a:r>
              <a:rPr sz="1150" b="0">
                <a:solidFill>
                  <a:srgbClr val="5B6372"/>
                </a:solidFill>
                <a:latin typeface="Arial"/>
              </a:rPr>
              <a:t>Find repeatable return — judged by out-of-sample, net Sharpe.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Execution</a:t>
            </a:r>
          </a:p>
          <a:p>
            <a:pPr algn="l">
              <a:spcAft>
                <a:spcPts val="300"/>
              </a:spcAft>
            </a:pPr>
            <a:r>
              <a:rPr sz="1150" b="0">
                <a:solidFill>
                  <a:srgbClr val="5B6372"/>
                </a:solidFill>
                <a:latin typeface="Arial"/>
              </a:rPr>
              <a:t>VWAP / TWAP / shortfall — judged by slippage in basis points.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Risk forecasting &amp; sizing</a:t>
            </a:r>
          </a:p>
          <a:p>
            <a:pPr algn="l">
              <a:spcAft>
                <a:spcPts val="300"/>
              </a:spcAft>
            </a:pPr>
            <a:r>
              <a:rPr sz="1150" b="0">
                <a:solidFill>
                  <a:srgbClr val="5B6372"/>
                </a:solidFill>
                <a:latin typeface="Arial"/>
              </a:rPr>
              <a:t>Volatility and VaR models — judged by limit breaches.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Research at scale</a:t>
            </a:r>
          </a:p>
          <a:p>
            <a:pPr algn="l">
              <a:spcAft>
                <a:spcPts val="300"/>
              </a:spcAft>
            </a:pPr>
            <a:r>
              <a:rPr sz="1150" b="0">
                <a:solidFill>
                  <a:srgbClr val="5B6372"/>
                </a:solidFill>
                <a:latin typeface="Arial"/>
              </a:rPr>
              <a:t>LLMs read filings and news — judged by accuracy and hours saved.</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Makes a Hypothesis Testable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A1</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Instrument and universe</a:t>
            </a:r>
          </a:p>
          <a:p>
            <a:pPr algn="l">
              <a:spcAft>
                <a:spcPts val="300"/>
              </a:spcAft>
            </a:pPr>
            <a:r>
              <a:rPr sz="1150" b="0">
                <a:solidFill>
                  <a:srgbClr val="5B6372"/>
                </a:solidFill>
                <a:latin typeface="Arial"/>
              </a:rPr>
              <a:t>e.g. SPY, daily bars, 2018 – 2025.</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Signal and holding period</a:t>
            </a:r>
          </a:p>
          <a:p>
            <a:pPr algn="l">
              <a:spcAft>
                <a:spcPts val="300"/>
              </a:spcAft>
            </a:pPr>
            <a:r>
              <a:rPr sz="1150" b="0">
                <a:solidFill>
                  <a:srgbClr val="5B6372"/>
                </a:solidFill>
                <a:latin typeface="Arial"/>
              </a:rPr>
              <a:t>e.g. three down closes in a row; hold 5 days.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Expected effect and benchmark</a:t>
            </a:r>
          </a:p>
          <a:p>
            <a:pPr algn="l">
              <a:spcAft>
                <a:spcPts val="300"/>
              </a:spcAft>
            </a:pPr>
            <a:r>
              <a:rPr sz="1150" b="0">
                <a:solidFill>
                  <a:srgbClr val="5B6372"/>
                </a:solidFill>
                <a:latin typeface="Arial"/>
              </a:rPr>
              <a:t>Forward return exceeds the unconditional 5-day return.</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Written BEFORE the test</a:t>
            </a:r>
          </a:p>
          <a:p>
            <a:pPr algn="l">
              <a:spcAft>
                <a:spcPts val="300"/>
              </a:spcAft>
            </a:pPr>
            <a:r>
              <a:rPr sz="1150" b="0">
                <a:solidFill>
                  <a:srgbClr val="5B6372"/>
                </a:solidFill>
                <a:latin typeface="Arial"/>
              </a:rPr>
              <a:t>H0, H1 and the significance level chosen first.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 Testable Hypothesis in Practice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A1</a:t>
            </a:r>
          </a:p>
        </p:txBody>
      </p:sp>
      <p:pic>
        <p:nvPicPr>
          <p:cNvPr id="10" name="Picture 9" descr="sim_hypothesis_test.png"/>
          <p:cNvPicPr>
            <a:picLocks noChangeAspect="1"/>
          </p:cNvPicPr>
          <p:nvPr/>
        </p:nvPicPr>
        <p:blipFill>
          <a:blip r:embed="rId2"/>
          <a:stretch>
            <a:fillRect/>
          </a:stretch>
        </p:blipFill>
        <p:spPr>
          <a:xfrm>
            <a:off x="2116919" y="2057400"/>
            <a:ext cx="7957856" cy="3520440"/>
          </a:xfrm>
          <a:prstGeom prst="rect">
            <a:avLst/>
          </a:prstGeom>
        </p:spPr>
      </p:pic>
      <p:sp>
        <p:nvSpPr>
          <p:cNvPr id="11" name="Rectangle 10"/>
          <p:cNvSpPr/>
          <p:nvPr/>
        </p:nvSpPr>
        <p:spPr>
          <a:xfrm>
            <a:off x="2105946" y="2046427"/>
            <a:ext cx="7979802" cy="354238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572414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5724144"/>
            <a:ext cx="9144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572414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Research &gt; Hypothesis test: H1 and H0 are written before the result, then tested with a Welch t-test, a bootstrap confidence interval and a minimum edge (Lab 4).</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A1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Machine Learning Implementation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F6FEB"/>
                </a:solidFill>
                <a:latin typeface="Arial"/>
              </a:rPr>
              <a:t>A1</a:t>
            </a:r>
          </a:p>
        </p:txBody>
      </p:sp>
      <p:sp>
        <p:nvSpPr>
          <p:cNvPr id="10" name="Rectangle 9"/>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92530"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Frame the problem and hypothesis</a:t>
            </a:r>
          </a:p>
        </p:txBody>
      </p:sp>
      <p:sp>
        <p:nvSpPr>
          <p:cNvPr id="15" name="TextBox 14"/>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16" name="Rectangle 15"/>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95372"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010662"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Collect and clean the data</a:t>
            </a:r>
          </a:p>
        </p:txBody>
      </p:sp>
      <p:sp>
        <p:nvSpPr>
          <p:cNvPr id="21" name="TextBox 20"/>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2" name="Rectangle 21"/>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3504"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828794"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Define target and features</a:t>
            </a:r>
          </a:p>
        </p:txBody>
      </p:sp>
      <p:sp>
        <p:nvSpPr>
          <p:cNvPr id="27" name="TextBox 26"/>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28" name="Rectangle 27"/>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1636"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646926"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Split by time; train and validate</a:t>
            </a:r>
          </a:p>
        </p:txBody>
      </p:sp>
      <p:sp>
        <p:nvSpPr>
          <p:cNvPr id="33" name="TextBox 32"/>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34" name="Rectangle 33"/>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49768"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465058"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Test out of sample</a:t>
            </a:r>
          </a:p>
        </p:txBody>
      </p:sp>
      <p:sp>
        <p:nvSpPr>
          <p:cNvPr id="39" name="TextBox 38"/>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1F6FEB"/>
                </a:solidFill>
                <a:latin typeface="Arial"/>
              </a:rPr>
              <a:t>▶</a:t>
            </a:r>
          </a:p>
        </p:txBody>
      </p:sp>
      <p:sp>
        <p:nvSpPr>
          <p:cNvPr id="40" name="Rectangle 39"/>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867900" y="2240280"/>
            <a:ext cx="154381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283190" y="2569464"/>
            <a:ext cx="713232" cy="7132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4" name="TextBox 43"/>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Paper trade, then review</a:t>
            </a:r>
          </a:p>
        </p:txBody>
      </p:sp>
      <p:sp>
        <p:nvSpPr>
          <p:cNvPr id="45" name="Rectangle 44"/>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77240" y="525780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A model that skips the out-of-sample test and the paper trade has not been tested.</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Pipeline Skeleton, Configuration and the Alpaca Paper Account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K5</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01</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Get the simulator running, decide between the offline demo and an Alpaca paper account, and check every integration's status.</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535277"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35277"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Load the demo data</a:t>
            </a:r>
          </a:p>
        </p:txBody>
      </p:sp>
      <p:sp>
        <p:nvSpPr>
          <p:cNvPr id="19" name="TextBox 18"/>
          <p:cNvSpPr txBox="1"/>
          <p:nvPr/>
        </p:nvSpPr>
        <p:spPr>
          <a:xfrm>
            <a:off x="2668219"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951683"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951683"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70972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0972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3061411"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Check the integrations</a:t>
            </a:r>
          </a:p>
        </p:txBody>
      </p:sp>
      <p:sp>
        <p:nvSpPr>
          <p:cNvPr id="25" name="TextBox 24"/>
          <p:cNvSpPr txBox="1"/>
          <p:nvPr/>
        </p:nvSpPr>
        <p:spPr>
          <a:xfrm>
            <a:off x="484266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5126126"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126126"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884163"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84163"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5235854"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Check the AI agent login</a:t>
            </a:r>
          </a:p>
        </p:txBody>
      </p:sp>
      <p:sp>
        <p:nvSpPr>
          <p:cNvPr id="31" name="TextBox 30"/>
          <p:cNvSpPr txBox="1"/>
          <p:nvPr/>
        </p:nvSpPr>
        <p:spPr>
          <a:xfrm>
            <a:off x="7017105"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7300569"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300569"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5860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5860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7410297"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Read the market clock</a:t>
            </a:r>
          </a:p>
        </p:txBody>
      </p:sp>
      <p:sp>
        <p:nvSpPr>
          <p:cNvPr id="37" name="TextBox 36"/>
          <p:cNvSpPr txBox="1"/>
          <p:nvPr/>
        </p:nvSpPr>
        <p:spPr>
          <a:xfrm>
            <a:off x="91915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9475012"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75012"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233049"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233049"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9584740"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Tour the Pipeline Map</a:t>
            </a:r>
          </a:p>
        </p:txBody>
      </p:sp>
      <p:sp>
        <p:nvSpPr>
          <p:cNvPr id="43" name="Rectangle 42"/>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6" name="TextBox 45"/>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working app with demo data loaded, a verified Alpaca paper account or the simulator, and a known AI-agent brain.</a:t>
            </a:r>
          </a:p>
        </p:txBody>
      </p:sp>
      <p:sp>
        <p:nvSpPr>
          <p:cNvPr id="47" name="TextBox 46"/>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01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01 — In the Trading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integrations_16x9.png"/>
          <p:cNvPicPr>
            <a:picLocks noChangeAspect="1"/>
          </p:cNvPicPr>
          <p:nvPr/>
        </p:nvPicPr>
        <p:blipFill>
          <a:blip r:embed="rId2"/>
          <a:stretch>
            <a:fillRect/>
          </a:stretch>
        </p:blipFill>
        <p:spPr>
          <a:xfrm>
            <a:off x="1282184" y="1645920"/>
            <a:ext cx="9627325" cy="4114800"/>
          </a:xfrm>
          <a:prstGeom prst="rect">
            <a:avLst/>
          </a:prstGeom>
        </p:spPr>
      </p:pic>
      <p:sp>
        <p:nvSpPr>
          <p:cNvPr id="8" name="Rectangle 7"/>
          <p:cNvSpPr/>
          <p:nvPr/>
        </p:nvSpPr>
        <p:spPr>
          <a:xfrm>
            <a:off x="1271211" y="1634947"/>
            <a:ext cx="9649271"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Integrations: paste your Alpaca paper keys into the Alpaca card and press Save &amp; test. Without keys every lab runs offline on the demo data and the built-in paper broker.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Data-Validation Stage: Cross-Check Pipeline Bars against TradingView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A3  K5  K9</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02</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Prove the app's prices are right: compare its bars with TradingView's Data Window and explain adjusted vs unadjusted prices.</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07083"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07083"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Read TradingView's Data Window</a:t>
            </a:r>
          </a:p>
        </p:txBody>
      </p:sp>
      <p:sp>
        <p:nvSpPr>
          <p:cNvPr id="19" name="TextBox 18"/>
          <p:cNvSpPr txBox="1"/>
          <p:nvPr/>
        </p:nvSpPr>
        <p:spPr>
          <a:xfrm>
            <a:off x="321183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3495294"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95294"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525137"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5137"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3605022"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Compare with RAW and ADJUSTED bars</a:t>
            </a:r>
          </a:p>
        </p:txBody>
      </p:sp>
      <p:sp>
        <p:nvSpPr>
          <p:cNvPr id="25" name="TextBox 24"/>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6213348"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3348"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243191"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43191"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6323076"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Repeat for SGX:D05 (DBS)</a:t>
            </a:r>
          </a:p>
        </p:txBody>
      </p:sp>
      <p:sp>
        <p:nvSpPr>
          <p:cNvPr id="31" name="TextBox 30"/>
          <p:cNvSpPr txBox="1"/>
          <p:nvPr/>
        </p:nvSpPr>
        <p:spPr>
          <a:xfrm>
            <a:off x="864793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8931402"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931402"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961245"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961245"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9041130"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Inspect the chart</a:t>
            </a:r>
          </a:p>
        </p:txBody>
      </p:sp>
      <p:sp>
        <p:nvSpPr>
          <p:cNvPr id="37" name="Rectangle 36"/>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0" name="TextBox 39"/>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PASS / FAIL validation for SGX:D05 and NASDAQ:AAPL on 2025-12-31, with the dividend-adjustment factor explained.</a:t>
            </a:r>
          </a:p>
        </p:txBody>
      </p:sp>
      <p:sp>
        <p:nvSpPr>
          <p:cNvPr id="41" name="TextBox 40"/>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02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02 — In the Trading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2_tradingview_validation_16x9.png"/>
          <p:cNvPicPr>
            <a:picLocks noChangeAspect="1"/>
          </p:cNvPicPr>
          <p:nvPr/>
        </p:nvPicPr>
        <p:blipFill>
          <a:blip r:embed="rId2"/>
          <a:stretch>
            <a:fillRect/>
          </a:stretch>
        </p:blipFill>
        <p:spPr>
          <a:xfrm>
            <a:off x="2438247" y="1645920"/>
            <a:ext cx="7315200" cy="4114800"/>
          </a:xfrm>
          <a:prstGeom prst="rect">
            <a:avLst/>
          </a:prstGeom>
        </p:spPr>
      </p:pic>
      <p:sp>
        <p:nvSpPr>
          <p:cNvPr id="8" name="Rectangle 7"/>
          <p:cNvSpPr/>
          <p:nvPr/>
        </p:nvSpPr>
        <p:spPr>
          <a:xfrm>
            <a:off x="2427274" y="1634947"/>
            <a:ext cx="7337145"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Course Labs &gt; Lab 02 at http://localhost:8000 - Data &gt; Validate vs TradingView (AAPL). Offline demo data; connect Alpaca paper keys for live paper trading.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Ingestion Stage: Multi-Timeframe Bars, Headlines and Data Quality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A6  K9</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03</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Ingest bars from Alpaca / Twelve Data / yfinance (or the demo files), run the data-quality checks and score news sentiment.</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07083"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07083"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Fetch data</a:t>
            </a:r>
          </a:p>
        </p:txBody>
      </p:sp>
      <p:sp>
        <p:nvSpPr>
          <p:cNvPr id="19" name="TextBox 18"/>
          <p:cNvSpPr txBox="1"/>
          <p:nvPr/>
        </p:nvSpPr>
        <p:spPr>
          <a:xfrm>
            <a:off x="321183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3495294"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95294"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525137"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5137"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3605022"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Read the data-quality report</a:t>
            </a:r>
          </a:p>
        </p:txBody>
      </p:sp>
      <p:sp>
        <p:nvSpPr>
          <p:cNvPr id="25" name="TextBox 24"/>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6213348"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3348"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243191"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43191"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6323076"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Switch timeframes</a:t>
            </a:r>
          </a:p>
        </p:txBody>
      </p:sp>
      <p:sp>
        <p:nvSpPr>
          <p:cNvPr id="31" name="TextBox 30"/>
          <p:cNvSpPr txBox="1"/>
          <p:nvPr/>
        </p:nvSpPr>
        <p:spPr>
          <a:xfrm>
            <a:off x="864793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8931402"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931402"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961245"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961245"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9041130"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Headlines and sentiment</a:t>
            </a:r>
          </a:p>
        </p:txBody>
      </p:sp>
      <p:sp>
        <p:nvSpPr>
          <p:cNvPr id="37" name="Rectangle 36"/>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0" name="TextBox 39"/>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cached universe, a data-quality report and scored headlines with daily sentiment.</a:t>
            </a:r>
          </a:p>
        </p:txBody>
      </p:sp>
      <p:sp>
        <p:nvSpPr>
          <p:cNvPr id="41" name="TextBox 40"/>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03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03 — In the Trading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3_data_ingestion_16x9.png"/>
          <p:cNvPicPr>
            <a:picLocks noChangeAspect="1"/>
          </p:cNvPicPr>
          <p:nvPr/>
        </p:nvPicPr>
        <p:blipFill>
          <a:blip r:embed="rId2"/>
          <a:stretch>
            <a:fillRect/>
          </a:stretch>
        </p:blipFill>
        <p:spPr>
          <a:xfrm>
            <a:off x="2438247" y="1645920"/>
            <a:ext cx="7315200" cy="4114800"/>
          </a:xfrm>
          <a:prstGeom prst="rect">
            <a:avLst/>
          </a:prstGeom>
        </p:spPr>
      </p:pic>
      <p:sp>
        <p:nvSpPr>
          <p:cNvPr id="8" name="Rectangle 7"/>
          <p:cNvSpPr/>
          <p:nvPr/>
        </p:nvSpPr>
        <p:spPr>
          <a:xfrm>
            <a:off x="2427274" y="1634947"/>
            <a:ext cx="7337145"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Course Labs &gt; Lab 03 at http://localhost:8000 - Data &gt; Fetch AAPL. Offline demo data; connect Alpaca paper keys for live paper trading.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5B6372"/>
                </a:solidFill>
                <a:latin typeface="Arial"/>
              </a:rPr>
              <a:t>1 hour  ·  see you at 13:30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1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Hypothesis Stage: from a Written Card to an Automated Statistical Test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A1  A6  K1</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04</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Write H0 and H1 before looking at results and test them with a Welch t-test and a bootstrap CI.</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Write the hypothesis card</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Run the test</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Robustness and multiple testing</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decision (SUPPORTED / NOT SUPPORTED) with p-value, edge in bps and a robustness grid.</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15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04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04 — In the Trading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4_hypothesis_16x9.png"/>
          <p:cNvPicPr>
            <a:picLocks noChangeAspect="1"/>
          </p:cNvPicPr>
          <p:nvPr/>
        </p:nvPicPr>
        <p:blipFill>
          <a:blip r:embed="rId2"/>
          <a:stretch>
            <a:fillRect/>
          </a:stretch>
        </p:blipFill>
        <p:spPr>
          <a:xfrm>
            <a:off x="2438247" y="1645920"/>
            <a:ext cx="7315200" cy="4114800"/>
          </a:xfrm>
          <a:prstGeom prst="rect">
            <a:avLst/>
          </a:prstGeom>
        </p:spPr>
      </p:pic>
      <p:sp>
        <p:nvSpPr>
          <p:cNvPr id="8" name="Rectangle 7"/>
          <p:cNvSpPr/>
          <p:nvPr/>
        </p:nvSpPr>
        <p:spPr>
          <a:xfrm>
            <a:off x="2427274" y="1634947"/>
            <a:ext cx="7337145"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Course Labs &gt; Lab 04 at http://localhost:8000 - Research &gt; Hypothesis (SPY, losing streak 3). Offline demo data; connect Alpaca paper keys for live paper trading.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 · WHAT YOU COVERED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Topic 1 Recap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91472" y="475488"/>
            <a:ext cx="1920240"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491472" y="475488"/>
            <a:ext cx="54864"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91472" y="475488"/>
            <a:ext cx="1920240" cy="310896"/>
          </a:xfrm>
          <a:prstGeom prst="rect">
            <a:avLst/>
          </a:prstGeom>
          <a:noFill/>
        </p:spPr>
        <p:txBody>
          <a:bodyPr wrap="square" anchor="ctr">
            <a:spAutoFit/>
          </a:bodyPr>
          <a:lstStyle/>
          <a:p>
            <a:pPr algn="ctr">
              <a:spcAft>
                <a:spcPts val="400"/>
              </a:spcAft>
            </a:pPr>
            <a:r>
              <a:rPr sz="1100" b="1">
                <a:solidFill>
                  <a:srgbClr val="1F6FEB"/>
                </a:solidFill>
                <a:latin typeface="Arial"/>
              </a:rPr>
              <a:t>A1  A6  K1  K9</a:t>
            </a:r>
          </a:p>
        </p:txBody>
      </p:sp>
      <p:sp>
        <p:nvSpPr>
          <p:cNvPr id="10" name="Rectangle 9"/>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A1</a:t>
            </a:r>
          </a:p>
          <a:p>
            <a:pPr algn="l">
              <a:spcAft>
                <a:spcPts val="300"/>
              </a:spcAft>
            </a:pPr>
            <a:r>
              <a:rPr sz="1000" b="0">
                <a:solidFill>
                  <a:srgbClr val="5B6372"/>
                </a:solidFill>
                <a:latin typeface="Arial"/>
              </a:rPr>
              <a:t>Develop hypotheses for implementing data analytics and computational modelling activities</a:t>
            </a:r>
          </a:p>
        </p:txBody>
      </p:sp>
      <p:sp>
        <p:nvSpPr>
          <p:cNvPr id="15" name="Rectangle 14"/>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3063240"/>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A6</a:t>
            </a:r>
          </a:p>
          <a:p>
            <a:pPr algn="l">
              <a:spcAft>
                <a:spcPts val="300"/>
              </a:spcAft>
            </a:pPr>
            <a:r>
              <a:rPr sz="1000" b="0">
                <a:solidFill>
                  <a:srgbClr val="5B6372"/>
                </a:solidFill>
                <a:latin typeface="Arial"/>
              </a:rPr>
              <a:t>Identify possible big data applications</a:t>
            </a:r>
          </a:p>
        </p:txBody>
      </p:sp>
      <p:sp>
        <p:nvSpPr>
          <p:cNvPr id="20" name="Rectangle 19"/>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K1</a:t>
            </a:r>
          </a:p>
          <a:p>
            <a:pPr algn="l">
              <a:spcAft>
                <a:spcPts val="300"/>
              </a:spcAft>
            </a:pPr>
            <a:r>
              <a:rPr sz="1000" b="0">
                <a:solidFill>
                  <a:srgbClr val="5B6372"/>
                </a:solidFill>
                <a:latin typeface="Arial"/>
              </a:rPr>
              <a:t>Data analytics and modelling business use cases</a:t>
            </a:r>
          </a:p>
        </p:txBody>
      </p:sp>
      <p:sp>
        <p:nvSpPr>
          <p:cNvPr id="25" name="Rectangle 24"/>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5367528"/>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K9</a:t>
            </a:r>
          </a:p>
          <a:p>
            <a:pPr algn="l">
              <a:spcAft>
                <a:spcPts val="300"/>
              </a:spcAft>
            </a:pPr>
            <a:r>
              <a:rPr sz="1000" b="0">
                <a:solidFill>
                  <a:srgbClr val="5B6372"/>
                </a:solidFill>
                <a:latin typeface="Arial"/>
              </a:rPr>
              <a:t>Forms of data within financial services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8778240" cy="457200"/>
          </a:xfrm>
          <a:prstGeom prst="rect">
            <a:avLst/>
          </a:prstGeom>
          <a:noFill/>
        </p:spPr>
        <p:txBody>
          <a:bodyPr wrap="square" anchor="t">
            <a:spAutoFit/>
          </a:bodyPr>
          <a:lstStyle/>
          <a:p>
            <a:pPr algn="l">
              <a:spcAft>
                <a:spcPts val="400"/>
              </a:spcAft>
            </a:pPr>
            <a:r>
              <a:rPr sz="1600" b="1">
                <a:solidFill>
                  <a:srgbClr val="10B981"/>
                </a:solidFill>
                <a:latin typeface="Arial"/>
              </a:rPr>
              <a:t>TOPIC 2</a:t>
            </a:r>
          </a:p>
        </p:txBody>
      </p:sp>
      <p:sp>
        <p:nvSpPr>
          <p:cNvPr id="5" name="TextBox 4"/>
          <p:cNvSpPr txBox="1"/>
          <p:nvPr/>
        </p:nvSpPr>
        <p:spPr>
          <a:xfrm>
            <a:off x="1188720" y="2331720"/>
            <a:ext cx="9509760" cy="914400"/>
          </a:xfrm>
          <a:prstGeom prst="rect">
            <a:avLst/>
          </a:prstGeom>
          <a:noFill/>
        </p:spPr>
        <p:txBody>
          <a:bodyPr wrap="square" anchor="t">
            <a:spAutoFit/>
          </a:bodyPr>
          <a:lstStyle/>
          <a:p>
            <a:pPr algn="l">
              <a:spcAft>
                <a:spcPts val="400"/>
              </a:spcAft>
            </a:pPr>
            <a:r>
              <a:rPr sz="4000" b="1">
                <a:solidFill>
                  <a:srgbClr val="161B26"/>
                </a:solidFill>
                <a:latin typeface="Arial"/>
              </a:rPr>
              <a:t>Indicators, Strategies and Metrics</a:t>
            </a:r>
          </a:p>
        </p:txBody>
      </p:sp>
      <p:sp>
        <p:nvSpPr>
          <p:cNvPr id="6" name="Rectangle 5"/>
          <p:cNvSpPr/>
          <p:nvPr/>
        </p:nvSpPr>
        <p:spPr>
          <a:xfrm>
            <a:off x="1188720" y="3429000"/>
            <a:ext cx="95097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8720" y="3429000"/>
            <a:ext cx="82296" cy="1234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429000"/>
            <a:ext cx="9052560" cy="1234440"/>
          </a:xfrm>
          <a:prstGeom prst="rect">
            <a:avLst/>
          </a:prstGeom>
          <a:noFill/>
        </p:spPr>
        <p:txBody>
          <a:bodyPr wrap="square" anchor="ctr">
            <a:spAutoFit/>
          </a:bodyPr>
          <a:lstStyle/>
          <a:p>
            <a:pPr algn="l">
              <a:spcAft>
                <a:spcPts val="400"/>
              </a:spcAft>
            </a:pPr>
            <a:r>
              <a:rPr sz="1050" b="1">
                <a:solidFill>
                  <a:srgbClr val="10B981"/>
                </a:solidFill>
                <a:latin typeface="Arial"/>
              </a:rPr>
              <a:t>LEARNING OUTCOME</a:t>
            </a:r>
          </a:p>
          <a:p>
            <a:pPr algn="l">
              <a:spcAft>
                <a:spcPts val="400"/>
              </a:spcAft>
            </a:pPr>
            <a:r>
              <a:rPr sz="1350" b="0">
                <a:solidFill>
                  <a:srgbClr val="161B26"/>
                </a:solidFill>
                <a:latin typeface="Arial"/>
              </a:rPr>
              <a:t>Identify appropriate statistical algorithms and data models to test trading hypotheses, and use appropriate analytics platforms, analytical tools and statistical methods given specific analytics and reporting requirements.</a:t>
            </a:r>
          </a:p>
        </p:txBody>
      </p:sp>
      <p:sp>
        <p:nvSpPr>
          <p:cNvPr id="9" name="TextBox 8"/>
          <p:cNvSpPr txBox="1"/>
          <p:nvPr/>
        </p:nvSpPr>
        <p:spPr>
          <a:xfrm>
            <a:off x="1188720" y="4892040"/>
            <a:ext cx="9509760" cy="457200"/>
          </a:xfrm>
          <a:prstGeom prst="rect">
            <a:avLst/>
          </a:prstGeom>
          <a:noFill/>
        </p:spPr>
        <p:txBody>
          <a:bodyPr wrap="square" anchor="t">
            <a:spAutoFit/>
          </a:bodyPr>
          <a:lstStyle/>
          <a:p>
            <a:pPr algn="l">
              <a:spcAft>
                <a:spcPts val="400"/>
              </a:spcAft>
            </a:pPr>
            <a:r>
              <a:rPr sz="1150" b="0">
                <a:solidFill>
                  <a:srgbClr val="5B6372"/>
                </a:solidFill>
                <a:latin typeface="Arial"/>
              </a:rPr>
              <a:t>Abilities A2, A3  ·  Knowledge K3, K5, K7   ·   Day 1   ·   Labs 5–9   ·   Assessed by PP Task 2 and WA Q3, Q5, Q7</a:t>
            </a:r>
          </a:p>
        </p:txBody>
      </p:sp>
      <p:sp>
        <p:nvSpPr>
          <p:cNvPr id="10" name="TextBox 9"/>
          <p:cNvSpPr txBox="1"/>
          <p:nvPr/>
        </p:nvSpPr>
        <p:spPr>
          <a:xfrm>
            <a:off x="9692640" y="914400"/>
            <a:ext cx="2011680" cy="2011680"/>
          </a:xfrm>
          <a:prstGeom prst="rect">
            <a:avLst/>
          </a:prstGeom>
          <a:noFill/>
        </p:spPr>
        <p:txBody>
          <a:bodyPr wrap="square" anchor="t">
            <a:spAutoFit/>
          </a:bodyPr>
          <a:lstStyle/>
          <a:p>
            <a:pPr algn="r">
              <a:spcAft>
                <a:spcPts val="400"/>
              </a:spcAft>
            </a:pPr>
            <a:r>
              <a:rPr sz="9600" b="1">
                <a:solidFill>
                  <a:srgbClr val="F5F8FC"/>
                </a:solidFill>
                <a:latin typeface="Arial"/>
              </a:rPr>
              <a:t>02</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Trend and Momentum Indicators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SMA / EMA</a:t>
            </a:r>
          </a:p>
          <a:p>
            <a:pPr algn="l">
              <a:spcAft>
                <a:spcPts val="300"/>
              </a:spcAft>
            </a:pPr>
            <a:r>
              <a:rPr sz="1150" b="0">
                <a:solidFill>
                  <a:srgbClr val="5B6372"/>
                </a:solidFill>
                <a:latin typeface="Arial"/>
              </a:rPr>
              <a:t>Average close over n bars; EMA weights recent bars by 2/(n+1).</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MACD</a:t>
            </a:r>
          </a:p>
          <a:p>
            <a:pPr algn="l">
              <a:spcAft>
                <a:spcPts val="300"/>
              </a:spcAft>
            </a:pPr>
            <a:r>
              <a:rPr sz="1150" b="0">
                <a:solidFill>
                  <a:srgbClr val="5B6372"/>
                </a:solidFill>
                <a:latin typeface="Arial"/>
              </a:rPr>
              <a:t>EMA12 − EMA26 with a 9-EMA signal line; crosses flag momentum.</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RSI (14)</a:t>
            </a:r>
          </a:p>
          <a:p>
            <a:pPr algn="l">
              <a:spcAft>
                <a:spcPts val="300"/>
              </a:spcAft>
            </a:pPr>
            <a:r>
              <a:rPr sz="1150" b="0">
                <a:solidFill>
                  <a:srgbClr val="5B6372"/>
                </a:solidFill>
                <a:latin typeface="Arial"/>
              </a:rPr>
              <a:t>100 − 100/(1+RS); above 70 overbought, below 30 oversold.</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Donchian channel</a:t>
            </a:r>
          </a:p>
          <a:p>
            <a:pPr algn="l">
              <a:spcAft>
                <a:spcPts val="300"/>
              </a:spcAft>
            </a:pPr>
            <a:r>
              <a:rPr sz="1150" b="0">
                <a:solidFill>
                  <a:srgbClr val="5B6372"/>
                </a:solidFill>
                <a:latin typeface="Arial"/>
              </a:rPr>
              <a:t>Highest high / lowest low of n bars — the breakout level.</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Moving Averages (SMA and EMA)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sma_ema.png"/>
          <p:cNvPicPr>
            <a:picLocks noChangeAspect="1"/>
          </p:cNvPicPr>
          <p:nvPr/>
        </p:nvPicPr>
        <p:blipFill>
          <a:blip r:embed="rId2"/>
          <a:stretch>
            <a:fillRect/>
          </a:stretch>
        </p:blipFill>
        <p:spPr>
          <a:xfrm>
            <a:off x="777240" y="2395728"/>
            <a:ext cx="6172200" cy="3209544"/>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The average closing price over the last n bars - a smoothed line that shows the trend. The EMA weights recent bars more, so it turns sooner.</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SMA(n) = (C1 + C2 + ... + Cn) / n.  EMA(t) = a x C(t) + (1 - a) x EMA(t-1), with a = 2 / (n + 1).</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Price above a rising average = uptrend. The 50 / 200-day pair is the classic trend filter; EMA 20 tracks the short-term trend.</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Every average lags: the longer n, the smoother - and the later each signal. In sideways markets price whipsaws across it.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Indicator: MACD (Moving Average Convergence Divergence)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macd.png"/>
          <p:cNvPicPr>
            <a:picLocks noChangeAspect="1"/>
          </p:cNvPicPr>
          <p:nvPr/>
        </p:nvPicPr>
        <p:blipFill>
          <a:blip r:embed="rId2"/>
          <a:stretch>
            <a:fillRect/>
          </a:stretch>
        </p:blipFill>
        <p:spPr>
          <a:xfrm>
            <a:off x="777240" y="2239164"/>
            <a:ext cx="6172200" cy="352267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A momentum-of-trend gauge: the gap between a fast and a slow EMA, with a signal line and a histogram that show whether momentum is growing.</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MACD = EMA12(C) - EMA26(C).  Signal = EMA9(MACD).  Histogram = MACD - Signal.</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MACD crossing above its signal line = momentum turning up; MACD above zero = the 12-day trend is above the 26-day trend.</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A shrinking histogram warns that a move is losing strength before price turns - but it is built from EMAs, so it lags and whipsaws in ranges.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RSI (Relative Strength Index)</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rsi.png"/>
          <p:cNvPicPr>
            <a:picLocks noChangeAspect="1"/>
          </p:cNvPicPr>
          <p:nvPr/>
        </p:nvPicPr>
        <p:blipFill>
          <a:blip r:embed="rId2"/>
          <a:stretch>
            <a:fillRect/>
          </a:stretch>
        </p:blipFill>
        <p:spPr>
          <a:xfrm>
            <a:off x="777240" y="2239164"/>
            <a:ext cx="6172200" cy="352267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An oscillator from 0 to 100 that compares the size of recent gains with recent losses - how stretched the latest move is.</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RS = average gain / average loss over n bars (Wilder smoothing, n = 14).  RSI = 100 - 100 / (1 + RS).</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Above 70 = overbought, below 30 = oversold. Short look-backs such as RSI(2) are used for mean-reversion entries.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In a strong trend RSI can stay above 70 for weeks: overbought is not a sell signal by itself. Test the thresholds - they are conventions.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RSI(N): the Number Is the Look-back Period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RSI(2) - short look-back</a:t>
            </a: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RSI(14) - Wilder's standard (1978)</a:t>
            </a:r>
          </a:p>
        </p:txBody>
      </p:sp>
      <p:sp>
        <p:nvSpPr>
          <p:cNvPr id="14" name="Rectangle 13"/>
          <p:cNvSpPr/>
          <p:nvPr/>
        </p:nvSpPr>
        <p:spPr>
          <a:xfrm>
            <a:off x="777240" y="2286000"/>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Look-back</a:t>
            </a:r>
          </a:p>
        </p:txBody>
      </p:sp>
      <p:sp>
        <p:nvSpPr>
          <p:cNvPr id="16" name="TextBox 15"/>
          <p:cNvSpPr txBox="1"/>
          <p:nvPr/>
        </p:nvSpPr>
        <p:spPr>
          <a:xfrm>
            <a:off x="3017520" y="2286000"/>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The last 2 bars (days on a daily chart)</a:t>
            </a:r>
          </a:p>
        </p:txBody>
      </p:sp>
      <p:sp>
        <p:nvSpPr>
          <p:cNvPr id="17" name="TextBox 16"/>
          <p:cNvSpPr txBox="1"/>
          <p:nvPr/>
        </p:nvSpPr>
        <p:spPr>
          <a:xfrm>
            <a:off x="7260336" y="2286000"/>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The last 14 bars - about 3 trading weeks</a:t>
            </a:r>
          </a:p>
        </p:txBody>
      </p:sp>
      <p:sp>
        <p:nvSpPr>
          <p:cNvPr id="18" name="TextBox 17"/>
          <p:cNvSpPr txBox="1"/>
          <p:nvPr/>
        </p:nvSpPr>
        <p:spPr>
          <a:xfrm>
            <a:off x="886968" y="2854234"/>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Reacts to</a:t>
            </a:r>
          </a:p>
        </p:txBody>
      </p:sp>
      <p:sp>
        <p:nvSpPr>
          <p:cNvPr id="19" name="TextBox 18"/>
          <p:cNvSpPr txBox="1"/>
          <p:nvPr/>
        </p:nvSpPr>
        <p:spPr>
          <a:xfrm>
            <a:off x="3017520" y="2854234"/>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1-2 day moves: fast and jumpy</a:t>
            </a:r>
          </a:p>
        </p:txBody>
      </p:sp>
      <p:sp>
        <p:nvSpPr>
          <p:cNvPr id="20" name="TextBox 19"/>
          <p:cNvSpPr txBox="1"/>
          <p:nvPr/>
        </p:nvSpPr>
        <p:spPr>
          <a:xfrm>
            <a:off x="7260336" y="2854234"/>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Sustained moves: smooth and slower</a:t>
            </a:r>
          </a:p>
        </p:txBody>
      </p:sp>
      <p:sp>
        <p:nvSpPr>
          <p:cNvPr id="21" name="Rectangle 20"/>
          <p:cNvSpPr/>
          <p:nvPr/>
        </p:nvSpPr>
        <p:spPr>
          <a:xfrm>
            <a:off x="777240" y="3422468"/>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422468"/>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How often extreme</a:t>
            </a:r>
          </a:p>
        </p:txBody>
      </p:sp>
      <p:sp>
        <p:nvSpPr>
          <p:cNvPr id="23" name="TextBox 22"/>
          <p:cNvSpPr txBox="1"/>
          <p:nvPr/>
        </p:nvSpPr>
        <p:spPr>
          <a:xfrm>
            <a:off x="3017520" y="3422468"/>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Often: SPY RSI(2) &lt; 10 on 9.6% of days</a:t>
            </a:r>
          </a:p>
        </p:txBody>
      </p:sp>
      <p:sp>
        <p:nvSpPr>
          <p:cNvPr id="24" name="TextBox 23"/>
          <p:cNvSpPr txBox="1"/>
          <p:nvPr/>
        </p:nvSpPr>
        <p:spPr>
          <a:xfrm>
            <a:off x="7260336" y="3422468"/>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Rarely: SPY RSI(14) &lt; 30 on 1.7% of days</a:t>
            </a:r>
          </a:p>
        </p:txBody>
      </p:sp>
      <p:sp>
        <p:nvSpPr>
          <p:cNvPr id="25" name="TextBox 24"/>
          <p:cNvSpPr txBox="1"/>
          <p:nvPr/>
        </p:nvSpPr>
        <p:spPr>
          <a:xfrm>
            <a:off x="886968" y="3990702"/>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Typical levels</a:t>
            </a:r>
          </a:p>
        </p:txBody>
      </p:sp>
      <p:sp>
        <p:nvSpPr>
          <p:cNvPr id="26" name="TextBox 25"/>
          <p:cNvSpPr txBox="1"/>
          <p:nvPr/>
        </p:nvSpPr>
        <p:spPr>
          <a:xfrm>
            <a:off x="3017520" y="3990702"/>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Buy below 10, exit above 70 (simulator default)</a:t>
            </a:r>
          </a:p>
        </p:txBody>
      </p:sp>
      <p:sp>
        <p:nvSpPr>
          <p:cNvPr id="27" name="TextBox 26"/>
          <p:cNvSpPr txBox="1"/>
          <p:nvPr/>
        </p:nvSpPr>
        <p:spPr>
          <a:xfrm>
            <a:off x="7260336" y="3990702"/>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Buy below 30, sell above 70</a:t>
            </a:r>
          </a:p>
        </p:txBody>
      </p:sp>
      <p:sp>
        <p:nvSpPr>
          <p:cNvPr id="28" name="Rectangle 27"/>
          <p:cNvSpPr/>
          <p:nvPr/>
        </p:nvSpPr>
        <p:spPr>
          <a:xfrm>
            <a:off x="777240" y="4558937"/>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558937"/>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SPY, 10 Oct 2025 (-2.7% after a -0.3% day)</a:t>
            </a:r>
          </a:p>
        </p:txBody>
      </p:sp>
      <p:sp>
        <p:nvSpPr>
          <p:cNvPr id="30" name="TextBox 29"/>
          <p:cNvSpPr txBox="1"/>
          <p:nvPr/>
        </p:nvSpPr>
        <p:spPr>
          <a:xfrm>
            <a:off x="3017520" y="4558937"/>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5.8 - deeply oversold: the RSI(2) rule buys</a:t>
            </a:r>
          </a:p>
        </p:txBody>
      </p:sp>
      <p:sp>
        <p:nvSpPr>
          <p:cNvPr id="31" name="TextBox 30"/>
          <p:cNvSpPr txBox="1"/>
          <p:nvPr/>
        </p:nvSpPr>
        <p:spPr>
          <a:xfrm>
            <a:off x="7260336" y="4558937"/>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42.5 - neutral: no signal</a:t>
            </a:r>
          </a:p>
        </p:txBody>
      </p:sp>
      <p:sp>
        <p:nvSpPr>
          <p:cNvPr id="32" name="TextBox 31"/>
          <p:cNvSpPr txBox="1"/>
          <p:nvPr/>
        </p:nvSpPr>
        <p:spPr>
          <a:xfrm>
            <a:off x="886968" y="5127171"/>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Next trading day, 13 Oct</a:t>
            </a:r>
          </a:p>
        </p:txBody>
      </p:sp>
      <p:sp>
        <p:nvSpPr>
          <p:cNvPr id="33" name="TextBox 32"/>
          <p:cNvSpPr txBox="1"/>
          <p:nvPr/>
        </p:nvSpPr>
        <p:spPr>
          <a:xfrm>
            <a:off x="3017520" y="5127171"/>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SPY +1.5% - the bounce is captured</a:t>
            </a:r>
          </a:p>
        </p:txBody>
      </p:sp>
      <p:sp>
        <p:nvSpPr>
          <p:cNvPr id="34" name="TextBox 33"/>
          <p:cNvSpPr txBox="1"/>
          <p:nvPr/>
        </p:nvSpPr>
        <p:spPr>
          <a:xfrm>
            <a:off x="7260336" y="5127171"/>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No trade</a:t>
            </a:r>
          </a:p>
        </p:txBody>
      </p:sp>
      <p:sp>
        <p:nvSpPr>
          <p:cNvPr id="35" name="Rectangle 34"/>
          <p:cNvSpPr/>
          <p:nvPr/>
        </p:nvSpPr>
        <p:spPr>
          <a:xfrm>
            <a:off x="777240" y="5695405"/>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5695405"/>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Simulator strategy</a:t>
            </a:r>
          </a:p>
        </p:txBody>
      </p:sp>
      <p:sp>
        <p:nvSpPr>
          <p:cNvPr id="37" name="TextBox 36"/>
          <p:cNvSpPr txBox="1"/>
          <p:nvPr/>
        </p:nvSpPr>
        <p:spPr>
          <a:xfrm>
            <a:off x="3017520" y="5695405"/>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RSI(2) mean reversion (Connors style)</a:t>
            </a:r>
          </a:p>
        </p:txBody>
      </p:sp>
      <p:sp>
        <p:nvSpPr>
          <p:cNvPr id="38" name="TextBox 37"/>
          <p:cNvSpPr txBox="1"/>
          <p:nvPr/>
        </p:nvSpPr>
        <p:spPr>
          <a:xfrm>
            <a:off x="7260336" y="5695405"/>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RSI oversold / overbought</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Number in Brackets Is Always the Look-back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RSI(N) formula</a:t>
            </a:r>
          </a:p>
          <a:p>
            <a:pPr algn="l">
              <a:spcAft>
                <a:spcPts val="300"/>
              </a:spcAft>
            </a:pPr>
            <a:r>
              <a:rPr sz="1100" b="0">
                <a:solidFill>
                  <a:srgbClr val="5B6372"/>
                </a:solidFill>
                <a:latin typeface="Arial"/>
              </a:rPr>
              <a:t>RS = average gain / average loss over the last N bars; RSI = 100 - 100 / (1 + RS). Mostly up days: near 100. Mostly down: near 0. Equal: 50.</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SMA(50) and EMA(20)</a:t>
            </a:r>
          </a:p>
          <a:p>
            <a:pPr algn="l">
              <a:spcAft>
                <a:spcPts val="300"/>
              </a:spcAft>
            </a:pPr>
            <a:r>
              <a:rPr sz="1100" b="0">
                <a:solidFill>
                  <a:srgbClr val="5B6372"/>
                </a:solidFill>
                <a:latin typeface="Arial"/>
              </a:rPr>
              <a:t>SMA(50): average of the last 50 closes. EMA(20): exponential average over about 20 bars, weighting recent bars more.</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Bollinger(20, 2) and ATR(14)</a:t>
            </a:r>
          </a:p>
          <a:p>
            <a:pPr algn="l">
              <a:spcAft>
                <a:spcPts val="300"/>
              </a:spcAft>
            </a:pPr>
            <a:r>
              <a:rPr sz="1100" b="0">
                <a:solidFill>
                  <a:srgbClr val="5B6372"/>
                </a:solidFill>
                <a:latin typeface="Arial"/>
              </a:rPr>
              <a:t>Bollinger: 20-day average with bands 2 standard deviations away. ATR(14): average true range over 14 bars.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Where to change N</a:t>
            </a:r>
          </a:p>
          <a:p>
            <a:pPr algn="l">
              <a:spcAft>
                <a:spcPts val="300"/>
              </a:spcAft>
            </a:pPr>
            <a:r>
              <a:rPr sz="1100" b="0">
                <a:solidFill>
                  <a:srgbClr val="5B6372"/>
                </a:solidFill>
                <a:latin typeface="Arial"/>
              </a:rPr>
              <a:t>TradingView: the indicator's Settings &gt; Inputs &gt; Length. Simulator: the strategy's parameter (e.g. RSI length n) before you backtest.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Donchian Channel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donchian.png"/>
          <p:cNvPicPr>
            <a:picLocks noChangeAspect="1"/>
          </p:cNvPicPr>
          <p:nvPr/>
        </p:nvPicPr>
        <p:blipFill>
          <a:blip r:embed="rId2"/>
          <a:stretch>
            <a:fillRect/>
          </a:stretch>
        </p:blipFill>
        <p:spPr>
          <a:xfrm>
            <a:off x="777240" y="2394160"/>
            <a:ext cx="6172200" cy="3212678"/>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A channel drawn through the highest high and the lowest low of the last n bars - the levels a breakout must clear.</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Upper(n) = max(High, last n bars).  Lower(n) = min(Low, last n bars).  Classic n = 20 (the Turtle traders used 20 and 55).</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A close above the prior upper band = upside breakout; exit on a break of a shorter (e.g. 10-day) low.</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Breakout systems win rarely but big. Compare today's close with the channel up to YESTERDAY - including today's high is look-ahead.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Volatility and Volume Indicators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Bollinger Bands</a:t>
            </a:r>
          </a:p>
          <a:p>
            <a:pPr algn="l">
              <a:spcAft>
                <a:spcPts val="300"/>
              </a:spcAft>
            </a:pPr>
            <a:r>
              <a:rPr sz="1150" b="0">
                <a:solidFill>
                  <a:srgbClr val="5B6372"/>
                </a:solidFill>
                <a:latin typeface="Arial"/>
              </a:rPr>
              <a:t>SMA20 ± 2 standard deviations; width tracks volatility.</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ATR (14)</a:t>
            </a:r>
          </a:p>
          <a:p>
            <a:pPr algn="l">
              <a:spcAft>
                <a:spcPts val="300"/>
              </a:spcAft>
            </a:pPr>
            <a:r>
              <a:rPr sz="1150" b="0">
                <a:solidFill>
                  <a:srgbClr val="5B6372"/>
                </a:solidFill>
                <a:latin typeface="Arial"/>
              </a:rPr>
              <a:t>Average true range — position sizing and volatility stops.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VWAP</a:t>
            </a:r>
          </a:p>
          <a:p>
            <a:pPr algn="l">
              <a:spcAft>
                <a:spcPts val="300"/>
              </a:spcAft>
            </a:pPr>
            <a:r>
              <a:rPr sz="1150" b="0">
                <a:solidFill>
                  <a:srgbClr val="5B6372"/>
                </a:solidFill>
                <a:latin typeface="Arial"/>
              </a:rPr>
              <a:t>Volume-weighted average price — the execution benchmark.</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OBV</a:t>
            </a:r>
          </a:p>
          <a:p>
            <a:pPr algn="l">
              <a:spcAft>
                <a:spcPts val="300"/>
              </a:spcAft>
            </a:pPr>
            <a:r>
              <a:rPr sz="1150" b="0">
                <a:solidFill>
                  <a:srgbClr val="5B6372"/>
                </a:solidFill>
                <a:latin typeface="Arial"/>
              </a:rPr>
              <a:t>Adds volume on up days, subtracts on down days.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Bollinger Bands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bollinger.png"/>
          <p:cNvPicPr>
            <a:picLocks noChangeAspect="1"/>
          </p:cNvPicPr>
          <p:nvPr/>
        </p:nvPicPr>
        <p:blipFill>
          <a:blip r:embed="rId2"/>
          <a:stretch>
            <a:fillRect/>
          </a:stretch>
        </p:blipFill>
        <p:spPr>
          <a:xfrm>
            <a:off x="777240" y="2237444"/>
            <a:ext cx="6172200" cy="352611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A moving average with bands set a number of standard deviations above and below it, so the bands widen and narrow with volatility.</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Middle = SMA20(C).  Upper / Lower = Middle +/- 2 x StDev20(C).  %B = (C - Lower) / (Upper - Lower).</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Mean reversion: buy a close below the lower band, exit at the middle. A 'squeeze' (narrow bands) often comes before a big move.</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Returns are not normal: closes fall outside the bands far more often than the 5% a normal curve implies. In a trend, 'oversold' keeps falling.</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ATR (Average True Range)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atr.png"/>
          <p:cNvPicPr>
            <a:picLocks noChangeAspect="1"/>
          </p:cNvPicPr>
          <p:nvPr/>
        </p:nvPicPr>
        <p:blipFill>
          <a:blip r:embed="rId2"/>
          <a:stretch>
            <a:fillRect/>
          </a:stretch>
        </p:blipFill>
        <p:spPr>
          <a:xfrm>
            <a:off x="777240" y="2242594"/>
            <a:ext cx="6172200" cy="351581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The average size of a day's price range, including overnight gaps - a volatility ruler in price units.</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TR = max(H - L, |H - previous C|, |L - previous C|).  ATR = average of TR over n bars (Wilder smoothing, n = 14).</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Set stops at 2-3 x ATR and size positions as risk budget / (k x ATR), so every trade carries similar risk.</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ATR says how far, not which way. Compare instruments with ATR as a % of price, since ATR rises with the price level.</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VWAP (Volume-Weighted Average Price)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vwap.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The average price paid during the session, weighted by the volume traded at each price. It resets at every session open.</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Typical price P = (H + L + C) / 3.  VWAP = sum(P x Volume) / sum(Volume), summed from the session open.</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The execution benchmark: buying below VWAP is a good fill. Intraday traders read price above VWAP as buyers in control.</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Institutions judge execution algorithms against VWAP. It needs intraday data - on daily bars it is only an approximation.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INDICATOR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Indicator: OBV (On-Balance Volume)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ind_obv.png"/>
          <p:cNvPicPr>
            <a:picLocks noChangeAspect="1"/>
          </p:cNvPicPr>
          <p:nvPr/>
        </p:nvPicPr>
        <p:blipFill>
          <a:blip r:embed="rId2"/>
          <a:stretch>
            <a:fillRect/>
          </a:stretch>
        </p:blipFill>
        <p:spPr>
          <a:xfrm>
            <a:off x="777240" y="2239164"/>
            <a:ext cx="6172200" cy="352267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A running total of volume that adds a day's volume when the close rises and subtracts it when the close falls.</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OBV(t) = OBV(t-1) + Volume(t) if C(t) &gt; C(t-1); - Volume(t) if C(t) &lt; C(t-1); unchanged if equal.</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A rising OBV confirms an up-trend; OBV making new highs before price is read as accumulation. Read the slope, not the level.</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Volume shows the conviction behind a move. An OBV that falls while price rises (divergence) is a warning, not a signal on its own.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A2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Matching the Method to the Hypothesis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A2</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'Does the signal beat the benchmark?'</a:t>
            </a:r>
          </a:p>
          <a:p>
            <a:pPr algn="l">
              <a:spcAft>
                <a:spcPts val="300"/>
              </a:spcAft>
            </a:pPr>
            <a:r>
              <a:rPr sz="1150" b="0">
                <a:solidFill>
                  <a:srgbClr val="5B6372"/>
                </a:solidFill>
                <a:latin typeface="Arial"/>
              </a:rPr>
              <a:t>Backtest + t-test or bootstrap on returns.</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'Will tomorrow be up?'</a:t>
            </a:r>
          </a:p>
          <a:p>
            <a:pPr algn="l">
              <a:spcAft>
                <a:spcPts val="300"/>
              </a:spcAft>
            </a:pPr>
            <a:r>
              <a:rPr sz="1150" b="0">
                <a:solidFill>
                  <a:srgbClr val="5B6372"/>
                </a:solidFill>
                <a:latin typeface="Arial"/>
              </a:rPr>
              <a:t>Classifier: logistic regression, random forest, XGBoost.</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'What state is the market in?'</a:t>
            </a:r>
          </a:p>
          <a:p>
            <a:pPr algn="l">
              <a:spcAft>
                <a:spcPts val="300"/>
              </a:spcAft>
            </a:pPr>
            <a:r>
              <a:rPr sz="1150" b="0">
                <a:solidFill>
                  <a:srgbClr val="5B6372"/>
                </a:solidFill>
                <a:latin typeface="Arial"/>
              </a:rPr>
              <a:t>Clustering: K-means on return and volatility features.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'Which parameters?'</a:t>
            </a:r>
          </a:p>
          <a:p>
            <a:pPr algn="l">
              <a:spcAft>
                <a:spcPts val="300"/>
              </a:spcAft>
            </a:pPr>
            <a:r>
              <a:rPr sz="1150" b="0">
                <a:solidFill>
                  <a:srgbClr val="5B6372"/>
                </a:solidFill>
                <a:latin typeface="Arial"/>
              </a:rPr>
              <a:t>Grid search in-sample, confirm out-of-sample.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Coding Languages for Algorithms and Signals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K7</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Pine Script v6</a:t>
            </a:r>
          </a:p>
          <a:p>
            <a:pPr algn="l">
              <a:spcAft>
                <a:spcPts val="300"/>
              </a:spcAft>
            </a:pPr>
            <a:r>
              <a:rPr sz="1150" b="0">
                <a:solidFill>
                  <a:srgbClr val="5B6372"/>
                </a:solidFill>
                <a:latin typeface="Arial"/>
              </a:rPr>
              <a:t>//@version=6 · ta.ema · ta.crossover · strategy.entry.</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Python</a:t>
            </a:r>
          </a:p>
          <a:p>
            <a:pPr algn="l">
              <a:spcAft>
                <a:spcPts val="300"/>
              </a:spcAft>
            </a:pPr>
            <a:r>
              <a:rPr sz="1150" b="0">
                <a:solidFill>
                  <a:srgbClr val="5B6372"/>
                </a:solidFill>
                <a:latin typeface="Arial"/>
              </a:rPr>
              <a:t>Signals as pandas Series of +1 / 0 / −1 aligned to bars.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C++ / Java</a:t>
            </a:r>
          </a:p>
          <a:p>
            <a:pPr algn="l">
              <a:spcAft>
                <a:spcPts val="300"/>
              </a:spcAft>
            </a:pPr>
            <a:r>
              <a:rPr sz="1150" b="0">
                <a:solidFill>
                  <a:srgbClr val="5B6372"/>
                </a:solidFill>
                <a:latin typeface="Arial"/>
              </a:rPr>
              <a:t>Low-latency execution engines and exchange gateways.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 SQL, MQL</a:t>
            </a:r>
          </a:p>
          <a:p>
            <a:pPr algn="l">
              <a:spcAft>
                <a:spcPts val="300"/>
              </a:spcAft>
            </a:pPr>
            <a:r>
              <a:rPr sz="1150" b="0">
                <a:solidFill>
                  <a:srgbClr val="5B6372"/>
                </a:solidFill>
                <a:latin typeface="Arial"/>
              </a:rPr>
              <a:t>Statistics, data stores, MetaTrader expert advisors.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Order Types and Time in Force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K7</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Market and limit</a:t>
            </a:r>
          </a:p>
          <a:p>
            <a:pPr algn="l">
              <a:spcAft>
                <a:spcPts val="300"/>
              </a:spcAft>
            </a:pPr>
            <a:r>
              <a:rPr sz="1150" b="0">
                <a:solidFill>
                  <a:srgbClr val="5B6372"/>
                </a:solidFill>
                <a:latin typeface="Arial"/>
              </a:rPr>
              <a:t>Certainty of fill versus control of price.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Stop, stop-limit, trailing stop</a:t>
            </a:r>
          </a:p>
          <a:p>
            <a:pPr algn="l">
              <a:spcAft>
                <a:spcPts val="300"/>
              </a:spcAft>
            </a:pPr>
            <a:r>
              <a:rPr sz="1150" b="0">
                <a:solidFill>
                  <a:srgbClr val="5B6372"/>
                </a:solidFill>
                <a:latin typeface="Arial"/>
              </a:rPr>
              <a:t>Trigger on a price; protect or enter on breaks.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Bracket / OCO / OTO</a:t>
            </a:r>
          </a:p>
          <a:p>
            <a:pPr algn="l">
              <a:spcAft>
                <a:spcPts val="300"/>
              </a:spcAft>
            </a:pPr>
            <a:r>
              <a:rPr sz="1150" b="0">
                <a:solidFill>
                  <a:srgbClr val="5B6372"/>
                </a:solidFill>
                <a:latin typeface="Arial"/>
              </a:rPr>
              <a:t>Entry with attached take-profit and stop-loss.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day · gtc · opg · cls · ioc · fok</a:t>
            </a:r>
          </a:p>
          <a:p>
            <a:pPr algn="l">
              <a:spcAft>
                <a:spcPts val="300"/>
              </a:spcAft>
            </a:pPr>
            <a:r>
              <a:rPr sz="1150" b="0">
                <a:solidFill>
                  <a:srgbClr val="5B6372"/>
                </a:solidFill>
                <a:latin typeface="Arial"/>
              </a:rPr>
              <a:t>How long an order stays working.</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Performance and Risk Metrics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Return</a:t>
            </a:r>
          </a:p>
          <a:p>
            <a:pPr algn="l">
              <a:spcAft>
                <a:spcPts val="300"/>
              </a:spcAft>
            </a:pPr>
            <a:r>
              <a:rPr sz="1150" b="0">
                <a:solidFill>
                  <a:srgbClr val="5B6372"/>
                </a:solidFill>
                <a:latin typeface="Arial"/>
              </a:rPr>
              <a:t>Total return · CAGR = (end/start)^(1/years) − 1.</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Risk</a:t>
            </a:r>
          </a:p>
          <a:p>
            <a:pPr algn="l">
              <a:spcAft>
                <a:spcPts val="300"/>
              </a:spcAft>
            </a:pPr>
            <a:r>
              <a:rPr sz="1150" b="0">
                <a:solidFill>
                  <a:srgbClr val="5B6372"/>
                </a:solidFill>
                <a:latin typeface="Arial"/>
              </a:rPr>
              <a:t>Volatility = σ(daily) × √252 · maximum drawdown.</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Risk-adjusted</a:t>
            </a:r>
          </a:p>
          <a:p>
            <a:pPr algn="l">
              <a:spcAft>
                <a:spcPts val="300"/>
              </a:spcAft>
            </a:pPr>
            <a:r>
              <a:rPr sz="1150" b="0">
                <a:solidFill>
                  <a:srgbClr val="5B6372"/>
                </a:solidFill>
                <a:latin typeface="Arial"/>
              </a:rPr>
              <a:t>Sharpe · Sortino · Calmar = CAGR / |MaxDD|.</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Trade quality</a:t>
            </a:r>
          </a:p>
          <a:p>
            <a:pPr algn="l">
              <a:spcAft>
                <a:spcPts val="300"/>
              </a:spcAft>
            </a:pPr>
            <a:r>
              <a:rPr sz="1150" b="0">
                <a:solidFill>
                  <a:srgbClr val="5B6372"/>
                </a:solidFill>
                <a:latin typeface="Arial"/>
              </a:rPr>
              <a:t>Win rate · profit factor · expectancy · turnover · exposure.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METRIC</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Metric: Sharpe Ratio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metric_sharpe.png"/>
          <p:cNvPicPr>
            <a:picLocks noChangeAspect="1"/>
          </p:cNvPicPr>
          <p:nvPr/>
        </p:nvPicPr>
        <p:blipFill>
          <a:blip r:embed="rId2"/>
          <a:stretch>
            <a:fillRect/>
          </a:stretch>
        </p:blipFill>
        <p:spPr>
          <a:xfrm>
            <a:off x="777240" y="2245599"/>
            <a:ext cx="6172200" cy="350980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Return earned per unit of risk taken: the average excess return divided by its volatility, annualised.</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Sharpe = (mean daily return - daily risk-free rate) / std of daily returns x sqrt(252).</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Below 0.5 weak, about 1 good, above 2 rare for a daily strategy - check for errors. Always compare with buy-and-hold over the same period.</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Volatility counts as risk whether it is up or down, and a short or costless backtest inflates it - 2020 returned 18% but at 33% volatility, a Sharpe of only 0.67.</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METRIC</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Metric: Maximum Drawdown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metric_drawdown.png"/>
          <p:cNvPicPr>
            <a:picLocks noChangeAspect="1"/>
          </p:cNvPicPr>
          <p:nvPr/>
        </p:nvPicPr>
        <p:blipFill>
          <a:blip r:embed="rId2"/>
          <a:stretch>
            <a:fillRect/>
          </a:stretch>
        </p:blipFill>
        <p:spPr>
          <a:xfrm>
            <a:off x="777240" y="2242594"/>
            <a:ext cx="6172200" cy="351581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DEFINITION</a:t>
            </a:r>
          </a:p>
          <a:p>
            <a:pPr algn="l">
              <a:spcAft>
                <a:spcPts val="200"/>
              </a:spcAft>
            </a:pPr>
            <a:r>
              <a:rPr sz="1150" b="0">
                <a:solidFill>
                  <a:srgbClr val="161B26"/>
                </a:solidFill>
                <a:latin typeface="Arial"/>
              </a:rPr>
              <a:t>The largest fall of the equity curve from a previous peak to a later low - the worst loss an investor would have lived through before a new high.</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FORMULA</a:t>
            </a:r>
          </a:p>
          <a:p>
            <a:pPr algn="l">
              <a:spcAft>
                <a:spcPts val="200"/>
              </a:spcAft>
            </a:pPr>
            <a:r>
              <a:rPr sz="1150" b="0">
                <a:solidFill>
                  <a:srgbClr val="161B26"/>
                </a:solidFill>
                <a:latin typeface="Arial"/>
              </a:rPr>
              <a:t>Drawdown(t) = equity(t) / running peak(t) - 1.  Max drawdown = the most negative drawdown over the period.</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HOW TO READ IT</a:t>
            </a:r>
          </a:p>
          <a:p>
            <a:pPr algn="l">
              <a:spcAft>
                <a:spcPts val="200"/>
              </a:spcAft>
            </a:pPr>
            <a:r>
              <a:rPr sz="1150" b="0">
                <a:solidFill>
                  <a:srgbClr val="161B26"/>
                </a:solidFill>
                <a:latin typeface="Arial"/>
              </a:rPr>
              <a:t>A -20% drawdown needs +25% to recover; -50% needs +100%. Compare with buy-and-hold and with the loss the investor can tolerate.</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INSIGHT</a:t>
            </a:r>
          </a:p>
          <a:p>
            <a:pPr algn="l">
              <a:spcAft>
                <a:spcPts val="200"/>
              </a:spcAft>
            </a:pPr>
            <a:r>
              <a:rPr sz="1150" b="0">
                <a:solidFill>
                  <a:srgbClr val="161B26"/>
                </a:solidFill>
                <a:latin typeface="Arial"/>
              </a:rPr>
              <a:t>One path-dependent number: it does not say how long recovery took, and a short backtest may simply miss a bad period. SPY 2018-2025: -33.7% in five weeks of 2020.</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CLASSIFICATION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Classification of Trading Algorithms by Purpose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Purpose</a:t>
            </a: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Examples</a:t>
            </a:r>
          </a:p>
        </p:txBody>
      </p:sp>
      <p:sp>
        <p:nvSpPr>
          <p:cNvPr id="14" name="Rectangle 13"/>
          <p:cNvSpPr/>
          <p:nvPr/>
        </p:nvSpPr>
        <p:spPr>
          <a:xfrm>
            <a:off x="777240" y="2286000"/>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Execution algorithms</a:t>
            </a:r>
          </a:p>
        </p:txBody>
      </p:sp>
      <p:sp>
        <p:nvSpPr>
          <p:cNvPr id="16" name="TextBox 15"/>
          <p:cNvSpPr txBox="1"/>
          <p:nvPr/>
        </p:nvSpPr>
        <p:spPr>
          <a:xfrm>
            <a:off x="3017520" y="2286000"/>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Work a large order at low cost and market impact</a:t>
            </a:r>
          </a:p>
        </p:txBody>
      </p:sp>
      <p:sp>
        <p:nvSpPr>
          <p:cNvPr id="17" name="TextBox 16"/>
          <p:cNvSpPr txBox="1"/>
          <p:nvPr/>
        </p:nvSpPr>
        <p:spPr>
          <a:xfrm>
            <a:off x="7260336" y="2286000"/>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VWAP, TWAP, POV, implementation shortfall, iceberg, smart order routing</a:t>
            </a:r>
          </a:p>
        </p:txBody>
      </p:sp>
      <p:sp>
        <p:nvSpPr>
          <p:cNvPr id="18" name="TextBox 17"/>
          <p:cNvSpPr txBox="1"/>
          <p:nvPr/>
        </p:nvSpPr>
        <p:spPr>
          <a:xfrm>
            <a:off x="886968" y="2854234"/>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Market making</a:t>
            </a:r>
          </a:p>
        </p:txBody>
      </p:sp>
      <p:sp>
        <p:nvSpPr>
          <p:cNvPr id="19" name="TextBox 18"/>
          <p:cNvSpPr txBox="1"/>
          <p:nvPr/>
        </p:nvSpPr>
        <p:spPr>
          <a:xfrm>
            <a:off x="3017520" y="2854234"/>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Quote bids and offers, earn the spread, manage inventory</a:t>
            </a:r>
          </a:p>
        </p:txBody>
      </p:sp>
      <p:sp>
        <p:nvSpPr>
          <p:cNvPr id="20" name="TextBox 19"/>
          <p:cNvSpPr txBox="1"/>
          <p:nvPr/>
        </p:nvSpPr>
        <p:spPr>
          <a:xfrm>
            <a:off x="7260336" y="2854234"/>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Passive market making with resting limit orders</a:t>
            </a:r>
          </a:p>
        </p:txBody>
      </p:sp>
      <p:sp>
        <p:nvSpPr>
          <p:cNvPr id="21" name="Rectangle 20"/>
          <p:cNvSpPr/>
          <p:nvPr/>
        </p:nvSpPr>
        <p:spPr>
          <a:xfrm>
            <a:off x="777240" y="3422468"/>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422468"/>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Arbitrage</a:t>
            </a:r>
          </a:p>
        </p:txBody>
      </p:sp>
      <p:sp>
        <p:nvSpPr>
          <p:cNvPr id="23" name="TextBox 22"/>
          <p:cNvSpPr txBox="1"/>
          <p:nvPr/>
        </p:nvSpPr>
        <p:spPr>
          <a:xfrm>
            <a:off x="3017520" y="3422468"/>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Capture mispricing between related products or markets</a:t>
            </a:r>
          </a:p>
        </p:txBody>
      </p:sp>
      <p:sp>
        <p:nvSpPr>
          <p:cNvPr id="24" name="TextBox 23"/>
          <p:cNvSpPr txBox="1"/>
          <p:nvPr/>
        </p:nvSpPr>
        <p:spPr>
          <a:xfrm>
            <a:off x="7260336" y="3422468"/>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ETF versus its basket, index futures versus stocks</a:t>
            </a:r>
          </a:p>
        </p:txBody>
      </p:sp>
      <p:sp>
        <p:nvSpPr>
          <p:cNvPr id="25" name="TextBox 24"/>
          <p:cNvSpPr txBox="1"/>
          <p:nvPr/>
        </p:nvSpPr>
        <p:spPr>
          <a:xfrm>
            <a:off x="886968" y="3990702"/>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Directional / alpha</a:t>
            </a:r>
          </a:p>
        </p:txBody>
      </p:sp>
      <p:sp>
        <p:nvSpPr>
          <p:cNvPr id="26" name="TextBox 25"/>
          <p:cNvSpPr txBox="1"/>
          <p:nvPr/>
        </p:nvSpPr>
        <p:spPr>
          <a:xfrm>
            <a:off x="3017520" y="3990702"/>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Take a view on the direction of price</a:t>
            </a:r>
          </a:p>
        </p:txBody>
      </p:sp>
      <p:sp>
        <p:nvSpPr>
          <p:cNvPr id="27" name="TextBox 26"/>
          <p:cNvSpPr txBox="1"/>
          <p:nvPr/>
        </p:nvSpPr>
        <p:spPr>
          <a:xfrm>
            <a:off x="7260336" y="3990702"/>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Trend following, momentum, breakout, mean reversion, news</a:t>
            </a:r>
          </a:p>
        </p:txBody>
      </p:sp>
      <p:sp>
        <p:nvSpPr>
          <p:cNvPr id="28" name="Rectangle 27"/>
          <p:cNvSpPr/>
          <p:nvPr/>
        </p:nvSpPr>
        <p:spPr>
          <a:xfrm>
            <a:off x="777240" y="4558937"/>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558937"/>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Statistical arbitrage and pairs</a:t>
            </a:r>
          </a:p>
        </p:txBody>
      </p:sp>
      <p:sp>
        <p:nvSpPr>
          <p:cNvPr id="30" name="TextBox 29"/>
          <p:cNvSpPr txBox="1"/>
          <p:nvPr/>
        </p:nvSpPr>
        <p:spPr>
          <a:xfrm>
            <a:off x="3017520" y="4558937"/>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Hedged: long one asset, short a related one; trade the spread</a:t>
            </a:r>
          </a:p>
        </p:txBody>
      </p:sp>
      <p:sp>
        <p:nvSpPr>
          <p:cNvPr id="31" name="TextBox 30"/>
          <p:cNvSpPr txBox="1"/>
          <p:nvPr/>
        </p:nvSpPr>
        <p:spPr>
          <a:xfrm>
            <a:off x="7260336" y="4558937"/>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Pairs trading, cointegration, market-neutral baskets</a:t>
            </a:r>
          </a:p>
        </p:txBody>
      </p:sp>
      <p:sp>
        <p:nvSpPr>
          <p:cNvPr id="32" name="TextBox 31"/>
          <p:cNvSpPr txBox="1"/>
          <p:nvPr/>
        </p:nvSpPr>
        <p:spPr>
          <a:xfrm>
            <a:off x="886968" y="5127171"/>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Factor and portfolio</a:t>
            </a:r>
          </a:p>
        </p:txBody>
      </p:sp>
      <p:sp>
        <p:nvSpPr>
          <p:cNvPr id="33" name="TextBox 32"/>
          <p:cNvSpPr txBox="1"/>
          <p:nvPr/>
        </p:nvSpPr>
        <p:spPr>
          <a:xfrm>
            <a:off x="3017520" y="5127171"/>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Build and rebalance portfolios from return drivers and risk</a:t>
            </a:r>
          </a:p>
        </p:txBody>
      </p:sp>
      <p:sp>
        <p:nvSpPr>
          <p:cNvPr id="34" name="TextBox 33"/>
          <p:cNvSpPr txBox="1"/>
          <p:nvPr/>
        </p:nvSpPr>
        <p:spPr>
          <a:xfrm>
            <a:off x="7260336" y="5127171"/>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Value, momentum, size factors; mean-variance optimisation</a:t>
            </a:r>
          </a:p>
        </p:txBody>
      </p:sp>
      <p:sp>
        <p:nvSpPr>
          <p:cNvPr id="35" name="Rectangle 34"/>
          <p:cNvSpPr/>
          <p:nvPr/>
        </p:nvSpPr>
        <p:spPr>
          <a:xfrm>
            <a:off x="777240" y="5695405"/>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5695405"/>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Hedging and risk</a:t>
            </a:r>
          </a:p>
        </p:txBody>
      </p:sp>
      <p:sp>
        <p:nvSpPr>
          <p:cNvPr id="37" name="TextBox 36"/>
          <p:cNvSpPr txBox="1"/>
          <p:nvPr/>
        </p:nvSpPr>
        <p:spPr>
          <a:xfrm>
            <a:off x="3017520" y="5695405"/>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Offset unwanted exposure and enforce limits</a:t>
            </a:r>
          </a:p>
        </p:txBody>
      </p:sp>
      <p:sp>
        <p:nvSpPr>
          <p:cNvPr id="38" name="TextBox 37"/>
          <p:cNvSpPr txBox="1"/>
          <p:nvPr/>
        </p:nvSpPr>
        <p:spPr>
          <a:xfrm>
            <a:off x="7260336" y="5695405"/>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Delta hedging, beta hedging, pairs hedge, kill switch</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CLASSIFICATION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SEC Classification of High-Frequency Strategies (2010)</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450" b="1">
                <a:solidFill>
                  <a:srgbClr val="161B26"/>
                </a:solidFill>
                <a:latin typeface="Arial"/>
              </a:rPr>
              <a:t>Passive market making</a:t>
            </a:r>
          </a:p>
          <a:p>
            <a:pPr algn="l">
              <a:spcAft>
                <a:spcPts val="300"/>
              </a:spcAft>
            </a:pPr>
            <a:r>
              <a:rPr sz="1050" b="0">
                <a:solidFill>
                  <a:srgbClr val="5B6372"/>
                </a:solidFill>
                <a:latin typeface="Arial"/>
              </a:rPr>
              <a:t>Submits non-marketable resting bids and offers that provide liquidity at specified prices</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450" b="1">
                <a:solidFill>
                  <a:srgbClr val="161B26"/>
                </a:solidFill>
                <a:latin typeface="Arial"/>
              </a:rPr>
              <a:t>Arbitrage</a:t>
            </a:r>
          </a:p>
          <a:p>
            <a:pPr algn="l">
              <a:spcAft>
                <a:spcPts val="300"/>
              </a:spcAft>
            </a:pPr>
            <a:r>
              <a:rPr sz="1050" b="0">
                <a:solidFill>
                  <a:srgbClr val="5B6372"/>
                </a:solidFill>
                <a:latin typeface="Arial"/>
              </a:rPr>
              <a:t>Captures pricing inefficiencies between related products or markets, e.g. an ETF and its basket</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450" b="1">
                <a:solidFill>
                  <a:srgbClr val="161B26"/>
                </a:solidFill>
                <a:latin typeface="Arial"/>
              </a:rPr>
              <a:t>Structural</a:t>
            </a:r>
          </a:p>
          <a:p>
            <a:pPr algn="l">
              <a:spcAft>
                <a:spcPts val="300"/>
              </a:spcAft>
            </a:pPr>
            <a:r>
              <a:rPr sz="1050" b="0">
                <a:solidFill>
                  <a:srgbClr val="5B6372"/>
                </a:solidFill>
                <a:latin typeface="Arial"/>
              </a:rPr>
              <a:t>Exploits structural vulnerabilities in the market or its participants, e.g. stale quotes via faster data</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450" b="1">
                <a:solidFill>
                  <a:srgbClr val="161B26"/>
                </a:solidFill>
                <a:latin typeface="Arial"/>
              </a:rPr>
              <a:t>Directional</a:t>
            </a:r>
          </a:p>
          <a:p>
            <a:pPr algn="l">
              <a:spcAft>
                <a:spcPts val="300"/>
              </a:spcAft>
            </a:pPr>
            <a:r>
              <a:rPr sz="1050" b="0">
                <a:solidFill>
                  <a:srgbClr val="5B6372"/>
                </a:solidFill>
                <a:latin typeface="Arial"/>
              </a:rPr>
              <a:t>Takes a short-term position anticipating an intraday price move in a particular direction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CLASSIFICATION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Classification by Holding Period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Horizon</a:t>
            </a: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Typical algorithms</a:t>
            </a:r>
          </a:p>
        </p:txBody>
      </p:sp>
      <p:sp>
        <p:nvSpPr>
          <p:cNvPr id="14" name="Rectangle 13"/>
          <p:cNvSpPr/>
          <p:nvPr/>
        </p:nvSpPr>
        <p:spPr>
          <a:xfrm>
            <a:off x="777240" y="2286000"/>
            <a:ext cx="10634472" cy="9669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High-frequency</a:t>
            </a:r>
          </a:p>
        </p:txBody>
      </p:sp>
      <p:sp>
        <p:nvSpPr>
          <p:cNvPr id="16" name="TextBox 15"/>
          <p:cNvSpPr txBox="1"/>
          <p:nvPr/>
        </p:nvSpPr>
        <p:spPr>
          <a:xfrm>
            <a:off x="3017520" y="228600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Microseconds to seconds</a:t>
            </a:r>
          </a:p>
        </p:txBody>
      </p:sp>
      <p:sp>
        <p:nvSpPr>
          <p:cNvPr id="17" name="TextBox 16"/>
          <p:cNvSpPr txBox="1"/>
          <p:nvPr/>
        </p:nvSpPr>
        <p:spPr>
          <a:xfrm>
            <a:off x="7260336" y="228600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Market making, ETF and latency arbitrage</a:t>
            </a:r>
          </a:p>
        </p:txBody>
      </p:sp>
      <p:sp>
        <p:nvSpPr>
          <p:cNvPr id="18" name="TextBox 17"/>
          <p:cNvSpPr txBox="1"/>
          <p:nvPr/>
        </p:nvSpPr>
        <p:spPr>
          <a:xfrm>
            <a:off x="886968" y="328041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Intraday</a:t>
            </a:r>
          </a:p>
        </p:txBody>
      </p:sp>
      <p:sp>
        <p:nvSpPr>
          <p:cNvPr id="19" name="TextBox 18"/>
          <p:cNvSpPr txBox="1"/>
          <p:nvPr/>
        </p:nvSpPr>
        <p:spPr>
          <a:xfrm>
            <a:off x="3017520" y="328041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Minutes to hours</a:t>
            </a:r>
          </a:p>
        </p:txBody>
      </p:sp>
      <p:sp>
        <p:nvSpPr>
          <p:cNvPr id="20" name="TextBox 19"/>
          <p:cNvSpPr txBox="1"/>
          <p:nvPr/>
        </p:nvSpPr>
        <p:spPr>
          <a:xfrm>
            <a:off x="7260336" y="328041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VWAP / TWAP execution, intraday momentum</a:t>
            </a:r>
          </a:p>
        </p:txBody>
      </p:sp>
      <p:sp>
        <p:nvSpPr>
          <p:cNvPr id="21" name="Rectangle 20"/>
          <p:cNvSpPr/>
          <p:nvPr/>
        </p:nvSpPr>
        <p:spPr>
          <a:xfrm>
            <a:off x="777240" y="4274820"/>
            <a:ext cx="10634472" cy="9669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427482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Swing</a:t>
            </a:r>
          </a:p>
        </p:txBody>
      </p:sp>
      <p:sp>
        <p:nvSpPr>
          <p:cNvPr id="23" name="TextBox 22"/>
          <p:cNvSpPr txBox="1"/>
          <p:nvPr/>
        </p:nvSpPr>
        <p:spPr>
          <a:xfrm>
            <a:off x="3017520" y="427482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Days to weeks</a:t>
            </a:r>
          </a:p>
        </p:txBody>
      </p:sp>
      <p:sp>
        <p:nvSpPr>
          <p:cNvPr id="24" name="TextBox 23"/>
          <p:cNvSpPr txBox="1"/>
          <p:nvPr/>
        </p:nvSpPr>
        <p:spPr>
          <a:xfrm>
            <a:off x="7260336" y="427482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Mean reversion, pairs trading</a:t>
            </a:r>
          </a:p>
        </p:txBody>
      </p:sp>
      <p:sp>
        <p:nvSpPr>
          <p:cNvPr id="25" name="TextBox 24"/>
          <p:cNvSpPr txBox="1"/>
          <p:nvPr/>
        </p:nvSpPr>
        <p:spPr>
          <a:xfrm>
            <a:off x="886968" y="5269229"/>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Position</a:t>
            </a:r>
          </a:p>
        </p:txBody>
      </p:sp>
      <p:sp>
        <p:nvSpPr>
          <p:cNvPr id="26" name="TextBox 25"/>
          <p:cNvSpPr txBox="1"/>
          <p:nvPr/>
        </p:nvSpPr>
        <p:spPr>
          <a:xfrm>
            <a:off x="3017520" y="5269229"/>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Weeks to months</a:t>
            </a:r>
          </a:p>
        </p:txBody>
      </p:sp>
      <p:sp>
        <p:nvSpPr>
          <p:cNvPr id="27" name="TextBox 26"/>
          <p:cNvSpPr txBox="1"/>
          <p:nvPr/>
        </p:nvSpPr>
        <p:spPr>
          <a:xfrm>
            <a:off x="7260336" y="5269229"/>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Trend following, factor portfolios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CLASSIFICATION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Classification by Model Type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Rule-based</a:t>
            </a:r>
          </a:p>
          <a:p>
            <a:pPr algn="l">
              <a:spcAft>
                <a:spcPts val="300"/>
              </a:spcAft>
            </a:pPr>
            <a:r>
              <a:rPr sz="1050" b="0">
                <a:solidFill>
                  <a:srgbClr val="5B6372"/>
                </a:solidFill>
                <a:latin typeface="Arial"/>
              </a:rPr>
              <a:t>Fixed if-then rules on indicators, e.g. a moving-average crossover</a:t>
            </a:r>
          </a:p>
        </p:txBody>
      </p:sp>
      <p:sp>
        <p:nvSpPr>
          <p:cNvPr id="15" name="Rectangle 14"/>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832811"/>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Statistical</a:t>
            </a:r>
          </a:p>
          <a:p>
            <a:pPr algn="l">
              <a:spcAft>
                <a:spcPts val="300"/>
              </a:spcAft>
            </a:pPr>
            <a:r>
              <a:rPr sz="1050" b="0">
                <a:solidFill>
                  <a:srgbClr val="5B6372"/>
                </a:solidFill>
                <a:latin typeface="Arial"/>
              </a:rPr>
              <a:t>Econometric tests and models: cointegration, regression, t-tests</a:t>
            </a:r>
          </a:p>
        </p:txBody>
      </p:sp>
      <p:sp>
        <p:nvSpPr>
          <p:cNvPr id="20" name="Rectangle 19"/>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75452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Machine learning</a:t>
            </a:r>
          </a:p>
          <a:p>
            <a:pPr algn="l">
              <a:spcAft>
                <a:spcPts val="300"/>
              </a:spcAft>
            </a:pPr>
            <a:r>
              <a:rPr sz="1050" b="0">
                <a:solidFill>
                  <a:srgbClr val="5B6372"/>
                </a:solidFill>
                <a:latin typeface="Arial"/>
              </a:rPr>
              <a:t>Models learn from labelled data: logistic regression, random forest, XGBoost</a:t>
            </a:r>
          </a:p>
        </p:txBody>
      </p:sp>
      <p:sp>
        <p:nvSpPr>
          <p:cNvPr id="25" name="Rectangle 24"/>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676241"/>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Reinforcement learning</a:t>
            </a:r>
          </a:p>
          <a:p>
            <a:pPr algn="l">
              <a:spcAft>
                <a:spcPts val="300"/>
              </a:spcAft>
            </a:pPr>
            <a:r>
              <a:rPr sz="1050" b="0">
                <a:solidFill>
                  <a:srgbClr val="5B6372"/>
                </a:solidFill>
                <a:latin typeface="Arial"/>
              </a:rPr>
              <a:t>Learns a policy from rewards, e.g. order-execution research</a:t>
            </a:r>
          </a:p>
        </p:txBody>
      </p:sp>
      <p:sp>
        <p:nvSpPr>
          <p:cNvPr id="30" name="Rectangle 29"/>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5597956"/>
            <a:ext cx="9427464" cy="501091"/>
          </a:xfrm>
          <a:prstGeom prst="rect">
            <a:avLst/>
          </a:prstGeom>
          <a:noFill/>
        </p:spPr>
        <p:txBody>
          <a:bodyPr wrap="square" anchor="ctr">
            <a:spAutoFit/>
          </a:bodyPr>
          <a:lstStyle/>
          <a:p>
            <a:pPr algn="l">
              <a:spcAft>
                <a:spcPts val="300"/>
              </a:spcAft>
            </a:pPr>
            <a:r>
              <a:rPr sz="1450" b="1">
                <a:solidFill>
                  <a:srgbClr val="161B26"/>
                </a:solidFill>
                <a:latin typeface="Arial"/>
              </a:rPr>
              <a:t>LLM and agentic</a:t>
            </a:r>
          </a:p>
          <a:p>
            <a:pPr algn="l">
              <a:spcAft>
                <a:spcPts val="300"/>
              </a:spcAft>
            </a:pPr>
            <a:r>
              <a:rPr sz="1050" b="0">
                <a:solidFill>
                  <a:srgbClr val="5B6372"/>
                </a:solidFill>
                <a:latin typeface="Arial"/>
              </a:rPr>
              <a:t>Language models read text and agents plan, code and act under limits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Long and Short Positions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Long</a:t>
            </a: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Short</a:t>
            </a:r>
          </a:p>
        </p:txBody>
      </p:sp>
      <p:sp>
        <p:nvSpPr>
          <p:cNvPr id="14" name="Rectangle 13"/>
          <p:cNvSpPr/>
          <p:nvPr/>
        </p:nvSpPr>
        <p:spPr>
          <a:xfrm>
            <a:off x="777240" y="2286000"/>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What you hold</a:t>
            </a:r>
          </a:p>
        </p:txBody>
      </p:sp>
      <p:sp>
        <p:nvSpPr>
          <p:cNvPr id="16" name="TextBox 15"/>
          <p:cNvSpPr txBox="1"/>
          <p:nvPr/>
        </p:nvSpPr>
        <p:spPr>
          <a:xfrm>
            <a:off x="3017520" y="2286000"/>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Shares you own</a:t>
            </a:r>
          </a:p>
        </p:txBody>
      </p:sp>
      <p:sp>
        <p:nvSpPr>
          <p:cNvPr id="17" name="TextBox 16"/>
          <p:cNvSpPr txBox="1"/>
          <p:nvPr/>
        </p:nvSpPr>
        <p:spPr>
          <a:xfrm>
            <a:off x="7260336" y="2286000"/>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Shares you borrowed and sold - you owe them back</a:t>
            </a:r>
          </a:p>
        </p:txBody>
      </p:sp>
      <p:sp>
        <p:nvSpPr>
          <p:cNvPr id="18" name="TextBox 17"/>
          <p:cNvSpPr txBox="1"/>
          <p:nvPr/>
        </p:nvSpPr>
        <p:spPr>
          <a:xfrm>
            <a:off x="886968" y="2854234"/>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Opening trade</a:t>
            </a:r>
          </a:p>
        </p:txBody>
      </p:sp>
      <p:sp>
        <p:nvSpPr>
          <p:cNvPr id="19" name="TextBox 18"/>
          <p:cNvSpPr txBox="1"/>
          <p:nvPr/>
        </p:nvSpPr>
        <p:spPr>
          <a:xfrm>
            <a:off x="3017520" y="2854234"/>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Buy</a:t>
            </a:r>
          </a:p>
        </p:txBody>
      </p:sp>
      <p:sp>
        <p:nvSpPr>
          <p:cNvPr id="20" name="TextBox 19"/>
          <p:cNvSpPr txBox="1"/>
          <p:nvPr/>
        </p:nvSpPr>
        <p:spPr>
          <a:xfrm>
            <a:off x="7260336" y="2854234"/>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Sell (the borrowed shares)</a:t>
            </a:r>
          </a:p>
        </p:txBody>
      </p:sp>
      <p:sp>
        <p:nvSpPr>
          <p:cNvPr id="21" name="Rectangle 20"/>
          <p:cNvSpPr/>
          <p:nvPr/>
        </p:nvSpPr>
        <p:spPr>
          <a:xfrm>
            <a:off x="777240" y="3422468"/>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422468"/>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Closing trade</a:t>
            </a:r>
          </a:p>
        </p:txBody>
      </p:sp>
      <p:sp>
        <p:nvSpPr>
          <p:cNvPr id="23" name="TextBox 22"/>
          <p:cNvSpPr txBox="1"/>
          <p:nvPr/>
        </p:nvSpPr>
        <p:spPr>
          <a:xfrm>
            <a:off x="3017520" y="3422468"/>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Sell</a:t>
            </a:r>
          </a:p>
        </p:txBody>
      </p:sp>
      <p:sp>
        <p:nvSpPr>
          <p:cNvPr id="24" name="TextBox 23"/>
          <p:cNvSpPr txBox="1"/>
          <p:nvPr/>
        </p:nvSpPr>
        <p:spPr>
          <a:xfrm>
            <a:off x="7260336" y="3422468"/>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Buy back ('buy to cover') and return the shares</a:t>
            </a:r>
          </a:p>
        </p:txBody>
      </p:sp>
      <p:sp>
        <p:nvSpPr>
          <p:cNvPr id="25" name="TextBox 24"/>
          <p:cNvSpPr txBox="1"/>
          <p:nvPr/>
        </p:nvSpPr>
        <p:spPr>
          <a:xfrm>
            <a:off x="886968" y="3990702"/>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You profit when</a:t>
            </a:r>
          </a:p>
        </p:txBody>
      </p:sp>
      <p:sp>
        <p:nvSpPr>
          <p:cNvPr id="26" name="TextBox 25"/>
          <p:cNvSpPr txBox="1"/>
          <p:nvPr/>
        </p:nvSpPr>
        <p:spPr>
          <a:xfrm>
            <a:off x="3017520" y="3990702"/>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The price rises</a:t>
            </a:r>
          </a:p>
        </p:txBody>
      </p:sp>
      <p:sp>
        <p:nvSpPr>
          <p:cNvPr id="27" name="TextBox 26"/>
          <p:cNvSpPr txBox="1"/>
          <p:nvPr/>
        </p:nvSpPr>
        <p:spPr>
          <a:xfrm>
            <a:off x="7260336" y="3990702"/>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The price falls</a:t>
            </a:r>
          </a:p>
        </p:txBody>
      </p:sp>
      <p:sp>
        <p:nvSpPr>
          <p:cNvPr id="28" name="Rectangle 27"/>
          <p:cNvSpPr/>
          <p:nvPr/>
        </p:nvSpPr>
        <p:spPr>
          <a:xfrm>
            <a:off x="777240" y="4558937"/>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558937"/>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Example</a:t>
            </a:r>
          </a:p>
        </p:txBody>
      </p:sp>
      <p:sp>
        <p:nvSpPr>
          <p:cNvPr id="30" name="TextBox 29"/>
          <p:cNvSpPr txBox="1"/>
          <p:nvPr/>
        </p:nvSpPr>
        <p:spPr>
          <a:xfrm>
            <a:off x="3017520" y="4558937"/>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Buy SPY at $500, sell at $550: +$50</a:t>
            </a:r>
          </a:p>
        </p:txBody>
      </p:sp>
      <p:sp>
        <p:nvSpPr>
          <p:cNvPr id="31" name="TextBox 30"/>
          <p:cNvSpPr txBox="1"/>
          <p:nvPr/>
        </p:nvSpPr>
        <p:spPr>
          <a:xfrm>
            <a:off x="7260336" y="4558937"/>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Sell SPY at $500, buy back at $450: +$50</a:t>
            </a:r>
          </a:p>
        </p:txBody>
      </p:sp>
      <p:sp>
        <p:nvSpPr>
          <p:cNvPr id="32" name="TextBox 31"/>
          <p:cNvSpPr txBox="1"/>
          <p:nvPr/>
        </p:nvSpPr>
        <p:spPr>
          <a:xfrm>
            <a:off x="886968" y="5127171"/>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Maximum loss</a:t>
            </a:r>
          </a:p>
        </p:txBody>
      </p:sp>
      <p:sp>
        <p:nvSpPr>
          <p:cNvPr id="33" name="TextBox 32"/>
          <p:cNvSpPr txBox="1"/>
          <p:nvPr/>
        </p:nvSpPr>
        <p:spPr>
          <a:xfrm>
            <a:off x="3017520" y="5127171"/>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What you paid - a price cannot go below $0</a:t>
            </a:r>
          </a:p>
        </p:txBody>
      </p:sp>
      <p:sp>
        <p:nvSpPr>
          <p:cNvPr id="34" name="TextBox 33"/>
          <p:cNvSpPr txBox="1"/>
          <p:nvPr/>
        </p:nvSpPr>
        <p:spPr>
          <a:xfrm>
            <a:off x="7260336" y="5127171"/>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Unlimited - a price can keep rising</a:t>
            </a:r>
          </a:p>
        </p:txBody>
      </p:sp>
      <p:sp>
        <p:nvSpPr>
          <p:cNvPr id="35" name="Rectangle 34"/>
          <p:cNvSpPr/>
          <p:nvPr/>
        </p:nvSpPr>
        <p:spPr>
          <a:xfrm>
            <a:off x="777240" y="5695405"/>
            <a:ext cx="10634472" cy="5408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5695405"/>
            <a:ext cx="1965960" cy="540802"/>
          </a:xfrm>
          <a:prstGeom prst="rect">
            <a:avLst/>
          </a:prstGeom>
          <a:noFill/>
        </p:spPr>
        <p:txBody>
          <a:bodyPr wrap="square" anchor="ctr">
            <a:spAutoFit/>
          </a:bodyPr>
          <a:lstStyle/>
          <a:p>
            <a:pPr algn="l">
              <a:spcAft>
                <a:spcPts val="400"/>
              </a:spcAft>
            </a:pPr>
            <a:r>
              <a:rPr sz="1150" b="1">
                <a:solidFill>
                  <a:srgbClr val="161B26"/>
                </a:solidFill>
                <a:latin typeface="Arial"/>
              </a:rPr>
              <a:t>Extra requirements</a:t>
            </a:r>
          </a:p>
        </p:txBody>
      </p:sp>
      <p:sp>
        <p:nvSpPr>
          <p:cNvPr id="37" name="TextBox 36"/>
          <p:cNvSpPr txBox="1"/>
          <p:nvPr/>
        </p:nvSpPr>
        <p:spPr>
          <a:xfrm>
            <a:off x="3017520" y="5695405"/>
            <a:ext cx="4014216" cy="540802"/>
          </a:xfrm>
          <a:prstGeom prst="rect">
            <a:avLst/>
          </a:prstGeom>
          <a:noFill/>
        </p:spPr>
        <p:txBody>
          <a:bodyPr wrap="square" anchor="ctr">
            <a:spAutoFit/>
          </a:bodyPr>
          <a:lstStyle/>
          <a:p>
            <a:pPr algn="l">
              <a:spcAft>
                <a:spcPts val="400"/>
              </a:spcAft>
            </a:pPr>
            <a:r>
              <a:rPr sz="1050" b="0">
                <a:solidFill>
                  <a:srgbClr val="161B26"/>
                </a:solidFill>
                <a:latin typeface="Arial"/>
              </a:rPr>
              <a:t>Only the cash to pay for the shares</a:t>
            </a:r>
          </a:p>
        </p:txBody>
      </p:sp>
      <p:sp>
        <p:nvSpPr>
          <p:cNvPr id="38" name="TextBox 37"/>
          <p:cNvSpPr txBox="1"/>
          <p:nvPr/>
        </p:nvSpPr>
        <p:spPr>
          <a:xfrm>
            <a:off x="7260336" y="5695405"/>
            <a:ext cx="4059936" cy="540802"/>
          </a:xfrm>
          <a:prstGeom prst="rect">
            <a:avLst/>
          </a:prstGeom>
          <a:noFill/>
        </p:spPr>
        <p:txBody>
          <a:bodyPr wrap="square" anchor="ctr">
            <a:spAutoFit/>
          </a:bodyPr>
          <a:lstStyle/>
          <a:p>
            <a:pPr algn="l">
              <a:spcAft>
                <a:spcPts val="400"/>
              </a:spcAft>
            </a:pPr>
            <a:r>
              <a:rPr sz="1050" b="0">
                <a:solidFill>
                  <a:srgbClr val="161B26"/>
                </a:solidFill>
                <a:latin typeface="Arial"/>
              </a:rPr>
              <a:t>A margin account (Alpaca: $2,000+ equity); borrow fees on hard-to-borrow stocks (Alpaca: $0 on easy-to-borrow)</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Long and Short in Practice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'Long = buy, short = sell' is shorthand</a:t>
            </a:r>
          </a:p>
          <a:p>
            <a:pPr algn="l">
              <a:spcAft>
                <a:spcPts val="300"/>
              </a:spcAft>
            </a:pPr>
            <a:r>
              <a:rPr sz="1100" b="0">
                <a:solidFill>
                  <a:srgbClr val="5B6372"/>
                </a:solidFill>
                <a:latin typeface="Arial"/>
              </a:rPr>
              <a:t>Opening a long is a buy; opening a short is a sell. Selling shares you already own only closes the long - you go flat, not short.</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Pine Script (TradingView)</a:t>
            </a:r>
          </a:p>
          <a:p>
            <a:pPr algn="l">
              <a:spcAft>
                <a:spcPts val="300"/>
              </a:spcAft>
            </a:pPr>
            <a:r>
              <a:rPr sz="1100" b="0">
                <a:solidFill>
                  <a:srgbClr val="5B6372"/>
                </a:solidFill>
                <a:latin typeface="Arial"/>
              </a:rPr>
              <a:t>strategy.entry("Long", strategy.long) opens a buy; strategy.close("Long") sells back to flat; strategy.short opens a short.</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Trading Simulator</a:t>
            </a:r>
          </a:p>
          <a:p>
            <a:pPr algn="l">
              <a:spcAft>
                <a:spcPts val="300"/>
              </a:spcAft>
            </a:pPr>
            <a:r>
              <a:rPr sz="1100" b="0">
                <a:solidFill>
                  <a:srgbClr val="5B6372"/>
                </a:solidFill>
                <a:latin typeface="Arial"/>
              </a:rPr>
              <a:t>Most strategies are long-only: buy, then sell back to cash. 'RSI oversold / overbought' has an allow_short option that goes short above RSI 70.</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Pairs trading (Lab 14)</a:t>
            </a:r>
          </a:p>
          <a:p>
            <a:pPr algn="l">
              <a:spcAft>
                <a:spcPts val="300"/>
              </a:spcAft>
            </a:pPr>
            <a:r>
              <a:rPr sz="1100" b="0">
                <a:solidFill>
                  <a:srgbClr val="5B6372"/>
                </a:solidFill>
                <a:latin typeface="Arial"/>
              </a:rPr>
              <a:t>Long the cheap stock and short the rich one at the same time: the trade profits from the gap closing, whichever way the market moves.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Families at a Glance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Trend following</a:t>
            </a:r>
          </a:p>
          <a:p>
            <a:pPr algn="l">
              <a:spcAft>
                <a:spcPts val="300"/>
              </a:spcAft>
            </a:pPr>
            <a:r>
              <a:rPr sz="1000" b="0">
                <a:solidFill>
                  <a:srgbClr val="5B6372"/>
                </a:solidFill>
                <a:latin typeface="Arial"/>
              </a:rPr>
              <a:t>Rides sustained moves in the direction of the trend; cuts losers quickly  -  e.g. Buy when the 50-day moving average crosses above the 200-day</a:t>
            </a:r>
          </a:p>
        </p:txBody>
      </p:sp>
      <p:sp>
        <p:nvSpPr>
          <p:cNvPr id="15" name="Rectangle 14"/>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3063240"/>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Mean reversion</a:t>
            </a:r>
          </a:p>
          <a:p>
            <a:pPr algn="l">
              <a:spcAft>
                <a:spcPts val="300"/>
              </a:spcAft>
            </a:pPr>
            <a:r>
              <a:rPr sz="1000" b="0">
                <a:solidFill>
                  <a:srgbClr val="5B6372"/>
                </a:solidFill>
                <a:latin typeface="Arial"/>
              </a:rPr>
              <a:t>Bets that prices stretched far from their average will snap back  -  e.g. Buy when price closes below the lower Bollinger Band (20-day, 2 std dev)</a:t>
            </a:r>
          </a:p>
        </p:txBody>
      </p:sp>
      <p:sp>
        <p:nvSpPr>
          <p:cNvPr id="20" name="Rectangle 19"/>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Momentum and breakout</a:t>
            </a:r>
          </a:p>
          <a:p>
            <a:pPr algn="l">
              <a:spcAft>
                <a:spcPts val="300"/>
              </a:spcAft>
            </a:pPr>
            <a:r>
              <a:rPr sz="1000" b="0">
                <a:solidFill>
                  <a:srgbClr val="5B6372"/>
                </a:solidFill>
                <a:latin typeface="Arial"/>
              </a:rPr>
              <a:t>Buys recent winners or prices breaking out of a range, expecting them to keep going  -  e.g. Buy on a close above the 20-day high (Donchian channel breakout)</a:t>
            </a:r>
          </a:p>
        </p:txBody>
      </p:sp>
      <p:sp>
        <p:nvSpPr>
          <p:cNvPr id="25" name="Rectangle 24"/>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5367528"/>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Statistical / pairs arbitrage</a:t>
            </a:r>
          </a:p>
          <a:p>
            <a:pPr algn="l">
              <a:spcAft>
                <a:spcPts val="300"/>
              </a:spcAft>
            </a:pPr>
            <a:r>
              <a:rPr sz="1000" b="0">
                <a:solidFill>
                  <a:srgbClr val="5B6372"/>
                </a:solidFill>
                <a:latin typeface="Arial"/>
              </a:rPr>
              <a:t>Trades the spread between two related assets when it drifts from its normal level  -  e.g. Short the rich leg, buy the cheap leg when the spread z-score exceeds 2</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Families at a Glance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Execution algorithms</a:t>
            </a:r>
          </a:p>
          <a:p>
            <a:pPr algn="l">
              <a:spcAft>
                <a:spcPts val="300"/>
              </a:spcAft>
            </a:pPr>
            <a:r>
              <a:rPr sz="1000" b="0">
                <a:solidFill>
                  <a:srgbClr val="5B6372"/>
                </a:solidFill>
                <a:latin typeface="Arial"/>
              </a:rPr>
              <a:t>Split a large order to minimise cost and market impact: VWAP, TWAP, POV, implementation shortfall  -  e.g. POV: trade 10% of market volume until the order is filled</a:t>
            </a:r>
          </a:p>
        </p:txBody>
      </p:sp>
      <p:sp>
        <p:nvSpPr>
          <p:cNvPr id="15" name="Rectangle 14"/>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3063240"/>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Market making</a:t>
            </a:r>
          </a:p>
          <a:p>
            <a:pPr algn="l">
              <a:spcAft>
                <a:spcPts val="300"/>
              </a:spcAft>
            </a:pPr>
            <a:r>
              <a:rPr sz="1000" b="0">
                <a:solidFill>
                  <a:srgbClr val="5B6372"/>
                </a:solidFill>
                <a:latin typeface="Arial"/>
              </a:rPr>
              <a:t>Continuously quotes buy and sell prices, earning the spread while managing inventory  -  e.g. Quote bid and ask around mid-price; skew quotes as inventory builds</a:t>
            </a:r>
          </a:p>
        </p:txBody>
      </p:sp>
      <p:sp>
        <p:nvSpPr>
          <p:cNvPr id="20" name="Rectangle 19"/>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Index rebalancing / event-driven</a:t>
            </a:r>
          </a:p>
          <a:p>
            <a:pPr algn="l">
              <a:spcAft>
                <a:spcPts val="300"/>
              </a:spcAft>
            </a:pPr>
            <a:r>
              <a:rPr sz="1000" b="0">
                <a:solidFill>
                  <a:srgbClr val="5B6372"/>
                </a:solidFill>
                <a:latin typeface="Arial"/>
              </a:rPr>
              <a:t>Trades predictable flows around index changes, earnings and corporate events  -  e.g. Position ahead of announced index inclusions on the rebalance date</a:t>
            </a:r>
          </a:p>
        </p:txBody>
      </p:sp>
      <p:sp>
        <p:nvSpPr>
          <p:cNvPr id="25" name="Rectangle 24"/>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5367528"/>
            <a:ext cx="9427464" cy="731520"/>
          </a:xfrm>
          <a:prstGeom prst="rect">
            <a:avLst/>
          </a:prstGeom>
          <a:noFill/>
        </p:spPr>
        <p:txBody>
          <a:bodyPr wrap="square" anchor="ctr">
            <a:spAutoFit/>
          </a:bodyPr>
          <a:lstStyle/>
          <a:p>
            <a:pPr algn="l">
              <a:spcAft>
                <a:spcPts val="300"/>
              </a:spcAft>
            </a:pPr>
            <a:r>
              <a:rPr sz="1400" b="1">
                <a:solidFill>
                  <a:srgbClr val="161B26"/>
                </a:solidFill>
                <a:latin typeface="Arial"/>
              </a:rPr>
              <a:t>Sentiment / NLP</a:t>
            </a:r>
          </a:p>
          <a:p>
            <a:pPr algn="l">
              <a:spcAft>
                <a:spcPts val="300"/>
              </a:spcAft>
            </a:pPr>
            <a:r>
              <a:rPr sz="1000" b="0">
                <a:solidFill>
                  <a:srgbClr val="5B6372"/>
                </a:solidFill>
                <a:latin typeface="Arial"/>
              </a:rPr>
              <a:t>Turns news, filings and social media text into trading signals using NLP or LLMs  -  e.g. Go long when the average FinBERT headline sentiment is strongly positive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Family: Trend Following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3361944"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336194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923032" cy="548640"/>
          </a:xfrm>
          <a:prstGeom prst="rect">
            <a:avLst/>
          </a:prstGeom>
          <a:noFill/>
        </p:spPr>
        <p:txBody>
          <a:bodyPr wrap="square" anchor="t">
            <a:spAutoFit/>
          </a:bodyPr>
          <a:lstStyle/>
          <a:p>
            <a:pPr algn="l">
              <a:spcAft>
                <a:spcPts val="400"/>
              </a:spcAft>
            </a:pPr>
            <a:r>
              <a:rPr sz="1600" b="1">
                <a:solidFill>
                  <a:srgbClr val="1F6FEB"/>
                </a:solidFill>
                <a:latin typeface="Arial"/>
              </a:rPr>
              <a:t>The idea</a:t>
            </a:r>
          </a:p>
        </p:txBody>
      </p:sp>
      <p:sp>
        <p:nvSpPr>
          <p:cNvPr id="10" name="TextBox 9"/>
          <p:cNvSpPr txBox="1"/>
          <p:nvPr/>
        </p:nvSpPr>
        <p:spPr>
          <a:xfrm>
            <a:off x="996696"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Prices that have started to move tend to keep moving. Buy when a fast average is above a slow one (or price is above its 200-day average); exit when the trend turns.</a:t>
            </a:r>
          </a:p>
        </p:txBody>
      </p:sp>
      <p:sp>
        <p:nvSpPr>
          <p:cNvPr id="11" name="Rectangle 10"/>
          <p:cNvSpPr/>
          <p:nvPr/>
        </p:nvSpPr>
        <p:spPr>
          <a:xfrm>
            <a:off x="4413504" y="1965960"/>
            <a:ext cx="3361944"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965960"/>
            <a:ext cx="336194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2960" y="2331720"/>
            <a:ext cx="2923032" cy="548640"/>
          </a:xfrm>
          <a:prstGeom prst="rect">
            <a:avLst/>
          </a:prstGeom>
          <a:noFill/>
        </p:spPr>
        <p:txBody>
          <a:bodyPr wrap="square" anchor="t">
            <a:spAutoFit/>
          </a:bodyPr>
          <a:lstStyle/>
          <a:p>
            <a:pPr algn="l">
              <a:spcAft>
                <a:spcPts val="400"/>
              </a:spcAft>
            </a:pPr>
            <a:r>
              <a:rPr sz="1600" b="1">
                <a:solidFill>
                  <a:srgbClr val="10B981"/>
                </a:solidFill>
                <a:latin typeface="Arial"/>
              </a:rPr>
              <a:t>When it works</a:t>
            </a:r>
          </a:p>
        </p:txBody>
      </p:sp>
      <p:sp>
        <p:nvSpPr>
          <p:cNvPr id="14" name="TextBox 13"/>
          <p:cNvSpPr txBox="1"/>
          <p:nvPr/>
        </p:nvSpPr>
        <p:spPr>
          <a:xfrm>
            <a:off x="4632960"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Long, persistent moves - bull or bear markets, macro trends lasting months. A few big winners pay for many small losses.</a:t>
            </a:r>
          </a:p>
        </p:txBody>
      </p:sp>
      <p:sp>
        <p:nvSpPr>
          <p:cNvPr id="15" name="Rectangle 14"/>
          <p:cNvSpPr/>
          <p:nvPr/>
        </p:nvSpPr>
        <p:spPr>
          <a:xfrm>
            <a:off x="8049768" y="1965960"/>
            <a:ext cx="3361944"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9768" y="1965960"/>
            <a:ext cx="336194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9224" y="2331720"/>
            <a:ext cx="2923032" cy="548640"/>
          </a:xfrm>
          <a:prstGeom prst="rect">
            <a:avLst/>
          </a:prstGeom>
          <a:noFill/>
        </p:spPr>
        <p:txBody>
          <a:bodyPr wrap="square" anchor="t">
            <a:spAutoFit/>
          </a:bodyPr>
          <a:lstStyle/>
          <a:p>
            <a:pPr algn="l">
              <a:spcAft>
                <a:spcPts val="400"/>
              </a:spcAft>
            </a:pPr>
            <a:r>
              <a:rPr sz="1600" b="1">
                <a:solidFill>
                  <a:srgbClr val="7C3AED"/>
                </a:solidFill>
                <a:latin typeface="Arial"/>
              </a:rPr>
              <a:t>When it will not work</a:t>
            </a:r>
          </a:p>
        </p:txBody>
      </p:sp>
      <p:sp>
        <p:nvSpPr>
          <p:cNvPr id="18" name="TextBox 17"/>
          <p:cNvSpPr txBox="1"/>
          <p:nvPr/>
        </p:nvSpPr>
        <p:spPr>
          <a:xfrm>
            <a:off x="8269224"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Sideways, choppy markets: price crosses the averages again and again (whipsaws), every crossing costs money, and signals arrive late at turns.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
        <p:nvSpPr>
          <p:cNvPr id="22" name="Rectangle 21"/>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25" name="Rectangle 24"/>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669280"/>
            <a:ext cx="91440" cy="548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669280"/>
            <a:ext cx="10058400" cy="548640"/>
          </a:xfrm>
          <a:prstGeom prst="rect">
            <a:avLst/>
          </a:prstGeom>
          <a:noFill/>
        </p:spPr>
        <p:txBody>
          <a:bodyPr wrap="square" anchor="ctr">
            <a:spAutoFit/>
          </a:bodyPr>
          <a:lstStyle/>
          <a:p>
            <a:pPr algn="l">
              <a:spcAft>
                <a:spcPts val="400"/>
              </a:spcAft>
            </a:pPr>
            <a:r>
              <a:rPr sz="1300" b="1">
                <a:solidFill>
                  <a:srgbClr val="161B26"/>
                </a:solidFill>
                <a:latin typeface="Arial"/>
              </a:rPr>
              <a:t>Lab 7: EMA 20/50 on SPY</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Family: Mean Reversion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3361944"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336194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923032" cy="548640"/>
          </a:xfrm>
          <a:prstGeom prst="rect">
            <a:avLst/>
          </a:prstGeom>
          <a:noFill/>
        </p:spPr>
        <p:txBody>
          <a:bodyPr wrap="square" anchor="t">
            <a:spAutoFit/>
          </a:bodyPr>
          <a:lstStyle/>
          <a:p>
            <a:pPr algn="l">
              <a:spcAft>
                <a:spcPts val="400"/>
              </a:spcAft>
            </a:pPr>
            <a:r>
              <a:rPr sz="1600" b="1">
                <a:solidFill>
                  <a:srgbClr val="1F6FEB"/>
                </a:solidFill>
                <a:latin typeface="Arial"/>
              </a:rPr>
              <a:t>The idea</a:t>
            </a:r>
          </a:p>
        </p:txBody>
      </p:sp>
      <p:sp>
        <p:nvSpPr>
          <p:cNvPr id="10" name="TextBox 9"/>
          <p:cNvSpPr txBox="1"/>
          <p:nvPr/>
        </p:nvSpPr>
        <p:spPr>
          <a:xfrm>
            <a:off x="996696"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Like a rubber band, short-term over-reactions snap back. Buy when price is stretched below its normal range (lower Bollinger Band, RSI(2) below 10) and sell when it returns to the average.</a:t>
            </a:r>
          </a:p>
        </p:txBody>
      </p:sp>
      <p:sp>
        <p:nvSpPr>
          <p:cNvPr id="11" name="Rectangle 10"/>
          <p:cNvSpPr/>
          <p:nvPr/>
        </p:nvSpPr>
        <p:spPr>
          <a:xfrm>
            <a:off x="4413504" y="1965960"/>
            <a:ext cx="3361944"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965960"/>
            <a:ext cx="336194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2960" y="2331720"/>
            <a:ext cx="2923032" cy="548640"/>
          </a:xfrm>
          <a:prstGeom prst="rect">
            <a:avLst/>
          </a:prstGeom>
          <a:noFill/>
        </p:spPr>
        <p:txBody>
          <a:bodyPr wrap="square" anchor="t">
            <a:spAutoFit/>
          </a:bodyPr>
          <a:lstStyle/>
          <a:p>
            <a:pPr algn="l">
              <a:spcAft>
                <a:spcPts val="400"/>
              </a:spcAft>
            </a:pPr>
            <a:r>
              <a:rPr sz="1600" b="1">
                <a:solidFill>
                  <a:srgbClr val="10B981"/>
                </a:solidFill>
                <a:latin typeface="Arial"/>
              </a:rPr>
              <a:t>When it works</a:t>
            </a:r>
          </a:p>
        </p:txBody>
      </p:sp>
      <p:sp>
        <p:nvSpPr>
          <p:cNvPr id="14" name="TextBox 13"/>
          <p:cNvSpPr txBox="1"/>
          <p:nvPr/>
        </p:nvSpPr>
        <p:spPr>
          <a:xfrm>
            <a:off x="4632960"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Range-bound, liquid markets and stable large stocks, where extremes tend to snap back within days.</a:t>
            </a:r>
          </a:p>
        </p:txBody>
      </p:sp>
      <p:sp>
        <p:nvSpPr>
          <p:cNvPr id="15" name="Rectangle 14"/>
          <p:cNvSpPr/>
          <p:nvPr/>
        </p:nvSpPr>
        <p:spPr>
          <a:xfrm>
            <a:off x="8049768" y="1965960"/>
            <a:ext cx="3361944"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9768" y="1965960"/>
            <a:ext cx="336194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9224" y="2331720"/>
            <a:ext cx="2923032" cy="548640"/>
          </a:xfrm>
          <a:prstGeom prst="rect">
            <a:avLst/>
          </a:prstGeom>
          <a:noFill/>
        </p:spPr>
        <p:txBody>
          <a:bodyPr wrap="square" anchor="t">
            <a:spAutoFit/>
          </a:bodyPr>
          <a:lstStyle/>
          <a:p>
            <a:pPr algn="l">
              <a:spcAft>
                <a:spcPts val="400"/>
              </a:spcAft>
            </a:pPr>
            <a:r>
              <a:rPr sz="1600" b="1">
                <a:solidFill>
                  <a:srgbClr val="7C3AED"/>
                </a:solidFill>
                <a:latin typeface="Arial"/>
              </a:rPr>
              <a:t>When it will not work</a:t>
            </a:r>
          </a:p>
        </p:txBody>
      </p:sp>
      <p:sp>
        <p:nvSpPr>
          <p:cNvPr id="18" name="TextBox 17"/>
          <p:cNvSpPr txBox="1"/>
          <p:nvPr/>
        </p:nvSpPr>
        <p:spPr>
          <a:xfrm>
            <a:off x="8269224"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A real trend or a news shock: 'cheap' keeps getting cheaper. A high win rate hides rare large losses - as in March 2020.</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
        <p:nvSpPr>
          <p:cNvPr id="22" name="Rectangle 21"/>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25" name="Rectangle 24"/>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669280"/>
            <a:ext cx="91440" cy="548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669280"/>
            <a:ext cx="10058400" cy="548640"/>
          </a:xfrm>
          <a:prstGeom prst="rect">
            <a:avLst/>
          </a:prstGeom>
          <a:noFill/>
        </p:spPr>
        <p:txBody>
          <a:bodyPr wrap="square" anchor="ctr">
            <a:spAutoFit/>
          </a:bodyPr>
          <a:lstStyle/>
          <a:p>
            <a:pPr algn="l">
              <a:spcAft>
                <a:spcPts val="400"/>
              </a:spcAft>
            </a:pPr>
            <a:r>
              <a:rPr sz="1300" b="1">
                <a:solidFill>
                  <a:srgbClr val="161B26"/>
                </a:solidFill>
                <a:latin typeface="Arial"/>
              </a:rPr>
              <a:t>Lab 7: Bollinger 20 / k = 2.0 and 1.5 on KO</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Mean Reversion Rules in the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Buy when 'too low'</a:t>
            </a: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Exit</a:t>
            </a:r>
          </a:p>
        </p:txBody>
      </p:sp>
      <p:sp>
        <p:nvSpPr>
          <p:cNvPr id="14" name="Rectangle 13"/>
          <p:cNvSpPr/>
          <p:nvPr/>
        </p:nvSpPr>
        <p:spPr>
          <a:xfrm>
            <a:off x="777240" y="2286000"/>
            <a:ext cx="10634472" cy="9669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Bollinger Band mean reversion</a:t>
            </a:r>
          </a:p>
        </p:txBody>
      </p:sp>
      <p:sp>
        <p:nvSpPr>
          <p:cNvPr id="16" name="TextBox 15"/>
          <p:cNvSpPr txBox="1"/>
          <p:nvPr/>
        </p:nvSpPr>
        <p:spPr>
          <a:xfrm>
            <a:off x="3017520" y="228600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Close below the lower band (20-day mean - 2 standard deviations)</a:t>
            </a:r>
          </a:p>
        </p:txBody>
      </p:sp>
      <p:sp>
        <p:nvSpPr>
          <p:cNvPr id="17" name="TextBox 16"/>
          <p:cNvSpPr txBox="1"/>
          <p:nvPr/>
        </p:nvSpPr>
        <p:spPr>
          <a:xfrm>
            <a:off x="7260336" y="228600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Price returns to the middle band (the 20-day mean)</a:t>
            </a:r>
          </a:p>
        </p:txBody>
      </p:sp>
      <p:sp>
        <p:nvSpPr>
          <p:cNvPr id="18" name="TextBox 17"/>
          <p:cNvSpPr txBox="1"/>
          <p:nvPr/>
        </p:nvSpPr>
        <p:spPr>
          <a:xfrm>
            <a:off x="886968" y="328041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RSI oversold / overbought</a:t>
            </a:r>
          </a:p>
        </p:txBody>
      </p:sp>
      <p:sp>
        <p:nvSpPr>
          <p:cNvPr id="19" name="TextBox 18"/>
          <p:cNvSpPr txBox="1"/>
          <p:nvPr/>
        </p:nvSpPr>
        <p:spPr>
          <a:xfrm>
            <a:off x="3017520" y="328041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RSI(14) below 30 - oversold</a:t>
            </a:r>
          </a:p>
        </p:txBody>
      </p:sp>
      <p:sp>
        <p:nvSpPr>
          <p:cNvPr id="20" name="TextBox 19"/>
          <p:cNvSpPr txBox="1"/>
          <p:nvPr/>
        </p:nvSpPr>
        <p:spPr>
          <a:xfrm>
            <a:off x="7260336" y="328041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RSI(14) above 70 - overbought</a:t>
            </a:r>
          </a:p>
        </p:txBody>
      </p:sp>
      <p:sp>
        <p:nvSpPr>
          <p:cNvPr id="21" name="Rectangle 20"/>
          <p:cNvSpPr/>
          <p:nvPr/>
        </p:nvSpPr>
        <p:spPr>
          <a:xfrm>
            <a:off x="777240" y="4274820"/>
            <a:ext cx="10634472" cy="9669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4274820"/>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RSI(2) mean reversion</a:t>
            </a:r>
          </a:p>
        </p:txBody>
      </p:sp>
      <p:sp>
        <p:nvSpPr>
          <p:cNvPr id="23" name="TextBox 22"/>
          <p:cNvSpPr txBox="1"/>
          <p:nvPr/>
        </p:nvSpPr>
        <p:spPr>
          <a:xfrm>
            <a:off x="3017520" y="4274820"/>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RSI(2) below 10 - a sharp 1-2 day drop</a:t>
            </a:r>
          </a:p>
        </p:txBody>
      </p:sp>
      <p:sp>
        <p:nvSpPr>
          <p:cNvPr id="24" name="TextBox 23"/>
          <p:cNvSpPr txBox="1"/>
          <p:nvPr/>
        </p:nvSpPr>
        <p:spPr>
          <a:xfrm>
            <a:off x="7260336" y="4274820"/>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RSI(2) above 70 - the bounce</a:t>
            </a:r>
          </a:p>
        </p:txBody>
      </p:sp>
      <p:sp>
        <p:nvSpPr>
          <p:cNvPr id="25" name="TextBox 24"/>
          <p:cNvSpPr txBox="1"/>
          <p:nvPr/>
        </p:nvSpPr>
        <p:spPr>
          <a:xfrm>
            <a:off x="886968" y="5269229"/>
            <a:ext cx="1965960" cy="966977"/>
          </a:xfrm>
          <a:prstGeom prst="rect">
            <a:avLst/>
          </a:prstGeom>
          <a:noFill/>
        </p:spPr>
        <p:txBody>
          <a:bodyPr wrap="square" anchor="ctr">
            <a:spAutoFit/>
          </a:bodyPr>
          <a:lstStyle/>
          <a:p>
            <a:pPr algn="l">
              <a:spcAft>
                <a:spcPts val="400"/>
              </a:spcAft>
            </a:pPr>
            <a:r>
              <a:rPr sz="1150" b="1">
                <a:solidFill>
                  <a:srgbClr val="161B26"/>
                </a:solidFill>
                <a:latin typeface="Arial"/>
              </a:rPr>
              <a:t>Dip buy after a losing streak</a:t>
            </a:r>
          </a:p>
        </p:txBody>
      </p:sp>
      <p:sp>
        <p:nvSpPr>
          <p:cNvPr id="26" name="TextBox 25"/>
          <p:cNvSpPr txBox="1"/>
          <p:nvPr/>
        </p:nvSpPr>
        <p:spPr>
          <a:xfrm>
            <a:off x="3017520" y="5269229"/>
            <a:ext cx="4014216" cy="966977"/>
          </a:xfrm>
          <a:prstGeom prst="rect">
            <a:avLst/>
          </a:prstGeom>
          <a:noFill/>
        </p:spPr>
        <p:txBody>
          <a:bodyPr wrap="square" anchor="ctr">
            <a:spAutoFit/>
          </a:bodyPr>
          <a:lstStyle/>
          <a:p>
            <a:pPr algn="l">
              <a:spcAft>
                <a:spcPts val="400"/>
              </a:spcAft>
            </a:pPr>
            <a:r>
              <a:rPr sz="1050" b="0">
                <a:solidFill>
                  <a:srgbClr val="161B26"/>
                </a:solidFill>
                <a:latin typeface="Arial"/>
              </a:rPr>
              <a:t>3 or more down closes in a row (the Lab 4 hypothesis)</a:t>
            </a:r>
          </a:p>
        </p:txBody>
      </p:sp>
      <p:sp>
        <p:nvSpPr>
          <p:cNvPr id="27" name="TextBox 26"/>
          <p:cNvSpPr txBox="1"/>
          <p:nvPr/>
        </p:nvSpPr>
        <p:spPr>
          <a:xfrm>
            <a:off x="7260336" y="5269229"/>
            <a:ext cx="4059936" cy="966977"/>
          </a:xfrm>
          <a:prstGeom prst="rect">
            <a:avLst/>
          </a:prstGeom>
          <a:noFill/>
        </p:spPr>
        <p:txBody>
          <a:bodyPr wrap="square" anchor="ctr">
            <a:spAutoFit/>
          </a:bodyPr>
          <a:lstStyle/>
          <a:p>
            <a:pPr algn="l">
              <a:spcAft>
                <a:spcPts val="400"/>
              </a:spcAft>
            </a:pPr>
            <a:r>
              <a:rPr sz="1050" b="0">
                <a:solidFill>
                  <a:srgbClr val="161B26"/>
                </a:solidFill>
                <a:latin typeface="Arial"/>
              </a:rPr>
              <a:t>After the holding horizon, e.g. the next day</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Mean Reversion versus Trend Following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Mean reversion</a:t>
            </a: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Trend following / momentum</a:t>
            </a:r>
          </a:p>
        </p:txBody>
      </p:sp>
      <p:sp>
        <p:nvSpPr>
          <p:cNvPr id="14" name="Rectangle 13"/>
          <p:cNvSpPr/>
          <p:nvPr/>
        </p:nvSpPr>
        <p:spPr>
          <a:xfrm>
            <a:off x="777240" y="228600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Belief</a:t>
            </a:r>
          </a:p>
        </p:txBody>
      </p:sp>
      <p:sp>
        <p:nvSpPr>
          <p:cNvPr id="16" name="TextBox 15"/>
          <p:cNvSpPr txBox="1"/>
          <p:nvPr/>
        </p:nvSpPr>
        <p:spPr>
          <a:xfrm>
            <a:off x="3017520" y="228600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Extremes snap back to the average</a:t>
            </a:r>
          </a:p>
        </p:txBody>
      </p:sp>
      <p:sp>
        <p:nvSpPr>
          <p:cNvPr id="17" name="TextBox 16"/>
          <p:cNvSpPr txBox="1"/>
          <p:nvPr/>
        </p:nvSpPr>
        <p:spPr>
          <a:xfrm>
            <a:off x="7260336" y="228600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What is moving keeps moving</a:t>
            </a:r>
          </a:p>
        </p:txBody>
      </p:sp>
      <p:sp>
        <p:nvSpPr>
          <p:cNvPr id="18" name="TextBox 17"/>
          <p:cNvSpPr txBox="1"/>
          <p:nvPr/>
        </p:nvSpPr>
        <p:spPr>
          <a:xfrm>
            <a:off x="886968" y="294894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After a big drop</a:t>
            </a:r>
          </a:p>
        </p:txBody>
      </p:sp>
      <p:sp>
        <p:nvSpPr>
          <p:cNvPr id="19" name="TextBox 18"/>
          <p:cNvSpPr txBox="1"/>
          <p:nvPr/>
        </p:nvSpPr>
        <p:spPr>
          <a:xfrm>
            <a:off x="3017520" y="294894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Buy</a:t>
            </a:r>
          </a:p>
        </p:txBody>
      </p:sp>
      <p:sp>
        <p:nvSpPr>
          <p:cNvPr id="20" name="TextBox 19"/>
          <p:cNvSpPr txBox="1"/>
          <p:nvPr/>
        </p:nvSpPr>
        <p:spPr>
          <a:xfrm>
            <a:off x="7260336" y="294894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Sell or stay out</a:t>
            </a:r>
          </a:p>
        </p:txBody>
      </p:sp>
      <p:sp>
        <p:nvSpPr>
          <p:cNvPr id="21" name="Rectangle 20"/>
          <p:cNvSpPr/>
          <p:nvPr/>
        </p:nvSpPr>
        <p:spPr>
          <a:xfrm>
            <a:off x="777240" y="361188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61188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Works best in</a:t>
            </a:r>
          </a:p>
        </p:txBody>
      </p:sp>
      <p:sp>
        <p:nvSpPr>
          <p:cNvPr id="23" name="TextBox 22"/>
          <p:cNvSpPr txBox="1"/>
          <p:nvPr/>
        </p:nvSpPr>
        <p:spPr>
          <a:xfrm>
            <a:off x="3017520" y="361188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Range-bound, sideways markets</a:t>
            </a:r>
          </a:p>
        </p:txBody>
      </p:sp>
      <p:sp>
        <p:nvSpPr>
          <p:cNvPr id="24" name="TextBox 23"/>
          <p:cNvSpPr txBox="1"/>
          <p:nvPr/>
        </p:nvSpPr>
        <p:spPr>
          <a:xfrm>
            <a:off x="7260336" y="361188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Strongly trending markets</a:t>
            </a:r>
          </a:p>
        </p:txBody>
      </p:sp>
      <p:sp>
        <p:nvSpPr>
          <p:cNvPr id="25" name="TextBox 24"/>
          <p:cNvSpPr txBox="1"/>
          <p:nvPr/>
        </p:nvSpPr>
        <p:spPr>
          <a:xfrm>
            <a:off x="886968" y="427482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Typical horizon</a:t>
            </a:r>
          </a:p>
        </p:txBody>
      </p:sp>
      <p:sp>
        <p:nvSpPr>
          <p:cNvPr id="26" name="TextBox 25"/>
          <p:cNvSpPr txBox="1"/>
          <p:nvPr/>
        </p:nvSpPr>
        <p:spPr>
          <a:xfrm>
            <a:off x="3017520" y="427482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Short: days</a:t>
            </a:r>
          </a:p>
        </p:txBody>
      </p:sp>
      <p:sp>
        <p:nvSpPr>
          <p:cNvPr id="27" name="TextBox 26"/>
          <p:cNvSpPr txBox="1"/>
          <p:nvPr/>
        </p:nvSpPr>
        <p:spPr>
          <a:xfrm>
            <a:off x="7260336" y="427482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Longer: weeks to months</a:t>
            </a:r>
          </a:p>
        </p:txBody>
      </p:sp>
      <p:sp>
        <p:nvSpPr>
          <p:cNvPr id="28" name="Rectangle 27"/>
          <p:cNvSpPr/>
          <p:nvPr/>
        </p:nvSpPr>
        <p:spPr>
          <a:xfrm>
            <a:off x="777240" y="4937760"/>
            <a:ext cx="10634472" cy="6355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93776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Win rate</a:t>
            </a:r>
          </a:p>
        </p:txBody>
      </p:sp>
      <p:sp>
        <p:nvSpPr>
          <p:cNvPr id="30" name="TextBox 29"/>
          <p:cNvSpPr txBox="1"/>
          <p:nvPr/>
        </p:nvSpPr>
        <p:spPr>
          <a:xfrm>
            <a:off x="3017520" y="493776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High - many small wins</a:t>
            </a:r>
          </a:p>
        </p:txBody>
      </p:sp>
      <p:sp>
        <p:nvSpPr>
          <p:cNvPr id="31" name="TextBox 30"/>
          <p:cNvSpPr txBox="1"/>
          <p:nvPr/>
        </p:nvSpPr>
        <p:spPr>
          <a:xfrm>
            <a:off x="7260336" y="493776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Low - few but large wins</a:t>
            </a:r>
          </a:p>
        </p:txBody>
      </p:sp>
      <p:sp>
        <p:nvSpPr>
          <p:cNvPr id="32" name="TextBox 31"/>
          <p:cNvSpPr txBox="1"/>
          <p:nvPr/>
        </p:nvSpPr>
        <p:spPr>
          <a:xfrm>
            <a:off x="886968" y="5600700"/>
            <a:ext cx="1965960" cy="635508"/>
          </a:xfrm>
          <a:prstGeom prst="rect">
            <a:avLst/>
          </a:prstGeom>
          <a:noFill/>
        </p:spPr>
        <p:txBody>
          <a:bodyPr wrap="square" anchor="ctr">
            <a:spAutoFit/>
          </a:bodyPr>
          <a:lstStyle/>
          <a:p>
            <a:pPr algn="l">
              <a:spcAft>
                <a:spcPts val="400"/>
              </a:spcAft>
            </a:pPr>
            <a:r>
              <a:rPr sz="1150" b="1">
                <a:solidFill>
                  <a:srgbClr val="161B26"/>
                </a:solidFill>
                <a:latin typeface="Arial"/>
              </a:rPr>
              <a:t>Main danger</a:t>
            </a:r>
          </a:p>
        </p:txBody>
      </p:sp>
      <p:sp>
        <p:nvSpPr>
          <p:cNvPr id="33" name="TextBox 32"/>
          <p:cNvSpPr txBox="1"/>
          <p:nvPr/>
        </p:nvSpPr>
        <p:spPr>
          <a:xfrm>
            <a:off x="3017520" y="5600700"/>
            <a:ext cx="4014216" cy="635508"/>
          </a:xfrm>
          <a:prstGeom prst="rect">
            <a:avLst/>
          </a:prstGeom>
          <a:noFill/>
        </p:spPr>
        <p:txBody>
          <a:bodyPr wrap="square" anchor="ctr">
            <a:spAutoFit/>
          </a:bodyPr>
          <a:lstStyle/>
          <a:p>
            <a:pPr algn="l">
              <a:spcAft>
                <a:spcPts val="400"/>
              </a:spcAft>
            </a:pPr>
            <a:r>
              <a:rPr sz="1050" b="0">
                <a:solidFill>
                  <a:srgbClr val="161B26"/>
                </a:solidFill>
                <a:latin typeface="Arial"/>
              </a:rPr>
              <a:t>A rare big loss when the dip becomes a crash</a:t>
            </a:r>
          </a:p>
        </p:txBody>
      </p:sp>
      <p:sp>
        <p:nvSpPr>
          <p:cNvPr id="34" name="TextBox 33"/>
          <p:cNvSpPr txBox="1"/>
          <p:nvPr/>
        </p:nvSpPr>
        <p:spPr>
          <a:xfrm>
            <a:off x="7260336" y="5600700"/>
            <a:ext cx="4059936" cy="635508"/>
          </a:xfrm>
          <a:prstGeom prst="rect">
            <a:avLst/>
          </a:prstGeom>
          <a:noFill/>
        </p:spPr>
        <p:txBody>
          <a:bodyPr wrap="square" anchor="ctr">
            <a:spAutoFit/>
          </a:bodyPr>
          <a:lstStyle/>
          <a:p>
            <a:pPr algn="l">
              <a:spcAft>
                <a:spcPts val="400"/>
              </a:spcAft>
            </a:pPr>
            <a:r>
              <a:rPr sz="1050" b="0">
                <a:solidFill>
                  <a:srgbClr val="161B26"/>
                </a:solidFill>
                <a:latin typeface="Arial"/>
              </a:rPr>
              <a:t>Many small losses in choppy markets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Mean Reversion: the Main Risk and Three Safeguards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2452878"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2452878"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013966" cy="548640"/>
          </a:xfrm>
          <a:prstGeom prst="rect">
            <a:avLst/>
          </a:prstGeom>
          <a:noFill/>
        </p:spPr>
        <p:txBody>
          <a:bodyPr wrap="square" anchor="t">
            <a:spAutoFit/>
          </a:bodyPr>
          <a:lstStyle/>
          <a:p>
            <a:pPr algn="l">
              <a:spcAft>
                <a:spcPts val="400"/>
              </a:spcAft>
            </a:pPr>
            <a:r>
              <a:rPr sz="1600" b="1">
                <a:solidFill>
                  <a:srgbClr val="1F6FEB"/>
                </a:solidFill>
                <a:latin typeface="Arial"/>
              </a:rPr>
              <a:t>The risk</a:t>
            </a:r>
          </a:p>
        </p:txBody>
      </p:sp>
      <p:sp>
        <p:nvSpPr>
          <p:cNvPr id="10" name="TextBox 9"/>
          <p:cNvSpPr txBox="1"/>
          <p:nvPr/>
        </p:nvSpPr>
        <p:spPr>
          <a:xfrm>
            <a:off x="996696" y="2926080"/>
            <a:ext cx="2013966" cy="2377440"/>
          </a:xfrm>
          <a:prstGeom prst="rect">
            <a:avLst/>
          </a:prstGeom>
          <a:noFill/>
        </p:spPr>
        <p:txBody>
          <a:bodyPr wrap="square" anchor="t">
            <a:spAutoFit/>
          </a:bodyPr>
          <a:lstStyle/>
          <a:p>
            <a:pPr algn="l">
              <a:spcAft>
                <a:spcPts val="400"/>
              </a:spcAft>
            </a:pPr>
            <a:r>
              <a:rPr sz="1200" b="0">
                <a:solidFill>
                  <a:srgbClr val="161B26"/>
                </a:solidFill>
                <a:latin typeface="Arial"/>
              </a:rPr>
              <a:t>The rule assumes the average holds. After a real change - a crash, bad news, a broken business - price does not come back: buying the dip becomes catching a falling knife.</a:t>
            </a:r>
          </a:p>
        </p:txBody>
      </p:sp>
      <p:sp>
        <p:nvSpPr>
          <p:cNvPr id="11" name="Rectangle 10"/>
          <p:cNvSpPr/>
          <p:nvPr/>
        </p:nvSpPr>
        <p:spPr>
          <a:xfrm>
            <a:off x="3504438" y="1965960"/>
            <a:ext cx="2452878"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04438" y="1965960"/>
            <a:ext cx="2452878"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23894" y="2331720"/>
            <a:ext cx="2013966" cy="548640"/>
          </a:xfrm>
          <a:prstGeom prst="rect">
            <a:avLst/>
          </a:prstGeom>
          <a:noFill/>
        </p:spPr>
        <p:txBody>
          <a:bodyPr wrap="square" anchor="t">
            <a:spAutoFit/>
          </a:bodyPr>
          <a:lstStyle/>
          <a:p>
            <a:pPr algn="l">
              <a:spcAft>
                <a:spcPts val="400"/>
              </a:spcAft>
            </a:pPr>
            <a:r>
              <a:rPr sz="1600" b="1">
                <a:solidFill>
                  <a:srgbClr val="10B981"/>
                </a:solidFill>
                <a:latin typeface="Arial"/>
              </a:rPr>
              <a:t>1  Stop-loss or time limit</a:t>
            </a:r>
          </a:p>
        </p:txBody>
      </p:sp>
      <p:sp>
        <p:nvSpPr>
          <p:cNvPr id="14" name="TextBox 13"/>
          <p:cNvSpPr txBox="1"/>
          <p:nvPr/>
        </p:nvSpPr>
        <p:spPr>
          <a:xfrm>
            <a:off x="3723894" y="2926080"/>
            <a:ext cx="2013966" cy="2377440"/>
          </a:xfrm>
          <a:prstGeom prst="rect">
            <a:avLst/>
          </a:prstGeom>
          <a:noFill/>
        </p:spPr>
        <p:txBody>
          <a:bodyPr wrap="square" anchor="t">
            <a:spAutoFit/>
          </a:bodyPr>
          <a:lstStyle/>
          <a:p>
            <a:pPr algn="l">
              <a:spcAft>
                <a:spcPts val="400"/>
              </a:spcAft>
            </a:pPr>
            <a:r>
              <a:rPr sz="1200" b="0">
                <a:solidFill>
                  <a:srgbClr val="161B26"/>
                </a:solidFill>
                <a:latin typeface="Arial"/>
              </a:rPr>
              <a:t>Cap the rare big loss: exit at a fixed loss, or after n days if the bounce has not come.</a:t>
            </a:r>
          </a:p>
        </p:txBody>
      </p:sp>
      <p:sp>
        <p:nvSpPr>
          <p:cNvPr id="15" name="Rectangle 14"/>
          <p:cNvSpPr/>
          <p:nvPr/>
        </p:nvSpPr>
        <p:spPr>
          <a:xfrm>
            <a:off x="6231636" y="1965960"/>
            <a:ext cx="2452878"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965960"/>
            <a:ext cx="245287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51092" y="2331720"/>
            <a:ext cx="2013966" cy="548640"/>
          </a:xfrm>
          <a:prstGeom prst="rect">
            <a:avLst/>
          </a:prstGeom>
          <a:noFill/>
        </p:spPr>
        <p:txBody>
          <a:bodyPr wrap="square" anchor="t">
            <a:spAutoFit/>
          </a:bodyPr>
          <a:lstStyle/>
          <a:p>
            <a:pPr algn="l">
              <a:spcAft>
                <a:spcPts val="400"/>
              </a:spcAft>
            </a:pPr>
            <a:r>
              <a:rPr sz="1600" b="1">
                <a:solidFill>
                  <a:srgbClr val="7C3AED"/>
                </a:solidFill>
                <a:latin typeface="Arial"/>
              </a:rPr>
              <a:t>2  Trend filter</a:t>
            </a:r>
          </a:p>
        </p:txBody>
      </p:sp>
      <p:sp>
        <p:nvSpPr>
          <p:cNvPr id="18" name="TextBox 17"/>
          <p:cNvSpPr txBox="1"/>
          <p:nvPr/>
        </p:nvSpPr>
        <p:spPr>
          <a:xfrm>
            <a:off x="6451092" y="2926080"/>
            <a:ext cx="2013966" cy="2377440"/>
          </a:xfrm>
          <a:prstGeom prst="rect">
            <a:avLst/>
          </a:prstGeom>
          <a:noFill/>
        </p:spPr>
        <p:txBody>
          <a:bodyPr wrap="square" anchor="t">
            <a:spAutoFit/>
          </a:bodyPr>
          <a:lstStyle/>
          <a:p>
            <a:pPr algn="l">
              <a:spcAft>
                <a:spcPts val="400"/>
              </a:spcAft>
            </a:pPr>
            <a:r>
              <a:rPr sz="1200" b="0">
                <a:solidFill>
                  <a:srgbClr val="161B26"/>
                </a:solidFill>
                <a:latin typeface="Arial"/>
              </a:rPr>
              <a:t>Only buy dips while price is above its 200-day SMA, so you are not buying into a bear market.</a:t>
            </a:r>
          </a:p>
        </p:txBody>
      </p:sp>
      <p:sp>
        <p:nvSpPr>
          <p:cNvPr id="19" name="Rectangle 18"/>
          <p:cNvSpPr/>
          <p:nvPr/>
        </p:nvSpPr>
        <p:spPr>
          <a:xfrm>
            <a:off x="8958834" y="1965960"/>
            <a:ext cx="2452878" cy="3566160"/>
          </a:xfrm>
          <a:prstGeom prst="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58834" y="1965960"/>
            <a:ext cx="2452878"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78290" y="2331720"/>
            <a:ext cx="2013966" cy="548640"/>
          </a:xfrm>
          <a:prstGeom prst="rect">
            <a:avLst/>
          </a:prstGeom>
          <a:noFill/>
        </p:spPr>
        <p:txBody>
          <a:bodyPr wrap="square" anchor="t">
            <a:spAutoFit/>
          </a:bodyPr>
          <a:lstStyle/>
          <a:p>
            <a:pPr algn="l">
              <a:spcAft>
                <a:spcPts val="400"/>
              </a:spcAft>
            </a:pPr>
            <a:r>
              <a:rPr sz="1600" b="1">
                <a:solidFill>
                  <a:srgbClr val="F59E0B"/>
                </a:solidFill>
                <a:latin typeface="Arial"/>
              </a:rPr>
              <a:t>3  Stable markets</a:t>
            </a:r>
          </a:p>
        </p:txBody>
      </p:sp>
      <p:sp>
        <p:nvSpPr>
          <p:cNvPr id="22" name="TextBox 21"/>
          <p:cNvSpPr txBox="1"/>
          <p:nvPr/>
        </p:nvSpPr>
        <p:spPr>
          <a:xfrm>
            <a:off x="9178290" y="2926080"/>
            <a:ext cx="2013966" cy="2377440"/>
          </a:xfrm>
          <a:prstGeom prst="rect">
            <a:avLst/>
          </a:prstGeom>
          <a:noFill/>
        </p:spPr>
        <p:txBody>
          <a:bodyPr wrap="square" anchor="t">
            <a:spAutoFit/>
          </a:bodyPr>
          <a:lstStyle/>
          <a:p>
            <a:pPr algn="l">
              <a:spcAft>
                <a:spcPts val="400"/>
              </a:spcAft>
            </a:pPr>
            <a:r>
              <a:rPr sz="1200" b="0">
                <a:solidFill>
                  <a:srgbClr val="161B26"/>
                </a:solidFill>
                <a:latin typeface="Arial"/>
              </a:rPr>
              <a:t>Liquid, defensive stocks such as KO, and pairs trading (Lab 14: the spread between two linked stocks) revert more reliably.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
        <p:nvSpPr>
          <p:cNvPr id="26" name="Rectangle 25"/>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29" name="Rectangle 28"/>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7240" y="5669280"/>
            <a:ext cx="91440" cy="548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97280" y="5669280"/>
            <a:ext cx="10058400" cy="548640"/>
          </a:xfrm>
          <a:prstGeom prst="rect">
            <a:avLst/>
          </a:prstGeom>
          <a:noFill/>
        </p:spPr>
        <p:txBody>
          <a:bodyPr wrap="square" anchor="ctr">
            <a:spAutoFit/>
          </a:bodyPr>
          <a:lstStyle/>
          <a:p>
            <a:pPr algn="l">
              <a:spcAft>
                <a:spcPts val="400"/>
              </a:spcAft>
            </a:pPr>
            <a:r>
              <a:rPr sz="1300" b="1">
                <a:solidFill>
                  <a:srgbClr val="161B26"/>
                </a:solidFill>
                <a:latin typeface="Arial"/>
              </a:rPr>
              <a:t>Lab 7: Bollinger on KO - high win rate, but losses larger than wins: many small wins, rare big losses.</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Family: Momentum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3361944"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336194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923032" cy="548640"/>
          </a:xfrm>
          <a:prstGeom prst="rect">
            <a:avLst/>
          </a:prstGeom>
          <a:noFill/>
        </p:spPr>
        <p:txBody>
          <a:bodyPr wrap="square" anchor="t">
            <a:spAutoFit/>
          </a:bodyPr>
          <a:lstStyle/>
          <a:p>
            <a:pPr algn="l">
              <a:spcAft>
                <a:spcPts val="400"/>
              </a:spcAft>
            </a:pPr>
            <a:r>
              <a:rPr sz="1600" b="1">
                <a:solidFill>
                  <a:srgbClr val="1F6FEB"/>
                </a:solidFill>
                <a:latin typeface="Arial"/>
              </a:rPr>
              <a:t>The idea</a:t>
            </a:r>
          </a:p>
        </p:txBody>
      </p:sp>
      <p:sp>
        <p:nvSpPr>
          <p:cNvPr id="10" name="TextBox 9"/>
          <p:cNvSpPr txBox="1"/>
          <p:nvPr/>
        </p:nvSpPr>
        <p:spPr>
          <a:xfrm>
            <a:off x="996696"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Winners keep winning for months. Buy what has risen over the last 6-12 months (time-series) or what has risen most among its peers (cross-sectional).</a:t>
            </a:r>
          </a:p>
        </p:txBody>
      </p:sp>
      <p:sp>
        <p:nvSpPr>
          <p:cNvPr id="11" name="Rectangle 10"/>
          <p:cNvSpPr/>
          <p:nvPr/>
        </p:nvSpPr>
        <p:spPr>
          <a:xfrm>
            <a:off x="4413504" y="1965960"/>
            <a:ext cx="3361944"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965960"/>
            <a:ext cx="336194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2960" y="2331720"/>
            <a:ext cx="2923032" cy="548640"/>
          </a:xfrm>
          <a:prstGeom prst="rect">
            <a:avLst/>
          </a:prstGeom>
          <a:noFill/>
        </p:spPr>
        <p:txBody>
          <a:bodyPr wrap="square" anchor="t">
            <a:spAutoFit/>
          </a:bodyPr>
          <a:lstStyle/>
          <a:p>
            <a:pPr algn="l">
              <a:spcAft>
                <a:spcPts val="400"/>
              </a:spcAft>
            </a:pPr>
            <a:r>
              <a:rPr sz="1600" b="1">
                <a:solidFill>
                  <a:srgbClr val="10B981"/>
                </a:solidFill>
                <a:latin typeface="Arial"/>
              </a:rPr>
              <a:t>When it works</a:t>
            </a:r>
          </a:p>
        </p:txBody>
      </p:sp>
      <p:sp>
        <p:nvSpPr>
          <p:cNvPr id="14" name="TextBox 13"/>
          <p:cNvSpPr txBox="1"/>
          <p:nvPr/>
        </p:nvSpPr>
        <p:spPr>
          <a:xfrm>
            <a:off x="4632960"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Persistent market or sector themes, spread across many assets and rebalanced regularly.</a:t>
            </a:r>
          </a:p>
        </p:txBody>
      </p:sp>
      <p:sp>
        <p:nvSpPr>
          <p:cNvPr id="15" name="Rectangle 14"/>
          <p:cNvSpPr/>
          <p:nvPr/>
        </p:nvSpPr>
        <p:spPr>
          <a:xfrm>
            <a:off x="8049768" y="1965960"/>
            <a:ext cx="3361944"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9768" y="1965960"/>
            <a:ext cx="336194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9224" y="2331720"/>
            <a:ext cx="2923032" cy="548640"/>
          </a:xfrm>
          <a:prstGeom prst="rect">
            <a:avLst/>
          </a:prstGeom>
          <a:noFill/>
        </p:spPr>
        <p:txBody>
          <a:bodyPr wrap="square" anchor="t">
            <a:spAutoFit/>
          </a:bodyPr>
          <a:lstStyle/>
          <a:p>
            <a:pPr algn="l">
              <a:spcAft>
                <a:spcPts val="400"/>
              </a:spcAft>
            </a:pPr>
            <a:r>
              <a:rPr sz="1600" b="1">
                <a:solidFill>
                  <a:srgbClr val="7C3AED"/>
                </a:solidFill>
                <a:latin typeface="Arial"/>
              </a:rPr>
              <a:t>When it will not work</a:t>
            </a:r>
          </a:p>
        </p:txBody>
      </p:sp>
      <p:sp>
        <p:nvSpPr>
          <p:cNvPr id="18" name="TextBox 17"/>
          <p:cNvSpPr txBox="1"/>
          <p:nvPr/>
        </p:nvSpPr>
        <p:spPr>
          <a:xfrm>
            <a:off x="8269224"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Sharp reversals - 'momentum crashes' such as the 2009 rebound, when last year's losers rally hardest - and choppy markets that churn the portfolio.</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
        <p:nvSpPr>
          <p:cNvPr id="22" name="Rectangle 21"/>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25" name="Rectangle 24"/>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669280"/>
            <a:ext cx="91440" cy="548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669280"/>
            <a:ext cx="10058400" cy="548640"/>
          </a:xfrm>
          <a:prstGeom prst="rect">
            <a:avLst/>
          </a:prstGeom>
          <a:noFill/>
        </p:spPr>
        <p:txBody>
          <a:bodyPr wrap="square" anchor="ctr">
            <a:spAutoFit/>
          </a:bodyPr>
          <a:lstStyle/>
          <a:p>
            <a:pPr algn="l">
              <a:spcAft>
                <a:spcPts val="400"/>
              </a:spcAft>
            </a:pPr>
            <a:r>
              <a:rPr sz="1300" b="1">
                <a:solidFill>
                  <a:srgbClr val="161B26"/>
                </a:solidFill>
                <a:latin typeface="Arial"/>
              </a:rPr>
              <a:t>Lab 7: 126-day time-series momentum on QQQ</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 · STRATEGY FAMILIES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Strategy Family: Breakout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3361944"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3361944"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2923032" cy="548640"/>
          </a:xfrm>
          <a:prstGeom prst="rect">
            <a:avLst/>
          </a:prstGeom>
          <a:noFill/>
        </p:spPr>
        <p:txBody>
          <a:bodyPr wrap="square" anchor="t">
            <a:spAutoFit/>
          </a:bodyPr>
          <a:lstStyle/>
          <a:p>
            <a:pPr algn="l">
              <a:spcAft>
                <a:spcPts val="400"/>
              </a:spcAft>
            </a:pPr>
            <a:r>
              <a:rPr sz="1600" b="1">
                <a:solidFill>
                  <a:srgbClr val="1F6FEB"/>
                </a:solidFill>
                <a:latin typeface="Arial"/>
              </a:rPr>
              <a:t>The idea</a:t>
            </a:r>
          </a:p>
        </p:txBody>
      </p:sp>
      <p:sp>
        <p:nvSpPr>
          <p:cNvPr id="10" name="TextBox 9"/>
          <p:cNvSpPr txBox="1"/>
          <p:nvPr/>
        </p:nvSpPr>
        <p:spPr>
          <a:xfrm>
            <a:off x="996696"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A close above the recent range (for example the 20-day high, the Donchian channel) signals the start of a new move: buy the breakout, exit on a shorter low.</a:t>
            </a:r>
          </a:p>
        </p:txBody>
      </p:sp>
      <p:sp>
        <p:nvSpPr>
          <p:cNvPr id="11" name="Rectangle 10"/>
          <p:cNvSpPr/>
          <p:nvPr/>
        </p:nvSpPr>
        <p:spPr>
          <a:xfrm>
            <a:off x="4413504" y="1965960"/>
            <a:ext cx="3361944"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965960"/>
            <a:ext cx="3361944"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2960" y="2331720"/>
            <a:ext cx="2923032" cy="548640"/>
          </a:xfrm>
          <a:prstGeom prst="rect">
            <a:avLst/>
          </a:prstGeom>
          <a:noFill/>
        </p:spPr>
        <p:txBody>
          <a:bodyPr wrap="square" anchor="t">
            <a:spAutoFit/>
          </a:bodyPr>
          <a:lstStyle/>
          <a:p>
            <a:pPr algn="l">
              <a:spcAft>
                <a:spcPts val="400"/>
              </a:spcAft>
            </a:pPr>
            <a:r>
              <a:rPr sz="1600" b="1">
                <a:solidFill>
                  <a:srgbClr val="10B981"/>
                </a:solidFill>
                <a:latin typeface="Arial"/>
              </a:rPr>
              <a:t>When it works</a:t>
            </a:r>
          </a:p>
        </p:txBody>
      </p:sp>
      <p:sp>
        <p:nvSpPr>
          <p:cNvPr id="14" name="TextBox 13"/>
          <p:cNvSpPr txBox="1"/>
          <p:nvPr/>
        </p:nvSpPr>
        <p:spPr>
          <a:xfrm>
            <a:off x="4632960"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Volatility expanding after a quiet period and a new trend starting - indices and commodities in strong regimes.</a:t>
            </a:r>
          </a:p>
        </p:txBody>
      </p:sp>
      <p:sp>
        <p:nvSpPr>
          <p:cNvPr id="15" name="Rectangle 14"/>
          <p:cNvSpPr/>
          <p:nvPr/>
        </p:nvSpPr>
        <p:spPr>
          <a:xfrm>
            <a:off x="8049768" y="1965960"/>
            <a:ext cx="3361944" cy="3566160"/>
          </a:xfrm>
          <a:prstGeom prst="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9768" y="1965960"/>
            <a:ext cx="3361944"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69224" y="2331720"/>
            <a:ext cx="2923032" cy="548640"/>
          </a:xfrm>
          <a:prstGeom prst="rect">
            <a:avLst/>
          </a:prstGeom>
          <a:noFill/>
        </p:spPr>
        <p:txBody>
          <a:bodyPr wrap="square" anchor="t">
            <a:spAutoFit/>
          </a:bodyPr>
          <a:lstStyle/>
          <a:p>
            <a:pPr algn="l">
              <a:spcAft>
                <a:spcPts val="400"/>
              </a:spcAft>
            </a:pPr>
            <a:r>
              <a:rPr sz="1600" b="1">
                <a:solidFill>
                  <a:srgbClr val="7C3AED"/>
                </a:solidFill>
                <a:latin typeface="Arial"/>
              </a:rPr>
              <a:t>When it will not work</a:t>
            </a:r>
          </a:p>
        </p:txBody>
      </p:sp>
      <p:sp>
        <p:nvSpPr>
          <p:cNvPr id="18" name="TextBox 17"/>
          <p:cNvSpPr txBox="1"/>
          <p:nvPr/>
        </p:nvSpPr>
        <p:spPr>
          <a:xfrm>
            <a:off x="8269224" y="2926080"/>
            <a:ext cx="2923032" cy="2377440"/>
          </a:xfrm>
          <a:prstGeom prst="rect">
            <a:avLst/>
          </a:prstGeom>
          <a:noFill/>
        </p:spPr>
        <p:txBody>
          <a:bodyPr wrap="square" anchor="t">
            <a:spAutoFit/>
          </a:bodyPr>
          <a:lstStyle/>
          <a:p>
            <a:pPr algn="l">
              <a:spcAft>
                <a:spcPts val="400"/>
              </a:spcAft>
            </a:pPr>
            <a:r>
              <a:rPr sz="1200" b="0">
                <a:solidFill>
                  <a:srgbClr val="161B26"/>
                </a:solidFill>
                <a:latin typeface="Arial"/>
              </a:rPr>
              <a:t>False breakouts in a range: price pokes above the high and falls back. A low win rate, so exits must be disciplined and costs kept low.</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
        <p:nvSpPr>
          <p:cNvPr id="22" name="Rectangle 21"/>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sp>
        <p:nvSpPr>
          <p:cNvPr id="25" name="Rectangle 24"/>
          <p:cNvSpPr/>
          <p:nvPr/>
        </p:nvSpPr>
        <p:spPr>
          <a:xfrm>
            <a:off x="777240" y="5669280"/>
            <a:ext cx="10634472" cy="5486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669280"/>
            <a:ext cx="91440" cy="5486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669280"/>
            <a:ext cx="10058400" cy="548640"/>
          </a:xfrm>
          <a:prstGeom prst="rect">
            <a:avLst/>
          </a:prstGeom>
          <a:noFill/>
        </p:spPr>
        <p:txBody>
          <a:bodyPr wrap="square" anchor="ctr">
            <a:spAutoFit/>
          </a:bodyPr>
          <a:lstStyle/>
          <a:p>
            <a:pPr algn="l">
              <a:spcAft>
                <a:spcPts val="400"/>
              </a:spcAft>
            </a:pPr>
            <a:r>
              <a:rPr sz="1300" b="1">
                <a:solidFill>
                  <a:srgbClr val="161B26"/>
                </a:solidFill>
                <a:latin typeface="Arial"/>
              </a:rPr>
              <a:t>Lab 7: Donchian 20 / 10 on QQQ</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920240"/>
            <a:ext cx="9692640" cy="365760"/>
          </a:xfrm>
          <a:prstGeom prst="rect">
            <a:avLst/>
          </a:prstGeom>
          <a:noFill/>
        </p:spPr>
        <p:txBody>
          <a:bodyPr wrap="square" anchor="t">
            <a:spAutoFit/>
          </a:bodyPr>
          <a:lstStyle/>
          <a:p>
            <a:pPr algn="l">
              <a:spcAft>
                <a:spcPts val="400"/>
              </a:spcAft>
            </a:pPr>
            <a:r>
              <a:rPr sz="1400" b="1">
                <a:solidFill>
                  <a:srgbClr val="10B981"/>
                </a:solidFill>
                <a:latin typeface="Arial"/>
              </a:rPr>
              <a:t>TOPIC 2 · HOW THE ALGORITHMS WORK</a:t>
            </a:r>
          </a:p>
        </p:txBody>
      </p:sp>
      <p:sp>
        <p:nvSpPr>
          <p:cNvPr id="5" name="TextBox 4"/>
          <p:cNvSpPr txBox="1"/>
          <p:nvPr/>
        </p:nvSpPr>
        <p:spPr>
          <a:xfrm>
            <a:off x="1188720" y="2377440"/>
            <a:ext cx="9692640" cy="1645920"/>
          </a:xfrm>
          <a:prstGeom prst="rect">
            <a:avLst/>
          </a:prstGeom>
          <a:noFill/>
        </p:spPr>
        <p:txBody>
          <a:bodyPr wrap="square" anchor="t">
            <a:spAutoFit/>
          </a:bodyPr>
          <a:lstStyle/>
          <a:p>
            <a:pPr algn="l">
              <a:spcAft>
                <a:spcPts val="400"/>
              </a:spcAft>
            </a:pPr>
            <a:r>
              <a:rPr sz="3400" b="1">
                <a:solidFill>
                  <a:srgbClr val="161B26"/>
                </a:solidFill>
                <a:latin typeface="Arial"/>
              </a:rPr>
              <a:t>Concepts over code</a:t>
            </a:r>
          </a:p>
        </p:txBody>
      </p:sp>
      <p:sp>
        <p:nvSpPr>
          <p:cNvPr id="6" name="TextBox 5"/>
          <p:cNvSpPr txBox="1"/>
          <p:nvPr/>
        </p:nvSpPr>
        <p:spPr>
          <a:xfrm>
            <a:off x="1188720" y="4206240"/>
            <a:ext cx="9692640" cy="1097280"/>
          </a:xfrm>
          <a:prstGeom prst="rect">
            <a:avLst/>
          </a:prstGeom>
          <a:noFill/>
        </p:spPr>
        <p:txBody>
          <a:bodyPr wrap="square" anchor="t">
            <a:spAutoFit/>
          </a:bodyPr>
          <a:lstStyle/>
          <a:p>
            <a:pPr algn="l">
              <a:spcAft>
                <a:spcPts val="400"/>
              </a:spcAft>
            </a:pPr>
            <a:r>
              <a:rPr sz="1600" b="0">
                <a:solidFill>
                  <a:srgbClr val="5B6372"/>
                </a:solidFill>
                <a:latin typeface="Arial"/>
              </a:rPr>
              <a:t>Every algorithm below is coded for you - by the simulator or an AI assistant. Learn what it does, when it works and what can go wrong; let AI handle the syntax.</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Algorithm: Moving-Average Crossover (Trend Following)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ma_crossover.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Two moving averages of the close: a fast one reacts quickly, a slow one shows the trend.</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Fast crosses ABOVE slow (golden cross): buy. Fast crosses BELOW (death cross): sell or go flat.</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Markets trend for months - it rides the move and cuts losers when the trend turns.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Whipsaws in sideways markets; signals lag; trade on the next bar, not the crossing bar.</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Bollinger Band Mean Reversion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bollinger.png"/>
          <p:cNvPicPr>
            <a:picLocks noChangeAspect="1"/>
          </p:cNvPicPr>
          <p:nvPr/>
        </p:nvPicPr>
        <p:blipFill>
          <a:blip r:embed="rId2"/>
          <a:stretch>
            <a:fillRect/>
          </a:stretch>
        </p:blipFill>
        <p:spPr>
          <a:xfrm>
            <a:off x="777240" y="2394160"/>
            <a:ext cx="6172200" cy="3212678"/>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Bands = 20-day mean +/- 2 standard deviations. A close outside the band is 'stretched'.</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Close below the lower band: buy. Exit when the price returns to the middle band (the mean).</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Range-bound markets where over-reactions snap back, e.g. a defensive stock such as KO.</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Strong trends keep 'stretching' - add a stop-loss or a trend filter; many small wins, rare big losses.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RSI and MACD Momentum Oscillators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rsi_macd.png"/>
          <p:cNvPicPr>
            <a:picLocks noChangeAspect="1"/>
          </p:cNvPicPr>
          <p:nvPr/>
        </p:nvPicPr>
        <p:blipFill>
          <a:blip r:embed="rId2"/>
          <a:stretch>
            <a:fillRect/>
          </a:stretch>
        </p:blipFill>
        <p:spPr>
          <a:xfrm>
            <a:off x="777240" y="2012079"/>
            <a:ext cx="6172200" cy="397684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RSI = 100 - 100/(1+RS), RS = average gain / average loss over 14 bars. MACD = EMA12 - EMA26.</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RSI &lt; 30 oversold / &gt; 70 overbought. MACD crossing above its 9-EMA signal line = momentum buy.</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As filters or confirmation for a trend or mean-reversion rule, not as stand-alone predictors.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Oscillators can stay overbought in strong trends; RSI and MACD are highly correlated with price.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Cross-Sectional Momentum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momentum.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Rank a universe by past return (e.g. 12 months, skipping the last month) each month.</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Hold the top-ranked assets, avoid or short the bottom-ranked; rebalance monthly.</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Information spreads slowly and winners keep winning for several months.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Sharp 'momentum crashes' when markets reverse; turnover costs at every rebalance.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Donchian Channel Breakout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breakout.png"/>
          <p:cNvPicPr>
            <a:picLocks noChangeAspect="1"/>
          </p:cNvPicPr>
          <p:nvPr/>
        </p:nvPicPr>
        <p:blipFill>
          <a:blip r:embed="rId2"/>
          <a:stretch>
            <a:fillRect/>
          </a:stretch>
        </p:blipFill>
        <p:spPr>
          <a:xfrm>
            <a:off x="777240" y="2395728"/>
            <a:ext cx="6172200" cy="3209544"/>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Track the highest high and lowest low of the last n bars (n = 20 here).</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Close above the 20-day high: buy the breakout. Exit below the 20-day low (or a trailing stop).</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New trends start with a break of a range - the rule used by the 1980s 'Turtle Traders'.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False breakouts in choppy markets; the channel must use PREVIOUS bars only (no look-ahead).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VWAP and TWAP Execution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vwap_twap.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Split a large parent order into child orders through the day to reduce market impact.</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TWAP: equal slices per time interval. VWAP: slices proportional to the typical volume curve.</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Working client or fund orders too large to trade at once; benchmarked to the day's VWAP.</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VWAP relies on a volume forecast; both are predictable to other traders - add randomisation.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Market Making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K3</a:t>
            </a:r>
          </a:p>
        </p:txBody>
      </p:sp>
      <p:pic>
        <p:nvPicPr>
          <p:cNvPr id="10" name="Picture 9" descr="algo_market_making.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Quote a bid below and an ask above the mid price at the same time.</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Earn the spread when both sides fill; skew quotes down when long, up when short, to cut inventory.</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Liquid markets with steady two-way flow - the business of quant market makers.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Adverse selection by better-informed traders; inventory risk in fast moves; needs low latency.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K5 · PLATFORMS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TradingView versus Alpaca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K5</a:t>
            </a:r>
          </a:p>
        </p:txBody>
      </p:sp>
      <p:sp>
        <p:nvSpPr>
          <p:cNvPr id="10" name="Rectangle 9"/>
          <p:cNvSpPr/>
          <p:nvPr/>
        </p:nvSpPr>
        <p:spPr>
          <a:xfrm>
            <a:off x="2926080" y="1810512"/>
            <a:ext cx="42062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68896" y="1810512"/>
            <a:ext cx="4242816"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1810512"/>
            <a:ext cx="4206240" cy="420624"/>
          </a:xfrm>
          <a:prstGeom prst="rect">
            <a:avLst/>
          </a:prstGeom>
          <a:noFill/>
        </p:spPr>
        <p:txBody>
          <a:bodyPr wrap="square" anchor="ctr">
            <a:spAutoFit/>
          </a:bodyPr>
          <a:lstStyle/>
          <a:p>
            <a:pPr algn="ctr">
              <a:spcAft>
                <a:spcPts val="400"/>
              </a:spcAft>
            </a:pPr>
            <a:r>
              <a:rPr sz="1400" b="1">
                <a:solidFill>
                  <a:srgbClr val="FFFFFF"/>
                </a:solidFill>
                <a:latin typeface="Arial"/>
              </a:rPr>
              <a:t>TradingView</a:t>
            </a:r>
          </a:p>
        </p:txBody>
      </p:sp>
      <p:sp>
        <p:nvSpPr>
          <p:cNvPr id="13" name="TextBox 12"/>
          <p:cNvSpPr txBox="1"/>
          <p:nvPr/>
        </p:nvSpPr>
        <p:spPr>
          <a:xfrm>
            <a:off x="7168896" y="1810512"/>
            <a:ext cx="4242816" cy="420624"/>
          </a:xfrm>
          <a:prstGeom prst="rect">
            <a:avLst/>
          </a:prstGeom>
          <a:noFill/>
        </p:spPr>
        <p:txBody>
          <a:bodyPr wrap="square" anchor="ctr">
            <a:spAutoFit/>
          </a:bodyPr>
          <a:lstStyle/>
          <a:p>
            <a:pPr algn="ctr">
              <a:spcAft>
                <a:spcPts val="400"/>
              </a:spcAft>
            </a:pPr>
            <a:r>
              <a:rPr sz="1400" b="1">
                <a:solidFill>
                  <a:srgbClr val="FFFFFF"/>
                </a:solidFill>
                <a:latin typeface="Arial"/>
              </a:rPr>
              <a:t>Alpaca</a:t>
            </a:r>
          </a:p>
        </p:txBody>
      </p:sp>
      <p:sp>
        <p:nvSpPr>
          <p:cNvPr id="14" name="Rectangle 13"/>
          <p:cNvSpPr/>
          <p:nvPr/>
        </p:nvSpPr>
        <p:spPr>
          <a:xfrm>
            <a:off x="777240" y="2286000"/>
            <a:ext cx="10634472" cy="4145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228600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What it is</a:t>
            </a:r>
          </a:p>
        </p:txBody>
      </p:sp>
      <p:sp>
        <p:nvSpPr>
          <p:cNvPr id="16" name="TextBox 15"/>
          <p:cNvSpPr txBox="1"/>
          <p:nvPr/>
        </p:nvSpPr>
        <p:spPr>
          <a:xfrm>
            <a:off x="3017520" y="228600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Charting and strategy-design platform</a:t>
            </a:r>
          </a:p>
        </p:txBody>
      </p:sp>
      <p:sp>
        <p:nvSpPr>
          <p:cNvPr id="17" name="TextBox 16"/>
          <p:cNvSpPr txBox="1"/>
          <p:nvPr/>
        </p:nvSpPr>
        <p:spPr>
          <a:xfrm>
            <a:off x="7260336" y="228600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API-first US broker for automated trading</a:t>
            </a:r>
          </a:p>
        </p:txBody>
      </p:sp>
      <p:sp>
        <p:nvSpPr>
          <p:cNvPr id="18" name="TextBox 17"/>
          <p:cNvSpPr txBox="1"/>
          <p:nvPr/>
        </p:nvSpPr>
        <p:spPr>
          <a:xfrm>
            <a:off x="886968" y="272796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Markets</a:t>
            </a:r>
          </a:p>
        </p:txBody>
      </p:sp>
      <p:sp>
        <p:nvSpPr>
          <p:cNvPr id="19" name="TextBox 18"/>
          <p:cNvSpPr txBox="1"/>
          <p:nvPr/>
        </p:nvSpPr>
        <p:spPr>
          <a:xfrm>
            <a:off x="3017520" y="272796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Global charts incl. SGX, US, FX, crypto</a:t>
            </a:r>
          </a:p>
        </p:txBody>
      </p:sp>
      <p:sp>
        <p:nvSpPr>
          <p:cNvPr id="20" name="TextBox 19"/>
          <p:cNvSpPr txBox="1"/>
          <p:nvPr/>
        </p:nvSpPr>
        <p:spPr>
          <a:xfrm>
            <a:off x="7260336" y="272796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US stocks and ETFs, options, crypto</a:t>
            </a:r>
          </a:p>
        </p:txBody>
      </p:sp>
      <p:sp>
        <p:nvSpPr>
          <p:cNvPr id="21" name="Rectangle 20"/>
          <p:cNvSpPr/>
          <p:nvPr/>
        </p:nvSpPr>
        <p:spPr>
          <a:xfrm>
            <a:off x="777240" y="3169920"/>
            <a:ext cx="10634472" cy="4145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16992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Strategy design</a:t>
            </a:r>
          </a:p>
        </p:txBody>
      </p:sp>
      <p:sp>
        <p:nvSpPr>
          <p:cNvPr id="23" name="TextBox 22"/>
          <p:cNvSpPr txBox="1"/>
          <p:nvPr/>
        </p:nvSpPr>
        <p:spPr>
          <a:xfrm>
            <a:off x="3017520" y="316992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Pine Script v6 indicators and strategies</a:t>
            </a:r>
          </a:p>
        </p:txBody>
      </p:sp>
      <p:sp>
        <p:nvSpPr>
          <p:cNvPr id="24" name="TextBox 23"/>
          <p:cNvSpPr txBox="1"/>
          <p:nvPr/>
        </p:nvSpPr>
        <p:spPr>
          <a:xfrm>
            <a:off x="7260336" y="316992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Through the API - in this course the Trading Simulator does it for you</a:t>
            </a:r>
          </a:p>
        </p:txBody>
      </p:sp>
      <p:sp>
        <p:nvSpPr>
          <p:cNvPr id="25" name="TextBox 24"/>
          <p:cNvSpPr txBox="1"/>
          <p:nvPr/>
        </p:nvSpPr>
        <p:spPr>
          <a:xfrm>
            <a:off x="886968" y="3611879"/>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Backtesting</a:t>
            </a:r>
          </a:p>
        </p:txBody>
      </p:sp>
      <p:sp>
        <p:nvSpPr>
          <p:cNvPr id="26" name="TextBox 25"/>
          <p:cNvSpPr txBox="1"/>
          <p:nvPr/>
        </p:nvSpPr>
        <p:spPr>
          <a:xfrm>
            <a:off x="3017520" y="3611879"/>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Strategy Tester (simplified costs and fills)</a:t>
            </a:r>
          </a:p>
        </p:txBody>
      </p:sp>
      <p:sp>
        <p:nvSpPr>
          <p:cNvPr id="27" name="TextBox 26"/>
          <p:cNvSpPr txBox="1"/>
          <p:nvPr/>
        </p:nvSpPr>
        <p:spPr>
          <a:xfrm>
            <a:off x="7260336" y="3611879"/>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None built in - the Trading Simulator runs the cost-aware backtest</a:t>
            </a:r>
          </a:p>
        </p:txBody>
      </p:sp>
      <p:sp>
        <p:nvSpPr>
          <p:cNvPr id="28" name="Rectangle 27"/>
          <p:cNvSpPr/>
          <p:nvPr/>
        </p:nvSpPr>
        <p:spPr>
          <a:xfrm>
            <a:off x="777240" y="4053840"/>
            <a:ext cx="10634472" cy="4145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05384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Paper trading</a:t>
            </a:r>
          </a:p>
        </p:txBody>
      </p:sp>
      <p:sp>
        <p:nvSpPr>
          <p:cNvPr id="30" name="TextBox 29"/>
          <p:cNvSpPr txBox="1"/>
          <p:nvPr/>
        </p:nvSpPr>
        <p:spPr>
          <a:xfrm>
            <a:off x="3017520" y="405384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Built-in Paper Trading account from the chart</a:t>
            </a:r>
          </a:p>
        </p:txBody>
      </p:sp>
      <p:sp>
        <p:nvSpPr>
          <p:cNvPr id="31" name="TextBox 30"/>
          <p:cNvSpPr txBox="1"/>
          <p:nvPr/>
        </p:nvSpPr>
        <p:spPr>
          <a:xfrm>
            <a:off x="7260336" y="405384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Paper account mirroring the live API</a:t>
            </a:r>
          </a:p>
        </p:txBody>
      </p:sp>
      <p:sp>
        <p:nvSpPr>
          <p:cNvPr id="32" name="TextBox 31"/>
          <p:cNvSpPr txBox="1"/>
          <p:nvPr/>
        </p:nvSpPr>
        <p:spPr>
          <a:xfrm>
            <a:off x="886968" y="4495799"/>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Automation</a:t>
            </a:r>
          </a:p>
        </p:txBody>
      </p:sp>
      <p:sp>
        <p:nvSpPr>
          <p:cNvPr id="33" name="TextBox 32"/>
          <p:cNvSpPr txBox="1"/>
          <p:nvPr/>
        </p:nvSpPr>
        <p:spPr>
          <a:xfrm>
            <a:off x="3017520" y="4495799"/>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Alerts; webhooks on paid plans</a:t>
            </a:r>
          </a:p>
        </p:txBody>
      </p:sp>
      <p:sp>
        <p:nvSpPr>
          <p:cNvPr id="34" name="TextBox 33"/>
          <p:cNvSpPr txBox="1"/>
          <p:nvPr/>
        </p:nvSpPr>
        <p:spPr>
          <a:xfrm>
            <a:off x="7260336" y="4495799"/>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Trading API: orders, positions, clock; 24/5 trading</a:t>
            </a:r>
          </a:p>
        </p:txBody>
      </p:sp>
      <p:sp>
        <p:nvSpPr>
          <p:cNvPr id="35" name="Rectangle 34"/>
          <p:cNvSpPr/>
          <p:nvPr/>
        </p:nvSpPr>
        <p:spPr>
          <a:xfrm>
            <a:off x="777240" y="4937759"/>
            <a:ext cx="10634472" cy="4145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 y="4937759"/>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Data</a:t>
            </a:r>
          </a:p>
        </p:txBody>
      </p:sp>
      <p:sp>
        <p:nvSpPr>
          <p:cNvPr id="37" name="TextBox 36"/>
          <p:cNvSpPr txBox="1"/>
          <p:nvPr/>
        </p:nvSpPr>
        <p:spPr>
          <a:xfrm>
            <a:off x="3017520" y="4937759"/>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Charts and Data Window</a:t>
            </a:r>
          </a:p>
        </p:txBody>
      </p:sp>
      <p:sp>
        <p:nvSpPr>
          <p:cNvPr id="38" name="TextBox 37"/>
          <p:cNvSpPr txBox="1"/>
          <p:nvPr/>
        </p:nvSpPr>
        <p:spPr>
          <a:xfrm>
            <a:off x="7260336" y="4937759"/>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Market Data API: bars, quotes, trades, news (IEX free)</a:t>
            </a:r>
          </a:p>
        </p:txBody>
      </p:sp>
      <p:sp>
        <p:nvSpPr>
          <p:cNvPr id="39" name="TextBox 38"/>
          <p:cNvSpPr txBox="1"/>
          <p:nvPr/>
        </p:nvSpPr>
        <p:spPr>
          <a:xfrm>
            <a:off x="886968" y="537972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Machine learning</a:t>
            </a:r>
          </a:p>
        </p:txBody>
      </p:sp>
      <p:sp>
        <p:nvSpPr>
          <p:cNvPr id="40" name="TextBox 39"/>
          <p:cNvSpPr txBox="1"/>
          <p:nvPr/>
        </p:nvSpPr>
        <p:spPr>
          <a:xfrm>
            <a:off x="3017520" y="537972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Not supported</a:t>
            </a:r>
          </a:p>
        </p:txBody>
      </p:sp>
      <p:sp>
        <p:nvSpPr>
          <p:cNvPr id="41" name="TextBox 40"/>
          <p:cNvSpPr txBox="1"/>
          <p:nvPr/>
        </p:nvSpPr>
        <p:spPr>
          <a:xfrm>
            <a:off x="7260336" y="537972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Through code - in this course the Trading Simulator has built-in logistic regression, random forest and XGBoost</a:t>
            </a:r>
          </a:p>
        </p:txBody>
      </p:sp>
      <p:sp>
        <p:nvSpPr>
          <p:cNvPr id="42" name="Rectangle 41"/>
          <p:cNvSpPr/>
          <p:nvPr/>
        </p:nvSpPr>
        <p:spPr>
          <a:xfrm>
            <a:off x="777240" y="5821680"/>
            <a:ext cx="10634472" cy="41452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86968" y="5821680"/>
            <a:ext cx="1965960" cy="414527"/>
          </a:xfrm>
          <a:prstGeom prst="rect">
            <a:avLst/>
          </a:prstGeom>
          <a:noFill/>
        </p:spPr>
        <p:txBody>
          <a:bodyPr wrap="square" anchor="ctr">
            <a:spAutoFit/>
          </a:bodyPr>
          <a:lstStyle/>
          <a:p>
            <a:pPr algn="l">
              <a:spcAft>
                <a:spcPts val="400"/>
              </a:spcAft>
            </a:pPr>
            <a:r>
              <a:rPr sz="1150" b="1">
                <a:solidFill>
                  <a:srgbClr val="161B26"/>
                </a:solidFill>
                <a:latin typeface="Arial"/>
              </a:rPr>
              <a:t>Best used for</a:t>
            </a:r>
          </a:p>
        </p:txBody>
      </p:sp>
      <p:sp>
        <p:nvSpPr>
          <p:cNvPr id="44" name="TextBox 43"/>
          <p:cNvSpPr txBox="1"/>
          <p:nvPr/>
        </p:nvSpPr>
        <p:spPr>
          <a:xfrm>
            <a:off x="3017520" y="5821680"/>
            <a:ext cx="4014216" cy="414527"/>
          </a:xfrm>
          <a:prstGeom prst="rect">
            <a:avLst/>
          </a:prstGeom>
          <a:noFill/>
        </p:spPr>
        <p:txBody>
          <a:bodyPr wrap="square" anchor="ctr">
            <a:spAutoFit/>
          </a:bodyPr>
          <a:lstStyle/>
          <a:p>
            <a:pPr algn="l">
              <a:spcAft>
                <a:spcPts val="400"/>
              </a:spcAft>
            </a:pPr>
            <a:r>
              <a:rPr sz="1050" b="0">
                <a:solidFill>
                  <a:srgbClr val="161B26"/>
                </a:solidFill>
                <a:latin typeface="Arial"/>
              </a:rPr>
              <a:t>Designing, visualising and first-testing a rule</a:t>
            </a:r>
          </a:p>
        </p:txBody>
      </p:sp>
      <p:sp>
        <p:nvSpPr>
          <p:cNvPr id="45" name="TextBox 44"/>
          <p:cNvSpPr txBox="1"/>
          <p:nvPr/>
        </p:nvSpPr>
        <p:spPr>
          <a:xfrm>
            <a:off x="7260336" y="5821680"/>
            <a:ext cx="4059936" cy="414527"/>
          </a:xfrm>
          <a:prstGeom prst="rect">
            <a:avLst/>
          </a:prstGeom>
          <a:noFill/>
        </p:spPr>
        <p:txBody>
          <a:bodyPr wrap="square" anchor="ctr">
            <a:spAutoFit/>
          </a:bodyPr>
          <a:lstStyle/>
          <a:p>
            <a:pPr algn="l">
              <a:spcAft>
                <a:spcPts val="400"/>
              </a:spcAft>
            </a:pPr>
            <a:r>
              <a:rPr sz="1050" b="0">
                <a:solidFill>
                  <a:srgbClr val="161B26"/>
                </a:solidFill>
                <a:latin typeface="Arial"/>
              </a:rPr>
              <a:t>Executing and forward-testing it automatically</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K5 · PAPER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Paper Trading on TradingView,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K5</a:t>
            </a: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Full step-by-step guide: Learner Guide, 'Platform Guides'.</a:t>
            </a:r>
          </a:p>
        </p:txBody>
      </p:sp>
      <p:sp>
        <p:nvSpPr>
          <p:cNvPr id="11" name="Rectangle 10"/>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9253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Supercharts &gt; Trade &gt; Paper Trading &gt; Connect</a:t>
            </a:r>
          </a:p>
        </p:txBody>
      </p:sp>
      <p:sp>
        <p:nvSpPr>
          <p:cNvPr id="16" name="TextBox 15"/>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7" name="Rectangle 16"/>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95372"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010662"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Set starting capital and commission</a:t>
            </a:r>
          </a:p>
        </p:txBody>
      </p:sp>
      <p:sp>
        <p:nvSpPr>
          <p:cNvPr id="22" name="TextBox 21"/>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3" name="Rectangle 22"/>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13504"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828794"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Order ticket: side, quantity, Market / Limit / Stop</a:t>
            </a:r>
          </a:p>
        </p:txBody>
      </p:sp>
      <p:sp>
        <p:nvSpPr>
          <p:cNvPr id="28" name="TextBox 27"/>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9" name="Rectangle 28"/>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31636"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646926"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Add stop loss and take profit; place order</a:t>
            </a:r>
          </a:p>
        </p:txBody>
      </p:sp>
      <p:sp>
        <p:nvSpPr>
          <p:cNvPr id="34" name="TextBox 33"/>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5" name="Rectangle 34"/>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49768"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465058"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Track Positions, Orders, Account History</a:t>
            </a:r>
          </a:p>
        </p:txBody>
      </p:sp>
      <p:sp>
        <p:nvSpPr>
          <p:cNvPr id="40" name="TextBox 39"/>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41" name="Rectangle 40"/>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86790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28319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5" name="TextBox 44"/>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Close the position; reset when done</a:t>
            </a:r>
          </a:p>
        </p:txBody>
      </p:sp>
      <p:sp>
        <p:nvSpPr>
          <p:cNvPr id="46" name="Rectangle 4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Paper fills use TradingView's prices but cannot show your own market impact - compare them with the backtest's assumed costs.</a:t>
            </a:r>
          </a:p>
        </p:txBody>
      </p:sp>
      <p:sp>
        <p:nvSpPr>
          <p:cNvPr id="49" name="TextBox 4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50" name="TextBox 4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1" name="TextBox 5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K5 · PAPER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Paper Trading on Alpaca, Step by Step - Manual and Automated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K5</a:t>
            </a: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Full step-by-step guide: Learner Guide, 'Platform Guides'.</a:t>
            </a:r>
          </a:p>
        </p:txBody>
      </p:sp>
      <p:sp>
        <p:nvSpPr>
          <p:cNvPr id="11" name="Rectangle 10"/>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9253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Dashboard: Paper account &gt; search SPY &gt; Buy</a:t>
            </a:r>
          </a:p>
        </p:txBody>
      </p:sp>
      <p:sp>
        <p:nvSpPr>
          <p:cNvPr id="16" name="TextBox 15"/>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7" name="Rectangle 16"/>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95372"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010662"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Watch Orders: new &gt; accepted &gt; filled</a:t>
            </a:r>
          </a:p>
        </p:txBody>
      </p:sp>
      <p:sp>
        <p:nvSpPr>
          <p:cNvPr id="22" name="TextBox 21"/>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3" name="Rectangle 22"/>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13504"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828794"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Outside US hours: extended-hours LIMIT orders</a:t>
            </a:r>
          </a:p>
        </p:txBody>
      </p:sp>
      <p:sp>
        <p:nvSpPr>
          <p:cNvPr id="28" name="TextBox 27"/>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9" name="Rectangle 28"/>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31636"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646926"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Simulator: Paper Trading &gt; Order ticket</a:t>
            </a:r>
          </a:p>
        </p:txBody>
      </p:sp>
      <p:sp>
        <p:nvSpPr>
          <p:cNvPr id="34" name="TextBox 33"/>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5" name="Rectangle 34"/>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49768"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465058"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Simulator: + New bot &gt; Start</a:t>
            </a:r>
          </a:p>
        </p:txBody>
      </p:sp>
      <p:sp>
        <p:nvSpPr>
          <p:cNvPr id="40" name="TextBox 39"/>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41" name="Rectangle 40"/>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86790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28319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5" name="TextBox 44"/>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Check dashboard; kill switch to stop</a:t>
            </a:r>
          </a:p>
        </p:txBody>
      </p:sp>
      <p:sp>
        <p:nvSpPr>
          <p:cNvPr id="46" name="Rectangle 4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From Singapore the US regular session is 21:30-04:00 (22:30-05:00 in northern winter); class-time orders use Alpaca's 24/5 extended-hours limit orders.</a:t>
            </a:r>
          </a:p>
        </p:txBody>
      </p:sp>
      <p:sp>
        <p:nvSpPr>
          <p:cNvPr id="49" name="TextBox 4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50" name="TextBox 4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1" name="TextBox 5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K7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Order Lifecycle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K7</a:t>
            </a: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A program must read the status — never assume a fill.</a:t>
            </a:r>
          </a:p>
        </p:txBody>
      </p:sp>
      <p:sp>
        <p:nvSpPr>
          <p:cNvPr id="11" name="Rectangle 10"/>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374343"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new</a:t>
            </a:r>
          </a:p>
        </p:txBody>
      </p:sp>
      <p:sp>
        <p:nvSpPr>
          <p:cNvPr id="16" name="TextBox 15"/>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7" name="Rectangle 16"/>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58998"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556101"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accepted</a:t>
            </a:r>
          </a:p>
        </p:txBody>
      </p:sp>
      <p:sp>
        <p:nvSpPr>
          <p:cNvPr id="22" name="TextBox 21"/>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3" name="Rectangle 22"/>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140756"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737859"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partially filled</a:t>
            </a:r>
          </a:p>
        </p:txBody>
      </p:sp>
      <p:sp>
        <p:nvSpPr>
          <p:cNvPr id="28" name="TextBox 27"/>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9" name="Rectangle 28"/>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22514"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919617"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filled</a:t>
            </a:r>
          </a:p>
        </p:txBody>
      </p:sp>
      <p:sp>
        <p:nvSpPr>
          <p:cNvPr id="34" name="TextBox 33"/>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5" name="Rectangle 34"/>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04272" y="2240280"/>
            <a:ext cx="1907438"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101375"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cancelled / expired / rejected</a:t>
            </a:r>
          </a:p>
        </p:txBody>
      </p:sp>
      <p:sp>
        <p:nvSpPr>
          <p:cNvPr id="40" name="Rectangle 39"/>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Bracket orders protect a position even if your program stops running.</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A3</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From Idea to Tested Rule on TradingView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10B981"/>
                </a:solidFill>
                <a:latin typeface="Arial"/>
              </a:rPr>
              <a:t>A3</a:t>
            </a:r>
          </a:p>
        </p:txBody>
      </p:sp>
      <p:sp>
        <p:nvSpPr>
          <p:cNvPr id="10" name="Rectangle 9"/>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9253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Chart the instrument and timeframe</a:t>
            </a:r>
          </a:p>
        </p:txBody>
      </p:sp>
      <p:sp>
        <p:nvSpPr>
          <p:cNvPr id="15" name="TextBox 14"/>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16" name="Rectangle 15"/>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95372"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010662"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Add indicators (Pine)</a:t>
            </a:r>
          </a:p>
        </p:txBody>
      </p:sp>
      <p:sp>
        <p:nvSpPr>
          <p:cNvPr id="21" name="TextBox 20"/>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2" name="Rectangle 21"/>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3504"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828794"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Paste the exported strategy() script</a:t>
            </a:r>
          </a:p>
        </p:txBody>
      </p:sp>
      <p:sp>
        <p:nvSpPr>
          <p:cNvPr id="27" name="TextBox 26"/>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28" name="Rectangle 27"/>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1636"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646926"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Set commission and slippage</a:t>
            </a:r>
          </a:p>
        </p:txBody>
      </p:sp>
      <p:sp>
        <p:nvSpPr>
          <p:cNvPr id="33" name="TextBox 32"/>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34" name="Rectangle 33"/>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49768"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465058"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Read the Strategy Tester</a:t>
            </a:r>
          </a:p>
        </p:txBody>
      </p:sp>
      <p:sp>
        <p:nvSpPr>
          <p:cNvPr id="39" name="TextBox 38"/>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10B981"/>
                </a:solidFill>
                <a:latin typeface="Arial"/>
              </a:rPr>
              <a:t>▶</a:t>
            </a:r>
          </a:p>
        </p:txBody>
      </p:sp>
      <p:sp>
        <p:nvSpPr>
          <p:cNvPr id="40" name="Rectangle 39"/>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867900" y="2240280"/>
            <a:ext cx="154381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283190" y="2569464"/>
            <a:ext cx="713232" cy="7132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4" name="TextBox 43"/>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Compare with buy-and-hold</a:t>
            </a:r>
          </a:p>
        </p:txBody>
      </p:sp>
      <p:sp>
        <p:nvSpPr>
          <p:cNvPr id="45" name="Rectangle 44"/>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77240" y="5257800"/>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The Strategy Tester is a first filter; the full test with costs runs in the Trading Simulator.</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Indicator Stage: Pine Script v6 Indicators and their Python Twins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A3  K3  K7</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05</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Plot SMA/EMA, Bollinger Bands, RSI and MACD and export a Pine Script v6 strategy for TradingView.</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Overlay trend indicators</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Oscillators</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Export Pine Script v6</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chart with overlays and an oscillator pane, and a Pine Script pasted into TradingView whose values match.</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05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05 — In the Trading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5_indicators_pine_16x9.png"/>
          <p:cNvPicPr>
            <a:picLocks noChangeAspect="1"/>
          </p:cNvPicPr>
          <p:nvPr/>
        </p:nvPicPr>
        <p:blipFill>
          <a:blip r:embed="rId2"/>
          <a:stretch>
            <a:fillRect/>
          </a:stretch>
        </p:blipFill>
        <p:spPr>
          <a:xfrm>
            <a:off x="2438247" y="1645920"/>
            <a:ext cx="7315200" cy="4114800"/>
          </a:xfrm>
          <a:prstGeom prst="rect">
            <a:avLst/>
          </a:prstGeom>
        </p:spPr>
      </p:pic>
      <p:sp>
        <p:nvSpPr>
          <p:cNvPr id="8" name="Rectangle 7"/>
          <p:cNvSpPr/>
          <p:nvPr/>
        </p:nvSpPr>
        <p:spPr>
          <a:xfrm>
            <a:off x="2427274" y="1634947"/>
            <a:ext cx="7337145"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Course Labs &gt; Lab 05 at http://localhost:8000 - Data &gt; Chart SPY with SMA 50/200 and Bollinger. Offline demo data; connect Alpaca paper keys for live paper trading.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05 · TRADINGVIEW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05 — The Exported Strategy in TradingView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v_lab05_pine_strategy.png"/>
          <p:cNvPicPr>
            <a:picLocks noChangeAspect="1"/>
          </p:cNvPicPr>
          <p:nvPr/>
        </p:nvPicPr>
        <p:blipFill>
          <a:blip r:embed="rId2"/>
          <a:stretch>
            <a:fillRect/>
          </a:stretch>
        </p:blipFill>
        <p:spPr>
          <a:xfrm>
            <a:off x="1636368" y="1645920"/>
            <a:ext cx="8918958" cy="4114800"/>
          </a:xfrm>
          <a:prstGeom prst="rect">
            <a:avLst/>
          </a:prstGeom>
        </p:spPr>
      </p:pic>
      <p:sp>
        <p:nvSpPr>
          <p:cNvPr id="8" name="Rectangle 7"/>
          <p:cNvSpPr/>
          <p:nvPr/>
        </p:nvSpPr>
        <p:spPr>
          <a:xfrm>
            <a:off x="1625395" y="1634947"/>
            <a:ext cx="8940904"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The EMA crossover exported from the simulator as Pine Script v6, pasted into TradingView's Pine Editor and added to the SPY chart: the Strategy Tester reports PnL, drawdown and profitable trades to compare with the simulator's backtest.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Strategy Prototype: TradingView Strategy Tester, Paper Trading from the Chart and Pipeline Reconciliation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91472" y="475488"/>
            <a:ext cx="1920240"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491472"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91472" y="475488"/>
            <a:ext cx="1920240" cy="310896"/>
          </a:xfrm>
          <a:prstGeom prst="rect">
            <a:avLst/>
          </a:prstGeom>
          <a:noFill/>
        </p:spPr>
        <p:txBody>
          <a:bodyPr wrap="square" anchor="ctr">
            <a:spAutoFit/>
          </a:bodyPr>
          <a:lstStyle/>
          <a:p>
            <a:pPr algn="ctr">
              <a:spcAft>
                <a:spcPts val="400"/>
              </a:spcAft>
            </a:pPr>
            <a:r>
              <a:rPr sz="1100" b="1">
                <a:solidFill>
                  <a:srgbClr val="10B981"/>
                </a:solidFill>
                <a:latin typeface="Arial"/>
              </a:rPr>
              <a:t>A2  A3  K3  K7</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06</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Run the same MA-crossover in TradingView's Strategy Tester and in the app, reconcile the results, and try TradingView Paper Trading.</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Backtest the SMA 50/200 crossover in the app</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Run it in TradingView</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Reconcile and paper trade on TradingView</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Trade counts and net profit that agree within the expected differences (fills, costs, data).</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30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06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06 — In the Trading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6_strategy_tester_reconcile_16x9.png"/>
          <p:cNvPicPr>
            <a:picLocks noChangeAspect="1"/>
          </p:cNvPicPr>
          <p:nvPr/>
        </p:nvPicPr>
        <p:blipFill>
          <a:blip r:embed="rId2"/>
          <a:stretch>
            <a:fillRect/>
          </a:stretch>
        </p:blipFill>
        <p:spPr>
          <a:xfrm>
            <a:off x="2438247" y="1645920"/>
            <a:ext cx="7315200" cy="4114800"/>
          </a:xfrm>
          <a:prstGeom prst="rect">
            <a:avLst/>
          </a:prstGeom>
        </p:spPr>
      </p:pic>
      <p:sp>
        <p:nvSpPr>
          <p:cNvPr id="8" name="Rectangle 7"/>
          <p:cNvSpPr/>
          <p:nvPr/>
        </p:nvSpPr>
        <p:spPr>
          <a:xfrm>
            <a:off x="2427274" y="1634947"/>
            <a:ext cx="7337145"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Course Labs &gt; Lab 06 at http://localhost:8000 - Backtest SPY SMA 50/200, Alpaca costs. Offline demo data; connect Alpaca paper keys for live paper trading.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06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Lab 06 — The SMA 50/200 Backtest in the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lab06_backtest.png"/>
          <p:cNvPicPr>
            <a:picLocks noChangeAspect="1"/>
          </p:cNvPicPr>
          <p:nvPr/>
        </p:nvPicPr>
        <p:blipFill>
          <a:blip r:embed="rId2"/>
          <a:stretch>
            <a:fillRect/>
          </a:stretch>
        </p:blipFill>
        <p:spPr>
          <a:xfrm>
            <a:off x="1811038" y="1645920"/>
            <a:ext cx="8569618" cy="4114800"/>
          </a:xfrm>
          <a:prstGeom prst="rect">
            <a:avLst/>
          </a:prstGeom>
        </p:spPr>
      </p:pic>
      <p:sp>
        <p:nvSpPr>
          <p:cNvPr id="8" name="Rectangle 7"/>
          <p:cNvSpPr/>
          <p:nvPr/>
        </p:nvSpPr>
        <p:spPr>
          <a:xfrm>
            <a:off x="1800065" y="1634947"/>
            <a:ext cx="8591564"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Backtest: SMA crossover 50/200 on SPY with Alpaca commission-free costs and next-bar-open fills - return, CAGR, Sharpe, drawdown and trades beside buy-and-hold, ready to reconcile with TradingView's Strategy Tester.</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5B6372"/>
                </a:solidFill>
                <a:latin typeface="Arial"/>
              </a:rPr>
              <a:t>15 minutes  ·  see you at 15:40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Signal Stage: a Library of Trend, Mean-Reversion, Momentum and Breakout Signals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A2  K3  K7</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07</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Pick and customise one strategy from each family and compare them after costs.</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07083"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07083"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Trend: EMA 20/50 on SPY</a:t>
            </a:r>
          </a:p>
        </p:txBody>
      </p:sp>
      <p:sp>
        <p:nvSpPr>
          <p:cNvPr id="19" name="TextBox 18"/>
          <p:cNvSpPr txBox="1"/>
          <p:nvPr/>
        </p:nvSpPr>
        <p:spPr>
          <a:xfrm>
            <a:off x="321183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3495294"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95294"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525137"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5137"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3605022"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Mean reversion: Bollinger on KO</a:t>
            </a:r>
          </a:p>
        </p:txBody>
      </p:sp>
      <p:sp>
        <p:nvSpPr>
          <p:cNvPr id="25" name="TextBox 24"/>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6213348"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3348"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243191"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43191"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6323076"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Momentum and breakout</a:t>
            </a:r>
          </a:p>
        </p:txBody>
      </p:sp>
      <p:sp>
        <p:nvSpPr>
          <p:cNvPr id="31" name="TextBox 30"/>
          <p:cNvSpPr txBox="1"/>
          <p:nvPr/>
        </p:nvSpPr>
        <p:spPr>
          <a:xfrm>
            <a:off x="864793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8931402"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931402"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961245"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961245"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9041130"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Read each strategy's explanation</a:t>
            </a:r>
          </a:p>
        </p:txBody>
      </p:sp>
      <p:sp>
        <p:nvSpPr>
          <p:cNvPr id="37" name="Rectangle 36"/>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0" name="TextBox 39"/>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Four backtests with tuned parameters and an explanation of when each family works.</a:t>
            </a:r>
          </a:p>
        </p:txBody>
      </p:sp>
      <p:sp>
        <p:nvSpPr>
          <p:cNvPr id="41" name="TextBox 40"/>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07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07 — In the Trading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7_strategy_library_16x9.png"/>
          <p:cNvPicPr>
            <a:picLocks noChangeAspect="1"/>
          </p:cNvPicPr>
          <p:nvPr/>
        </p:nvPicPr>
        <p:blipFill>
          <a:blip r:embed="rId2"/>
          <a:stretch>
            <a:fillRect/>
          </a:stretch>
        </p:blipFill>
        <p:spPr>
          <a:xfrm>
            <a:off x="2438247" y="1645920"/>
            <a:ext cx="7315200" cy="4114800"/>
          </a:xfrm>
          <a:prstGeom prst="rect">
            <a:avLst/>
          </a:prstGeom>
        </p:spPr>
      </p:pic>
      <p:sp>
        <p:nvSpPr>
          <p:cNvPr id="8" name="Rectangle 7"/>
          <p:cNvSpPr/>
          <p:nvPr/>
        </p:nvSpPr>
        <p:spPr>
          <a:xfrm>
            <a:off x="2427274" y="1634947"/>
            <a:ext cx="7337145"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Course Labs &gt; Lab 07 at http://localhost:8000 - Backtest SPY EMA 20/50, Alpaca costs. Offline demo data; connect Alpaca paper keys for live paper trading.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07 · TRADINGVIEW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Lab 07 — Mean Reversion in TradingView, with Paper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v_lab07_bb_paper_trading.png"/>
          <p:cNvPicPr>
            <a:picLocks noChangeAspect="1"/>
          </p:cNvPicPr>
          <p:nvPr/>
        </p:nvPicPr>
        <p:blipFill>
          <a:blip r:embed="rId2"/>
          <a:stretch>
            <a:fillRect/>
          </a:stretch>
        </p:blipFill>
        <p:spPr>
          <a:xfrm>
            <a:off x="1939173" y="1645920"/>
            <a:ext cx="8313347" cy="4114800"/>
          </a:xfrm>
          <a:prstGeom prst="rect">
            <a:avLst/>
          </a:prstGeom>
        </p:spPr>
      </p:pic>
      <p:sp>
        <p:nvSpPr>
          <p:cNvPr id="8" name="Rectangle 7"/>
          <p:cNvSpPr/>
          <p:nvPr/>
        </p:nvSpPr>
        <p:spPr>
          <a:xfrm>
            <a:off x="1928200" y="1634947"/>
            <a:ext cx="8335293"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Bollinger Bands mean reversion (20, 2) on SPY with TradingView Paper Trading's order panel open. It lost 7.87% since 1993 though 59% of trades won: buying dips in a trending index hurts, so the lab runs it on KO.</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Execution Stage: an Order Manager that Trades the Paper Account in Any Session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A3  K5</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08</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Place market, limit, stop and bracket paper orders, including an extended-hours limit order, and follow each order's lifecycle.</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07083"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07083"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Market order in the regular session</a:t>
            </a:r>
          </a:p>
        </p:txBody>
      </p:sp>
      <p:sp>
        <p:nvSpPr>
          <p:cNvPr id="19" name="TextBox 18"/>
          <p:cNvSpPr txBox="1"/>
          <p:nvPr/>
        </p:nvSpPr>
        <p:spPr>
          <a:xfrm>
            <a:off x="321183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3495294"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95294"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525137"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5137"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3605022"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Extended-hours limit order (Singapore class hours)</a:t>
            </a:r>
          </a:p>
        </p:txBody>
      </p:sp>
      <p:sp>
        <p:nvSpPr>
          <p:cNvPr id="25" name="TextBox 24"/>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6213348"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3348"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243191"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43191"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6323076"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Bracket order</a:t>
            </a:r>
          </a:p>
        </p:txBody>
      </p:sp>
      <p:sp>
        <p:nvSpPr>
          <p:cNvPr id="31" name="TextBox 30"/>
          <p:cNvSpPr txBox="1"/>
          <p:nvPr/>
        </p:nvSpPr>
        <p:spPr>
          <a:xfrm>
            <a:off x="864793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8931402"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931402"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961245"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961245"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9041130"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Queue while closed and cancel</a:t>
            </a:r>
          </a:p>
        </p:txBody>
      </p:sp>
      <p:sp>
        <p:nvSpPr>
          <p:cNvPr id="37" name="Rectangle 36"/>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0" name="TextBox 39"/>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blotter with filled, working, queued and cancelled orders and the risk checks for each.</a:t>
            </a:r>
          </a:p>
        </p:txBody>
      </p:sp>
      <p:sp>
        <p:nvSpPr>
          <p:cNvPr id="41" name="TextBox 40"/>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30 min</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08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08 — In the Trading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8_paper_orders_16x9.png"/>
          <p:cNvPicPr>
            <a:picLocks noChangeAspect="1"/>
          </p:cNvPicPr>
          <p:nvPr/>
        </p:nvPicPr>
        <p:blipFill>
          <a:blip r:embed="rId2"/>
          <a:stretch>
            <a:fillRect/>
          </a:stretch>
        </p:blipFill>
        <p:spPr>
          <a:xfrm>
            <a:off x="2438247" y="1645920"/>
            <a:ext cx="7315200" cy="4114800"/>
          </a:xfrm>
          <a:prstGeom prst="rect">
            <a:avLst/>
          </a:prstGeom>
        </p:spPr>
      </p:pic>
      <p:sp>
        <p:nvSpPr>
          <p:cNvPr id="8" name="Rectangle 7"/>
          <p:cNvSpPr/>
          <p:nvPr/>
        </p:nvSpPr>
        <p:spPr>
          <a:xfrm>
            <a:off x="2427274" y="1634947"/>
            <a:ext cx="7337145"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Course Labs &gt; Lab 08 at http://localhost:8000 - Paper Trading &gt; Order ticket. Offline demo data; connect Alpaca paper keys for live paper trading.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08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08 — The Paper Order Ticket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lab08_order_ticket.png"/>
          <p:cNvPicPr>
            <a:picLocks noChangeAspect="1"/>
          </p:cNvPicPr>
          <p:nvPr/>
        </p:nvPicPr>
        <p:blipFill>
          <a:blip r:embed="rId2"/>
          <a:stretch>
            <a:fillRect/>
          </a:stretch>
        </p:blipFill>
        <p:spPr>
          <a:xfrm>
            <a:off x="1813685" y="1645920"/>
            <a:ext cx="8564324" cy="4114800"/>
          </a:xfrm>
          <a:prstGeom prst="rect">
            <a:avLst/>
          </a:prstGeom>
        </p:spPr>
      </p:pic>
      <p:sp>
        <p:nvSpPr>
          <p:cNvPr id="8" name="Rectangle 7"/>
          <p:cNvSpPr/>
          <p:nvPr/>
        </p:nvSpPr>
        <p:spPr>
          <a:xfrm>
            <a:off x="1802712" y="1634947"/>
            <a:ext cx="8586269"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Paper Trading &gt; Order ticket: buy 10 SPY, type auto (session-aware), time in force day, default paper account, Session (sim) = real clock. The banner shows the live session - here REGULAR, so all order types are accepted.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08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08 — Risk Checks Passed, Order Filled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lab08_order_accepted.png"/>
          <p:cNvPicPr>
            <a:picLocks noChangeAspect="1"/>
          </p:cNvPicPr>
          <p:nvPr/>
        </p:nvPicPr>
        <p:blipFill>
          <a:blip r:embed="rId2"/>
          <a:stretch>
            <a:fillRect/>
          </a:stretch>
        </p:blipFill>
        <p:spPr>
          <a:xfrm>
            <a:off x="1805275" y="1645920"/>
            <a:ext cx="8581144" cy="4114800"/>
          </a:xfrm>
          <a:prstGeom prst="rect">
            <a:avLst/>
          </a:prstGeom>
        </p:spPr>
      </p:pic>
      <p:sp>
        <p:nvSpPr>
          <p:cNvPr id="8" name="Rectangle 7"/>
          <p:cNvSpPr/>
          <p:nvPr/>
        </p:nvSpPr>
        <p:spPr>
          <a:xfrm>
            <a:off x="1794302" y="1634947"/>
            <a:ext cx="8603090"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After Send paper order: ACCEPTED, all checks passed - BUY 10 SPY MARKET DAY -&gt; filled. Every manual order passes the same pre-trade checks as the bots: kill switch, duplicate, session, allow list, long only, daily loss, max order quantity and value, max position.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Evaluation Stage: Performance and Risk Metrics with a Benchmark Table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A3  K3</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09</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Read the full metrics table and compare a strategy with buy-and-hold.</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Open the analytics</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Compare with buy-and-hold</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Glossary</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metrics table you can explain line by line.</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09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09 — In the Trading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9_analytics_16x9.png"/>
          <p:cNvPicPr>
            <a:picLocks noChangeAspect="1"/>
          </p:cNvPicPr>
          <p:nvPr/>
        </p:nvPicPr>
        <p:blipFill>
          <a:blip r:embed="rId2"/>
          <a:stretch>
            <a:fillRect/>
          </a:stretch>
        </p:blipFill>
        <p:spPr>
          <a:xfrm>
            <a:off x="2438247" y="1645920"/>
            <a:ext cx="7315200" cy="4114800"/>
          </a:xfrm>
          <a:prstGeom prst="rect">
            <a:avLst/>
          </a:prstGeom>
        </p:spPr>
      </p:pic>
      <p:sp>
        <p:nvSpPr>
          <p:cNvPr id="8" name="Rectangle 7"/>
          <p:cNvSpPr/>
          <p:nvPr/>
        </p:nvSpPr>
        <p:spPr>
          <a:xfrm>
            <a:off x="2427274" y="1634947"/>
            <a:ext cx="7337145"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Course Labs &gt; Lab 09 at http://localhost:8000 - Analytics. Offline demo data; connect Alpaca paper keys for live paper trading.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09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09 — Strategy versus Benchmark in Analytics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im_lab09_analytics.png"/>
          <p:cNvPicPr>
            <a:picLocks noChangeAspect="1"/>
          </p:cNvPicPr>
          <p:nvPr/>
        </p:nvPicPr>
        <p:blipFill>
          <a:blip r:embed="rId2"/>
          <a:stretch>
            <a:fillRect/>
          </a:stretch>
        </p:blipFill>
        <p:spPr>
          <a:xfrm>
            <a:off x="1898523" y="1645920"/>
            <a:ext cx="8394647" cy="4114800"/>
          </a:xfrm>
          <a:prstGeom prst="rect">
            <a:avLst/>
          </a:prstGeom>
        </p:spPr>
      </p:pic>
      <p:sp>
        <p:nvSpPr>
          <p:cNvPr id="8" name="Rectangle 7"/>
          <p:cNvSpPr/>
          <p:nvPr/>
        </p:nvSpPr>
        <p:spPr>
          <a:xfrm>
            <a:off x="1887551" y="1634947"/>
            <a:ext cx="8416592"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Performance Analytics for the SMA 50/200 backtest against SPY buy-and-hold: 79.71% versus 187.26% total return, Sharpe 0.55 versus 0.78 and the same -33.72% maximum drawdown, with drawdown, rolling Sharpe and monthly returns. Hover any metric for its definition.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2 · WHAT YOU COVERED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Topic 2 Recap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07424" y="475488"/>
            <a:ext cx="2304288"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107424"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07424" y="475488"/>
            <a:ext cx="2304288" cy="310896"/>
          </a:xfrm>
          <a:prstGeom prst="rect">
            <a:avLst/>
          </a:prstGeom>
          <a:noFill/>
        </p:spPr>
        <p:txBody>
          <a:bodyPr wrap="square" anchor="ctr">
            <a:spAutoFit/>
          </a:bodyPr>
          <a:lstStyle/>
          <a:p>
            <a:pPr algn="ctr">
              <a:spcAft>
                <a:spcPts val="400"/>
              </a:spcAft>
            </a:pPr>
            <a:r>
              <a:rPr sz="1100" b="1">
                <a:solidFill>
                  <a:srgbClr val="10B981"/>
                </a:solidFill>
                <a:latin typeface="Arial"/>
              </a:rPr>
              <a:t>A2  A3  K3  K5  K7</a:t>
            </a:r>
          </a:p>
        </p:txBody>
      </p:sp>
      <p:sp>
        <p:nvSpPr>
          <p:cNvPr id="10" name="Rectangle 9"/>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A2</a:t>
            </a:r>
          </a:p>
          <a:p>
            <a:pPr algn="l">
              <a:spcAft>
                <a:spcPts val="300"/>
              </a:spcAft>
            </a:pPr>
            <a:r>
              <a:rPr sz="1000" b="0">
                <a:solidFill>
                  <a:srgbClr val="5B6372"/>
                </a:solidFill>
                <a:latin typeface="Arial"/>
              </a:rPr>
              <a:t>Identify appropriate statistical algorithms and data models to test hypotheses and/or theories</a:t>
            </a:r>
          </a:p>
        </p:txBody>
      </p:sp>
      <p:sp>
        <p:nvSpPr>
          <p:cNvPr id="15" name="Rectangle 14"/>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A3</a:t>
            </a:r>
          </a:p>
          <a:p>
            <a:pPr algn="l">
              <a:spcAft>
                <a:spcPts val="300"/>
              </a:spcAft>
            </a:pPr>
            <a:r>
              <a:rPr sz="1000" b="0">
                <a:solidFill>
                  <a:srgbClr val="5B6372"/>
                </a:solidFill>
                <a:latin typeface="Arial"/>
              </a:rPr>
              <a:t>Use appropriate analytics platforms, analytical tools, statistical methods and analytical approaches given specific analytics and reporting requirements</a:t>
            </a:r>
          </a:p>
        </p:txBody>
      </p:sp>
      <p:sp>
        <p:nvSpPr>
          <p:cNvPr id="20" name="Rectangle 19"/>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K3</a:t>
            </a:r>
          </a:p>
          <a:p>
            <a:pPr algn="l">
              <a:spcAft>
                <a:spcPts val="300"/>
              </a:spcAft>
            </a:pPr>
            <a:r>
              <a:rPr sz="1000" b="0">
                <a:solidFill>
                  <a:srgbClr val="5B6372"/>
                </a:solidFill>
                <a:latin typeface="Arial"/>
              </a:rPr>
              <a:t>Range and application of various statistical methods and algorithms</a:t>
            </a:r>
          </a:p>
        </p:txBody>
      </p:sp>
      <p:sp>
        <p:nvSpPr>
          <p:cNvPr id="25" name="Rectangle 24"/>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K5</a:t>
            </a:r>
          </a:p>
          <a:p>
            <a:pPr algn="l">
              <a:spcAft>
                <a:spcPts val="300"/>
              </a:spcAft>
            </a:pPr>
            <a:r>
              <a:rPr sz="1000" b="0">
                <a:solidFill>
                  <a:srgbClr val="5B6372"/>
                </a:solidFill>
                <a:latin typeface="Arial"/>
              </a:rPr>
              <a:t>Usage of analytics platforms and tools</a:t>
            </a:r>
          </a:p>
        </p:txBody>
      </p:sp>
      <p:sp>
        <p:nvSpPr>
          <p:cNvPr id="30" name="Rectangle 29"/>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K7</a:t>
            </a:r>
          </a:p>
          <a:p>
            <a:pPr algn="l">
              <a:spcAft>
                <a:spcPts val="300"/>
              </a:spcAft>
            </a:pPr>
            <a:r>
              <a:rPr sz="1000" b="0">
                <a:solidFill>
                  <a:srgbClr val="5B6372"/>
                </a:solidFill>
                <a:latin typeface="Arial"/>
              </a:rPr>
              <a:t>Coding languages for programming of algorithms and signals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End of Day 1</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5B6372"/>
                </a:solidFill>
                <a:latin typeface="Arial"/>
              </a:rPr>
              <a:t>See you at 09:00 tomorrow</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8778240" cy="457200"/>
          </a:xfrm>
          <a:prstGeom prst="rect">
            <a:avLst/>
          </a:prstGeom>
          <a:noFill/>
        </p:spPr>
        <p:txBody>
          <a:bodyPr wrap="square" anchor="t">
            <a:spAutoFit/>
          </a:bodyPr>
          <a:lstStyle/>
          <a:p>
            <a:pPr algn="l">
              <a:spcAft>
                <a:spcPts val="400"/>
              </a:spcAft>
            </a:pPr>
            <a:r>
              <a:rPr sz="1600" b="1">
                <a:solidFill>
                  <a:srgbClr val="7C3AED"/>
                </a:solidFill>
                <a:latin typeface="Arial"/>
              </a:rPr>
              <a:t>TOPIC 3</a:t>
            </a:r>
          </a:p>
        </p:txBody>
      </p:sp>
      <p:sp>
        <p:nvSpPr>
          <p:cNvPr id="5" name="TextBox 4"/>
          <p:cNvSpPr txBox="1"/>
          <p:nvPr/>
        </p:nvSpPr>
        <p:spPr>
          <a:xfrm>
            <a:off x="1188720" y="2331720"/>
            <a:ext cx="9509760" cy="914400"/>
          </a:xfrm>
          <a:prstGeom prst="rect">
            <a:avLst/>
          </a:prstGeom>
          <a:noFill/>
        </p:spPr>
        <p:txBody>
          <a:bodyPr wrap="square" anchor="t">
            <a:spAutoFit/>
          </a:bodyPr>
          <a:lstStyle/>
          <a:p>
            <a:pPr algn="l">
              <a:spcAft>
                <a:spcPts val="400"/>
              </a:spcAft>
            </a:pPr>
            <a:r>
              <a:rPr sz="4000" b="1">
                <a:solidFill>
                  <a:srgbClr val="161B26"/>
                </a:solidFill>
                <a:latin typeface="Arial"/>
              </a:rPr>
              <a:t>ML Models and A/B Testing</a:t>
            </a:r>
          </a:p>
        </p:txBody>
      </p:sp>
      <p:sp>
        <p:nvSpPr>
          <p:cNvPr id="6" name="Rectangle 5"/>
          <p:cNvSpPr/>
          <p:nvPr/>
        </p:nvSpPr>
        <p:spPr>
          <a:xfrm>
            <a:off x="1188720" y="3429000"/>
            <a:ext cx="95097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8720" y="3429000"/>
            <a:ext cx="82296" cy="1234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429000"/>
            <a:ext cx="9052560" cy="1234440"/>
          </a:xfrm>
          <a:prstGeom prst="rect">
            <a:avLst/>
          </a:prstGeom>
          <a:noFill/>
        </p:spPr>
        <p:txBody>
          <a:bodyPr wrap="square" anchor="ctr">
            <a:spAutoFit/>
          </a:bodyPr>
          <a:lstStyle/>
          <a:p>
            <a:pPr algn="l">
              <a:spcAft>
                <a:spcPts val="400"/>
              </a:spcAft>
            </a:pPr>
            <a:r>
              <a:rPr sz="1050" b="1">
                <a:solidFill>
                  <a:srgbClr val="7C3AED"/>
                </a:solidFill>
                <a:latin typeface="Arial"/>
              </a:rPr>
              <a:t>LEARNING OUTCOME</a:t>
            </a:r>
          </a:p>
          <a:p>
            <a:pPr algn="l">
              <a:spcAft>
                <a:spcPts val="400"/>
              </a:spcAft>
            </a:pPr>
            <a:r>
              <a:rPr sz="1350" b="0">
                <a:solidFill>
                  <a:srgbClr val="161B26"/>
                </a:solidFill>
                <a:latin typeface="Arial"/>
              </a:rPr>
              <a:t>Conduct statistical modelling of market data with machine learning models to derive patterns and solutions, and perform A/B testing of trading strategies based on different hypotheses.</a:t>
            </a:r>
          </a:p>
        </p:txBody>
      </p:sp>
      <p:sp>
        <p:nvSpPr>
          <p:cNvPr id="9" name="TextBox 8"/>
          <p:cNvSpPr txBox="1"/>
          <p:nvPr/>
        </p:nvSpPr>
        <p:spPr>
          <a:xfrm>
            <a:off x="1188720" y="4892040"/>
            <a:ext cx="9509760" cy="457200"/>
          </a:xfrm>
          <a:prstGeom prst="rect">
            <a:avLst/>
          </a:prstGeom>
          <a:noFill/>
        </p:spPr>
        <p:txBody>
          <a:bodyPr wrap="square" anchor="t">
            <a:spAutoFit/>
          </a:bodyPr>
          <a:lstStyle/>
          <a:p>
            <a:pPr algn="l">
              <a:spcAft>
                <a:spcPts val="400"/>
              </a:spcAft>
            </a:pPr>
            <a:r>
              <a:rPr sz="1150" b="0">
                <a:solidFill>
                  <a:srgbClr val="5B6372"/>
                </a:solidFill>
                <a:latin typeface="Arial"/>
              </a:rPr>
              <a:t>Abilities A4, A5  ·  Knowledge K2, K4, K6   ·   Day 2   ·   Labs 10–14   ·   Assessed by PP Task 3 and WA Q2, Q4, Q6</a:t>
            </a:r>
          </a:p>
        </p:txBody>
      </p:sp>
      <p:sp>
        <p:nvSpPr>
          <p:cNvPr id="10" name="TextBox 9"/>
          <p:cNvSpPr txBox="1"/>
          <p:nvPr/>
        </p:nvSpPr>
        <p:spPr>
          <a:xfrm>
            <a:off x="9692640" y="914400"/>
            <a:ext cx="2011680" cy="2011680"/>
          </a:xfrm>
          <a:prstGeom prst="rect">
            <a:avLst/>
          </a:prstGeom>
          <a:noFill/>
        </p:spPr>
        <p:txBody>
          <a:bodyPr wrap="square" anchor="t">
            <a:spAutoFit/>
          </a:bodyPr>
          <a:lstStyle/>
          <a:p>
            <a:pPr algn="r">
              <a:spcAft>
                <a:spcPts val="400"/>
              </a:spcAft>
            </a:pPr>
            <a:r>
              <a:rPr sz="9600" b="1">
                <a:solidFill>
                  <a:srgbClr val="F5F8FC"/>
                </a:solidFill>
                <a:latin typeface="Arial"/>
              </a:rPr>
              <a:t>03</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Types of Statistical Analyses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K2</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Descriptive</a:t>
            </a:r>
          </a:p>
          <a:p>
            <a:pPr algn="l">
              <a:spcAft>
                <a:spcPts val="300"/>
              </a:spcAft>
            </a:pPr>
            <a:r>
              <a:rPr sz="1150" b="0">
                <a:solidFill>
                  <a:srgbClr val="5B6372"/>
                </a:solidFill>
                <a:latin typeface="Arial"/>
              </a:rPr>
              <a:t>What happened — mean return, volatility, skew, correlation.</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Inferential</a:t>
            </a:r>
          </a:p>
          <a:p>
            <a:pPr algn="l">
              <a:spcAft>
                <a:spcPts val="300"/>
              </a:spcAft>
            </a:pPr>
            <a:r>
              <a:rPr sz="1150" b="0">
                <a:solidFill>
                  <a:srgbClr val="5B6372"/>
                </a:solidFill>
                <a:latin typeface="Arial"/>
              </a:rPr>
              <a:t>Is it real? — t-test, bootstrap, confidence intervals.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Predictive</a:t>
            </a:r>
          </a:p>
          <a:p>
            <a:pPr algn="l">
              <a:spcAft>
                <a:spcPts val="300"/>
              </a:spcAft>
            </a:pPr>
            <a:r>
              <a:rPr sz="1150" b="0">
                <a:solidFill>
                  <a:srgbClr val="5B6372"/>
                </a:solidFill>
                <a:latin typeface="Arial"/>
              </a:rPr>
              <a:t>What next? — regression, classification.</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Prescriptive</a:t>
            </a:r>
          </a:p>
          <a:p>
            <a:pPr algn="l">
              <a:spcAft>
                <a:spcPts val="300"/>
              </a:spcAft>
            </a:pPr>
            <a:r>
              <a:rPr sz="1150" b="0">
                <a:solidFill>
                  <a:srgbClr val="5B6372"/>
                </a:solidFill>
                <a:latin typeface="Arial"/>
              </a:rPr>
              <a:t>What to do? — optimisation, position sizing.</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Families of Learning Algorithms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K2</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Supervised</a:t>
            </a:r>
          </a:p>
          <a:p>
            <a:pPr algn="l">
              <a:spcAft>
                <a:spcPts val="300"/>
              </a:spcAft>
            </a:pPr>
            <a:r>
              <a:rPr sz="1150" b="0">
                <a:solidFill>
                  <a:srgbClr val="5B6372"/>
                </a:solidFill>
                <a:latin typeface="Arial"/>
              </a:rPr>
              <a:t>Features → known target: up/down, next return.</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Unsupervised</a:t>
            </a:r>
          </a:p>
          <a:p>
            <a:pPr algn="l">
              <a:spcAft>
                <a:spcPts val="300"/>
              </a:spcAft>
            </a:pPr>
            <a:r>
              <a:rPr sz="1150" b="0">
                <a:solidFill>
                  <a:srgbClr val="5B6372"/>
                </a:solidFill>
                <a:latin typeface="Arial"/>
              </a:rPr>
              <a:t>Structure without a target: regimes, PCA factors.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Reinforcement</a:t>
            </a:r>
          </a:p>
          <a:p>
            <a:pPr algn="l">
              <a:spcAft>
                <a:spcPts val="300"/>
              </a:spcAft>
            </a:pPr>
            <a:r>
              <a:rPr sz="1150" b="0">
                <a:solidFill>
                  <a:srgbClr val="5B6372"/>
                </a:solidFill>
                <a:latin typeface="Arial"/>
              </a:rPr>
              <a:t>Learn a policy from rewards — execution research.</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Search &amp; simulation</a:t>
            </a:r>
          </a:p>
          <a:p>
            <a:pPr algn="l">
              <a:spcAft>
                <a:spcPts val="300"/>
              </a:spcAft>
            </a:pPr>
            <a:r>
              <a:rPr sz="1150" b="0">
                <a:solidFill>
                  <a:srgbClr val="5B6372"/>
                </a:solidFill>
                <a:latin typeface="Arial"/>
              </a:rPr>
              <a:t>Grid search, Monte Carlo, bootstrap, walk-forward.</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Supervised Models for Trading Signals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Linear / logistic regression</a:t>
            </a:r>
          </a:p>
          <a:p>
            <a:pPr algn="l">
              <a:spcAft>
                <a:spcPts val="300"/>
              </a:spcAft>
            </a:pPr>
            <a:r>
              <a:rPr sz="1150" b="0">
                <a:solidFill>
                  <a:srgbClr val="5B6372"/>
                </a:solidFill>
                <a:latin typeface="Arial"/>
              </a:rPr>
              <a:t>Interpretable baselines; P(up) from a weighted sum.</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Decision tree &amp; random forest</a:t>
            </a:r>
          </a:p>
          <a:p>
            <a:pPr algn="l">
              <a:spcAft>
                <a:spcPts val="300"/>
              </a:spcAft>
            </a:pPr>
            <a:r>
              <a:rPr sz="1150" b="0">
                <a:solidFill>
                  <a:srgbClr val="5B6372"/>
                </a:solidFill>
                <a:latin typeface="Arial"/>
              </a:rPr>
              <a:t>Threshold splits; averaged trees reduce variance.</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XGBoost</a:t>
            </a:r>
          </a:p>
          <a:p>
            <a:pPr algn="l">
              <a:spcAft>
                <a:spcPts val="300"/>
              </a:spcAft>
            </a:pPr>
            <a:r>
              <a:rPr sz="1150" b="0">
                <a:solidFill>
                  <a:srgbClr val="5B6372"/>
                </a:solidFill>
                <a:latin typeface="Arial"/>
              </a:rPr>
              <a:t>Sequential boosted trees — strongest on tabular features.</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Neural networks</a:t>
            </a:r>
          </a:p>
          <a:p>
            <a:pPr algn="l">
              <a:spcAft>
                <a:spcPts val="300"/>
              </a:spcAft>
            </a:pPr>
            <a:r>
              <a:rPr sz="1150" b="0">
                <a:solidFill>
                  <a:srgbClr val="5B6372"/>
                </a:solidFill>
                <a:latin typeface="Arial"/>
              </a:rPr>
              <a:t>MLP, LSTM, Transformer — data-hungry, easy to overfit.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Unsupervised Models for Regimes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K-means</a:t>
            </a:r>
          </a:p>
          <a:p>
            <a:pPr algn="l">
              <a:spcAft>
                <a:spcPts val="300"/>
              </a:spcAft>
            </a:pPr>
            <a:r>
              <a:rPr sz="1150" b="0">
                <a:solidFill>
                  <a:srgbClr val="5B6372"/>
                </a:solidFill>
                <a:latin typeface="Arial"/>
              </a:rPr>
              <a:t>Minimise within-cluster variance; choose k by elbow or silhouette.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Hierarchical clustering</a:t>
            </a:r>
          </a:p>
          <a:p>
            <a:pPr algn="l">
              <a:spcAft>
                <a:spcPts val="300"/>
              </a:spcAft>
            </a:pPr>
            <a:r>
              <a:rPr sz="1150" b="0">
                <a:solidFill>
                  <a:srgbClr val="5B6372"/>
                </a:solidFill>
                <a:latin typeface="Arial"/>
              </a:rPr>
              <a:t>Dendrogram of similar assets for diversification.</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PCA</a:t>
            </a:r>
          </a:p>
          <a:p>
            <a:pPr algn="l">
              <a:spcAft>
                <a:spcPts val="300"/>
              </a:spcAft>
            </a:pPr>
            <a:r>
              <a:rPr sz="1150" b="0">
                <a:solidFill>
                  <a:srgbClr val="5B6372"/>
                </a:solidFill>
                <a:latin typeface="Arial"/>
              </a:rPr>
              <a:t>First component ≈ the market; yield curve = level, slope, curvature.</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Fit on the past only</a:t>
            </a:r>
          </a:p>
          <a:p>
            <a:pPr algn="l">
              <a:spcAft>
                <a:spcPts val="300"/>
              </a:spcAft>
            </a:pPr>
            <a:r>
              <a:rPr sz="1150" b="0">
                <a:solidFill>
                  <a:srgbClr val="5B6372"/>
                </a:solidFill>
                <a:latin typeface="Arial"/>
              </a:rPr>
              <a:t>Assign new days to regimes as they arrive.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Statistical Modelling Techniques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K6</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Returns, not prices</a:t>
            </a:r>
          </a:p>
          <a:p>
            <a:pPr algn="l">
              <a:spcAft>
                <a:spcPts val="300"/>
              </a:spcAft>
            </a:pPr>
            <a:r>
              <a:rPr sz="1150" b="0">
                <a:solidFill>
                  <a:srgbClr val="5B6372"/>
                </a:solidFill>
                <a:latin typeface="Arial"/>
              </a:rPr>
              <a:t>Closer to stationary; avoids spurious regression.</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Time-ordered validation</a:t>
            </a:r>
          </a:p>
          <a:p>
            <a:pPr algn="l">
              <a:spcAft>
                <a:spcPts val="300"/>
              </a:spcAft>
            </a:pPr>
            <a:r>
              <a:rPr sz="1150" b="0">
                <a:solidFill>
                  <a:srgbClr val="5B6372"/>
                </a:solidFill>
                <a:latin typeface="Arial"/>
              </a:rPr>
              <a:t>TimeSeriesSplit and walk-forward — never shuffle.</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Leak-free features</a:t>
            </a:r>
          </a:p>
          <a:p>
            <a:pPr algn="l">
              <a:spcAft>
                <a:spcPts val="300"/>
              </a:spcAft>
            </a:pPr>
            <a:r>
              <a:rPr sz="1150" b="0">
                <a:solidFill>
                  <a:srgbClr val="5B6372"/>
                </a:solidFill>
                <a:latin typeface="Arial"/>
              </a:rPr>
              <a:t>Lags and rolling windows known at decision time.</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Regularise</a:t>
            </a:r>
          </a:p>
          <a:p>
            <a:pPr algn="l">
              <a:spcAft>
                <a:spcPts val="300"/>
              </a:spcAft>
            </a:pPr>
            <a:r>
              <a:rPr sz="1150" b="0">
                <a:solidFill>
                  <a:srgbClr val="5B6372"/>
                </a:solidFill>
                <a:latin typeface="Arial"/>
              </a:rPr>
              <a:t>L1/L2, depth limits, early stopping, fewer features.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A5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 Testing Two Strategy Variants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A5</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State H0 and H1 first</a:t>
            </a:r>
          </a:p>
          <a:p>
            <a:pPr algn="l">
              <a:spcAft>
                <a:spcPts val="300"/>
              </a:spcAft>
            </a:pPr>
            <a:r>
              <a:rPr sz="1150" b="0">
                <a:solidFill>
                  <a:srgbClr val="5B6372"/>
                </a:solidFill>
                <a:latin typeface="Arial"/>
              </a:rPr>
              <a:t>H0: equal mean returns; H1: B is higher. α = 5%.</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Welch's t-test</a:t>
            </a:r>
          </a:p>
          <a:p>
            <a:pPr algn="l">
              <a:spcAft>
                <a:spcPts val="300"/>
              </a:spcAft>
            </a:pPr>
            <a:r>
              <a:rPr sz="1150" b="0">
                <a:solidFill>
                  <a:srgbClr val="5B6372"/>
                </a:solidFill>
                <a:latin typeface="Arial"/>
              </a:rPr>
              <a:t>Compare mean daily returns with unequal variances.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Bootstrap the Sharpe difference</a:t>
            </a:r>
          </a:p>
          <a:p>
            <a:pPr algn="l">
              <a:spcAft>
                <a:spcPts val="300"/>
              </a:spcAft>
            </a:pPr>
            <a:r>
              <a:rPr sz="1150" b="0">
                <a:solidFill>
                  <a:srgbClr val="5B6372"/>
                </a:solidFill>
                <a:latin typeface="Arial"/>
              </a:rPr>
              <a:t>Resample returns; 95% CI excluding 0?</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Mind multiple testing</a:t>
            </a:r>
          </a:p>
          <a:p>
            <a:pPr algn="l">
              <a:spcAft>
                <a:spcPts val="300"/>
              </a:spcAft>
            </a:pPr>
            <a:r>
              <a:rPr sz="1150" b="0">
                <a:solidFill>
                  <a:srgbClr val="5B6372"/>
                </a:solidFill>
                <a:latin typeface="Arial"/>
              </a:rPr>
              <a:t>100 variants → ~5 false 'winners' by chance.</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Logistic Regression for Direction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pic>
        <p:nvPicPr>
          <p:cNvPr id="10" name="Picture 9" descr="algo_logistic.png"/>
          <p:cNvPicPr>
            <a:picLocks noChangeAspect="1"/>
          </p:cNvPicPr>
          <p:nvPr/>
        </p:nvPicPr>
        <p:blipFill>
          <a:blip r:embed="rId2"/>
          <a:stretch>
            <a:fillRect/>
          </a:stretch>
        </p:blipFill>
        <p:spPr>
          <a:xfrm>
            <a:off x="777240" y="2529219"/>
            <a:ext cx="6172200" cy="2942560"/>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Fits P(up tomorrow) = 1 / (1 + e^-(b0 + b1 x1 + ...)) from features known today.</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Go long when P(up) exceeds a threshold such as 0.55; otherwise stay flat.</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A transparent baseline: each coefficient shows how a feature moves the probability.</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Only linear effects unless you engineer features; daily direction is close to a coin toss.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Decision Tree and Random Forest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pic>
        <p:nvPicPr>
          <p:cNvPr id="10" name="Picture 9" descr="algo_tree.png"/>
          <p:cNvPicPr>
            <a:picLocks noChangeAspect="1"/>
          </p:cNvPicPr>
          <p:nvPr/>
        </p:nvPicPr>
        <p:blipFill>
          <a:blip r:embed="rId2"/>
          <a:stretch>
            <a:fillRect/>
          </a:stretch>
        </p:blipFill>
        <p:spPr>
          <a:xfrm>
            <a:off x="777240" y="2508173"/>
            <a:ext cx="6172200" cy="298465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A tree splits the data on feature thresholds (e.g. RSI &lt; 30) into leaves with an up/down share.</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A random forest averages hundreds of trees, each grown on a random sample of rows and features.</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Non-linear, interacting signals - e.g. oversold AND low volatility.</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Deep trees memorise noise; limit depth and leaf size and validate walk-forward.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Gradient Boosting (XGBoost)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pic>
        <p:nvPicPr>
          <p:cNvPr id="10" name="Picture 9" descr="algo_boosting.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Builds trees one after another; each new tree corrects the errors of the ensemble so far.</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Prediction = sum of many small trees x learning rate; stop early when test loss stops falling.</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Tabular features such as returns, indicators and volatility - usually the strongest model.</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Training loss keeps falling while test loss rises: classic overfitting (see the chart).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K-Means Clustering for Market Regimes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pic>
        <p:nvPicPr>
          <p:cNvPr id="10" name="Picture 9" descr="algo_kmeans.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Groups days into k clusters by minimising the distance of each day to its cluster centre.</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Features: rolling return and volatility (standardised). Name clusters by their averages.</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Switching or sizing strategies by regime: trend in calm markets, cut risk when stressed.</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Fit on past data only; choose k with the elbow or silhouette method; regimes shift.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Algorithm: Principal Component Analysis (PCA)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K4</a:t>
            </a:r>
          </a:p>
        </p:txBody>
      </p:sp>
      <p:pic>
        <p:nvPicPr>
          <p:cNvPr id="10" name="Picture 9" descr="algo_pca.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Finds uncorrelated combinations of assets that explain the most variance of returns.</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PC1 of a stock universe is 'the market'; later PCs are sector or style factors.</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Reducing many correlated features; building factor-neutral and pairs portfolios.</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Standardise first; components change over time; PCs are statistical, not economic, factors.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Method: Walk-Forward Validation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K6</a:t>
            </a:r>
          </a:p>
        </p:txBody>
      </p:sp>
      <p:pic>
        <p:nvPicPr>
          <p:cNvPr id="10" name="Picture 9" descr="algo_walk_forward.png"/>
          <p:cNvPicPr>
            <a:picLocks noChangeAspect="1"/>
          </p:cNvPicPr>
          <p:nvPr/>
        </p:nvPicPr>
        <p:blipFill>
          <a:blip r:embed="rId2"/>
          <a:stretch>
            <a:fillRect/>
          </a:stretch>
        </p:blipFill>
        <p:spPr>
          <a:xfrm>
            <a:off x="777240" y="2633240"/>
            <a:ext cx="6172200" cy="2734518"/>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Train on a past window, test on the next unseen block, then roll forward and repeat.</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Never shuffle time series; each test block is genuinely out of sample.</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Estimating how a model or parameter set would really have performed live.</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Overlapping targets leak information - leave a gap between train and test.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A5</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Method: A/B Testing Two Strategy Variants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A5</a:t>
            </a:r>
          </a:p>
        </p:txBody>
      </p:sp>
      <p:pic>
        <p:nvPicPr>
          <p:cNvPr id="10" name="Picture 9" descr="algo_ab_test.png"/>
          <p:cNvPicPr>
            <a:picLocks noChangeAspect="1"/>
          </p:cNvPicPr>
          <p:nvPr/>
        </p:nvPicPr>
        <p:blipFill>
          <a:blip r:embed="rId2"/>
          <a:stretch>
            <a:fillRect/>
          </a:stretch>
        </p:blipFill>
        <p:spPr>
          <a:xfrm>
            <a:off x="777240" y="2398853"/>
            <a:ext cx="6172200" cy="320329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Compare variant A and B on the same days: H0 'no difference' vs H1 'B is better'.</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Welch / paired t-test on daily returns; bootstrap a 95% CI of the Sharpe difference.</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Deciding which parameter set or filter to promote to paper trading.</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If the CI contains 0, do not reject H0; testing 100 variants gives ~5 false winners.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A4</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From Probability to Position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A4</a:t>
            </a:r>
          </a:p>
        </p:txBody>
      </p:sp>
      <p:sp>
        <p:nvSpPr>
          <p:cNvPr id="10" name="Rectangle 9"/>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374343"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Build leak-free features</a:t>
            </a:r>
          </a:p>
        </p:txBody>
      </p:sp>
      <p:sp>
        <p:nvSpPr>
          <p:cNvPr id="15" name="TextBox 14"/>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16" name="Rectangle 15"/>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58998"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556101"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Train on past window</a:t>
            </a:r>
          </a:p>
        </p:txBody>
      </p:sp>
      <p:sp>
        <p:nvSpPr>
          <p:cNvPr id="21" name="TextBox 20"/>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2" name="Rectangle 21"/>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40756"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737859"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Predict P(up) for tomorrow</a:t>
            </a:r>
          </a:p>
        </p:txBody>
      </p:sp>
      <p:sp>
        <p:nvSpPr>
          <p:cNvPr id="27" name="TextBox 26"/>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8" name="Rectangle 27"/>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22514"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919617"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Long if P(up) &gt; 0.55, else flat</a:t>
            </a:r>
          </a:p>
        </p:txBody>
      </p:sp>
      <p:sp>
        <p:nvSpPr>
          <p:cNvPr id="33" name="TextBox 32"/>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34" name="Rectangle 33"/>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01375"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Backtest net of costs</a:t>
            </a:r>
          </a:p>
        </p:txBody>
      </p:sp>
      <p:sp>
        <p:nvSpPr>
          <p:cNvPr id="39" name="Rectangle 38"/>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7240" y="5257800"/>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Judge the model by the net-of-cost strategy, not by accuracy alone.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K6 · PAIRS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Pairs Trading: a Hedging Algorithm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K6</a:t>
            </a:r>
          </a:p>
        </p:txBody>
      </p:sp>
      <p:sp>
        <p:nvSpPr>
          <p:cNvPr id="10" name="Rectangle 9"/>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Why it is a hedge</a:t>
            </a:r>
          </a:p>
          <a:p>
            <a:pPr algn="l">
              <a:spcAft>
                <a:spcPts val="300"/>
              </a:spcAft>
            </a:pPr>
            <a:r>
              <a:rPr sz="1000" b="0">
                <a:solidFill>
                  <a:srgbClr val="5B6372"/>
                </a:solidFill>
                <a:latin typeface="Arial"/>
              </a:rPr>
              <a:t>Long the cheap stock, short the rich one in hedge-ratio proportion: market moves largely cancel</a:t>
            </a:r>
          </a:p>
        </p:txBody>
      </p:sp>
      <p:sp>
        <p:nvSpPr>
          <p:cNvPr id="15" name="Rectangle 14"/>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Choose the pair</a:t>
            </a:r>
          </a:p>
          <a:p>
            <a:pPr algn="l">
              <a:spcAft>
                <a:spcPts val="300"/>
              </a:spcAft>
            </a:pPr>
            <a:r>
              <a:rPr sz="1000" b="0">
                <a:solidFill>
                  <a:srgbClr val="5B6372"/>
                </a:solidFill>
                <a:latin typeface="Arial"/>
              </a:rPr>
              <a:t>Economically linked stocks (e.g. KO and PEP) that are cointegrated, not merely correlated</a:t>
            </a:r>
          </a:p>
        </p:txBody>
      </p:sp>
      <p:sp>
        <p:nvSpPr>
          <p:cNvPr id="20" name="Rectangle 19"/>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Hedge ratio and spread</a:t>
            </a:r>
          </a:p>
          <a:p>
            <a:pPr algn="l">
              <a:spcAft>
                <a:spcPts val="300"/>
              </a:spcAft>
            </a:pPr>
            <a:r>
              <a:rPr sz="1000" b="0">
                <a:solidFill>
                  <a:srgbClr val="5B6372"/>
                </a:solidFill>
                <a:latin typeface="Arial"/>
              </a:rPr>
              <a:t>Regress log price A on log price B: slope = hedge ratio, residual = the spread (Engle-Granger)</a:t>
            </a:r>
          </a:p>
        </p:txBody>
      </p:sp>
      <p:sp>
        <p:nvSpPr>
          <p:cNvPr id="25" name="Rectangle 24"/>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344728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Test the spread</a:t>
            </a:r>
          </a:p>
          <a:p>
            <a:pPr algn="l">
              <a:spcAft>
                <a:spcPts val="300"/>
              </a:spcAft>
            </a:pPr>
            <a:r>
              <a:rPr sz="1000" b="0">
                <a:solidFill>
                  <a:srgbClr val="5B6372"/>
                </a:solidFill>
                <a:latin typeface="Arial"/>
              </a:rPr>
              <a:t>ADF test on the residual: a stationary spread tends to revert to its mean</a:t>
            </a:r>
          </a:p>
        </p:txBody>
      </p:sp>
      <p:sp>
        <p:nvSpPr>
          <p:cNvPr id="30" name="Rectangle 29"/>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Trade the z-score</a:t>
            </a:r>
          </a:p>
          <a:p>
            <a:pPr algn="l">
              <a:spcAft>
                <a:spcPts val="300"/>
              </a:spcAft>
            </a:pPr>
            <a:r>
              <a:rPr sz="1000" b="0">
                <a:solidFill>
                  <a:srgbClr val="5B6372"/>
                </a:solidFill>
                <a:latin typeface="Arial"/>
              </a:rPr>
              <a:t>Enter when |z| &gt; 2, exit as z returns towards 0; trade both legs on the next bar</a:t>
            </a:r>
          </a:p>
        </p:txBody>
      </p:sp>
      <p:sp>
        <p:nvSpPr>
          <p:cNvPr id="35" name="Rectangle 34"/>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7219188" y="498348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Risks</a:t>
            </a:r>
          </a:p>
          <a:p>
            <a:pPr algn="l">
              <a:spcAft>
                <a:spcPts val="300"/>
              </a:spcAft>
            </a:pPr>
            <a:r>
              <a:rPr sz="1000" b="0">
                <a:solidFill>
                  <a:srgbClr val="5B6372"/>
                </a:solidFill>
                <a:latin typeface="Arial"/>
              </a:rPr>
              <a:t>Cointegration breaks, hedge ratio drifts, double costs, short-borrow, multiple testing</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A4 · PAIRS TRADING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Pairs-Trading Algorithm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A4</a:t>
            </a:r>
          </a:p>
        </p:txBody>
      </p:sp>
      <p:sp>
        <p:nvSpPr>
          <p:cNvPr id="10" name="Rectangle 9"/>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92530"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Select an economically linked pair</a:t>
            </a:r>
          </a:p>
        </p:txBody>
      </p:sp>
      <p:sp>
        <p:nvSpPr>
          <p:cNvPr id="15" name="TextBox 14"/>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16" name="Rectangle 15"/>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95372"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010662"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Estimate the hedge ratio (OLS)</a:t>
            </a:r>
          </a:p>
        </p:txBody>
      </p:sp>
      <p:sp>
        <p:nvSpPr>
          <p:cNvPr id="21" name="TextBox 20"/>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2" name="Rectangle 21"/>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3504"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828794"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Test cointegration (ADF on residual)</a:t>
            </a:r>
          </a:p>
        </p:txBody>
      </p:sp>
      <p:sp>
        <p:nvSpPr>
          <p:cNvPr id="27" name="TextBox 26"/>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8" name="Rectangle 27"/>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1636"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646926"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Compute the spread z-score</a:t>
            </a:r>
          </a:p>
        </p:txBody>
      </p:sp>
      <p:sp>
        <p:nvSpPr>
          <p:cNvPr id="33" name="TextBox 32"/>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34" name="Rectangle 33"/>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49768"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465058"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Enter / exit both legs</a:t>
            </a:r>
          </a:p>
        </p:txBody>
      </p:sp>
      <p:sp>
        <p:nvSpPr>
          <p:cNvPr id="39" name="TextBox 38"/>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40" name="Rectangle 39"/>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867900" y="2240280"/>
            <a:ext cx="154381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0283190"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4" name="TextBox 43"/>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Monitor and re-test</a:t>
            </a:r>
          </a:p>
        </p:txBody>
      </p:sp>
      <p:sp>
        <p:nvSpPr>
          <p:cNvPr id="45" name="Rectangle 44"/>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77240" y="5257800"/>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Gatev, Goetzmann and Rouwenhorst (2006): a simple pairs rule on US stocks earned average annualised excess returns of up to 11% (1962-2002); later studies find smaller and less consistent profits.</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K6</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Algorithm: Pairs Trading (Hedged Statistical Arbitrage)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7C3AED"/>
                </a:solidFill>
                <a:latin typeface="Arial"/>
              </a:rPr>
              <a:t>K6</a:t>
            </a:r>
          </a:p>
        </p:txBody>
      </p:sp>
      <p:pic>
        <p:nvPicPr>
          <p:cNvPr id="10" name="Picture 9" descr="algo_pairs.png"/>
          <p:cNvPicPr>
            <a:picLocks noChangeAspect="1"/>
          </p:cNvPicPr>
          <p:nvPr/>
        </p:nvPicPr>
        <p:blipFill>
          <a:blip r:embed="rId2"/>
          <a:stretch>
            <a:fillRect/>
          </a:stretch>
        </p:blipFill>
        <p:spPr>
          <a:xfrm>
            <a:off x="777240" y="2083742"/>
            <a:ext cx="6172200" cy="3833514"/>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HOW IT WORKS</a:t>
            </a:r>
          </a:p>
          <a:p>
            <a:pPr algn="l">
              <a:spcAft>
                <a:spcPts val="200"/>
              </a:spcAft>
            </a:pPr>
            <a:r>
              <a:rPr sz="1150" b="0">
                <a:solidFill>
                  <a:srgbClr val="161B26"/>
                </a:solidFill>
                <a:latin typeface="Arial"/>
              </a:rPr>
              <a:t>Long one stock, short a cointegrated partner in hedge-ratio proportion: market moves cancel.</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RULE</a:t>
            </a:r>
          </a:p>
          <a:p>
            <a:pPr algn="l">
              <a:spcAft>
                <a:spcPts val="200"/>
              </a:spcAft>
            </a:pPr>
            <a:r>
              <a:rPr sz="1150" b="0">
                <a:solidFill>
                  <a:srgbClr val="161B26"/>
                </a:solidFill>
                <a:latin typeface="Arial"/>
              </a:rPr>
              <a:t>Spread z &gt; +2: short A / long B. z &lt; -2: long A / short B. Exit as z returns to 0.</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WORKS BEST WHEN</a:t>
            </a:r>
          </a:p>
          <a:p>
            <a:pPr algn="l">
              <a:spcAft>
                <a:spcPts val="200"/>
              </a:spcAft>
            </a:pPr>
            <a:r>
              <a:rPr sz="1150" b="0">
                <a:solidFill>
                  <a:srgbClr val="161B26"/>
                </a:solidFill>
                <a:latin typeface="Arial"/>
              </a:rPr>
              <a:t>Economically linked stocks (KO/PEP) whose spread has a stable mean.</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WATCH OUT FOR</a:t>
            </a:r>
          </a:p>
          <a:p>
            <a:pPr algn="l">
              <a:spcAft>
                <a:spcPts val="200"/>
              </a:spcAft>
            </a:pPr>
            <a:r>
              <a:rPr sz="1150" b="0">
                <a:solidFill>
                  <a:srgbClr val="161B26"/>
                </a:solidFill>
                <a:latin typeface="Arial"/>
              </a:rPr>
              <a:t>Cointegration can break; costs on both legs; short-borrow; screening many pairs.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Strategy-Search Stage: Grid Search, Out-of-Sample Ranking and Decay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A2  A4  K2</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10</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Grid-search SMA crossover parameters in-sample and measure how the ranking decays out of sample.</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Run the grid</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Read the decay</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Walk-forward</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IS and OOS Sharpe heatmaps, a rank correlation and a robust parameter region.</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10 — In the Trading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0_strategy_search_16x9.png"/>
          <p:cNvPicPr>
            <a:picLocks noChangeAspect="1"/>
          </p:cNvPicPr>
          <p:nvPr/>
        </p:nvPicPr>
        <p:blipFill>
          <a:blip r:embed="rId2"/>
          <a:stretch>
            <a:fillRect/>
          </a:stretch>
        </p:blipFill>
        <p:spPr>
          <a:xfrm>
            <a:off x="2438247" y="1645920"/>
            <a:ext cx="7315200" cy="4114800"/>
          </a:xfrm>
          <a:prstGeom prst="rect">
            <a:avLst/>
          </a:prstGeom>
        </p:spPr>
      </p:pic>
      <p:sp>
        <p:nvSpPr>
          <p:cNvPr id="8" name="Rectangle 7"/>
          <p:cNvSpPr/>
          <p:nvPr/>
        </p:nvSpPr>
        <p:spPr>
          <a:xfrm>
            <a:off x="2427274" y="1634947"/>
            <a:ext cx="7337145"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Course Labs &gt; Lab 10 at http://localhost:8000 - Research &gt; Grid SPY SMA cross. Offline demo data; connect Alpaca paper keys for live paper trading.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ML-Signal Stage: a Walk-Forward Classifier from Probability to Position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A4  K4  K6</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11</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Train logistic regression, random forest and XGBoost walk-forward and trade P(up) &gt; threshold.</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Train the classifiers</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Backtest an ML strategy</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Check for leakage</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Accuracy / AUC table, feature importance and a net-of-cost backtest of the ML signal.</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11 — In the Trading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1_ml_signal_16x9.png"/>
          <p:cNvPicPr>
            <a:picLocks noChangeAspect="1"/>
          </p:cNvPicPr>
          <p:nvPr/>
        </p:nvPicPr>
        <p:blipFill>
          <a:blip r:embed="rId2"/>
          <a:stretch>
            <a:fillRect/>
          </a:stretch>
        </p:blipFill>
        <p:spPr>
          <a:xfrm>
            <a:off x="2438247" y="1645920"/>
            <a:ext cx="7315200" cy="4114800"/>
          </a:xfrm>
          <a:prstGeom prst="rect">
            <a:avLst/>
          </a:prstGeom>
        </p:spPr>
      </p:pic>
      <p:sp>
        <p:nvSpPr>
          <p:cNvPr id="8" name="Rectangle 7"/>
          <p:cNvSpPr/>
          <p:nvPr/>
        </p:nvSpPr>
        <p:spPr>
          <a:xfrm>
            <a:off x="2427274" y="1634947"/>
            <a:ext cx="7337145"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Course Labs &gt; Lab 11 at http://localhost:8000 - Research &gt; ML SPY. Offline demo data; connect Alpaca paper keys for live paper trading.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Regime-Filter Stage: PCA and K-Means as a Gate on the Signals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A4  K4  K6</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12</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Find market regimes with walk-forward K-means and gate a signal in the high-volatility regime.</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5198364"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5198364"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4978908" cy="877824"/>
          </a:xfrm>
          <a:prstGeom prst="rect">
            <a:avLst/>
          </a:prstGeom>
          <a:noFill/>
        </p:spPr>
        <p:txBody>
          <a:bodyPr wrap="square" anchor="t">
            <a:spAutoFit/>
          </a:bodyPr>
          <a:lstStyle/>
          <a:p>
            <a:pPr algn="ctr">
              <a:spcAft>
                <a:spcPts val="400"/>
              </a:spcAft>
            </a:pPr>
            <a:r>
              <a:rPr sz="1050" b="0">
                <a:solidFill>
                  <a:srgbClr val="161B26"/>
                </a:solidFill>
                <a:latin typeface="Arial"/>
              </a:rPr>
              <a:t>Simulator: Analyse regimes</a:t>
            </a:r>
          </a:p>
        </p:txBody>
      </p:sp>
      <p:sp>
        <p:nvSpPr>
          <p:cNvPr id="19" name="TextBox 18"/>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6213348" y="3456432"/>
            <a:ext cx="5198364"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3348" y="3456432"/>
            <a:ext cx="5198364"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6323076" y="4114800"/>
            <a:ext cx="4978908" cy="877824"/>
          </a:xfrm>
          <a:prstGeom prst="rect">
            <a:avLst/>
          </a:prstGeom>
          <a:noFill/>
        </p:spPr>
        <p:txBody>
          <a:bodyPr wrap="square" anchor="t">
            <a:spAutoFit/>
          </a:bodyPr>
          <a:lstStyle/>
          <a:p>
            <a:pPr algn="ctr">
              <a:spcAft>
                <a:spcPts val="400"/>
              </a:spcAft>
            </a:pPr>
            <a:r>
              <a:rPr sz="1050" b="0">
                <a:solidFill>
                  <a:srgbClr val="161B26"/>
                </a:solidFill>
                <a:latin typeface="Arial"/>
              </a:rPr>
              <a:t>Simulator: Backtest the regime-filtered strategy</a:t>
            </a:r>
          </a:p>
        </p:txBody>
      </p:sp>
      <p:sp>
        <p:nvSpPr>
          <p:cNvPr id="25" name="Rectangle 24"/>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28" name="TextBox 27"/>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PCA explained variance, a regime timeline and gated vs ungated performance.</a:t>
            </a:r>
          </a:p>
        </p:txBody>
      </p:sp>
      <p:sp>
        <p:nvSpPr>
          <p:cNvPr id="29" name="TextBox 28"/>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15 min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12 — In the Trading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2_regimes_16x9.png"/>
          <p:cNvPicPr>
            <a:picLocks noChangeAspect="1"/>
          </p:cNvPicPr>
          <p:nvPr/>
        </p:nvPicPr>
        <p:blipFill>
          <a:blip r:embed="rId2"/>
          <a:stretch>
            <a:fillRect/>
          </a:stretch>
        </p:blipFill>
        <p:spPr>
          <a:xfrm>
            <a:off x="2438247" y="1645920"/>
            <a:ext cx="7315200" cy="4114800"/>
          </a:xfrm>
          <a:prstGeom prst="rect">
            <a:avLst/>
          </a:prstGeom>
        </p:spPr>
      </p:pic>
      <p:sp>
        <p:nvSpPr>
          <p:cNvPr id="8" name="Rectangle 7"/>
          <p:cNvSpPr/>
          <p:nvPr/>
        </p:nvSpPr>
        <p:spPr>
          <a:xfrm>
            <a:off x="2427274" y="1634947"/>
            <a:ext cx="7337145"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Course Labs &gt; Lab 12 at http://localhost:8000 - Research &gt; Regimes SPY. Offline demo data; connect Alpaca paper keys for live paper trading.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A/B-Test Stage: a Statistical Decision before Capital Moves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A5  K2</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13</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Decide statistically between two variants before moving capital.</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5198364"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5198364"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4978908"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Run the A/B test</a:t>
            </a:r>
          </a:p>
        </p:txBody>
      </p:sp>
      <p:sp>
        <p:nvSpPr>
          <p:cNvPr id="19" name="TextBox 18"/>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6213348" y="3456432"/>
            <a:ext cx="5198364"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3348" y="3456432"/>
            <a:ext cx="5198364"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6323076" y="4114800"/>
            <a:ext cx="4978908" cy="877824"/>
          </a:xfrm>
          <a:prstGeom prst="rect">
            <a:avLst/>
          </a:prstGeom>
          <a:noFill/>
        </p:spPr>
        <p:txBody>
          <a:bodyPr wrap="square" anchor="t">
            <a:spAutoFit/>
          </a:bodyPr>
          <a:lstStyle/>
          <a:p>
            <a:pPr algn="ctr">
              <a:spcAft>
                <a:spcPts val="400"/>
              </a:spcAft>
            </a:pPr>
            <a:r>
              <a:rPr sz="1050" b="0">
                <a:solidFill>
                  <a:srgbClr val="161B26"/>
                </a:solidFill>
                <a:latin typeface="Arial"/>
              </a:rPr>
              <a:t>Simulator: Your own variants</a:t>
            </a:r>
          </a:p>
        </p:txBody>
      </p:sp>
      <p:sp>
        <p:nvSpPr>
          <p:cNvPr id="25" name="Rectangle 24"/>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28" name="TextBox 27"/>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Welch and paired t-tests, a bootstrap Sharpe CI and a decision with a multiple-testing caution.</a:t>
            </a:r>
          </a:p>
        </p:txBody>
      </p:sp>
      <p:sp>
        <p:nvSpPr>
          <p:cNvPr id="29" name="TextBox 28"/>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15 min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13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13 — In the Trading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3_ab_test_16x9.png"/>
          <p:cNvPicPr>
            <a:picLocks noChangeAspect="1"/>
          </p:cNvPicPr>
          <p:nvPr/>
        </p:nvPicPr>
        <p:blipFill>
          <a:blip r:embed="rId2"/>
          <a:stretch>
            <a:fillRect/>
          </a:stretch>
        </p:blipFill>
        <p:spPr>
          <a:xfrm>
            <a:off x="2438247" y="1645920"/>
            <a:ext cx="7315200" cy="4114800"/>
          </a:xfrm>
          <a:prstGeom prst="rect">
            <a:avLst/>
          </a:prstGeom>
        </p:spPr>
      </p:pic>
      <p:sp>
        <p:nvSpPr>
          <p:cNvPr id="8" name="Rectangle 7"/>
          <p:cNvSpPr/>
          <p:nvPr/>
        </p:nvSpPr>
        <p:spPr>
          <a:xfrm>
            <a:off x="2427274" y="1634947"/>
            <a:ext cx="7337145"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Course Labs &gt; Lab 13 at http://localhost:8000 - Research &gt; A/B trend_filter vs dip_buy. Offline demo data; connect Alpaca paper keys for live paper trading.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3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Pairs Stage: a Hedged, Market-Neutral Statistical-Arbitrage Sleeve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A4  K6</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14</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Screen pairs for cointegration and backtest a market-neutral KO/PEP spread.</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5198364"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5198364"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16611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6611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4978908" cy="877824"/>
          </a:xfrm>
          <a:prstGeom prst="rect">
            <a:avLst/>
          </a:prstGeom>
          <a:noFill/>
        </p:spPr>
        <p:txBody>
          <a:bodyPr wrap="square" anchor="t">
            <a:spAutoFit/>
          </a:bodyPr>
          <a:lstStyle/>
          <a:p>
            <a:pPr algn="ctr">
              <a:spcAft>
                <a:spcPts val="400"/>
              </a:spcAft>
            </a:pPr>
            <a:r>
              <a:rPr sz="1050" b="0">
                <a:solidFill>
                  <a:srgbClr val="161B26"/>
                </a:solidFill>
                <a:latin typeface="Arial"/>
              </a:rPr>
              <a:t>Simulator: Screen the pairs</a:t>
            </a:r>
          </a:p>
        </p:txBody>
      </p:sp>
      <p:sp>
        <p:nvSpPr>
          <p:cNvPr id="19" name="TextBox 18"/>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6213348" y="3456432"/>
            <a:ext cx="5198364"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3348" y="3456432"/>
            <a:ext cx="5198364"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602218"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02218"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6323076" y="4114800"/>
            <a:ext cx="4978908" cy="877824"/>
          </a:xfrm>
          <a:prstGeom prst="rect">
            <a:avLst/>
          </a:prstGeom>
          <a:noFill/>
        </p:spPr>
        <p:txBody>
          <a:bodyPr wrap="square" anchor="t">
            <a:spAutoFit/>
          </a:bodyPr>
          <a:lstStyle/>
          <a:p>
            <a:pPr algn="ctr">
              <a:spcAft>
                <a:spcPts val="400"/>
              </a:spcAft>
            </a:pPr>
            <a:r>
              <a:rPr sz="1050" b="0">
                <a:solidFill>
                  <a:srgbClr val="161B26"/>
                </a:solidFill>
                <a:latin typeface="Arial"/>
              </a:rPr>
              <a:t>Simulator: Backtest KO/PEP</a:t>
            </a:r>
          </a:p>
        </p:txBody>
      </p:sp>
      <p:sp>
        <p:nvSpPr>
          <p:cNvPr id="25" name="Rectangle 24"/>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28" name="TextBox 27"/>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An Engle-Granger screen and a pairs backtest with beta near zero.</a:t>
            </a:r>
          </a:p>
        </p:txBody>
      </p:sp>
      <p:sp>
        <p:nvSpPr>
          <p:cNvPr id="29" name="TextBox 28"/>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14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14 — In the Trading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4_pairs_16x9.png"/>
          <p:cNvPicPr>
            <a:picLocks noChangeAspect="1"/>
          </p:cNvPicPr>
          <p:nvPr/>
        </p:nvPicPr>
        <p:blipFill>
          <a:blip r:embed="rId2"/>
          <a:stretch>
            <a:fillRect/>
          </a:stretch>
        </p:blipFill>
        <p:spPr>
          <a:xfrm>
            <a:off x="2438247" y="1645920"/>
            <a:ext cx="7315200" cy="4114800"/>
          </a:xfrm>
          <a:prstGeom prst="rect">
            <a:avLst/>
          </a:prstGeom>
        </p:spPr>
      </p:pic>
      <p:sp>
        <p:nvSpPr>
          <p:cNvPr id="8" name="Rectangle 7"/>
          <p:cNvSpPr/>
          <p:nvPr/>
        </p:nvSpPr>
        <p:spPr>
          <a:xfrm>
            <a:off x="2427274" y="1634947"/>
            <a:ext cx="7337145"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Course Labs &gt; Lab 14 at http://localhost:8000 - Research &gt; Pairs screen. Offline demo data; connect Alpaca paper keys for live paper trading.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3 · WHAT YOU COVERED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Topic 3 Recap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07424" y="475488"/>
            <a:ext cx="2304288"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107424" y="475488"/>
            <a:ext cx="54864"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07424" y="475488"/>
            <a:ext cx="2304288" cy="310896"/>
          </a:xfrm>
          <a:prstGeom prst="rect">
            <a:avLst/>
          </a:prstGeom>
          <a:noFill/>
        </p:spPr>
        <p:txBody>
          <a:bodyPr wrap="square" anchor="ctr">
            <a:spAutoFit/>
          </a:bodyPr>
          <a:lstStyle/>
          <a:p>
            <a:pPr algn="ctr">
              <a:spcAft>
                <a:spcPts val="400"/>
              </a:spcAft>
            </a:pPr>
            <a:r>
              <a:rPr sz="1100" b="1">
                <a:solidFill>
                  <a:srgbClr val="7C3AED"/>
                </a:solidFill>
                <a:latin typeface="Arial"/>
              </a:rPr>
              <a:t>A4  A5  K2  K4  K6</a:t>
            </a:r>
          </a:p>
        </p:txBody>
      </p:sp>
      <p:sp>
        <p:nvSpPr>
          <p:cNvPr id="10" name="Rectangle 9"/>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A4</a:t>
            </a:r>
          </a:p>
          <a:p>
            <a:pPr algn="l">
              <a:spcAft>
                <a:spcPts val="300"/>
              </a:spcAft>
            </a:pPr>
            <a:r>
              <a:rPr sz="1000" b="0">
                <a:solidFill>
                  <a:srgbClr val="5B6372"/>
                </a:solidFill>
                <a:latin typeface="Arial"/>
              </a:rPr>
              <a:t>Conduct statistical modelling of data to derive patterns and solutions</a:t>
            </a:r>
          </a:p>
        </p:txBody>
      </p:sp>
      <p:sp>
        <p:nvSpPr>
          <p:cNvPr id="15" name="Rectangle 14"/>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83281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A5</a:t>
            </a:r>
          </a:p>
          <a:p>
            <a:pPr algn="l">
              <a:spcAft>
                <a:spcPts val="300"/>
              </a:spcAft>
            </a:pPr>
            <a:r>
              <a:rPr sz="1000" b="0">
                <a:solidFill>
                  <a:srgbClr val="5B6372"/>
                </a:solidFill>
                <a:latin typeface="Arial"/>
              </a:rPr>
              <a:t>Perform A/B testing based on different hypotheses</a:t>
            </a:r>
          </a:p>
        </p:txBody>
      </p:sp>
      <p:sp>
        <p:nvSpPr>
          <p:cNvPr id="20" name="Rectangle 19"/>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75452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K2</a:t>
            </a:r>
          </a:p>
          <a:p>
            <a:pPr algn="l">
              <a:spcAft>
                <a:spcPts val="300"/>
              </a:spcAft>
            </a:pPr>
            <a:r>
              <a:rPr sz="1000" b="0">
                <a:solidFill>
                  <a:srgbClr val="5B6372"/>
                </a:solidFill>
                <a:latin typeface="Arial"/>
              </a:rPr>
              <a:t>Types of statistical analyses, data models, algorithms and advanced computational methods</a:t>
            </a:r>
          </a:p>
        </p:txBody>
      </p:sp>
      <p:sp>
        <p:nvSpPr>
          <p:cNvPr id="25" name="Rectangle 24"/>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676241"/>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K4</a:t>
            </a:r>
          </a:p>
          <a:p>
            <a:pPr algn="l">
              <a:spcAft>
                <a:spcPts val="300"/>
              </a:spcAft>
            </a:pPr>
            <a:r>
              <a:rPr sz="1000" b="0">
                <a:solidFill>
                  <a:srgbClr val="5B6372"/>
                </a:solidFill>
                <a:latin typeface="Arial"/>
              </a:rPr>
              <a:t>Range and application of various types of data models</a:t>
            </a:r>
          </a:p>
        </p:txBody>
      </p:sp>
      <p:sp>
        <p:nvSpPr>
          <p:cNvPr id="30" name="Rectangle 29"/>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5597956"/>
            <a:ext cx="9427464" cy="501091"/>
          </a:xfrm>
          <a:prstGeom prst="rect">
            <a:avLst/>
          </a:prstGeom>
          <a:noFill/>
        </p:spPr>
        <p:txBody>
          <a:bodyPr wrap="square" anchor="ctr">
            <a:spAutoFit/>
          </a:bodyPr>
          <a:lstStyle/>
          <a:p>
            <a:pPr algn="l">
              <a:spcAft>
                <a:spcPts val="300"/>
              </a:spcAft>
            </a:pPr>
            <a:r>
              <a:rPr sz="1400" b="1">
                <a:solidFill>
                  <a:srgbClr val="161B26"/>
                </a:solidFill>
                <a:latin typeface="Arial"/>
              </a:rPr>
              <a:t>K6</a:t>
            </a:r>
          </a:p>
          <a:p>
            <a:pPr algn="l">
              <a:spcAft>
                <a:spcPts val="300"/>
              </a:spcAft>
            </a:pPr>
            <a:r>
              <a:rPr sz="1000" b="0">
                <a:solidFill>
                  <a:srgbClr val="5B6372"/>
                </a:solidFill>
                <a:latin typeface="Arial"/>
              </a:rPr>
              <a:t>Statistical modelling techniques</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84048"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74519"/>
            <a:ext cx="8778240" cy="457200"/>
          </a:xfrm>
          <a:prstGeom prst="rect">
            <a:avLst/>
          </a:prstGeom>
          <a:noFill/>
        </p:spPr>
        <p:txBody>
          <a:bodyPr wrap="square" anchor="t">
            <a:spAutoFit/>
          </a:bodyPr>
          <a:lstStyle/>
          <a:p>
            <a:pPr algn="l">
              <a:spcAft>
                <a:spcPts val="400"/>
              </a:spcAft>
            </a:pPr>
            <a:r>
              <a:rPr sz="1600" b="1">
                <a:solidFill>
                  <a:srgbClr val="F59E0B"/>
                </a:solidFill>
                <a:latin typeface="Arial"/>
              </a:rPr>
              <a:t>TOPIC 4</a:t>
            </a:r>
          </a:p>
        </p:txBody>
      </p:sp>
      <p:sp>
        <p:nvSpPr>
          <p:cNvPr id="5" name="TextBox 4"/>
          <p:cNvSpPr txBox="1"/>
          <p:nvPr/>
        </p:nvSpPr>
        <p:spPr>
          <a:xfrm>
            <a:off x="1188720" y="2331720"/>
            <a:ext cx="9509760" cy="914400"/>
          </a:xfrm>
          <a:prstGeom prst="rect">
            <a:avLst/>
          </a:prstGeom>
          <a:noFill/>
        </p:spPr>
        <p:txBody>
          <a:bodyPr wrap="square" anchor="t">
            <a:spAutoFit/>
          </a:bodyPr>
          <a:lstStyle/>
          <a:p>
            <a:pPr algn="l">
              <a:spcAft>
                <a:spcPts val="400"/>
              </a:spcAft>
            </a:pPr>
            <a:r>
              <a:rPr sz="4000" b="1">
                <a:solidFill>
                  <a:srgbClr val="161B26"/>
                </a:solidFill>
                <a:latin typeface="Arial"/>
              </a:rPr>
              <a:t>End-to-End Trading Pipeline</a:t>
            </a:r>
          </a:p>
        </p:txBody>
      </p:sp>
      <p:sp>
        <p:nvSpPr>
          <p:cNvPr id="6" name="Rectangle 5"/>
          <p:cNvSpPr/>
          <p:nvPr/>
        </p:nvSpPr>
        <p:spPr>
          <a:xfrm>
            <a:off x="1188720" y="3429000"/>
            <a:ext cx="9509760" cy="1234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8720" y="3429000"/>
            <a:ext cx="82296" cy="1234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3429000"/>
            <a:ext cx="9052560" cy="1234440"/>
          </a:xfrm>
          <a:prstGeom prst="rect">
            <a:avLst/>
          </a:prstGeom>
          <a:noFill/>
        </p:spPr>
        <p:txBody>
          <a:bodyPr wrap="square" anchor="ctr">
            <a:spAutoFit/>
          </a:bodyPr>
          <a:lstStyle/>
          <a:p>
            <a:pPr algn="l">
              <a:spcAft>
                <a:spcPts val="400"/>
              </a:spcAft>
            </a:pPr>
            <a:r>
              <a:rPr sz="1050" b="1">
                <a:solidFill>
                  <a:srgbClr val="F59E0B"/>
                </a:solidFill>
                <a:latin typeface="Arial"/>
              </a:rPr>
              <a:t>LEARNING OUTCOME</a:t>
            </a:r>
          </a:p>
          <a:p>
            <a:pPr algn="l">
              <a:spcAft>
                <a:spcPts val="400"/>
              </a:spcAft>
            </a:pPr>
            <a:r>
              <a:rPr sz="1350" b="0">
                <a:solidFill>
                  <a:srgbClr val="161B26"/>
                </a:solidFill>
                <a:latin typeface="Arial"/>
              </a:rPr>
              <a:t>Perform coding and configuration of an automated trading program based on selected models or algorithms, conduct tests on its actions and outcomes, diagnose unintended outcomes, and draw insights from the results to support decisions and report accordingly.</a:t>
            </a:r>
          </a:p>
        </p:txBody>
      </p:sp>
      <p:sp>
        <p:nvSpPr>
          <p:cNvPr id="9" name="TextBox 8"/>
          <p:cNvSpPr txBox="1"/>
          <p:nvPr/>
        </p:nvSpPr>
        <p:spPr>
          <a:xfrm>
            <a:off x="1188720" y="4892040"/>
            <a:ext cx="9509760" cy="457200"/>
          </a:xfrm>
          <a:prstGeom prst="rect">
            <a:avLst/>
          </a:prstGeom>
          <a:noFill/>
        </p:spPr>
        <p:txBody>
          <a:bodyPr wrap="square" anchor="t">
            <a:spAutoFit/>
          </a:bodyPr>
          <a:lstStyle/>
          <a:p>
            <a:pPr algn="l">
              <a:spcAft>
                <a:spcPts val="400"/>
              </a:spcAft>
            </a:pPr>
            <a:r>
              <a:rPr sz="1150" b="0">
                <a:solidFill>
                  <a:srgbClr val="5B6372"/>
                </a:solidFill>
                <a:latin typeface="Arial"/>
              </a:rPr>
              <a:t>Abilities A7, A8, A9, A10  ·  Knowledge K7, K8   ·   Day 2   ·   Labs 15–20   ·   Assessed by PP Task 4 and WA Q7, Q8</a:t>
            </a:r>
          </a:p>
        </p:txBody>
      </p:sp>
      <p:sp>
        <p:nvSpPr>
          <p:cNvPr id="10" name="TextBox 9"/>
          <p:cNvSpPr txBox="1"/>
          <p:nvPr/>
        </p:nvSpPr>
        <p:spPr>
          <a:xfrm>
            <a:off x="9692640" y="914400"/>
            <a:ext cx="2011680" cy="2011680"/>
          </a:xfrm>
          <a:prstGeom prst="rect">
            <a:avLst/>
          </a:prstGeom>
          <a:noFill/>
        </p:spPr>
        <p:txBody>
          <a:bodyPr wrap="square" anchor="t">
            <a:spAutoFit/>
          </a:bodyPr>
          <a:lstStyle/>
          <a:p>
            <a:pPr algn="r">
              <a:spcAft>
                <a:spcPts val="400"/>
              </a:spcAft>
            </a:pPr>
            <a:r>
              <a:rPr sz="9600" b="1">
                <a:solidFill>
                  <a:srgbClr val="F5F8FC"/>
                </a:solidFill>
                <a:latin typeface="Arial"/>
              </a:rPr>
              <a:t>04</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Pre-Trade Risk Controls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A7</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Position and order limits</a:t>
            </a:r>
          </a:p>
          <a:p>
            <a:pPr algn="l">
              <a:spcAft>
                <a:spcPts val="300"/>
              </a:spcAft>
            </a:pPr>
            <a:r>
              <a:rPr sz="1150" b="0">
                <a:solidFill>
                  <a:srgbClr val="5B6372"/>
                </a:solidFill>
                <a:latin typeface="Arial"/>
              </a:rPr>
              <a:t>Maximum shares, maximum order value per symbol.</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Maximum daily loss</a:t>
            </a:r>
          </a:p>
          <a:p>
            <a:pPr algn="l">
              <a:spcAft>
                <a:spcPts val="300"/>
              </a:spcAft>
            </a:pPr>
            <a:r>
              <a:rPr sz="1150" b="0">
                <a:solidFill>
                  <a:srgbClr val="5B6372"/>
                </a:solidFill>
                <a:latin typeface="Arial"/>
              </a:rPr>
              <a:t>Stop trading for the day when breached.</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Market-hours and duplicate checks</a:t>
            </a:r>
          </a:p>
          <a:p>
            <a:pPr algn="l">
              <a:spcAft>
                <a:spcPts val="300"/>
              </a:spcAft>
            </a:pPr>
            <a:r>
              <a:rPr sz="1150" b="0">
                <a:solidFill>
                  <a:srgbClr val="5B6372"/>
                </a:solidFill>
                <a:latin typeface="Arial"/>
              </a:rPr>
              <a:t>Alpaca clock; never resend an open order.</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Kill switch</a:t>
            </a:r>
          </a:p>
          <a:p>
            <a:pPr algn="l">
              <a:spcAft>
                <a:spcPts val="300"/>
              </a:spcAft>
            </a:pPr>
            <a:r>
              <a:rPr sz="1150" b="0">
                <a:solidFill>
                  <a:srgbClr val="5B6372"/>
                </a:solidFill>
                <a:latin typeface="Arial"/>
              </a:rPr>
              <a:t>One file or flag halts all trading immediately.</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K7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Trading Costs You Must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K7</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Commission</a:t>
            </a:r>
          </a:p>
          <a:p>
            <a:pPr algn="l">
              <a:spcAft>
                <a:spcPts val="300"/>
              </a:spcAft>
            </a:pPr>
            <a:r>
              <a:rPr sz="1150" b="0">
                <a:solidFill>
                  <a:srgbClr val="5B6372"/>
                </a:solidFill>
                <a:latin typeface="Arial"/>
              </a:rPr>
              <a:t>Zero on Alpaca US equities — not on most brokers.</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Spread and slippage</a:t>
            </a:r>
          </a:p>
          <a:p>
            <a:pPr algn="l">
              <a:spcAft>
                <a:spcPts val="300"/>
              </a:spcAft>
            </a:pPr>
            <a:r>
              <a:rPr sz="1150" b="0">
                <a:solidFill>
                  <a:srgbClr val="5B6372"/>
                </a:solidFill>
                <a:latin typeface="Arial"/>
              </a:rPr>
              <a:t>Half-spread + slippage on every fill, in bps.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Regulatory fees on sells</a:t>
            </a:r>
          </a:p>
          <a:p>
            <a:pPr algn="l">
              <a:spcAft>
                <a:spcPts val="300"/>
              </a:spcAft>
            </a:pPr>
            <a:r>
              <a:rPr sz="1150" b="0">
                <a:solidFill>
                  <a:srgbClr val="5B6372"/>
                </a:solidFill>
                <a:latin typeface="Arial"/>
              </a:rPr>
              <a:t>SEC Section 31 fee and FINRA TAF.</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Borrow and impact</a:t>
            </a:r>
          </a:p>
          <a:p>
            <a:pPr algn="l">
              <a:spcAft>
                <a:spcPts val="300"/>
              </a:spcAft>
            </a:pPr>
            <a:r>
              <a:rPr sz="1150" b="0">
                <a:solidFill>
                  <a:srgbClr val="5B6372"/>
                </a:solidFill>
                <a:latin typeface="Arial"/>
              </a:rPr>
              <a:t>Short-borrow costs; your own market impact.</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A8, K8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Historical Data: Backtest, Tune, Then Forward Test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F59E0B"/>
                </a:solidFill>
                <a:latin typeface="Arial"/>
              </a:rPr>
              <a:t>A8  K8</a:t>
            </a:r>
          </a:p>
        </p:txBody>
      </p:sp>
      <p:pic>
        <p:nvPicPr>
          <p:cNvPr id="10" name="Picture 9" descr="concept_data_split.png"/>
          <p:cNvPicPr>
            <a:picLocks noChangeAspect="1"/>
          </p:cNvPicPr>
          <p:nvPr/>
        </p:nvPicPr>
        <p:blipFill>
          <a:blip r:embed="rId2"/>
          <a:stretch>
            <a:fillRect/>
          </a:stretch>
        </p:blipFill>
        <p:spPr>
          <a:xfrm>
            <a:off x="777240" y="2299188"/>
            <a:ext cx="6172200" cy="3402623"/>
          </a:xfrm>
          <a:prstGeom prst="rect">
            <a:avLst/>
          </a:prstGeom>
        </p:spPr>
      </p:pic>
      <p:sp>
        <p:nvSpPr>
          <p:cNvPr id="11" name="Rectangle 10"/>
          <p:cNvSpPr/>
          <p:nvPr/>
        </p:nvSpPr>
        <p:spPr>
          <a:xfrm>
            <a:off x="7178040" y="182880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78040" y="1828800"/>
            <a:ext cx="73152" cy="9829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0" y="1828800"/>
            <a:ext cx="3913632" cy="982980"/>
          </a:xfrm>
          <a:prstGeom prst="rect">
            <a:avLst/>
          </a:prstGeom>
          <a:noFill/>
        </p:spPr>
        <p:txBody>
          <a:bodyPr wrap="square" anchor="ctr">
            <a:spAutoFit/>
          </a:bodyPr>
          <a:lstStyle/>
          <a:p>
            <a:pPr algn="l">
              <a:spcAft>
                <a:spcPts val="200"/>
              </a:spcAft>
            </a:pPr>
            <a:r>
              <a:rPr sz="1050" b="1">
                <a:solidFill>
                  <a:srgbClr val="1F6FEB"/>
                </a:solidFill>
                <a:latin typeface="Arial"/>
              </a:rPr>
              <a:t>BACKTEST ON HISTORY</a:t>
            </a:r>
          </a:p>
          <a:p>
            <a:pPr algn="l">
              <a:spcAft>
                <a:spcPts val="200"/>
              </a:spcAft>
            </a:pPr>
            <a:r>
              <a:rPr sz="1150" b="0">
                <a:solidFill>
                  <a:srgbClr val="161B26"/>
                </a:solidFill>
                <a:latin typeface="Arial"/>
              </a:rPr>
              <a:t>Replay the strategy's rules over past prices - next-bar fills, trading costs - to see how it would have performed.</a:t>
            </a:r>
          </a:p>
        </p:txBody>
      </p:sp>
      <p:sp>
        <p:nvSpPr>
          <p:cNvPr id="14" name="Rectangle 13"/>
          <p:cNvSpPr/>
          <p:nvPr/>
        </p:nvSpPr>
        <p:spPr>
          <a:xfrm>
            <a:off x="7178040" y="294893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78040" y="2948939"/>
            <a:ext cx="73152" cy="9829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2948939"/>
            <a:ext cx="3913632" cy="982980"/>
          </a:xfrm>
          <a:prstGeom prst="rect">
            <a:avLst/>
          </a:prstGeom>
          <a:noFill/>
        </p:spPr>
        <p:txBody>
          <a:bodyPr wrap="square" anchor="ctr">
            <a:spAutoFit/>
          </a:bodyPr>
          <a:lstStyle/>
          <a:p>
            <a:pPr algn="l">
              <a:spcAft>
                <a:spcPts val="200"/>
              </a:spcAft>
            </a:pPr>
            <a:r>
              <a:rPr sz="1050" b="1">
                <a:solidFill>
                  <a:srgbClr val="10B981"/>
                </a:solidFill>
                <a:latin typeface="Arial"/>
              </a:rPr>
              <a:t>TUNE HYPERPARAMETERS (IN-SAMPLE)</a:t>
            </a:r>
          </a:p>
          <a:p>
            <a:pPr algn="l">
              <a:spcAft>
                <a:spcPts val="200"/>
              </a:spcAft>
            </a:pPr>
            <a:r>
              <a:rPr sz="1150" b="0">
                <a:solidFill>
                  <a:srgbClr val="161B26"/>
                </a:solidFill>
                <a:latin typeface="Arial"/>
              </a:rPr>
              <a:t>Search the settings (MA lengths, RSI levels, model parameters) on the OLDER history only, by grid search or walk-forward.</a:t>
            </a:r>
          </a:p>
        </p:txBody>
      </p:sp>
      <p:sp>
        <p:nvSpPr>
          <p:cNvPr id="17" name="Rectangle 16"/>
          <p:cNvSpPr/>
          <p:nvPr/>
        </p:nvSpPr>
        <p:spPr>
          <a:xfrm>
            <a:off x="7178040" y="4069079"/>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78040" y="4069079"/>
            <a:ext cx="73152" cy="9829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0" y="4069079"/>
            <a:ext cx="3913632" cy="982980"/>
          </a:xfrm>
          <a:prstGeom prst="rect">
            <a:avLst/>
          </a:prstGeom>
          <a:noFill/>
        </p:spPr>
        <p:txBody>
          <a:bodyPr wrap="square" anchor="ctr">
            <a:spAutoFit/>
          </a:bodyPr>
          <a:lstStyle/>
          <a:p>
            <a:pPr algn="l">
              <a:spcAft>
                <a:spcPts val="200"/>
              </a:spcAft>
            </a:pPr>
            <a:r>
              <a:rPr sz="1050" b="1">
                <a:solidFill>
                  <a:srgbClr val="7C3AED"/>
                </a:solidFill>
                <a:latin typeface="Arial"/>
              </a:rPr>
              <a:t>CONFIRM OUT-OF-SAMPLE</a:t>
            </a:r>
          </a:p>
          <a:p>
            <a:pPr algn="l">
              <a:spcAft>
                <a:spcPts val="200"/>
              </a:spcAft>
            </a:pPr>
            <a:r>
              <a:rPr sz="1150" b="0">
                <a:solidFill>
                  <a:srgbClr val="161B26"/>
                </a:solidFill>
                <a:latin typeface="Arial"/>
              </a:rPr>
              <a:t>Backtest the tuned settings ONCE on later history the search never saw. A big drop from in-sample = overfitting.</a:t>
            </a:r>
          </a:p>
        </p:txBody>
      </p:sp>
      <p:sp>
        <p:nvSpPr>
          <p:cNvPr id="20" name="Rectangle 19"/>
          <p:cNvSpPr/>
          <p:nvPr/>
        </p:nvSpPr>
        <p:spPr>
          <a:xfrm>
            <a:off x="7178040" y="5189220"/>
            <a:ext cx="4233672" cy="9829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5189220"/>
            <a:ext cx="73152" cy="9829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5189220"/>
            <a:ext cx="3913632" cy="982980"/>
          </a:xfrm>
          <a:prstGeom prst="rect">
            <a:avLst/>
          </a:prstGeom>
          <a:noFill/>
        </p:spPr>
        <p:txBody>
          <a:bodyPr wrap="square" anchor="ctr">
            <a:spAutoFit/>
          </a:bodyPr>
          <a:lstStyle/>
          <a:p>
            <a:pPr algn="l">
              <a:spcAft>
                <a:spcPts val="200"/>
              </a:spcAft>
            </a:pPr>
            <a:r>
              <a:rPr sz="1050" b="1">
                <a:solidFill>
                  <a:srgbClr val="F59E0B"/>
                </a:solidFill>
                <a:latin typeface="Arial"/>
              </a:rPr>
              <a:t>FORWARD TEST (PAPER)</a:t>
            </a:r>
          </a:p>
          <a:p>
            <a:pPr algn="l">
              <a:spcAft>
                <a:spcPts val="200"/>
              </a:spcAft>
            </a:pPr>
            <a:r>
              <a:rPr sz="1150" b="0">
                <a:solidFill>
                  <a:srgbClr val="161B26"/>
                </a:solidFill>
                <a:latin typeface="Arial"/>
              </a:rPr>
              <a:t>Run the tuned strategy on NEW data as it arrives - paper orders, real fills and risk checks - before any capital.</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From Historical Data to a Forward-Tested Strategy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A8</a:t>
            </a: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The same rule moves through four tests; each uses data the previous step never touched.</a:t>
            </a:r>
          </a:p>
        </p:txBody>
      </p:sp>
      <p:sp>
        <p:nvSpPr>
          <p:cNvPr id="11" name="Rectangle 10"/>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374343"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Historical data (2018-2025)</a:t>
            </a:r>
          </a:p>
        </p:txBody>
      </p:sp>
      <p:sp>
        <p:nvSpPr>
          <p:cNvPr id="16" name="TextBox 15"/>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17" name="Rectangle 16"/>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958998"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556101"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Tune in-sample (2018-2021)</a:t>
            </a:r>
          </a:p>
        </p:txBody>
      </p:sp>
      <p:sp>
        <p:nvSpPr>
          <p:cNvPr id="22" name="TextBox 21"/>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3" name="Rectangle 22"/>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140756"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737859"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Backtest once out-of-sample (2022-2024)</a:t>
            </a:r>
          </a:p>
        </p:txBody>
      </p:sp>
      <p:sp>
        <p:nvSpPr>
          <p:cNvPr id="28" name="TextBox 27"/>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9" name="Rectangle 28"/>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22514"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919617"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Forward test on paper (2025 onward)</a:t>
            </a:r>
          </a:p>
        </p:txBody>
      </p:sp>
      <p:sp>
        <p:nvSpPr>
          <p:cNvPr id="34" name="TextBox 33"/>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35" name="Rectangle 34"/>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04272"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101375"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Go-live decision</a:t>
            </a:r>
          </a:p>
        </p:txBody>
      </p:sp>
      <p:sp>
        <p:nvSpPr>
          <p:cNvPr id="40" name="Rectangle 39"/>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5257800"/>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Tuning on the test period, or re-tuning after seeing out-of-sample results, turns the test into more tuning - the result will look better than reality (Labs 10, 15, 16).</a:t>
            </a:r>
          </a:p>
        </p:txBody>
      </p:sp>
      <p:sp>
        <p:nvSpPr>
          <p:cNvPr id="43" name="TextBox 4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44" name="TextBox 4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5" name="TextBox 4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K8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Potential Reasons for Unintended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K8</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Overfitting and data snooping</a:t>
            </a:r>
          </a:p>
          <a:p>
            <a:pPr algn="l">
              <a:spcAft>
                <a:spcPts val="300"/>
              </a:spcAft>
            </a:pPr>
            <a:r>
              <a:rPr sz="1150" b="0">
                <a:solidFill>
                  <a:srgbClr val="5B6372"/>
                </a:solidFill>
                <a:latin typeface="Arial"/>
              </a:rPr>
              <a:t>Great in-sample, collapses out of sample.</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Look-ahead and survivorship bias</a:t>
            </a:r>
          </a:p>
          <a:p>
            <a:pPr algn="l">
              <a:spcAft>
                <a:spcPts val="300"/>
              </a:spcAft>
            </a:pPr>
            <a:r>
              <a:rPr sz="1150" b="0">
                <a:solidFill>
                  <a:srgbClr val="5B6372"/>
                </a:solidFill>
                <a:latin typeface="Arial"/>
              </a:rPr>
              <a:t>Same-bar fills; only today's survivors.</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Cost and execution drag</a:t>
            </a:r>
          </a:p>
          <a:p>
            <a:pPr algn="l">
              <a:spcAft>
                <a:spcPts val="300"/>
              </a:spcAft>
            </a:pPr>
            <a:r>
              <a:rPr sz="1150" b="0">
                <a:solidFill>
                  <a:srgbClr val="5B6372"/>
                </a:solidFill>
                <a:latin typeface="Arial"/>
              </a:rPr>
              <a:t>Live returns trail the backtest by turnover × cost.</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Regime change, data and code errors</a:t>
            </a:r>
          </a:p>
          <a:p>
            <a:pPr algn="l">
              <a:spcAft>
                <a:spcPts val="300"/>
              </a:spcAft>
            </a:pPr>
            <a:r>
              <a:rPr sz="1150" b="0">
                <a:solidFill>
                  <a:srgbClr val="5B6372"/>
                </a:solidFill>
                <a:latin typeface="Arial"/>
              </a:rPr>
              <a:t>Drift, bad splits, time zones, duplicate orders.</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A10</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Goes on a Tearsheet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A10</a:t>
            </a:r>
          </a:p>
        </p:txBody>
      </p:sp>
      <p:sp>
        <p:nvSpPr>
          <p:cNvPr id="10" name="Rectangle 9"/>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Equity versus benchmark</a:t>
            </a:r>
          </a:p>
          <a:p>
            <a:pPr algn="l">
              <a:spcAft>
                <a:spcPts val="300"/>
              </a:spcAft>
            </a:pPr>
            <a:r>
              <a:rPr sz="1150" b="0">
                <a:solidFill>
                  <a:srgbClr val="5B6372"/>
                </a:solidFill>
                <a:latin typeface="Arial"/>
              </a:rPr>
              <a:t>Growth of USD 100,000, strategy and buy-and-hold.</a:t>
            </a:r>
          </a:p>
        </p:txBody>
      </p:sp>
      <p:sp>
        <p:nvSpPr>
          <p:cNvPr id="15" name="Rectangle 14"/>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7219188" y="1911096"/>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Drawdown and rolling Sharpe</a:t>
            </a:r>
          </a:p>
          <a:p>
            <a:pPr algn="l">
              <a:spcAft>
                <a:spcPts val="300"/>
              </a:spcAft>
            </a:pPr>
            <a:r>
              <a:rPr sz="1150" b="0">
                <a:solidFill>
                  <a:srgbClr val="5B6372"/>
                </a:solidFill>
                <a:latin typeface="Arial"/>
              </a:rPr>
              <a:t>Depth, length and stability of the edge.</a:t>
            </a:r>
          </a:p>
        </p:txBody>
      </p:sp>
      <p:sp>
        <p:nvSpPr>
          <p:cNvPr id="20" name="Rectangle 19"/>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Monthly returns heatmap</a:t>
            </a:r>
          </a:p>
          <a:p>
            <a:pPr algn="l">
              <a:spcAft>
                <a:spcPts val="300"/>
              </a:spcAft>
            </a:pPr>
            <a:r>
              <a:rPr sz="1150" b="0">
                <a:solidFill>
                  <a:srgbClr val="5B6372"/>
                </a:solidFill>
                <a:latin typeface="Arial"/>
              </a:rPr>
              <a:t>When did it make — and lose — money?</a:t>
            </a:r>
          </a:p>
        </p:txBody>
      </p:sp>
      <p:sp>
        <p:nvSpPr>
          <p:cNvPr id="25" name="Rectangle 24"/>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7219188" y="4215384"/>
            <a:ext cx="3973068" cy="1883664"/>
          </a:xfrm>
          <a:prstGeom prst="rect">
            <a:avLst/>
          </a:prstGeom>
          <a:noFill/>
        </p:spPr>
        <p:txBody>
          <a:bodyPr wrap="square" anchor="ctr">
            <a:spAutoFit/>
          </a:bodyPr>
          <a:lstStyle/>
          <a:p>
            <a:pPr algn="l">
              <a:spcAft>
                <a:spcPts val="300"/>
              </a:spcAft>
            </a:pPr>
            <a:r>
              <a:rPr sz="1550" b="1">
                <a:solidFill>
                  <a:srgbClr val="161B26"/>
                </a:solidFill>
                <a:latin typeface="Arial"/>
              </a:rPr>
              <a:t>Metrics and cost table</a:t>
            </a:r>
          </a:p>
          <a:p>
            <a:pPr algn="l">
              <a:spcAft>
                <a:spcPts val="300"/>
              </a:spcAft>
            </a:pPr>
            <a:r>
              <a:rPr sz="1150" b="0">
                <a:solidFill>
                  <a:srgbClr val="5B6372"/>
                </a:solidFill>
                <a:latin typeface="Arial"/>
              </a:rPr>
              <a:t>Gross versus net; backtest versus forward.</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End-to-End Algorithmic Trading Pipeline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A7</a:t>
            </a:r>
          </a:p>
        </p:txBody>
      </p:sp>
      <p:sp>
        <p:nvSpPr>
          <p:cNvPr id="10" name="Rectangle 9"/>
          <p:cNvSpPr/>
          <p:nvPr/>
        </p:nvSpPr>
        <p:spPr>
          <a:xfrm>
            <a:off x="777240"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65263"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526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Strategy search</a:t>
            </a:r>
          </a:p>
        </p:txBody>
      </p:sp>
      <p:sp>
        <p:nvSpPr>
          <p:cNvPr id="15" name="TextBox 14"/>
          <p:cNvSpPr txBox="1"/>
          <p:nvPr/>
        </p:nvSpPr>
        <p:spPr>
          <a:xfrm>
            <a:off x="1848231"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16" name="Rectangle 15"/>
          <p:cNvSpPr/>
          <p:nvPr/>
        </p:nvSpPr>
        <p:spPr>
          <a:xfrm>
            <a:off x="2140839"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140839"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328862"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288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2268855"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Data ingestion</a:t>
            </a:r>
          </a:p>
        </p:txBody>
      </p:sp>
      <p:sp>
        <p:nvSpPr>
          <p:cNvPr id="21" name="TextBox 20"/>
          <p:cNvSpPr txBox="1"/>
          <p:nvPr/>
        </p:nvSpPr>
        <p:spPr>
          <a:xfrm>
            <a:off x="321183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2" name="Rectangle 21"/>
          <p:cNvSpPr/>
          <p:nvPr/>
        </p:nvSpPr>
        <p:spPr>
          <a:xfrm>
            <a:off x="3504438"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504438"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692461"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9246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3632454"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Signal</a:t>
            </a:r>
          </a:p>
        </p:txBody>
      </p:sp>
      <p:sp>
        <p:nvSpPr>
          <p:cNvPr id="27" name="TextBox 26"/>
          <p:cNvSpPr txBox="1"/>
          <p:nvPr/>
        </p:nvSpPr>
        <p:spPr>
          <a:xfrm>
            <a:off x="4575429"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8" name="Rectangle 27"/>
          <p:cNvSpPr/>
          <p:nvPr/>
        </p:nvSpPr>
        <p:spPr>
          <a:xfrm>
            <a:off x="4868037"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868037"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056060"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5606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4996053"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Backtest with costs</a:t>
            </a:r>
          </a:p>
        </p:txBody>
      </p:sp>
      <p:sp>
        <p:nvSpPr>
          <p:cNvPr id="33" name="TextBox 32"/>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34" name="Rectangle 33"/>
          <p:cNvSpPr/>
          <p:nvPr/>
        </p:nvSpPr>
        <p:spPr>
          <a:xfrm>
            <a:off x="6231636"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31636"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419659"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6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6359652"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Risk checks</a:t>
            </a:r>
          </a:p>
        </p:txBody>
      </p:sp>
      <p:sp>
        <p:nvSpPr>
          <p:cNvPr id="39" name="TextBox 38"/>
          <p:cNvSpPr txBox="1"/>
          <p:nvPr/>
        </p:nvSpPr>
        <p:spPr>
          <a:xfrm>
            <a:off x="7302627"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40" name="Rectangle 39"/>
          <p:cNvSpPr/>
          <p:nvPr/>
        </p:nvSpPr>
        <p:spPr>
          <a:xfrm>
            <a:off x="7595235"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595235"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7783258"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7832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4" name="TextBox 43"/>
          <p:cNvSpPr txBox="1"/>
          <p:nvPr/>
        </p:nvSpPr>
        <p:spPr>
          <a:xfrm>
            <a:off x="7723251"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Order execution</a:t>
            </a:r>
          </a:p>
        </p:txBody>
      </p:sp>
      <p:sp>
        <p:nvSpPr>
          <p:cNvPr id="45" name="TextBox 44"/>
          <p:cNvSpPr txBox="1"/>
          <p:nvPr/>
        </p:nvSpPr>
        <p:spPr>
          <a:xfrm>
            <a:off x="8666226"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46" name="Rectangle 45"/>
          <p:cNvSpPr/>
          <p:nvPr/>
        </p:nvSpPr>
        <p:spPr>
          <a:xfrm>
            <a:off x="8958834"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958834"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9146857"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4685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7</a:t>
            </a:r>
          </a:p>
        </p:txBody>
      </p:sp>
      <p:sp>
        <p:nvSpPr>
          <p:cNvPr id="50" name="TextBox 49"/>
          <p:cNvSpPr txBox="1"/>
          <p:nvPr/>
        </p:nvSpPr>
        <p:spPr>
          <a:xfrm>
            <a:off x="9086850"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Forward test</a:t>
            </a:r>
          </a:p>
        </p:txBody>
      </p:sp>
      <p:sp>
        <p:nvSpPr>
          <p:cNvPr id="51" name="TextBox 50"/>
          <p:cNvSpPr txBox="1"/>
          <p:nvPr/>
        </p:nvSpPr>
        <p:spPr>
          <a:xfrm>
            <a:off x="10029825"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52" name="Rectangle 51"/>
          <p:cNvSpPr/>
          <p:nvPr/>
        </p:nvSpPr>
        <p:spPr>
          <a:xfrm>
            <a:off x="10322433" y="2240280"/>
            <a:ext cx="1089279"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10322433" y="2240280"/>
            <a:ext cx="1089279"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0510456"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51045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8</a:t>
            </a:r>
          </a:p>
        </p:txBody>
      </p:sp>
      <p:sp>
        <p:nvSpPr>
          <p:cNvPr id="56" name="TextBox 55"/>
          <p:cNvSpPr txBox="1"/>
          <p:nvPr/>
        </p:nvSpPr>
        <p:spPr>
          <a:xfrm>
            <a:off x="10450449" y="3483864"/>
            <a:ext cx="833247" cy="1371600"/>
          </a:xfrm>
          <a:prstGeom prst="rect">
            <a:avLst/>
          </a:prstGeom>
          <a:noFill/>
        </p:spPr>
        <p:txBody>
          <a:bodyPr wrap="square" anchor="t">
            <a:spAutoFit/>
          </a:bodyPr>
          <a:lstStyle/>
          <a:p>
            <a:pPr algn="ctr">
              <a:spcAft>
                <a:spcPts val="400"/>
              </a:spcAft>
            </a:pPr>
            <a:r>
              <a:rPr sz="1200" b="0">
                <a:solidFill>
                  <a:srgbClr val="161B26"/>
                </a:solidFill>
                <a:latin typeface="Arial"/>
              </a:rPr>
              <a:t>Monitor and report</a:t>
            </a:r>
          </a:p>
        </p:txBody>
      </p:sp>
      <p:sp>
        <p:nvSpPr>
          <p:cNvPr id="57" name="Rectangle 56"/>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77240" y="5257800"/>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Configuration — symbols, parameters, limits, keys — lives outside the code.</a:t>
            </a:r>
          </a:p>
        </p:txBody>
      </p:sp>
      <p:sp>
        <p:nvSpPr>
          <p:cNvPr id="60" name="TextBox 5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61" name="TextBox 6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62" name="TextBox 6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Automated Paper-Trading Bot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A8</a:t>
            </a: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One cycle per closed bar.</a:t>
            </a:r>
          </a:p>
        </p:txBody>
      </p:sp>
      <p:sp>
        <p:nvSpPr>
          <p:cNvPr id="11" name="Rectangle 10"/>
          <p:cNvSpPr/>
          <p:nvPr/>
        </p:nvSpPr>
        <p:spPr>
          <a:xfrm>
            <a:off x="777240"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62663"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266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Bar closes</a:t>
            </a:r>
          </a:p>
        </p:txBody>
      </p:sp>
      <p:sp>
        <p:nvSpPr>
          <p:cNvPr id="16" name="TextBox 15"/>
          <p:cNvSpPr txBox="1"/>
          <p:nvPr/>
        </p:nvSpPr>
        <p:spPr>
          <a:xfrm>
            <a:off x="204303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17" name="Rectangle 16"/>
          <p:cNvSpPr/>
          <p:nvPr/>
        </p:nvSpPr>
        <p:spPr>
          <a:xfrm>
            <a:off x="2335638"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335638"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621061"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2106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2463654"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Fetch latest bars</a:t>
            </a:r>
          </a:p>
        </p:txBody>
      </p:sp>
      <p:sp>
        <p:nvSpPr>
          <p:cNvPr id="22" name="TextBox 21"/>
          <p:cNvSpPr txBox="1"/>
          <p:nvPr/>
        </p:nvSpPr>
        <p:spPr>
          <a:xfrm>
            <a:off x="3601428"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3" name="Rectangle 22"/>
          <p:cNvSpPr/>
          <p:nvPr/>
        </p:nvSpPr>
        <p:spPr>
          <a:xfrm>
            <a:off x="3894036"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894036"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179459"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794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4022052"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Compute signal</a:t>
            </a:r>
          </a:p>
        </p:txBody>
      </p:sp>
      <p:sp>
        <p:nvSpPr>
          <p:cNvPr id="28" name="TextBox 27"/>
          <p:cNvSpPr txBox="1"/>
          <p:nvPr/>
        </p:nvSpPr>
        <p:spPr>
          <a:xfrm>
            <a:off x="5159826"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9" name="Rectangle 28"/>
          <p:cNvSpPr/>
          <p:nvPr/>
        </p:nvSpPr>
        <p:spPr>
          <a:xfrm>
            <a:off x="5452434"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52434"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5737857"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73785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5580450"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Run risk checks</a:t>
            </a:r>
          </a:p>
        </p:txBody>
      </p:sp>
      <p:sp>
        <p:nvSpPr>
          <p:cNvPr id="34" name="TextBox 33"/>
          <p:cNvSpPr txBox="1"/>
          <p:nvPr/>
        </p:nvSpPr>
        <p:spPr>
          <a:xfrm>
            <a:off x="6718224"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35" name="Rectangle 34"/>
          <p:cNvSpPr/>
          <p:nvPr/>
        </p:nvSpPr>
        <p:spPr>
          <a:xfrm>
            <a:off x="7010832"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010832"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296255"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29625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7138848"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Target vs actual position</a:t>
            </a:r>
          </a:p>
        </p:txBody>
      </p:sp>
      <p:sp>
        <p:nvSpPr>
          <p:cNvPr id="40" name="TextBox 39"/>
          <p:cNvSpPr txBox="1"/>
          <p:nvPr/>
        </p:nvSpPr>
        <p:spPr>
          <a:xfrm>
            <a:off x="8276622"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41" name="Rectangle 40"/>
          <p:cNvSpPr/>
          <p:nvPr/>
        </p:nvSpPr>
        <p:spPr>
          <a:xfrm>
            <a:off x="8569230"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569230"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8854653"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5465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5" name="TextBox 44"/>
          <p:cNvSpPr txBox="1"/>
          <p:nvPr/>
        </p:nvSpPr>
        <p:spPr>
          <a:xfrm>
            <a:off x="8697246"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Submit order; read status</a:t>
            </a:r>
          </a:p>
        </p:txBody>
      </p:sp>
      <p:sp>
        <p:nvSpPr>
          <p:cNvPr id="46" name="TextBox 45"/>
          <p:cNvSpPr txBox="1"/>
          <p:nvPr/>
        </p:nvSpPr>
        <p:spPr>
          <a:xfrm>
            <a:off x="983502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47" name="Rectangle 46"/>
          <p:cNvSpPr/>
          <p:nvPr/>
        </p:nvSpPr>
        <p:spPr>
          <a:xfrm>
            <a:off x="10127628" y="2240280"/>
            <a:ext cx="128407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0127628" y="2240280"/>
            <a:ext cx="128407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0413051"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1305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7</a:t>
            </a:r>
          </a:p>
        </p:txBody>
      </p:sp>
      <p:sp>
        <p:nvSpPr>
          <p:cNvPr id="51" name="TextBox 50"/>
          <p:cNvSpPr txBox="1"/>
          <p:nvPr/>
        </p:nvSpPr>
        <p:spPr>
          <a:xfrm>
            <a:off x="10255644" y="3483864"/>
            <a:ext cx="1028046" cy="1371600"/>
          </a:xfrm>
          <a:prstGeom prst="rect">
            <a:avLst/>
          </a:prstGeom>
          <a:noFill/>
        </p:spPr>
        <p:txBody>
          <a:bodyPr wrap="square" anchor="t">
            <a:spAutoFit/>
          </a:bodyPr>
          <a:lstStyle/>
          <a:p>
            <a:pPr algn="ctr">
              <a:spcAft>
                <a:spcPts val="400"/>
              </a:spcAft>
            </a:pPr>
            <a:r>
              <a:rPr sz="1200" b="0">
                <a:solidFill>
                  <a:srgbClr val="161B26"/>
                </a:solidFill>
                <a:latin typeface="Arial"/>
              </a:rPr>
              <a:t>Log and sleep</a:t>
            </a:r>
          </a:p>
        </p:txBody>
      </p:sp>
      <p:sp>
        <p:nvSpPr>
          <p:cNvPr id="52" name="Rectangle 51"/>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5257800"/>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Every cycle writes to the trade log — the evidence for performance and audit.</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TradingView Alert to Alpaca Order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A7</a:t>
            </a:r>
          </a:p>
        </p:txBody>
      </p:sp>
      <p:sp>
        <p:nvSpPr>
          <p:cNvPr id="10" name="TextBox 9"/>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Webhook-driven execution.</a:t>
            </a:r>
          </a:p>
        </p:txBody>
      </p:sp>
      <p:sp>
        <p:nvSpPr>
          <p:cNvPr id="11" name="Rectangle 10"/>
          <p:cNvSpPr/>
          <p:nvPr/>
        </p:nvSpPr>
        <p:spPr>
          <a:xfrm>
            <a:off x="77724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92530"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9253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5" name="TextBox 14"/>
          <p:cNvSpPr txBox="1"/>
          <p:nvPr/>
        </p:nvSpPr>
        <p:spPr>
          <a:xfrm>
            <a:off x="90525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Pine strategy fires alert</a:t>
            </a:r>
          </a:p>
        </p:txBody>
      </p:sp>
      <p:sp>
        <p:nvSpPr>
          <p:cNvPr id="16" name="TextBox 15"/>
          <p:cNvSpPr txBox="1"/>
          <p:nvPr/>
        </p:nvSpPr>
        <p:spPr>
          <a:xfrm>
            <a:off x="2302764"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17" name="Rectangle 16"/>
          <p:cNvSpPr/>
          <p:nvPr/>
        </p:nvSpPr>
        <p:spPr>
          <a:xfrm>
            <a:off x="2595372"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95372"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010662"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10662"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1" name="TextBox 20"/>
          <p:cNvSpPr txBox="1"/>
          <p:nvPr/>
        </p:nvSpPr>
        <p:spPr>
          <a:xfrm>
            <a:off x="2723388"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TradingView POSTs JSON</a:t>
            </a:r>
          </a:p>
        </p:txBody>
      </p:sp>
      <p:sp>
        <p:nvSpPr>
          <p:cNvPr id="22" name="TextBox 21"/>
          <p:cNvSpPr txBox="1"/>
          <p:nvPr/>
        </p:nvSpPr>
        <p:spPr>
          <a:xfrm>
            <a:off x="4120896"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3" name="Rectangle 22"/>
          <p:cNvSpPr/>
          <p:nvPr/>
        </p:nvSpPr>
        <p:spPr>
          <a:xfrm>
            <a:off x="4413504"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13504"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828794"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28794"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7" name="TextBox 26"/>
          <p:cNvSpPr txBox="1"/>
          <p:nvPr/>
        </p:nvSpPr>
        <p:spPr>
          <a:xfrm>
            <a:off x="4541520"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Your server checks secret</a:t>
            </a:r>
          </a:p>
        </p:txBody>
      </p:sp>
      <p:sp>
        <p:nvSpPr>
          <p:cNvPr id="28" name="TextBox 27"/>
          <p:cNvSpPr txBox="1"/>
          <p:nvPr/>
        </p:nvSpPr>
        <p:spPr>
          <a:xfrm>
            <a:off x="5939028"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9" name="Rectangle 28"/>
          <p:cNvSpPr/>
          <p:nvPr/>
        </p:nvSpPr>
        <p:spPr>
          <a:xfrm>
            <a:off x="6231636"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31636"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646926"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46926"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3" name="TextBox 32"/>
          <p:cNvSpPr txBox="1"/>
          <p:nvPr/>
        </p:nvSpPr>
        <p:spPr>
          <a:xfrm>
            <a:off x="6359652"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Risk checks</a:t>
            </a:r>
          </a:p>
        </p:txBody>
      </p:sp>
      <p:sp>
        <p:nvSpPr>
          <p:cNvPr id="34" name="TextBox 33"/>
          <p:cNvSpPr txBox="1"/>
          <p:nvPr/>
        </p:nvSpPr>
        <p:spPr>
          <a:xfrm>
            <a:off x="775716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35" name="Rectangle 34"/>
          <p:cNvSpPr/>
          <p:nvPr/>
        </p:nvSpPr>
        <p:spPr>
          <a:xfrm>
            <a:off x="8049768"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49768"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465058"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65058"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9" name="TextBox 38"/>
          <p:cNvSpPr txBox="1"/>
          <p:nvPr/>
        </p:nvSpPr>
        <p:spPr>
          <a:xfrm>
            <a:off x="8177784"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alpaca-py submits paper order</a:t>
            </a:r>
          </a:p>
        </p:txBody>
      </p:sp>
      <p:sp>
        <p:nvSpPr>
          <p:cNvPr id="40" name="TextBox 39"/>
          <p:cNvSpPr txBox="1"/>
          <p:nvPr/>
        </p:nvSpPr>
        <p:spPr>
          <a:xfrm>
            <a:off x="9575292"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41" name="Rectangle 40"/>
          <p:cNvSpPr/>
          <p:nvPr/>
        </p:nvSpPr>
        <p:spPr>
          <a:xfrm>
            <a:off x="9867900" y="2240280"/>
            <a:ext cx="1543812"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867900" y="2240280"/>
            <a:ext cx="154381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283190"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283190"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6</a:t>
            </a:r>
          </a:p>
        </p:txBody>
      </p:sp>
      <p:sp>
        <p:nvSpPr>
          <p:cNvPr id="45" name="TextBox 44"/>
          <p:cNvSpPr txBox="1"/>
          <p:nvPr/>
        </p:nvSpPr>
        <p:spPr>
          <a:xfrm>
            <a:off x="9995916" y="3483864"/>
            <a:ext cx="1287780" cy="1371600"/>
          </a:xfrm>
          <a:prstGeom prst="rect">
            <a:avLst/>
          </a:prstGeom>
          <a:noFill/>
        </p:spPr>
        <p:txBody>
          <a:bodyPr wrap="square" anchor="t">
            <a:spAutoFit/>
          </a:bodyPr>
          <a:lstStyle/>
          <a:p>
            <a:pPr algn="ctr">
              <a:spcAft>
                <a:spcPts val="400"/>
              </a:spcAft>
            </a:pPr>
            <a:r>
              <a:rPr sz="1200" b="0">
                <a:solidFill>
                  <a:srgbClr val="161B26"/>
                </a:solidFill>
                <a:latin typeface="Arial"/>
              </a:rPr>
              <a:t>Log and respond 200</a:t>
            </a:r>
          </a:p>
        </p:txBody>
      </p:sp>
      <p:sp>
        <p:nvSpPr>
          <p:cNvPr id="46" name="Rectangle 4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77240" y="5257800"/>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Webhook alerts need a paid TradingView plan and a public URL (e.g. a tunnel).</a:t>
            </a:r>
          </a:p>
        </p:txBody>
      </p:sp>
      <p:sp>
        <p:nvSpPr>
          <p:cNvPr id="49" name="TextBox 4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50" name="TextBox 4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1" name="TextBox 5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A9</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Diagnosing an Unintended Outcome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643616" y="475488"/>
            <a:ext cx="76809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64361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43616" y="475488"/>
            <a:ext cx="768096" cy="310896"/>
          </a:xfrm>
          <a:prstGeom prst="rect">
            <a:avLst/>
          </a:prstGeom>
          <a:noFill/>
        </p:spPr>
        <p:txBody>
          <a:bodyPr wrap="square" anchor="ctr">
            <a:spAutoFit/>
          </a:bodyPr>
          <a:lstStyle/>
          <a:p>
            <a:pPr algn="ctr">
              <a:spcAft>
                <a:spcPts val="400"/>
              </a:spcAft>
            </a:pPr>
            <a:r>
              <a:rPr sz="1100" b="1">
                <a:solidFill>
                  <a:srgbClr val="F59E0B"/>
                </a:solidFill>
                <a:latin typeface="Arial"/>
              </a:rPr>
              <a:t>A9</a:t>
            </a:r>
          </a:p>
        </p:txBody>
      </p:sp>
      <p:sp>
        <p:nvSpPr>
          <p:cNvPr id="10" name="Rectangle 9"/>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374343"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4" name="TextBox 13"/>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Reproduce the result</a:t>
            </a:r>
          </a:p>
        </p:txBody>
      </p:sp>
      <p:sp>
        <p:nvSpPr>
          <p:cNvPr id="15" name="TextBox 14"/>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16" name="Rectangle 15"/>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58998"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556101"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20" name="TextBox 19"/>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Isolate the first divergent step</a:t>
            </a:r>
          </a:p>
        </p:txBody>
      </p:sp>
      <p:sp>
        <p:nvSpPr>
          <p:cNvPr id="21" name="TextBox 20"/>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2" name="Rectangle 21"/>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40756"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737859"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6" name="TextBox 25"/>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Data · signal · order · fill?</a:t>
            </a:r>
          </a:p>
        </p:txBody>
      </p:sp>
      <p:sp>
        <p:nvSpPr>
          <p:cNvPr id="27" name="TextBox 26"/>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28" name="Rectangle 27"/>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22514"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919617"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32" name="TextBox 31"/>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Compare with a known-good run</a:t>
            </a:r>
          </a:p>
        </p:txBody>
      </p:sp>
      <p:sp>
        <p:nvSpPr>
          <p:cNvPr id="33" name="TextBox 32"/>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F59E0B"/>
                </a:solidFill>
                <a:latin typeface="Arial"/>
              </a:rPr>
              <a:t>▶</a:t>
            </a:r>
          </a:p>
        </p:txBody>
      </p:sp>
      <p:sp>
        <p:nvSpPr>
          <p:cNvPr id="34" name="Rectangle 33"/>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04272" y="2240280"/>
            <a:ext cx="1907438"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01375" y="2569464"/>
            <a:ext cx="713232" cy="7132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8" name="TextBox 37"/>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Fix and re-test</a:t>
            </a:r>
          </a:p>
        </p:txBody>
      </p:sp>
      <p:sp>
        <p:nvSpPr>
          <p:cNvPr id="39" name="Rectangle 38"/>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7240" y="5257800"/>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Read the first failure, not the last — everything after it is a consequence.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5B6372"/>
                </a:solidFill>
                <a:latin typeface="Arial"/>
              </a:rPr>
              <a:t>1 hour  ·  see you at 13:30</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Backtest-Engine Stage: Cost Models, Execution Timing and Break-Even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A7  A8  K7</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15</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Run the same strategy under four cost models and find its break-even cost.</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Zero vs Alpaca vs high-cost</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Break-even and execution timing</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Stops and sizing</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Gross vs net CAGR, a cost breakdown and the break-even bps.</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15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15 — In the Trading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5_costs_break_even_16x9.png"/>
          <p:cNvPicPr>
            <a:picLocks noChangeAspect="1"/>
          </p:cNvPicPr>
          <p:nvPr/>
        </p:nvPicPr>
        <p:blipFill>
          <a:blip r:embed="rId2"/>
          <a:stretch>
            <a:fillRect/>
          </a:stretch>
        </p:blipFill>
        <p:spPr>
          <a:xfrm>
            <a:off x="2438247" y="1645920"/>
            <a:ext cx="7315200" cy="4114800"/>
          </a:xfrm>
          <a:prstGeom prst="rect">
            <a:avLst/>
          </a:prstGeom>
        </p:spPr>
      </p:pic>
      <p:sp>
        <p:nvSpPr>
          <p:cNvPr id="8" name="Rectangle 7"/>
          <p:cNvSpPr/>
          <p:nvPr/>
        </p:nvSpPr>
        <p:spPr>
          <a:xfrm>
            <a:off x="2427274" y="1634947"/>
            <a:ext cx="7337145"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Course Labs &gt; Lab 15 at http://localhost:8000 - Backtest SPY dip-buy, high-cost route. Offline demo data; connect Alpaca paper keys for live paper trading.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Automation Stage: a Scheduled, Risk-Checked Forward Test and Live Paper Trading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A7  A8  K7</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16</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Create a bot, run it on a schedule, watch orders, positions and P&amp;L live, and halt it with the kill switch.</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07083"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07083"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Create the bot</a:t>
            </a:r>
          </a:p>
        </p:txBody>
      </p:sp>
      <p:sp>
        <p:nvSpPr>
          <p:cNvPr id="19" name="TextBox 18"/>
          <p:cNvSpPr txBox="1"/>
          <p:nvPr/>
        </p:nvSpPr>
        <p:spPr>
          <a:xfrm>
            <a:off x="321183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3495294"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95294"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525137"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5137"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3605022"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Start it and watch</a:t>
            </a:r>
          </a:p>
        </p:txBody>
      </p:sp>
      <p:sp>
        <p:nvSpPr>
          <p:cNvPr id="25" name="TextBox 24"/>
          <p:cNvSpPr txBox="1"/>
          <p:nvPr/>
        </p:nvSpPr>
        <p:spPr>
          <a:xfrm>
            <a:off x="5929884"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6213348"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3348"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243191"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43191"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6323076"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Kill switch</a:t>
            </a:r>
          </a:p>
        </p:txBody>
      </p:sp>
      <p:sp>
        <p:nvSpPr>
          <p:cNvPr id="31" name="TextBox 30"/>
          <p:cNvSpPr txBox="1"/>
          <p:nvPr/>
        </p:nvSpPr>
        <p:spPr>
          <a:xfrm>
            <a:off x="864793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8931402" y="3456432"/>
            <a:ext cx="2480310"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931402" y="3456432"/>
            <a:ext cx="2480310"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961245"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961245"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9041130" y="4114800"/>
            <a:ext cx="2260854" cy="877824"/>
          </a:xfrm>
          <a:prstGeom prst="rect">
            <a:avLst/>
          </a:prstGeom>
          <a:noFill/>
        </p:spPr>
        <p:txBody>
          <a:bodyPr wrap="square" anchor="t">
            <a:spAutoFit/>
          </a:bodyPr>
          <a:lstStyle/>
          <a:p>
            <a:pPr algn="ctr">
              <a:spcAft>
                <a:spcPts val="400"/>
              </a:spcAft>
            </a:pPr>
            <a:r>
              <a:rPr sz="1050" b="0">
                <a:solidFill>
                  <a:srgbClr val="161B26"/>
                </a:solidFill>
                <a:latin typeface="Arial"/>
              </a:rPr>
              <a:t>Simulator: Backtest vs forward</a:t>
            </a:r>
          </a:p>
        </p:txBody>
      </p:sp>
      <p:sp>
        <p:nvSpPr>
          <p:cNvPr id="37" name="Rectangle 36"/>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0" name="TextBox 39"/>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bot equity curve, a blotter of its orders, a backtest-vs-forward comparison and a tested kill switch.</a:t>
            </a:r>
          </a:p>
        </p:txBody>
      </p:sp>
      <p:sp>
        <p:nvSpPr>
          <p:cNvPr id="41" name="TextBox 40"/>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16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16 — In the Trading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6_forward_test_bot_16x9.png"/>
          <p:cNvPicPr>
            <a:picLocks noChangeAspect="1"/>
          </p:cNvPicPr>
          <p:nvPr/>
        </p:nvPicPr>
        <p:blipFill>
          <a:blip r:embed="rId2"/>
          <a:stretch>
            <a:fillRect/>
          </a:stretch>
        </p:blipFill>
        <p:spPr>
          <a:xfrm>
            <a:off x="2438247" y="1645920"/>
            <a:ext cx="7315200" cy="4114800"/>
          </a:xfrm>
          <a:prstGeom prst="rect">
            <a:avLst/>
          </a:prstGeom>
        </p:spPr>
      </p:pic>
      <p:sp>
        <p:nvSpPr>
          <p:cNvPr id="8" name="Rectangle 7"/>
          <p:cNvSpPr/>
          <p:nvPr/>
        </p:nvSpPr>
        <p:spPr>
          <a:xfrm>
            <a:off x="2427274" y="1634947"/>
            <a:ext cx="7337145"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Course Labs &gt; Lab 16 at http://localhost:8000 - Paper Trading &gt; New bot (EMA cross). Offline demo data; connect Alpaca paper keys for live paper trading.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Event-Driven Automation: TradingView Webhook to Signal, Risk and Execution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A7  K5  K7</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17</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Send TradingView alerts to the app's webhook and see them pass validation, signal confirmation and risk into paper orders.</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Copy the alert template</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Run the self-test</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Real alerts (paid TradingView plan)</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7 simulated alerts handled as expected and the audit log.</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17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17 — In the Trading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7_tradingview_webhook_16x9.png"/>
          <p:cNvPicPr>
            <a:picLocks noChangeAspect="1"/>
          </p:cNvPicPr>
          <p:nvPr/>
        </p:nvPicPr>
        <p:blipFill>
          <a:blip r:embed="rId2"/>
          <a:stretch>
            <a:fillRect/>
          </a:stretch>
        </p:blipFill>
        <p:spPr>
          <a:xfrm>
            <a:off x="2438247" y="1645920"/>
            <a:ext cx="7315200" cy="4114800"/>
          </a:xfrm>
          <a:prstGeom prst="rect">
            <a:avLst/>
          </a:prstGeom>
        </p:spPr>
      </p:pic>
      <p:sp>
        <p:nvSpPr>
          <p:cNvPr id="8" name="Rectangle 7"/>
          <p:cNvSpPr/>
          <p:nvPr/>
        </p:nvSpPr>
        <p:spPr>
          <a:xfrm>
            <a:off x="2427274" y="1634947"/>
            <a:ext cx="7337145"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Course Labs &gt; Lab 17 at http://localhost:8000 - Integrations &gt; TradingView webhook. Offline demo data; connect Alpaca paper keys for live paper trading.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500" b="1">
                <a:solidFill>
                  <a:srgbClr val="161B26"/>
                </a:solidFill>
                <a:latin typeface="Arial"/>
              </a:rPr>
              <a:t>Diagnostics Stage: Automated Bias Checks before Go-Live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A9  K8</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18</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Run the automated diagnostics on a deliberately biased strategy, fix it, and re-run.</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Diagnose the biased exhibit</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Fix it in the Strategy Builder</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Re-run diagnostics</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FAIL on the biased exhibit, a PASS / WARN table for the fixed version and a verdict.</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18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18 — In the Trading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8_diagnostics_16x9.png"/>
          <p:cNvPicPr>
            <a:picLocks noChangeAspect="1"/>
          </p:cNvPicPr>
          <p:nvPr/>
        </p:nvPicPr>
        <p:blipFill>
          <a:blip r:embed="rId2"/>
          <a:stretch>
            <a:fillRect/>
          </a:stretch>
        </p:blipFill>
        <p:spPr>
          <a:xfrm>
            <a:off x="2438247" y="1645920"/>
            <a:ext cx="7315200" cy="4114800"/>
          </a:xfrm>
          <a:prstGeom prst="rect">
            <a:avLst/>
          </a:prstGeom>
        </p:spPr>
      </p:pic>
      <p:sp>
        <p:nvSpPr>
          <p:cNvPr id="8" name="Rectangle 7"/>
          <p:cNvSpPr/>
          <p:nvPr/>
        </p:nvSpPr>
        <p:spPr>
          <a:xfrm>
            <a:off x="2427274" y="1634947"/>
            <a:ext cx="7337145"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Course Labs &gt; Lab 18 at http://localhost:8000 - Research &gt; Diagnostics (Lab 18 exhibit). Offline demo data; connect Alpaca paper keys for live paper trading.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Monitoring and Reporting Stage: Automated Tearsheet and Backtest-vs-Forward Report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59568" y="475488"/>
            <a:ext cx="1152144"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259568"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475488"/>
            <a:ext cx="1152144" cy="310896"/>
          </a:xfrm>
          <a:prstGeom prst="rect">
            <a:avLst/>
          </a:prstGeom>
          <a:noFill/>
        </p:spPr>
        <p:txBody>
          <a:bodyPr wrap="square" anchor="ctr">
            <a:spAutoFit/>
          </a:bodyPr>
          <a:lstStyle/>
          <a:p>
            <a:pPr algn="ctr">
              <a:spcAft>
                <a:spcPts val="400"/>
              </a:spcAft>
            </a:pPr>
            <a:r>
              <a:rPr sz="1100" b="1">
                <a:solidFill>
                  <a:srgbClr val="10B981"/>
                </a:solidFill>
                <a:latin typeface="Arial"/>
              </a:rPr>
              <a:t>A8  A10</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19</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Produce a one-page tearsheet and explain the gap between backtest and forward test.</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60092"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60092"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Export the tearsheet</a:t>
            </a:r>
          </a:p>
        </p:txBody>
      </p:sp>
      <p:sp>
        <p:nvSpPr>
          <p:cNvPr id="19" name="TextBox 18"/>
          <p:cNvSpPr txBox="1"/>
          <p:nvPr/>
        </p:nvSpPr>
        <p:spPr>
          <a:xfrm>
            <a:off x="41178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4401312"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1312"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84164"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84164"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4511040"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Backtest vs forward</a:t>
            </a:r>
          </a:p>
        </p:txBody>
      </p:sp>
      <p:sp>
        <p:nvSpPr>
          <p:cNvPr id="25" name="TextBox 24"/>
          <p:cNvSpPr txBox="1"/>
          <p:nvPr/>
        </p:nvSpPr>
        <p:spPr>
          <a:xfrm>
            <a:off x="7741920"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8025384" y="3456432"/>
            <a:ext cx="3386328"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25384" y="3456432"/>
            <a:ext cx="3386328"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823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823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8135112" y="4114800"/>
            <a:ext cx="3166872" cy="877824"/>
          </a:xfrm>
          <a:prstGeom prst="rect">
            <a:avLst/>
          </a:prstGeom>
          <a:noFill/>
        </p:spPr>
        <p:txBody>
          <a:bodyPr wrap="square" anchor="t">
            <a:spAutoFit/>
          </a:bodyPr>
          <a:lstStyle/>
          <a:p>
            <a:pPr algn="ctr">
              <a:spcAft>
                <a:spcPts val="400"/>
              </a:spcAft>
            </a:pPr>
            <a:r>
              <a:rPr sz="1050" b="0">
                <a:solidFill>
                  <a:srgbClr val="161B26"/>
                </a:solidFill>
                <a:latin typeface="Arial"/>
              </a:rPr>
              <a:t>Simulator: Draw insights</a:t>
            </a:r>
          </a:p>
        </p:txBody>
      </p:sp>
      <p:sp>
        <p:nvSpPr>
          <p:cNvPr id="31" name="Rectangle 30"/>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34" name="TextBox 33"/>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PDF tearsheet and a written explanation of the backtest-vs-forward differences.</a:t>
            </a:r>
          </a:p>
        </p:txBody>
      </p:sp>
      <p:sp>
        <p:nvSpPr>
          <p:cNvPr id="35" name="TextBox 34"/>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25 min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19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19 — In the Trading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9_performance_report_16x9.png"/>
          <p:cNvPicPr>
            <a:picLocks noChangeAspect="1"/>
          </p:cNvPicPr>
          <p:nvPr/>
        </p:nvPicPr>
        <p:blipFill>
          <a:blip r:embed="rId2"/>
          <a:stretch>
            <a:fillRect/>
          </a:stretch>
        </p:blipFill>
        <p:spPr>
          <a:xfrm>
            <a:off x="2438247" y="1645920"/>
            <a:ext cx="7315200" cy="4114800"/>
          </a:xfrm>
          <a:prstGeom prst="rect">
            <a:avLst/>
          </a:prstGeom>
        </p:spPr>
      </p:pic>
      <p:sp>
        <p:nvSpPr>
          <p:cNvPr id="8" name="Rectangle 7"/>
          <p:cNvSpPr/>
          <p:nvPr/>
        </p:nvSpPr>
        <p:spPr>
          <a:xfrm>
            <a:off x="2427274" y="1634947"/>
            <a:ext cx="7337145"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Course Labs &gt; Lab 19 at http://localhost:8000 - Analytics &gt; PDF tearsheet. Offline demo data; connect Alpaca paper keys for live paper trading.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4 · HANDS-ON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Capstone: One Command Runs the Pipeline End to End, with an Agentic Layer and Human Approval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875520" y="475488"/>
            <a:ext cx="1536192"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875520" y="475488"/>
            <a:ext cx="54864"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0" y="475488"/>
            <a:ext cx="1536192" cy="310896"/>
          </a:xfrm>
          <a:prstGeom prst="rect">
            <a:avLst/>
          </a:prstGeom>
          <a:noFill/>
        </p:spPr>
        <p:txBody>
          <a:bodyPr wrap="square" anchor="ctr">
            <a:spAutoFit/>
          </a:bodyPr>
          <a:lstStyle/>
          <a:p>
            <a:pPr algn="ctr">
              <a:spcAft>
                <a:spcPts val="400"/>
              </a:spcAft>
            </a:pPr>
            <a:r>
              <a:rPr sz="1100" b="1">
                <a:solidFill>
                  <a:srgbClr val="10B981"/>
                </a:solidFill>
                <a:latin typeface="Arial"/>
              </a:rPr>
              <a:t>A7  A10  K1</a:t>
            </a:r>
          </a:p>
        </p:txBody>
      </p:sp>
      <p:sp>
        <p:nvSpPr>
          <p:cNvPr id="10" name="Rectangle 9"/>
          <p:cNvSpPr/>
          <p:nvPr/>
        </p:nvSpPr>
        <p:spPr>
          <a:xfrm>
            <a:off x="777240" y="1691640"/>
            <a:ext cx="173736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91640"/>
            <a:ext cx="1737360" cy="420624"/>
          </a:xfrm>
          <a:prstGeom prst="rect">
            <a:avLst/>
          </a:prstGeom>
          <a:noFill/>
        </p:spPr>
        <p:txBody>
          <a:bodyPr wrap="square" anchor="ctr">
            <a:spAutoFit/>
          </a:bodyPr>
          <a:lstStyle/>
          <a:p>
            <a:pPr algn="ctr">
              <a:spcAft>
                <a:spcPts val="400"/>
              </a:spcAft>
            </a:pPr>
            <a:r>
              <a:rPr sz="1400" b="1">
                <a:solidFill>
                  <a:srgbClr val="FFFFFF"/>
                </a:solidFill>
                <a:latin typeface="Arial"/>
              </a:rPr>
              <a:t>LAB 20</a:t>
            </a:r>
          </a:p>
        </p:txBody>
      </p:sp>
      <p:sp>
        <p:nvSpPr>
          <p:cNvPr id="12" name="TextBox 11"/>
          <p:cNvSpPr txBox="1"/>
          <p:nvPr/>
        </p:nvSpPr>
        <p:spPr>
          <a:xfrm>
            <a:off x="777240" y="2240280"/>
            <a:ext cx="10698480" cy="868680"/>
          </a:xfrm>
          <a:prstGeom prst="rect">
            <a:avLst/>
          </a:prstGeom>
          <a:noFill/>
        </p:spPr>
        <p:txBody>
          <a:bodyPr wrap="square" anchor="t">
            <a:spAutoFit/>
          </a:bodyPr>
          <a:lstStyle/>
          <a:p>
            <a:pPr algn="l">
              <a:spcAft>
                <a:spcPts val="400"/>
              </a:spcAft>
            </a:pPr>
            <a:r>
              <a:rPr sz="1400" b="0">
                <a:solidFill>
                  <a:srgbClr val="161B26"/>
                </a:solidFill>
                <a:latin typeface="Arial"/>
              </a:rPr>
              <a:t>Run the whole pipeline end to end, get a human-approved proposal from the multi-agent desk, switch on the always-on agent, and create, backtest and forward-test your own strategy (from a template or written for you by AI).</a:t>
            </a:r>
          </a:p>
        </p:txBody>
      </p:sp>
      <p:sp>
        <p:nvSpPr>
          <p:cNvPr id="13" name="TextBox 12"/>
          <p:cNvSpPr txBox="1"/>
          <p:nvPr/>
        </p:nvSpPr>
        <p:spPr>
          <a:xfrm>
            <a:off x="777240" y="3127248"/>
            <a:ext cx="5486400" cy="292608"/>
          </a:xfrm>
          <a:prstGeom prst="rect">
            <a:avLst/>
          </a:prstGeom>
          <a:noFill/>
        </p:spPr>
        <p:txBody>
          <a:bodyPr wrap="square" anchor="t">
            <a:spAutoFit/>
          </a:bodyPr>
          <a:lstStyle/>
          <a:p>
            <a:pPr algn="l">
              <a:spcAft>
                <a:spcPts val="400"/>
              </a:spcAft>
            </a:pPr>
            <a:r>
              <a:rPr sz="1200" b="1">
                <a:solidFill>
                  <a:srgbClr val="10B981"/>
                </a:solidFill>
                <a:latin typeface="Arial"/>
              </a:rPr>
              <a:t>WORKFLOW</a:t>
            </a:r>
          </a:p>
        </p:txBody>
      </p:sp>
      <p:sp>
        <p:nvSpPr>
          <p:cNvPr id="14" name="Rectangle 13"/>
          <p:cNvSpPr/>
          <p:nvPr/>
        </p:nvSpPr>
        <p:spPr>
          <a:xfrm>
            <a:off x="777240"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535277"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35277"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18" name="TextBox 17"/>
          <p:cNvSpPr txBox="1"/>
          <p:nvPr/>
        </p:nvSpPr>
        <p:spPr>
          <a:xfrm>
            <a:off x="886968"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Run the multi-agent desk</a:t>
            </a:r>
          </a:p>
        </p:txBody>
      </p:sp>
      <p:sp>
        <p:nvSpPr>
          <p:cNvPr id="19" name="TextBox 18"/>
          <p:cNvSpPr txBox="1"/>
          <p:nvPr/>
        </p:nvSpPr>
        <p:spPr>
          <a:xfrm>
            <a:off x="2668219"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0" name="Rectangle 19"/>
          <p:cNvSpPr/>
          <p:nvPr/>
        </p:nvSpPr>
        <p:spPr>
          <a:xfrm>
            <a:off x="2951683"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951683"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709720"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09720"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24" name="TextBox 23"/>
          <p:cNvSpPr txBox="1"/>
          <p:nvPr/>
        </p:nvSpPr>
        <p:spPr>
          <a:xfrm>
            <a:off x="3061411"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Human approval</a:t>
            </a:r>
          </a:p>
        </p:txBody>
      </p:sp>
      <p:sp>
        <p:nvSpPr>
          <p:cNvPr id="25" name="TextBox 24"/>
          <p:cNvSpPr txBox="1"/>
          <p:nvPr/>
        </p:nvSpPr>
        <p:spPr>
          <a:xfrm>
            <a:off x="4842662"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6" name="Rectangle 25"/>
          <p:cNvSpPr/>
          <p:nvPr/>
        </p:nvSpPr>
        <p:spPr>
          <a:xfrm>
            <a:off x="5126126"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126126"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884163"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84163"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0" name="TextBox 29"/>
          <p:cNvSpPr txBox="1"/>
          <p:nvPr/>
        </p:nvSpPr>
        <p:spPr>
          <a:xfrm>
            <a:off x="5235854"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Always-on agent</a:t>
            </a:r>
          </a:p>
        </p:txBody>
      </p:sp>
      <p:sp>
        <p:nvSpPr>
          <p:cNvPr id="31" name="TextBox 30"/>
          <p:cNvSpPr txBox="1"/>
          <p:nvPr/>
        </p:nvSpPr>
        <p:spPr>
          <a:xfrm>
            <a:off x="7017105"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2" name="Rectangle 31"/>
          <p:cNvSpPr/>
          <p:nvPr/>
        </p:nvSpPr>
        <p:spPr>
          <a:xfrm>
            <a:off x="7300569"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300569"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58606"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58606"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36" name="TextBox 35"/>
          <p:cNvSpPr txBox="1"/>
          <p:nvPr/>
        </p:nvSpPr>
        <p:spPr>
          <a:xfrm>
            <a:off x="7410297"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Create your own strategy</a:t>
            </a:r>
          </a:p>
        </p:txBody>
      </p:sp>
      <p:sp>
        <p:nvSpPr>
          <p:cNvPr id="37" name="TextBox 36"/>
          <p:cNvSpPr txBox="1"/>
          <p:nvPr/>
        </p:nvSpPr>
        <p:spPr>
          <a:xfrm>
            <a:off x="9191548" y="4041648"/>
            <a:ext cx="329184" cy="45720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8" name="Rectangle 37"/>
          <p:cNvSpPr/>
          <p:nvPr/>
        </p:nvSpPr>
        <p:spPr>
          <a:xfrm>
            <a:off x="9475012" y="3456432"/>
            <a:ext cx="1936699" cy="16276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475012" y="3456432"/>
            <a:ext cx="193669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0233049" y="3602736"/>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233049" y="3602736"/>
            <a:ext cx="420624" cy="420624"/>
          </a:xfrm>
          <a:prstGeom prst="rect">
            <a:avLst/>
          </a:prstGeom>
          <a:noFill/>
        </p:spPr>
        <p:txBody>
          <a:bodyPr wrap="square" anchor="ctr">
            <a:spAutoFit/>
          </a:bodyPr>
          <a:lstStyle/>
          <a:p>
            <a:pPr algn="ctr">
              <a:spcAft>
                <a:spcPts val="400"/>
              </a:spcAft>
            </a:pPr>
            <a:r>
              <a:rPr sz="1600" b="1">
                <a:solidFill>
                  <a:srgbClr val="FFFFFF"/>
                </a:solidFill>
                <a:latin typeface="Arial"/>
              </a:rPr>
              <a:t>5</a:t>
            </a:r>
          </a:p>
        </p:txBody>
      </p:sp>
      <p:sp>
        <p:nvSpPr>
          <p:cNvPr id="42" name="TextBox 41"/>
          <p:cNvSpPr txBox="1"/>
          <p:nvPr/>
        </p:nvSpPr>
        <p:spPr>
          <a:xfrm>
            <a:off x="9584740" y="4114800"/>
            <a:ext cx="1717243" cy="877824"/>
          </a:xfrm>
          <a:prstGeom prst="rect">
            <a:avLst/>
          </a:prstGeom>
          <a:noFill/>
        </p:spPr>
        <p:txBody>
          <a:bodyPr wrap="square" anchor="t">
            <a:spAutoFit/>
          </a:bodyPr>
          <a:lstStyle/>
          <a:p>
            <a:pPr algn="ctr">
              <a:spcAft>
                <a:spcPts val="400"/>
              </a:spcAft>
            </a:pPr>
            <a:r>
              <a:rPr sz="1050" b="0">
                <a:solidFill>
                  <a:srgbClr val="161B26"/>
                </a:solidFill>
                <a:latin typeface="Arial"/>
              </a:rPr>
              <a:t>Simulator: Backtest, diagnose and forward-test it</a:t>
            </a:r>
          </a:p>
        </p:txBody>
      </p:sp>
      <p:sp>
        <p:nvSpPr>
          <p:cNvPr id="43" name="Rectangle 42"/>
          <p:cNvSpPr/>
          <p:nvPr/>
        </p:nvSpPr>
        <p:spPr>
          <a:xfrm>
            <a:off x="777240" y="5257800"/>
            <a:ext cx="10634472" cy="8961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257800"/>
            <a:ext cx="91440"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97280" y="5349240"/>
            <a:ext cx="7863840" cy="274320"/>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6" name="TextBox 45"/>
          <p:cNvSpPr txBox="1"/>
          <p:nvPr/>
        </p:nvSpPr>
        <p:spPr>
          <a:xfrm>
            <a:off x="1097280" y="5623560"/>
            <a:ext cx="7863840" cy="502920"/>
          </a:xfrm>
          <a:prstGeom prst="rect">
            <a:avLst/>
          </a:prstGeom>
          <a:noFill/>
        </p:spPr>
        <p:txBody>
          <a:bodyPr wrap="square" anchor="t">
            <a:spAutoFit/>
          </a:bodyPr>
          <a:lstStyle/>
          <a:p>
            <a:pPr algn="l">
              <a:spcAft>
                <a:spcPts val="400"/>
              </a:spcAft>
            </a:pPr>
            <a:r>
              <a:rPr sz="1250" b="1">
                <a:solidFill>
                  <a:srgbClr val="161B26"/>
                </a:solidFill>
                <a:latin typeface="Arial"/>
              </a:rPr>
              <a:t>A Pipeline Map with every stage green, an approved agent proposal with its decision trace, and your custom strategy trading on paper.</a:t>
            </a:r>
          </a:p>
        </p:txBody>
      </p:sp>
      <p:sp>
        <p:nvSpPr>
          <p:cNvPr id="47" name="TextBox 46"/>
          <p:cNvSpPr txBox="1"/>
          <p:nvPr/>
        </p:nvSpPr>
        <p:spPr>
          <a:xfrm>
            <a:off x="9052560" y="5257800"/>
            <a:ext cx="2148840" cy="896112"/>
          </a:xfrm>
          <a:prstGeom prst="rect">
            <a:avLst/>
          </a:prstGeom>
          <a:noFill/>
        </p:spPr>
        <p:txBody>
          <a:bodyPr wrap="square" anchor="ctr">
            <a:spAutoFit/>
          </a:bodyPr>
          <a:lstStyle/>
          <a:p>
            <a:pPr algn="r">
              <a:spcAft>
                <a:spcPts val="200"/>
              </a:spcAft>
            </a:pPr>
            <a:r>
              <a:rPr sz="1100" b="1">
                <a:solidFill>
                  <a:srgbClr val="5B6372"/>
                </a:solidFill>
                <a:latin typeface="Arial"/>
              </a:rPr>
              <a:t>Duration</a:t>
            </a:r>
          </a:p>
          <a:p>
            <a:pPr algn="r">
              <a:spcAft>
                <a:spcPts val="200"/>
              </a:spcAft>
            </a:pPr>
            <a:r>
              <a:rPr sz="1400" b="1">
                <a:solidFill>
                  <a:srgbClr val="161B26"/>
                </a:solidFill>
                <a:latin typeface="Arial"/>
              </a:rPr>
              <a:t>20 min</a:t>
            </a:r>
          </a:p>
        </p:txBody>
      </p:sp>
      <p:sp>
        <p:nvSpPr>
          <p:cNvPr id="48" name="TextBox 4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49" name="TextBox 4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20 · SIMULATOR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Lab 20 — In the Trading Simulator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20_capstone_agents_16x9.png"/>
          <p:cNvPicPr>
            <a:picLocks noChangeAspect="1"/>
          </p:cNvPicPr>
          <p:nvPr/>
        </p:nvPicPr>
        <p:blipFill>
          <a:blip r:embed="rId2"/>
          <a:stretch>
            <a:fillRect/>
          </a:stretch>
        </p:blipFill>
        <p:spPr>
          <a:xfrm>
            <a:off x="2438247" y="1645920"/>
            <a:ext cx="7315200" cy="4114800"/>
          </a:xfrm>
          <a:prstGeom prst="rect">
            <a:avLst/>
          </a:prstGeom>
        </p:spPr>
      </p:pic>
      <p:sp>
        <p:nvSpPr>
          <p:cNvPr id="8" name="Rectangle 7"/>
          <p:cNvSpPr/>
          <p:nvPr/>
        </p:nvSpPr>
        <p:spPr>
          <a:xfrm>
            <a:off x="2427274" y="1634947"/>
            <a:ext cx="7337145" cy="4136745"/>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907024"/>
            <a:ext cx="10634472" cy="47548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5907024"/>
            <a:ext cx="9144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907024"/>
            <a:ext cx="10058400" cy="475488"/>
          </a:xfrm>
          <a:prstGeom prst="rect">
            <a:avLst/>
          </a:prstGeom>
          <a:noFill/>
        </p:spPr>
        <p:txBody>
          <a:bodyPr wrap="square" anchor="ctr">
            <a:spAutoFit/>
          </a:bodyPr>
          <a:lstStyle/>
          <a:p>
            <a:pPr algn="l">
              <a:spcAft>
                <a:spcPts val="400"/>
              </a:spcAft>
            </a:pPr>
            <a:r>
              <a:rPr sz="1200" b="0">
                <a:solidFill>
                  <a:srgbClr val="161B26"/>
                </a:solidFill>
                <a:latin typeface="Arial"/>
              </a:rPr>
              <a:t>Course Labs &gt; Lab 20 at http://localhost:8000 - AI Agents &gt; desk. Offline demo data; connect Alpaca paper keys for live paper trading.</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4 · WHAT YOU COVERED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Topic 4 Recap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723376" y="475488"/>
            <a:ext cx="2688336" cy="31089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723376" y="475488"/>
            <a:ext cx="54864"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23376" y="475488"/>
            <a:ext cx="2688336" cy="310896"/>
          </a:xfrm>
          <a:prstGeom prst="rect">
            <a:avLst/>
          </a:prstGeom>
          <a:noFill/>
        </p:spPr>
        <p:txBody>
          <a:bodyPr wrap="square" anchor="ctr">
            <a:spAutoFit/>
          </a:bodyPr>
          <a:lstStyle/>
          <a:p>
            <a:pPr algn="ctr">
              <a:spcAft>
                <a:spcPts val="400"/>
              </a:spcAft>
            </a:pPr>
            <a:r>
              <a:rPr sz="1100" b="1">
                <a:solidFill>
                  <a:srgbClr val="F59E0B"/>
                </a:solidFill>
                <a:latin typeface="Arial"/>
              </a:rPr>
              <a:t>A7  A8  A9  A10  K7  K8</a:t>
            </a:r>
          </a:p>
        </p:txBody>
      </p:sp>
      <p:sp>
        <p:nvSpPr>
          <p:cNvPr id="10" name="Rectangle 9"/>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33272" y="17739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17739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1764792" y="1911096"/>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A7</a:t>
            </a:r>
          </a:p>
          <a:p>
            <a:pPr algn="l">
              <a:spcAft>
                <a:spcPts val="300"/>
              </a:spcAft>
            </a:pPr>
            <a:r>
              <a:rPr sz="900" b="0">
                <a:solidFill>
                  <a:srgbClr val="5B6372"/>
                </a:solidFill>
                <a:latin typeface="Arial"/>
              </a:rPr>
              <a:t>Perform coding and configuration of software agents or programs based on selected models or algorithms</a:t>
            </a:r>
          </a:p>
        </p:txBody>
      </p:sp>
      <p:sp>
        <p:nvSpPr>
          <p:cNvPr id="15" name="Rectangle 14"/>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33272"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1764792" y="2679192"/>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A8</a:t>
            </a:r>
          </a:p>
          <a:p>
            <a:pPr algn="l">
              <a:spcAft>
                <a:spcPts val="300"/>
              </a:spcAft>
            </a:pPr>
            <a:r>
              <a:rPr sz="900" b="0">
                <a:solidFill>
                  <a:srgbClr val="5B6372"/>
                </a:solidFill>
                <a:latin typeface="Arial"/>
              </a:rPr>
              <a:t>Conduct tests on the actions taken and outcomes to assess effectiveness of the models</a:t>
            </a:r>
          </a:p>
        </p:txBody>
      </p:sp>
      <p:sp>
        <p:nvSpPr>
          <p:cNvPr id="20" name="Rectangle 19"/>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33272" y="331012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31012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1764792" y="3447288"/>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A9</a:t>
            </a:r>
          </a:p>
          <a:p>
            <a:pPr algn="l">
              <a:spcAft>
                <a:spcPts val="300"/>
              </a:spcAft>
            </a:pPr>
            <a:r>
              <a:rPr sz="900" b="0">
                <a:solidFill>
                  <a:srgbClr val="5B6372"/>
                </a:solidFill>
                <a:latin typeface="Arial"/>
              </a:rPr>
              <a:t>Diagnose unintended outcomes produced by statistical models</a:t>
            </a:r>
          </a:p>
        </p:txBody>
      </p:sp>
      <p:sp>
        <p:nvSpPr>
          <p:cNvPr id="25" name="Rectangle 24"/>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33272" y="407822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0782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1764792" y="4215384"/>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A10</a:t>
            </a:r>
          </a:p>
          <a:p>
            <a:pPr algn="l">
              <a:spcAft>
                <a:spcPts val="300"/>
              </a:spcAft>
            </a:pPr>
            <a:r>
              <a:rPr sz="900" b="0">
                <a:solidFill>
                  <a:srgbClr val="5B6372"/>
                </a:solidFill>
                <a:latin typeface="Arial"/>
              </a:rPr>
              <a:t>Draw relevant trends and insights from data analysis to support decisions and report accordingly</a:t>
            </a:r>
          </a:p>
        </p:txBody>
      </p:sp>
      <p:sp>
        <p:nvSpPr>
          <p:cNvPr id="30" name="Rectangle 29"/>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33272"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4" name="TextBox 33"/>
          <p:cNvSpPr txBox="1"/>
          <p:nvPr/>
        </p:nvSpPr>
        <p:spPr>
          <a:xfrm>
            <a:off x="1764792" y="4983480"/>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K7</a:t>
            </a:r>
          </a:p>
          <a:p>
            <a:pPr algn="l">
              <a:spcAft>
                <a:spcPts val="300"/>
              </a:spcAft>
            </a:pPr>
            <a:r>
              <a:rPr sz="900" b="0">
                <a:solidFill>
                  <a:srgbClr val="5B6372"/>
                </a:solidFill>
                <a:latin typeface="Arial"/>
              </a:rPr>
              <a:t>Coding languages for programming of algorithms and signals</a:t>
            </a:r>
          </a:p>
        </p:txBody>
      </p:sp>
      <p:sp>
        <p:nvSpPr>
          <p:cNvPr id="35" name="Rectangle 34"/>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33272" y="561441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33272" y="561441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9" name="TextBox 38"/>
          <p:cNvSpPr txBox="1"/>
          <p:nvPr/>
        </p:nvSpPr>
        <p:spPr>
          <a:xfrm>
            <a:off x="1764792" y="5751576"/>
            <a:ext cx="9427464" cy="347472"/>
          </a:xfrm>
          <a:prstGeom prst="rect">
            <a:avLst/>
          </a:prstGeom>
          <a:noFill/>
        </p:spPr>
        <p:txBody>
          <a:bodyPr wrap="square" anchor="ctr">
            <a:spAutoFit/>
          </a:bodyPr>
          <a:lstStyle/>
          <a:p>
            <a:pPr algn="l">
              <a:spcAft>
                <a:spcPts val="300"/>
              </a:spcAft>
            </a:pPr>
            <a:r>
              <a:rPr sz="1300" b="1">
                <a:solidFill>
                  <a:srgbClr val="161B26"/>
                </a:solidFill>
                <a:latin typeface="Arial"/>
              </a:rPr>
              <a:t>K8</a:t>
            </a:r>
          </a:p>
          <a:p>
            <a:pPr algn="l">
              <a:spcAft>
                <a:spcPts val="300"/>
              </a:spcAft>
            </a:pPr>
            <a:r>
              <a:rPr sz="900" b="0">
                <a:solidFill>
                  <a:srgbClr val="5B6372"/>
                </a:solidFill>
                <a:latin typeface="Arial"/>
              </a:rPr>
              <a:t>Potential reasons for unintended outcomes</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SUMMARY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Framed testable hypotheses</a:t>
            </a:r>
          </a:p>
          <a:p>
            <a:pPr algn="l">
              <a:spcAft>
                <a:spcPts val="300"/>
              </a:spcAft>
            </a:pPr>
            <a:r>
              <a:rPr sz="1300" b="0">
                <a:solidFill>
                  <a:srgbClr val="5B6372"/>
                </a:solidFill>
                <a:latin typeface="Arial"/>
              </a:rPr>
              <a:t>Instrument, signal, holding period, effect, benchmark.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Built indicators and strategies</a:t>
            </a:r>
          </a:p>
          <a:p>
            <a:pPr algn="l">
              <a:spcAft>
                <a:spcPts val="300"/>
              </a:spcAft>
            </a:pPr>
            <a:r>
              <a:rPr sz="1300" b="0">
                <a:solidFill>
                  <a:srgbClr val="5B6372"/>
                </a:solidFill>
                <a:latin typeface="Arial"/>
              </a:rPr>
              <a:t>Pine Script on TradingView; configured in the Trading Simulator.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Modelled and A/B-tested</a:t>
            </a:r>
          </a:p>
          <a:p>
            <a:pPr algn="l">
              <a:spcAft>
                <a:spcPts val="300"/>
              </a:spcAft>
            </a:pPr>
            <a:r>
              <a:rPr sz="1300" b="0">
                <a:solidFill>
                  <a:srgbClr val="5B6372"/>
                </a:solidFill>
                <a:latin typeface="Arial"/>
              </a:rPr>
              <a:t>ML classifiers, regimes, Welch's t-test and bootstrap.</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Backtested net of costs</a:t>
            </a:r>
          </a:p>
          <a:p>
            <a:pPr algn="l">
              <a:spcAft>
                <a:spcPts val="300"/>
              </a:spcAft>
            </a:pPr>
            <a:r>
              <a:rPr sz="1300" b="0">
                <a:solidFill>
                  <a:srgbClr val="5B6372"/>
                </a:solidFill>
                <a:latin typeface="Arial"/>
              </a:rPr>
              <a:t>Commission, spread, slippage and regulatory fees.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Forward-tested automatically</a:t>
            </a:r>
          </a:p>
          <a:p>
            <a:pPr algn="l">
              <a:spcAft>
                <a:spcPts val="300"/>
              </a:spcAft>
            </a:pPr>
            <a:r>
              <a:rPr sz="1300" b="0">
                <a:solidFill>
                  <a:srgbClr val="5B6372"/>
                </a:solidFill>
                <a:latin typeface="Arial"/>
              </a:rPr>
              <a:t>A paper-trading bot with risk checks and a trade log.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Diagnosed and reported</a:t>
            </a:r>
          </a:p>
          <a:p>
            <a:pPr algn="l">
              <a:spcAft>
                <a:spcPts val="300"/>
              </a:spcAft>
            </a:pPr>
            <a:r>
              <a:rPr sz="1300" b="0">
                <a:solidFill>
                  <a:srgbClr val="5B6372"/>
                </a:solidFill>
                <a:latin typeface="Arial"/>
              </a:rPr>
              <a:t>Found the bias, fixed it, and wrote the recommendation.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Courseware &amp; Assessment on the LMS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64208"/>
            <a:ext cx="10607040" cy="365760"/>
          </a:xfrm>
          <a:prstGeom prst="rect">
            <a:avLst/>
          </a:prstGeom>
          <a:noFill/>
        </p:spPr>
        <p:txBody>
          <a:bodyPr wrap="square" anchor="t">
            <a:spAutoFit/>
          </a:bodyPr>
          <a:lstStyle/>
          <a:p>
            <a:pPr algn="l">
              <a:spcAft>
                <a:spcPts val="400"/>
              </a:spcAft>
            </a:pPr>
            <a:r>
              <a:rPr sz="1300" b="0">
                <a:solidFill>
                  <a:srgbClr val="5B6372"/>
                </a:solidFill>
                <a:latin typeface="Arial"/>
              </a:rPr>
              <a:t>Everything for the open-book assessment — slides, Learner Guide and submissions — lives on the LMS.</a:t>
            </a:r>
          </a:p>
        </p:txBody>
      </p:sp>
      <p:sp>
        <p:nvSpPr>
          <p:cNvPr id="8" name="Rectangle 7"/>
          <p:cNvSpPr/>
          <p:nvPr/>
        </p:nvSpPr>
        <p:spPr>
          <a:xfrm>
            <a:off x="777240" y="2148840"/>
            <a:ext cx="3749039" cy="3566160"/>
          </a:xfrm>
          <a:prstGeom prst="rect">
            <a:avLst/>
          </a:prstGeom>
          <a:solidFill>
            <a:srgbClr val="0F2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240279" y="251460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40279" y="2514600"/>
            <a:ext cx="822960" cy="822960"/>
          </a:xfrm>
          <a:prstGeom prst="rect">
            <a:avLst/>
          </a:prstGeom>
          <a:noFill/>
        </p:spPr>
        <p:txBody>
          <a:bodyPr wrap="square" anchor="ctr">
            <a:spAutoFit/>
          </a:bodyPr>
          <a:lstStyle/>
          <a:p>
            <a:pPr algn="ctr">
              <a:spcAft>
                <a:spcPts val="400"/>
              </a:spcAft>
            </a:pPr>
            <a:r>
              <a:rPr sz="3200" b="1">
                <a:solidFill>
                  <a:srgbClr val="0F2A5F"/>
                </a:solidFill>
                <a:latin typeface="Arial"/>
              </a:rPr>
              <a:t>T</a:t>
            </a:r>
          </a:p>
        </p:txBody>
      </p:sp>
      <p:sp>
        <p:nvSpPr>
          <p:cNvPr id="11" name="TextBox 10"/>
          <p:cNvSpPr txBox="1"/>
          <p:nvPr/>
        </p:nvSpPr>
        <p:spPr>
          <a:xfrm>
            <a:off x="777240" y="3520440"/>
            <a:ext cx="3749039" cy="457200"/>
          </a:xfrm>
          <a:prstGeom prst="rect">
            <a:avLst/>
          </a:prstGeom>
          <a:noFill/>
        </p:spPr>
        <p:txBody>
          <a:bodyPr wrap="square" anchor="t">
            <a:spAutoFit/>
          </a:bodyPr>
          <a:lstStyle/>
          <a:p>
            <a:pPr algn="ctr">
              <a:spcAft>
                <a:spcPts val="400"/>
              </a:spcAft>
            </a:pPr>
            <a:r>
              <a:rPr sz="1700" b="1">
                <a:solidFill>
                  <a:srgbClr val="FFFFFF"/>
                </a:solidFill>
                <a:latin typeface="Arial"/>
              </a:rPr>
              <a:t>Tertiary Infotech Academy</a:t>
            </a:r>
          </a:p>
        </p:txBody>
      </p:sp>
      <p:sp>
        <p:nvSpPr>
          <p:cNvPr id="12" name="TextBox 11"/>
          <p:cNvSpPr txBox="1"/>
          <p:nvPr/>
        </p:nvSpPr>
        <p:spPr>
          <a:xfrm>
            <a:off x="777240" y="3977640"/>
            <a:ext cx="3749039" cy="365760"/>
          </a:xfrm>
          <a:prstGeom prst="rect">
            <a:avLst/>
          </a:prstGeom>
          <a:noFill/>
        </p:spPr>
        <p:txBody>
          <a:bodyPr wrap="square" anchor="t">
            <a:spAutoFit/>
          </a:bodyPr>
          <a:lstStyle/>
          <a:p>
            <a:pPr algn="ctr">
              <a:spcAft>
                <a:spcPts val="400"/>
              </a:spcAft>
            </a:pPr>
            <a:r>
              <a:rPr sz="1200" b="0">
                <a:solidFill>
                  <a:srgbClr val="B8C7E0"/>
                </a:solidFill>
                <a:latin typeface="Arial"/>
              </a:rPr>
              <a:t>LMS for IBF-STS courses</a:t>
            </a:r>
          </a:p>
        </p:txBody>
      </p:sp>
      <p:sp>
        <p:nvSpPr>
          <p:cNvPr id="13" name="Rectangle 12"/>
          <p:cNvSpPr/>
          <p:nvPr/>
        </p:nvSpPr>
        <p:spPr>
          <a:xfrm>
            <a:off x="1737360" y="4526280"/>
            <a:ext cx="182880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737360" y="4526280"/>
            <a:ext cx="1828800" cy="502920"/>
          </a:xfrm>
          <a:prstGeom prst="rect">
            <a:avLst/>
          </a:prstGeom>
          <a:noFill/>
        </p:spPr>
        <p:txBody>
          <a:bodyPr wrap="square" anchor="ctr">
            <a:spAutoFit/>
          </a:bodyPr>
          <a:lstStyle/>
          <a:p>
            <a:pPr algn="ctr">
              <a:spcAft>
                <a:spcPts val="400"/>
              </a:spcAft>
            </a:pPr>
            <a:r>
              <a:rPr sz="1400" b="1">
                <a:solidFill>
                  <a:srgbClr val="FFFFFF"/>
                </a:solidFill>
                <a:latin typeface="Arial"/>
              </a:rPr>
              <a:t>Sign in / OTP</a:t>
            </a:r>
          </a:p>
        </p:txBody>
      </p:sp>
      <p:sp>
        <p:nvSpPr>
          <p:cNvPr id="15" name="TextBox 14"/>
          <p:cNvSpPr txBox="1"/>
          <p:nvPr/>
        </p:nvSpPr>
        <p:spPr>
          <a:xfrm>
            <a:off x="777240" y="5166360"/>
            <a:ext cx="3749039" cy="365760"/>
          </a:xfrm>
          <a:prstGeom prst="rect">
            <a:avLst/>
          </a:prstGeom>
          <a:noFill/>
        </p:spPr>
        <p:txBody>
          <a:bodyPr wrap="square" anchor="t">
            <a:spAutoFit/>
          </a:bodyPr>
          <a:lstStyle/>
          <a:p>
            <a:pPr algn="ctr">
              <a:spcAft>
                <a:spcPts val="400"/>
              </a:spcAft>
            </a:pPr>
            <a:r>
              <a:rPr sz="1200" b="1">
                <a:solidFill>
                  <a:srgbClr val="9CDCFE"/>
                </a:solidFill>
                <a:latin typeface="Arial"/>
              </a:rPr>
              <a:t>lms-tms.tertiaryinfotech.com</a:t>
            </a:r>
          </a:p>
        </p:txBody>
      </p:sp>
      <p:sp>
        <p:nvSpPr>
          <p:cNvPr id="16" name="Rectangle 15"/>
          <p:cNvSpPr/>
          <p:nvPr/>
        </p:nvSpPr>
        <p:spPr>
          <a:xfrm>
            <a:off x="4846320" y="2148840"/>
            <a:ext cx="656539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46320" y="2148840"/>
            <a:ext cx="91440" cy="8229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120640" y="2359152"/>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20640" y="2359152"/>
            <a:ext cx="402336" cy="402336"/>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20" name="TextBox 19"/>
          <p:cNvSpPr txBox="1"/>
          <p:nvPr/>
        </p:nvSpPr>
        <p:spPr>
          <a:xfrm>
            <a:off x="5715000" y="2148840"/>
            <a:ext cx="5468112" cy="822960"/>
          </a:xfrm>
          <a:prstGeom prst="rect">
            <a:avLst/>
          </a:prstGeom>
          <a:noFill/>
        </p:spPr>
        <p:txBody>
          <a:bodyPr wrap="square" anchor="ctr">
            <a:spAutoFit/>
          </a:bodyPr>
          <a:lstStyle/>
          <a:p>
            <a:pPr algn="l">
              <a:spcAft>
                <a:spcPts val="200"/>
              </a:spcAft>
            </a:pPr>
            <a:r>
              <a:rPr sz="1400" b="1">
                <a:solidFill>
                  <a:srgbClr val="161B26"/>
                </a:solidFill>
                <a:latin typeface="Arial"/>
              </a:rPr>
              <a:t>Sign in</a:t>
            </a:r>
          </a:p>
          <a:p>
            <a:pPr algn="l">
              <a:spcAft>
                <a:spcPts val="200"/>
              </a:spcAft>
            </a:pPr>
            <a:r>
              <a:rPr sz="1150" b="0">
                <a:solidFill>
                  <a:srgbClr val="5B6372"/>
                </a:solidFill>
                <a:latin typeface="Arial"/>
              </a:rPr>
              <a:t>Log in with your registered email (OTP or password).</a:t>
            </a:r>
          </a:p>
        </p:txBody>
      </p:sp>
      <p:sp>
        <p:nvSpPr>
          <p:cNvPr id="21" name="Rectangle 20"/>
          <p:cNvSpPr/>
          <p:nvPr/>
        </p:nvSpPr>
        <p:spPr>
          <a:xfrm>
            <a:off x="4846320" y="3072384"/>
            <a:ext cx="656539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846320" y="3072384"/>
            <a:ext cx="91440" cy="822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120640" y="3282696"/>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0" y="3282696"/>
            <a:ext cx="402336" cy="402336"/>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25" name="TextBox 24"/>
          <p:cNvSpPr txBox="1"/>
          <p:nvPr/>
        </p:nvSpPr>
        <p:spPr>
          <a:xfrm>
            <a:off x="5715000" y="3072384"/>
            <a:ext cx="5468112" cy="822960"/>
          </a:xfrm>
          <a:prstGeom prst="rect">
            <a:avLst/>
          </a:prstGeom>
          <a:noFill/>
        </p:spPr>
        <p:txBody>
          <a:bodyPr wrap="square" anchor="ctr">
            <a:spAutoFit/>
          </a:bodyPr>
          <a:lstStyle/>
          <a:p>
            <a:pPr algn="l">
              <a:spcAft>
                <a:spcPts val="200"/>
              </a:spcAft>
            </a:pPr>
            <a:r>
              <a:rPr sz="1400" b="1">
                <a:solidFill>
                  <a:srgbClr val="161B26"/>
                </a:solidFill>
                <a:latin typeface="Arial"/>
              </a:rPr>
              <a:t>Download the courseware</a:t>
            </a:r>
          </a:p>
          <a:p>
            <a:pPr algn="l">
              <a:spcAft>
                <a:spcPts val="200"/>
              </a:spcAft>
            </a:pPr>
            <a:r>
              <a:rPr sz="1150" b="0">
                <a:solidFill>
                  <a:srgbClr val="5B6372"/>
                </a:solidFill>
                <a:latin typeface="Arial"/>
              </a:rPr>
              <a:t>Trainer slides, Learner Guide and lab artefacts.</a:t>
            </a:r>
          </a:p>
        </p:txBody>
      </p:sp>
      <p:sp>
        <p:nvSpPr>
          <p:cNvPr id="26" name="Rectangle 25"/>
          <p:cNvSpPr/>
          <p:nvPr/>
        </p:nvSpPr>
        <p:spPr>
          <a:xfrm>
            <a:off x="4846320" y="3995928"/>
            <a:ext cx="656539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846320" y="3995928"/>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120640" y="4206240"/>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20640" y="4206240"/>
            <a:ext cx="402336" cy="402336"/>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30" name="TextBox 29"/>
          <p:cNvSpPr txBox="1"/>
          <p:nvPr/>
        </p:nvSpPr>
        <p:spPr>
          <a:xfrm>
            <a:off x="5715000" y="3995928"/>
            <a:ext cx="5468112" cy="822960"/>
          </a:xfrm>
          <a:prstGeom prst="rect">
            <a:avLst/>
          </a:prstGeom>
          <a:noFill/>
        </p:spPr>
        <p:txBody>
          <a:bodyPr wrap="square" anchor="ctr">
            <a:spAutoFit/>
          </a:bodyPr>
          <a:lstStyle/>
          <a:p>
            <a:pPr algn="l">
              <a:spcAft>
                <a:spcPts val="200"/>
              </a:spcAft>
            </a:pPr>
            <a:r>
              <a:rPr sz="1400" b="1">
                <a:solidFill>
                  <a:srgbClr val="161B26"/>
                </a:solidFill>
                <a:latin typeface="Arial"/>
              </a:rPr>
              <a:t>Mark attendance</a:t>
            </a:r>
          </a:p>
          <a:p>
            <a:pPr algn="l">
              <a:spcAft>
                <a:spcPts val="200"/>
              </a:spcAft>
            </a:pPr>
            <a:r>
              <a:rPr sz="1150" b="0">
                <a:solidFill>
                  <a:srgbClr val="5B6372"/>
                </a:solidFill>
                <a:latin typeface="Arial"/>
              </a:rPr>
              <a:t>Sign in for each session — IBF-STS funding needs 75% attendance.</a:t>
            </a:r>
          </a:p>
        </p:txBody>
      </p:sp>
      <p:sp>
        <p:nvSpPr>
          <p:cNvPr id="31" name="Rectangle 30"/>
          <p:cNvSpPr/>
          <p:nvPr/>
        </p:nvSpPr>
        <p:spPr>
          <a:xfrm>
            <a:off x="4846320" y="4919472"/>
            <a:ext cx="656539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846320" y="4919472"/>
            <a:ext cx="91440"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120640" y="5129784"/>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20640" y="5129784"/>
            <a:ext cx="402336" cy="402336"/>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35" name="TextBox 34"/>
          <p:cNvSpPr txBox="1"/>
          <p:nvPr/>
        </p:nvSpPr>
        <p:spPr>
          <a:xfrm>
            <a:off x="5715000" y="4919472"/>
            <a:ext cx="5468112" cy="822960"/>
          </a:xfrm>
          <a:prstGeom prst="rect">
            <a:avLst/>
          </a:prstGeom>
          <a:noFill/>
        </p:spPr>
        <p:txBody>
          <a:bodyPr wrap="square" anchor="ctr">
            <a:spAutoFit/>
          </a:bodyPr>
          <a:lstStyle/>
          <a:p>
            <a:pPr algn="l">
              <a:spcAft>
                <a:spcPts val="200"/>
              </a:spcAft>
            </a:pPr>
            <a:r>
              <a:rPr sz="1400" b="1">
                <a:solidFill>
                  <a:srgbClr val="161B26"/>
                </a:solidFill>
                <a:latin typeface="Arial"/>
              </a:rPr>
              <a:t>Submit the assessment</a:t>
            </a:r>
          </a:p>
          <a:p>
            <a:pPr algn="l">
              <a:spcAft>
                <a:spcPts val="200"/>
              </a:spcAft>
            </a:pPr>
            <a:r>
              <a:rPr sz="1150" b="0">
                <a:solidFill>
                  <a:srgbClr val="5B6372"/>
                </a:solidFill>
                <a:latin typeface="Arial"/>
              </a:rPr>
              <a:t>Upload your WA answers and PP evidence here.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 Reminder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65960"/>
            <a:ext cx="5180076" cy="3566160"/>
          </a:xfrm>
          <a:prstGeom prst="rect">
            <a:avLst/>
          </a:prstGeom>
          <a:solidFill>
            <a:srgbClr val="FFFFFF"/>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65960"/>
            <a:ext cx="5180076"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2331720"/>
            <a:ext cx="4741164" cy="548640"/>
          </a:xfrm>
          <a:prstGeom prst="rect">
            <a:avLst/>
          </a:prstGeom>
          <a:noFill/>
        </p:spPr>
        <p:txBody>
          <a:bodyPr wrap="square" anchor="t">
            <a:spAutoFit/>
          </a:bodyPr>
          <a:lstStyle/>
          <a:p>
            <a:pPr algn="l">
              <a:spcAft>
                <a:spcPts val="400"/>
              </a:spcAft>
            </a:pPr>
            <a:r>
              <a:rPr sz="1600" b="1">
                <a:solidFill>
                  <a:srgbClr val="1F6FEB"/>
                </a:solidFill>
                <a:latin typeface="Arial"/>
              </a:rPr>
              <a:t>Written Assessment</a:t>
            </a:r>
          </a:p>
        </p:txBody>
      </p:sp>
      <p:sp>
        <p:nvSpPr>
          <p:cNvPr id="10" name="TextBox 9"/>
          <p:cNvSpPr txBox="1"/>
          <p:nvPr/>
        </p:nvSpPr>
        <p:spPr>
          <a:xfrm>
            <a:off x="996696"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45 minutes · open book · 9 short-answer questions covering K1 - K9.</a:t>
            </a:r>
          </a:p>
        </p:txBody>
      </p:sp>
      <p:sp>
        <p:nvSpPr>
          <p:cNvPr id="11" name="Rectangle 10"/>
          <p:cNvSpPr/>
          <p:nvPr/>
        </p:nvSpPr>
        <p:spPr>
          <a:xfrm>
            <a:off x="6231636" y="1965960"/>
            <a:ext cx="5180076" cy="3566160"/>
          </a:xfrm>
          <a:prstGeom prst="rect">
            <a:avLst/>
          </a:prstGeom>
          <a:solidFill>
            <a:srgbClr val="FFFFF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965960"/>
            <a:ext cx="5180076"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1092" y="2331720"/>
            <a:ext cx="4741164" cy="548640"/>
          </a:xfrm>
          <a:prstGeom prst="rect">
            <a:avLst/>
          </a:prstGeom>
          <a:noFill/>
        </p:spPr>
        <p:txBody>
          <a:bodyPr wrap="square" anchor="t">
            <a:spAutoFit/>
          </a:bodyPr>
          <a:lstStyle/>
          <a:p>
            <a:pPr algn="l">
              <a:spcAft>
                <a:spcPts val="400"/>
              </a:spcAft>
            </a:pPr>
            <a:r>
              <a:rPr sz="1600" b="1">
                <a:solidFill>
                  <a:srgbClr val="10B981"/>
                </a:solidFill>
                <a:latin typeface="Arial"/>
              </a:rPr>
              <a:t>Practical Performance</a:t>
            </a:r>
          </a:p>
        </p:txBody>
      </p:sp>
      <p:sp>
        <p:nvSpPr>
          <p:cNvPr id="14" name="TextBox 13"/>
          <p:cNvSpPr txBox="1"/>
          <p:nvPr/>
        </p:nvSpPr>
        <p:spPr>
          <a:xfrm>
            <a:off x="6451092" y="2926080"/>
            <a:ext cx="4741164" cy="2377440"/>
          </a:xfrm>
          <a:prstGeom prst="rect">
            <a:avLst/>
          </a:prstGeom>
          <a:noFill/>
        </p:spPr>
        <p:txBody>
          <a:bodyPr wrap="square" anchor="t">
            <a:spAutoFit/>
          </a:bodyPr>
          <a:lstStyle/>
          <a:p>
            <a:pPr algn="l">
              <a:spcAft>
                <a:spcPts val="400"/>
              </a:spcAft>
            </a:pPr>
            <a:r>
              <a:rPr sz="1200" b="0">
                <a:solidFill>
                  <a:srgbClr val="161B26"/>
                </a:solidFill>
                <a:latin typeface="Arial"/>
              </a:rPr>
              <a:t>75 minutes · open book · 4 tasks (configure and run the provided trading program - no coding), A1 - A10.</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74343"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4343"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1</a:t>
            </a:r>
          </a:p>
        </p:txBody>
      </p:sp>
      <p:sp>
        <p:nvSpPr>
          <p:cNvPr id="11" name="TextBox 10"/>
          <p:cNvSpPr txBox="1"/>
          <p:nvPr/>
        </p:nvSpPr>
        <p:spPr>
          <a:xfrm>
            <a:off x="905256"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the assessment attendance record</a:t>
            </a:r>
          </a:p>
        </p:txBody>
      </p:sp>
      <p:sp>
        <p:nvSpPr>
          <p:cNvPr id="12" name="TextBox 11"/>
          <p:cNvSpPr txBox="1"/>
          <p:nvPr/>
        </p:nvSpPr>
        <p:spPr>
          <a:xfrm>
            <a:off x="2666390"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13" name="Rectangle 12"/>
          <p:cNvSpPr/>
          <p:nvPr/>
        </p:nvSpPr>
        <p:spPr>
          <a:xfrm>
            <a:off x="2958998"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58998"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56101"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6101"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2</a:t>
            </a:r>
          </a:p>
        </p:txBody>
      </p:sp>
      <p:sp>
        <p:nvSpPr>
          <p:cNvPr id="17" name="TextBox 16"/>
          <p:cNvSpPr txBox="1"/>
          <p:nvPr/>
        </p:nvSpPr>
        <p:spPr>
          <a:xfrm>
            <a:off x="3087014"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Assessor briefing (not assessed)</a:t>
            </a:r>
          </a:p>
        </p:txBody>
      </p:sp>
      <p:sp>
        <p:nvSpPr>
          <p:cNvPr id="18" name="TextBox 17"/>
          <p:cNvSpPr txBox="1"/>
          <p:nvPr/>
        </p:nvSpPr>
        <p:spPr>
          <a:xfrm>
            <a:off x="4848148"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19" name="Rectangle 18"/>
          <p:cNvSpPr/>
          <p:nvPr/>
        </p:nvSpPr>
        <p:spPr>
          <a:xfrm>
            <a:off x="5140756"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0756"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37859"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37859"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3</a:t>
            </a:r>
          </a:p>
        </p:txBody>
      </p:sp>
      <p:sp>
        <p:nvSpPr>
          <p:cNvPr id="23" name="TextBox 22"/>
          <p:cNvSpPr txBox="1"/>
          <p:nvPr/>
        </p:nvSpPr>
        <p:spPr>
          <a:xfrm>
            <a:off x="5268772"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Sit the WA (45 min) then the PP (75 min) — open book</a:t>
            </a:r>
          </a:p>
        </p:txBody>
      </p:sp>
      <p:sp>
        <p:nvSpPr>
          <p:cNvPr id="24" name="TextBox 23"/>
          <p:cNvSpPr txBox="1"/>
          <p:nvPr/>
        </p:nvSpPr>
        <p:spPr>
          <a:xfrm>
            <a:off x="7029906"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25" name="Rectangle 24"/>
          <p:cNvSpPr/>
          <p:nvPr/>
        </p:nvSpPr>
        <p:spPr>
          <a:xfrm>
            <a:off x="7322514"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22514"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19617"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19617"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4</a:t>
            </a:r>
          </a:p>
        </p:txBody>
      </p:sp>
      <p:sp>
        <p:nvSpPr>
          <p:cNvPr id="29" name="TextBox 28"/>
          <p:cNvSpPr txBox="1"/>
          <p:nvPr/>
        </p:nvSpPr>
        <p:spPr>
          <a:xfrm>
            <a:off x="7450530"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Submit your answers on the LMS</a:t>
            </a:r>
          </a:p>
        </p:txBody>
      </p:sp>
      <p:sp>
        <p:nvSpPr>
          <p:cNvPr id="30" name="TextBox 29"/>
          <p:cNvSpPr txBox="1"/>
          <p:nvPr/>
        </p:nvSpPr>
        <p:spPr>
          <a:xfrm>
            <a:off x="9211664" y="3337560"/>
            <a:ext cx="310896" cy="548640"/>
          </a:xfrm>
          <a:prstGeom prst="rect">
            <a:avLst/>
          </a:prstGeom>
          <a:noFill/>
        </p:spPr>
        <p:txBody>
          <a:bodyPr wrap="square" anchor="ctr">
            <a:spAutoFit/>
          </a:bodyPr>
          <a:lstStyle/>
          <a:p>
            <a:pPr algn="ctr">
              <a:spcAft>
                <a:spcPts val="400"/>
              </a:spcAft>
            </a:pPr>
            <a:r>
              <a:rPr sz="1400" b="1">
                <a:solidFill>
                  <a:srgbClr val="7C3AED"/>
                </a:solidFill>
                <a:latin typeface="Arial"/>
              </a:rPr>
              <a:t>▶</a:t>
            </a:r>
          </a:p>
        </p:txBody>
      </p:sp>
      <p:sp>
        <p:nvSpPr>
          <p:cNvPr id="31" name="Rectangle 30"/>
          <p:cNvSpPr/>
          <p:nvPr/>
        </p:nvSpPr>
        <p:spPr>
          <a:xfrm>
            <a:off x="9504272" y="2240280"/>
            <a:ext cx="1907438" cy="2743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04272" y="2240280"/>
            <a:ext cx="190743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01375" y="2569464"/>
            <a:ext cx="713232" cy="7132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01375" y="2569464"/>
            <a:ext cx="713232" cy="713232"/>
          </a:xfrm>
          <a:prstGeom prst="rect">
            <a:avLst/>
          </a:prstGeom>
          <a:noFill/>
        </p:spPr>
        <p:txBody>
          <a:bodyPr wrap="square" anchor="ctr">
            <a:spAutoFit/>
          </a:bodyPr>
          <a:lstStyle/>
          <a:p>
            <a:pPr algn="ctr">
              <a:spcAft>
                <a:spcPts val="400"/>
              </a:spcAft>
            </a:pPr>
            <a:r>
              <a:rPr sz="2700" b="1">
                <a:solidFill>
                  <a:srgbClr val="FFFFFF"/>
                </a:solidFill>
                <a:latin typeface="Arial"/>
              </a:rPr>
              <a:t>5</a:t>
            </a:r>
          </a:p>
        </p:txBody>
      </p:sp>
      <p:sp>
        <p:nvSpPr>
          <p:cNvPr id="35" name="TextBox 34"/>
          <p:cNvSpPr txBox="1"/>
          <p:nvPr/>
        </p:nvSpPr>
        <p:spPr>
          <a:xfrm>
            <a:off x="9632288" y="3483864"/>
            <a:ext cx="1651406" cy="1371600"/>
          </a:xfrm>
          <a:prstGeom prst="rect">
            <a:avLst/>
          </a:prstGeom>
          <a:noFill/>
        </p:spPr>
        <p:txBody>
          <a:bodyPr wrap="square" anchor="t">
            <a:spAutoFit/>
          </a:bodyPr>
          <a:lstStyle/>
          <a:p>
            <a:pPr algn="ctr">
              <a:spcAft>
                <a:spcPts val="400"/>
              </a:spcAft>
            </a:pPr>
            <a:r>
              <a:rPr sz="1200" b="0">
                <a:solidFill>
                  <a:srgbClr val="161B26"/>
                </a:solidFill>
                <a:latin typeface="Arial"/>
              </a:rPr>
              <a:t>Sign the Assessment Summary Record</a:t>
            </a:r>
          </a:p>
        </p:txBody>
      </p:sp>
      <p:sp>
        <p:nvSpPr>
          <p:cNvPr id="36" name="Rectangle 35"/>
          <p:cNvSpPr/>
          <p:nvPr/>
        </p:nvSpPr>
        <p:spPr>
          <a:xfrm>
            <a:off x="777240" y="5257800"/>
            <a:ext cx="10634472" cy="822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77240" y="5257800"/>
            <a:ext cx="91440" cy="8229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97280" y="5257800"/>
            <a:ext cx="10058400" cy="822960"/>
          </a:xfrm>
          <a:prstGeom prst="rect">
            <a:avLst/>
          </a:prstGeom>
          <a:noFill/>
        </p:spPr>
        <p:txBody>
          <a:bodyPr wrap="square" anchor="ctr">
            <a:spAutoFit/>
          </a:bodyPr>
          <a:lstStyle/>
          <a:p>
            <a:pPr algn="l">
              <a:spcAft>
                <a:spcPts val="400"/>
              </a:spcAft>
            </a:pPr>
            <a:r>
              <a:rPr sz="1400" b="1">
                <a:solidFill>
                  <a:srgbClr val="161B26"/>
                </a:solidFill>
                <a:latin typeface="Arial"/>
              </a:rPr>
              <a:t>Sign the assessment attendance record BEFORE you begin. Submit on the LMS.</a:t>
            </a:r>
          </a:p>
        </p:txBody>
      </p:sp>
      <p:sp>
        <p:nvSpPr>
          <p:cNvPr id="39" name="TextBox 3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40" name="TextBox 3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41" name="TextBox 4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CLOSING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Before You Leave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Attendance</a:t>
            </a:r>
          </a:p>
          <a:p>
            <a:pPr algn="l">
              <a:spcAft>
                <a:spcPts val="300"/>
              </a:spcAft>
            </a:pPr>
            <a:r>
              <a:rPr sz="1300" b="0">
                <a:solidFill>
                  <a:srgbClr val="5B6372"/>
                </a:solidFill>
                <a:latin typeface="Arial"/>
              </a:rPr>
              <a:t>Make sure every session is signed — 75% is required for IBF-STS funding.</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Course feedback</a:t>
            </a:r>
          </a:p>
          <a:p>
            <a:pPr algn="l">
              <a:spcAft>
                <a:spcPts val="300"/>
              </a:spcAft>
            </a:pPr>
            <a:r>
              <a:rPr sz="1300" b="0">
                <a:solidFill>
                  <a:srgbClr val="5B6372"/>
                </a:solidFill>
                <a:latin typeface="Arial"/>
              </a:rPr>
              <a:t>Complete the feedback form on the LMS.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Keep practising on paper</a:t>
            </a:r>
          </a:p>
          <a:p>
            <a:pPr algn="l">
              <a:spcAft>
                <a:spcPts val="300"/>
              </a:spcAft>
            </a:pPr>
            <a:r>
              <a:rPr sz="1300" b="0">
                <a:solidFill>
                  <a:srgbClr val="5B6372"/>
                </a:solidFill>
                <a:latin typeface="Arial"/>
              </a:rPr>
              <a:t>Your Alpaca paper account, the Trading Simulator and the lab manuals are yours to keep.</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Not investment advice</a:t>
            </a:r>
          </a:p>
          <a:p>
            <a:pPr algn="l">
              <a:spcAft>
                <a:spcPts val="300"/>
              </a:spcAft>
            </a:pPr>
            <a:r>
              <a:rPr sz="1300" b="0">
                <a:solidFill>
                  <a:srgbClr val="5B6372"/>
                </a:solidFill>
                <a:latin typeface="Arial"/>
              </a:rPr>
              <a:t>Scenarios are fictitious; trade real money only with proper advice.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651760"/>
            <a:ext cx="12191695" cy="1097280"/>
          </a:xfrm>
          <a:prstGeom prst="rect">
            <a:avLst/>
          </a:prstGeom>
          <a:noFill/>
        </p:spPr>
        <p:txBody>
          <a:bodyPr wrap="square" anchor="t">
            <a:spAutoFit/>
          </a:bodyPr>
          <a:lstStyle/>
          <a:p>
            <a:pPr algn="ctr">
              <a:spcAft>
                <a:spcPts val="400"/>
              </a:spcAft>
            </a:pPr>
            <a:r>
              <a:rPr sz="5400" b="1">
                <a:solidFill>
                  <a:srgbClr val="161B26"/>
                </a:solidFill>
                <a:latin typeface="Arial"/>
              </a:rPr>
              <a:t>Thank You</a:t>
            </a:r>
          </a:p>
        </p:txBody>
      </p:sp>
      <p:sp>
        <p:nvSpPr>
          <p:cNvPr id="6" name="TextBox 5"/>
          <p:cNvSpPr txBox="1"/>
          <p:nvPr/>
        </p:nvSpPr>
        <p:spPr>
          <a:xfrm>
            <a:off x="0" y="3840480"/>
            <a:ext cx="12191695" cy="548640"/>
          </a:xfrm>
          <a:prstGeom prst="rect">
            <a:avLst/>
          </a:prstGeom>
          <a:noFill/>
        </p:spPr>
        <p:txBody>
          <a:bodyPr wrap="square" anchor="t">
            <a:spAutoFit/>
          </a:bodyPr>
          <a:lstStyle/>
          <a:p>
            <a:pPr algn="ctr">
              <a:spcAft>
                <a:spcPts val="400"/>
              </a:spcAft>
            </a:pPr>
            <a:r>
              <a:rPr sz="1600" b="0">
                <a:solidFill>
                  <a:srgbClr val="5B6372"/>
                </a:solidFill>
                <a:latin typeface="Arial"/>
              </a:rPr>
              <a:t>Machine Learning 101 for Financial Trading  ·  FSE-DAT-3019-1.1</a:t>
            </a:r>
          </a:p>
        </p:txBody>
      </p:sp>
      <p:sp>
        <p:nvSpPr>
          <p:cNvPr id="7" name="TextBox 6"/>
          <p:cNvSpPr txBox="1"/>
          <p:nvPr/>
        </p:nvSpPr>
        <p:spPr>
          <a:xfrm>
            <a:off x="0" y="4434840"/>
            <a:ext cx="12191695" cy="548640"/>
          </a:xfrm>
          <a:prstGeom prst="rect">
            <a:avLst/>
          </a:prstGeom>
          <a:noFill/>
        </p:spPr>
        <p:txBody>
          <a:bodyPr wrap="square" anchor="t">
            <a:spAutoFit/>
          </a:bodyPr>
          <a:lstStyle/>
          <a:p>
            <a:pPr algn="ctr">
              <a:spcAft>
                <a:spcPts val="400"/>
              </a:spcAft>
            </a:pPr>
            <a:r>
              <a:rPr sz="1300" b="0">
                <a:solidFill>
                  <a:srgbClr val="5B6372"/>
                </a:solidFill>
                <a:latin typeface="Arial"/>
              </a:rPr>
              <a:t>Tertiary Infotech Academy Pte Ltd  ·  UEN 201200696W</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Machine Learning 101 for Financial Trading  ·  FSE-DAT-3019-1.1  ·  v2.4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101 for Financial Trading</dc:title>
  <dc:subject/>
  <dc:creator>Tertiary Infotech Academy Pte Ltd</dc:creator>
  <cp:keywords/>
  <dc:description>generated using python-pptx</dc:description>
  <cp:lastModifiedBy>Tertiary Infotech Academy Pte Ltd</cp:lastModifiedBy>
  <cp:revision>1</cp:revision>
  <dcterms:created xsi:type="dcterms:W3CDTF">2013-01-27T09:14:16Z</dcterms:created>
  <dcterms:modified xsi:type="dcterms:W3CDTF">2013-01-27T09:15:58Z</dcterms:modified>
  <cp:category/>
</cp:coreProperties>
</file>
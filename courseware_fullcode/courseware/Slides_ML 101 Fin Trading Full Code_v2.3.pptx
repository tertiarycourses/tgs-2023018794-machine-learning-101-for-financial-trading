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685800"/>
            <a:ext cx="822960" cy="822960"/>
          </a:xfrm>
          <a:prstGeom prst="ellipse">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85800"/>
            <a:ext cx="822960" cy="822960"/>
          </a:xfrm>
          <a:prstGeom prst="rect">
            <a:avLst/>
          </a:prstGeom>
          <a:noFill/>
        </p:spPr>
        <p:txBody>
          <a:bodyPr wrap="square" anchor="ctr">
            <a:spAutoFit/>
          </a:bodyPr>
          <a:lstStyle/>
          <a:p>
            <a:pPr algn="ctr">
              <a:spcAft>
                <a:spcPts val="400"/>
              </a:spcAft>
            </a:pPr>
            <a:r>
              <a:rPr sz="3400" b="1">
                <a:solidFill>
                  <a:srgbClr val="FFFFFF"/>
                </a:solidFill>
                <a:latin typeface="Arial"/>
              </a:rPr>
              <a:t>T</a:t>
            </a:r>
          </a:p>
        </p:txBody>
      </p:sp>
      <p:sp>
        <p:nvSpPr>
          <p:cNvPr id="7" name="TextBox 6"/>
          <p:cNvSpPr txBox="1"/>
          <p:nvPr/>
        </p:nvSpPr>
        <p:spPr>
          <a:xfrm>
            <a:off x="731520" y="1874519"/>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TRAINER SLIDES  ·  IBF-STS ACCREDITED  ·  FULL CODE EDITION</a:t>
            </a:r>
          </a:p>
        </p:txBody>
      </p:sp>
      <p:sp>
        <p:nvSpPr>
          <p:cNvPr id="8" name="TextBox 7"/>
          <p:cNvSpPr txBox="1"/>
          <p:nvPr/>
        </p:nvSpPr>
        <p:spPr>
          <a:xfrm>
            <a:off x="731520" y="2331720"/>
            <a:ext cx="10607040" cy="1097280"/>
          </a:xfrm>
          <a:prstGeom prst="rect">
            <a:avLst/>
          </a:prstGeom>
          <a:noFill/>
        </p:spPr>
        <p:txBody>
          <a:bodyPr wrap="square" anchor="t">
            <a:spAutoFit/>
          </a:bodyPr>
          <a:lstStyle/>
          <a:p>
            <a:pPr algn="l">
              <a:spcAft>
                <a:spcPts val="400"/>
              </a:spcAft>
            </a:pPr>
            <a:r>
              <a:rPr sz="3400" b="1">
                <a:solidFill>
                  <a:srgbClr val="161B26"/>
                </a:solidFill>
                <a:latin typeface="Arial"/>
              </a:rPr>
              <a:t>Machine Learning 101 for Financial Trading</a:t>
            </a:r>
          </a:p>
        </p:txBody>
      </p:sp>
      <p:sp>
        <p:nvSpPr>
          <p:cNvPr id="9" name="Rectangle 8"/>
          <p:cNvSpPr/>
          <p:nvPr/>
        </p:nvSpPr>
        <p:spPr>
          <a:xfrm>
            <a:off x="731520" y="3611880"/>
            <a:ext cx="20116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886200"/>
            <a:ext cx="10607040" cy="1371600"/>
          </a:xfrm>
          <a:prstGeom prst="rect">
            <a:avLst/>
          </a:prstGeom>
          <a:noFill/>
        </p:spPr>
        <p:txBody>
          <a:bodyPr wrap="square" anchor="t">
            <a:spAutoFit/>
          </a:bodyPr>
          <a:lstStyle/>
          <a:p>
            <a:pPr algn="l">
              <a:spcAft>
                <a:spcPts val="700"/>
              </a:spcAft>
            </a:pPr>
            <a:r>
              <a:rPr sz="1500" b="0">
                <a:solidFill>
                  <a:srgbClr val="5B6372"/>
                </a:solidFill>
                <a:latin typeface="Arial"/>
              </a:rPr>
              <a:t>FSE-DAT-3019-1.1  ·  Data Analytics and Computational Modelling  ·  Proficiency Level 3</a:t>
            </a:r>
          </a:p>
          <a:p>
            <a:pPr algn="l">
              <a:spcAft>
                <a:spcPts val="700"/>
              </a:spcAft>
            </a:pPr>
            <a:r>
              <a:rPr sz="1500" b="0">
                <a:solidFill>
                  <a:srgbClr val="5B6372"/>
                </a:solidFill>
                <a:latin typeface="Arial"/>
              </a:rPr>
              <a:t>Conducted by Tertiary Infotech Academy Pte Ltd  ·  UEN 201200696W</a:t>
            </a:r>
          </a:p>
          <a:p>
            <a:pPr algn="l">
              <a:spcAft>
                <a:spcPts val="700"/>
              </a:spcAft>
            </a:pPr>
            <a:r>
              <a:rPr sz="1400" b="1">
                <a:solidFill>
                  <a:srgbClr val="1F6FEB"/>
                </a:solidFill>
                <a:latin typeface="Arial"/>
              </a:rPr>
              <a:t>Version 2.3  ·  22 October 2026</a:t>
            </a:r>
          </a:p>
        </p:txBody>
      </p:sp>
      <p:sp>
        <p:nvSpPr>
          <p:cNvPr id="11" name="TextBox 10"/>
          <p:cNvSpPr txBox="1"/>
          <p:nvPr/>
        </p:nvSpPr>
        <p:spPr>
          <a:xfrm>
            <a:off x="731520" y="5943600"/>
            <a:ext cx="10607040" cy="365760"/>
          </a:xfrm>
          <a:prstGeom prst="rect">
            <a:avLst/>
          </a:prstGeom>
          <a:noFill/>
        </p:spPr>
        <p:txBody>
          <a:bodyPr wrap="square" anchor="t">
            <a:spAutoFit/>
          </a:bodyPr>
          <a:lstStyle/>
          <a:p>
            <a:pPr algn="l">
              <a:spcAft>
                <a:spcPts val="400"/>
              </a:spcAft>
            </a:pPr>
            <a:r>
              <a:rPr sz="1000" b="0">
                <a:solidFill>
                  <a:srgbClr val="5B6372"/>
                </a:solidFill>
                <a:latin typeface="Arial"/>
              </a:rPr>
              <a:t>© Tertiary Infotech Academy Pte Ltd. All rights reserved.  ·  www.tertiarycourses.com.sg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ATTENDANCE · IBF-STS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Attendance and IBF-STS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Sign in every session</a:t>
            </a:r>
          </a:p>
          <a:p>
            <a:pPr algn="l">
              <a:spcAft>
                <a:spcPts val="300"/>
              </a:spcAft>
            </a:pPr>
            <a:r>
              <a:rPr sz="1300" b="0">
                <a:solidFill>
                  <a:srgbClr val="5B6372"/>
                </a:solidFill>
                <a:latin typeface="Arial"/>
              </a:rPr>
              <a:t>Mark attendance at the start of each session and after lunch.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attendance</a:t>
            </a:r>
          </a:p>
          <a:p>
            <a:pPr algn="l">
              <a:spcAft>
                <a:spcPts val="300"/>
              </a:spcAft>
            </a:pPr>
            <a:r>
              <a:rPr sz="1300" b="0">
                <a:solidFill>
                  <a:srgbClr val="5B6372"/>
                </a:solidFill>
                <a:latin typeface="Arial"/>
              </a:rPr>
              <a:t>IBF-STS funding requires at least 75% attendance.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Pass the assessment</a:t>
            </a:r>
          </a:p>
          <a:p>
            <a:pPr algn="l">
              <a:spcAft>
                <a:spcPts val="300"/>
              </a:spcAft>
            </a:pPr>
            <a:r>
              <a:rPr sz="1300" b="0">
                <a:solidFill>
                  <a:srgbClr val="5B6372"/>
                </a:solidFill>
                <a:latin typeface="Arial"/>
              </a:rPr>
              <a:t>Funding also requires passing both assessment components.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 attendance</a:t>
            </a:r>
          </a:p>
          <a:p>
            <a:pPr algn="l">
              <a:spcAft>
                <a:spcPts val="300"/>
              </a:spcAft>
            </a:pPr>
            <a:r>
              <a:rPr sz="1300" b="0">
                <a:solidFill>
                  <a:srgbClr val="5B6372"/>
                </a:solidFill>
                <a:latin typeface="Arial"/>
              </a:rPr>
              <a:t>A separate record is signed before the assessment begins.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________________________</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this panel with your own details before delivery.</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Course Developer · Trainer · Assessor for this IBF-STS programme.</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Course Developer, Trainer and Assessor</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300" b="0">
                <a:solidFill>
                  <a:srgbClr val="161B26"/>
                </a:solidFill>
                <a:latin typeface="Arial"/>
              </a:rPr>
              <a:t>ACTA · DACE · PhD</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FINANCIAL SERVICES</a:t>
            </a:r>
          </a:p>
          <a:p>
            <a:pPr algn="l">
              <a:spcAft>
                <a:spcPts val="300"/>
              </a:spcAft>
            </a:pPr>
            <a:r>
              <a:rPr sz="1300" b="0">
                <a:solidFill>
                  <a:srgbClr val="161B26"/>
                </a:solidFill>
                <a:latin typeface="Arial"/>
              </a:rPr>
              <a:t>IBF-STS programmes in AI, algorithmic trading and fintech</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AI, machine learning and data programmes for financial institutions</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300" b="0">
                <a:solidFill>
                  <a:srgbClr val="161B26"/>
                </a:solidFill>
                <a:latin typeface="Arial"/>
              </a:rPr>
              <a:t>Tertiary Infotech Academy Pte Ltd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10515600" cy="4297680"/>
          </a:xfrm>
          <a:prstGeom prst="rect">
            <a:avLst/>
          </a:prstGeom>
          <a:noFill/>
        </p:spPr>
        <p:txBody>
          <a:bodyPr wrap="square">
            <a:spAutoFit/>
          </a:bodyPr>
          <a:lstStyle/>
          <a:p>
            <a:pPr>
              <a:spcAft>
                <a:spcPts val="1000"/>
              </a:spcAft>
            </a:pPr>
            <a:r>
              <a:rPr sz="1700">
                <a:solidFill>
                  <a:srgbClr val="161B26"/>
                </a:solidFill>
                <a:latin typeface="Arial"/>
              </a:rPr>
              <a:t>•  Your name, your institution and your role.</a:t>
            </a:r>
          </a:p>
          <a:p>
            <a:pPr>
              <a:spcAft>
                <a:spcPts val="1000"/>
              </a:spcAft>
            </a:pPr>
            <a:r>
              <a:rPr sz="1700">
                <a:solidFill>
                  <a:srgbClr val="161B26"/>
                </a:solidFill>
                <a:latin typeface="Arial"/>
              </a:rPr>
              <a:t>•  Do you trade, invest, analyse or build systems for markets today?</a:t>
            </a:r>
          </a:p>
          <a:p>
            <a:pPr>
              <a:spcAft>
                <a:spcPts val="1000"/>
              </a:spcAft>
            </a:pPr>
            <a:r>
              <a:rPr sz="1700">
                <a:solidFill>
                  <a:srgbClr val="161B26"/>
                </a:solidFill>
                <a:latin typeface="Arial"/>
              </a:rPr>
              <a:t>•  Have you used TradingView, a broker API or Python before?</a:t>
            </a:r>
          </a:p>
          <a:p>
            <a:pPr>
              <a:spcAft>
                <a:spcPts val="1000"/>
              </a:spcAft>
            </a:pPr>
            <a:r>
              <a:rPr sz="1700">
                <a:solidFill>
                  <a:srgbClr val="161B26"/>
                </a:solidFill>
                <a:latin typeface="Arial"/>
              </a:rPr>
              <a:t>•  One trading rule you believe works — we will test it this week.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Be on time</a:t>
            </a:r>
          </a:p>
          <a:p>
            <a:pPr algn="l">
              <a:spcAft>
                <a:spcPts val="300"/>
              </a:spcAft>
            </a:pPr>
            <a:r>
              <a:rPr sz="1300" b="0">
                <a:solidFill>
                  <a:srgbClr val="5B6372"/>
                </a:solidFill>
                <a:latin typeface="Arial"/>
              </a:rPr>
              <a:t>Sessions restart promptly after each break.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Phones on silent</a:t>
            </a:r>
          </a:p>
          <a:p>
            <a:pPr algn="l">
              <a:spcAft>
                <a:spcPts val="300"/>
              </a:spcAft>
            </a:pPr>
            <a:r>
              <a:rPr sz="1300" b="0">
                <a:solidFill>
                  <a:srgbClr val="5B6372"/>
                </a:solidFill>
                <a:latin typeface="Arial"/>
              </a:rPr>
              <a:t>Take calls outside the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as we go</a:t>
            </a:r>
          </a:p>
          <a:p>
            <a:pPr algn="l">
              <a:spcAft>
                <a:spcPts val="300"/>
              </a:spcAft>
            </a:pPr>
            <a:r>
              <a:rPr sz="1300" b="0">
                <a:solidFill>
                  <a:srgbClr val="5B6372"/>
                </a:solidFill>
                <a:latin typeface="Arial"/>
              </a:rPr>
              <a:t>Questions are welcome at any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Hands on the keyboard</a:t>
            </a:r>
          </a:p>
          <a:p>
            <a:pPr algn="l">
              <a:spcAft>
                <a:spcPts val="300"/>
              </a:spcAft>
            </a:pPr>
            <a:r>
              <a:rPr sz="1300" b="0">
                <a:solidFill>
                  <a:srgbClr val="5B6372"/>
                </a:solidFill>
                <a:latin typeface="Arial"/>
              </a:rPr>
              <a:t>Twenty labs — follow along on your own laptop.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Paper trading only</a:t>
            </a:r>
          </a:p>
          <a:p>
            <a:pPr algn="l">
              <a:spcAft>
                <a:spcPts val="300"/>
              </a:spcAft>
            </a:pPr>
            <a:r>
              <a:rPr sz="1300" b="0">
                <a:solidFill>
                  <a:srgbClr val="5B6372"/>
                </a:solidFill>
                <a:latin typeface="Arial"/>
              </a:rPr>
              <a:t>No real money is used anywhere in this course.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Lion City Capital and all scenarios are fictitious.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Login to TMS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tms-portal.png"/>
          <p:cNvPicPr>
            <a:picLocks noChangeAspect="1"/>
          </p:cNvPicPr>
          <p:nvPr/>
        </p:nvPicPr>
        <p:blipFill>
          <a:blip r:embed="rId2"/>
          <a:stretch>
            <a:fillRect/>
          </a:stretch>
        </p:blipFill>
        <p:spPr>
          <a:xfrm>
            <a:off x="2557716" y="2057400"/>
            <a:ext cx="7076261" cy="3520440"/>
          </a:xfrm>
          <a:prstGeom prst="rect">
            <a:avLst/>
          </a:prstGeom>
        </p:spPr>
      </p:pic>
      <p:sp>
        <p:nvSpPr>
          <p:cNvPr id="8" name="Rectangle 7"/>
          <p:cNvSpPr/>
          <p:nvPr/>
        </p:nvSpPr>
        <p:spPr>
          <a:xfrm>
            <a:off x="2546744" y="2046427"/>
            <a:ext cx="7098206"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Log in at lms-tms.tertiaryinfotech.com with your registered email + the OTP from your inbox, then download the slides, Learner Guide and labs.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 to lms-tms. tertiaryinfotech.com</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Enter your registered email and click Send OTP</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Key in the one-time password from your inbox</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Open this course: download the Learner Slides + Learner Guide PDFs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Activities / Lab: download the labs folder (lab manuals + code)</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Keep the Learner Guide open all course — the assessment is open book.</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GITHUB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the Labs and Simulator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Course repository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github.com/tertiarycourses/TGS-2023018794-Machine-Learning-101-for-Financial-Trading
Learner Guide, Learner Slides, Lesson Plan and all 20 lab folders (instruction PDFs, .py and .pine files) - Full Code edition.
Code &gt; Download ZIP, or git clone.</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Trading simulator software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github.com/alfredang/algorithmic-trader-bot
The quant / algo trading simulator the labs run in: backtest, forward test, paper trading, analytics.
Install steps: next section and the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You'll Achieve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LO1  ·  A1, A6</a:t>
            </a:r>
          </a:p>
          <a:p>
            <a:pPr algn="l">
              <a:spcAft>
                <a:spcPts val="300"/>
              </a:spcAft>
            </a:pPr>
            <a:r>
              <a:rPr sz="1000" b="0">
                <a:solidFill>
                  <a:srgbClr val="5B6372"/>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LO2  ·  A2, A3</a:t>
            </a:r>
          </a:p>
          <a:p>
            <a:pPr algn="l">
              <a:spcAft>
                <a:spcPts val="300"/>
              </a:spcAft>
            </a:pPr>
            <a:r>
              <a:rPr sz="1000" b="0">
                <a:solidFill>
                  <a:srgbClr val="5B6372"/>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LO3  ·  A4, A5</a:t>
            </a:r>
          </a:p>
          <a:p>
            <a:pPr algn="l">
              <a:spcAft>
                <a:spcPts val="300"/>
              </a:spcAft>
            </a:pPr>
            <a:r>
              <a:rPr sz="1000" b="0">
                <a:solidFill>
                  <a:srgbClr val="5B6372"/>
                </a:solidFill>
                <a:latin typeface="Arial"/>
              </a:rPr>
              <a:t>Conduct statistical modelling of market data with machine learning models to derive patterns and solutions, and perform A/B testing of trading strategies based on different hypotheses.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LO4  ·  A7, A8, A9, A10</a:t>
            </a:r>
          </a:p>
          <a:p>
            <a:pPr algn="l">
              <a:spcAft>
                <a:spcPts val="300"/>
              </a:spcAft>
            </a:pPr>
            <a:r>
              <a:rPr sz="1000" b="0">
                <a:solidFill>
                  <a:srgbClr val="5B6372"/>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Course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1 — Quant and Algo Trading Foundations</a:t>
            </a:r>
          </a:p>
          <a:p>
            <a:pPr algn="l">
              <a:spcAft>
                <a:spcPts val="300"/>
              </a:spcAft>
            </a:pPr>
            <a:r>
              <a:rPr sz="1100" b="0">
                <a:solidFill>
                  <a:srgbClr val="5B6372"/>
                </a:solidFill>
                <a:latin typeface="Arial"/>
              </a:rPr>
              <a:t>Day 1  ·  Labs 1–4  ·  A1, A6, K1, K9  ·  Foundations of Quant and Algorithmic Trading: From Thorp to AI Agents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2 — Indicators, Strategies and Metrics</a:t>
            </a:r>
          </a:p>
          <a:p>
            <a:pPr algn="l">
              <a:spcAft>
                <a:spcPts val="300"/>
              </a:spcAft>
            </a:pPr>
            <a:r>
              <a:rPr sz="1100" b="0">
                <a:solidFill>
                  <a:srgbClr val="5B6372"/>
                </a:solidFill>
                <a:latin typeface="Arial"/>
              </a:rPr>
              <a:t>Day 1  ·  Labs 5–9  ·  A2, A3, K3, K5, K7  ·  Technical Indicators, Trading Strategies and Metrics with TradingView and Alpaca</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3 — ML Models and A/B Testing</a:t>
            </a:r>
          </a:p>
          <a:p>
            <a:pPr algn="l">
              <a:spcAft>
                <a:spcPts val="300"/>
              </a:spcAft>
            </a:pPr>
            <a:r>
              <a:rPr sz="1100" b="0">
                <a:solidFill>
                  <a:srgbClr val="5B6372"/>
                </a:solidFill>
                <a:latin typeface="Arial"/>
              </a:rPr>
              <a:t>Day 2  ·  Labs 10–14  ·  A4, A5, K2, K4, K6  ·  Machine Learning Models, Statistical Modelling and A/B Testing for Trading Signals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4 — End-to-End Trading Pipeline</a:t>
            </a:r>
          </a:p>
          <a:p>
            <a:pPr algn="l">
              <a:spcAft>
                <a:spcPts val="300"/>
              </a:spcAft>
            </a:pPr>
            <a:r>
              <a:rPr sz="1100" b="0">
                <a:solidFill>
                  <a:srgbClr val="5B6372"/>
                </a:solidFill>
                <a:latin typeface="Arial"/>
              </a:rPr>
              <a:t>Day 2  ·  Labs 15–20  ·  A7, A8, A9, A10, K7, K8  ·  Building an End-to-End Algorithmic Trading Pipeline: Backtest, Forward Test and Performance Analysis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 · HOW THIS COURSE WORKS</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AI writes the code. You own the algorithm.</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This Full Code edition is for learners who want full customisation in Python. Every lab builds one stage of a single Python pipeline: the complete scripts are provided in each lab folder, with the prompts that generate them, and an AI coding assistant writes and changes the code. What matters is still the big concepts: the hypothesis, how each algorithm makes its decision, how it is tested without bias and with costs, how risk is controlled, and how the results are judged.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Role versus the AI's Role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hypothesis</a:t>
            </a:r>
          </a:p>
          <a:p>
            <a:pPr algn="l">
              <a:spcAft>
                <a:spcPts val="300"/>
              </a:spcAft>
            </a:pPr>
            <a:r>
              <a:rPr sz="1050" b="0">
                <a:solidFill>
                  <a:srgbClr val="5B6372"/>
                </a:solidFill>
                <a:latin typeface="Arial"/>
              </a:rPr>
              <a:t>What edge do you expect, why, and how will you know it is real?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algorithm's logic</a:t>
            </a:r>
          </a:p>
          <a:p>
            <a:pPr algn="l">
              <a:spcAft>
                <a:spcPts val="300"/>
              </a:spcAft>
            </a:pPr>
            <a:r>
              <a:rPr sz="1050" b="0">
                <a:solidFill>
                  <a:srgbClr val="5B6372"/>
                </a:solidFill>
                <a:latin typeface="Arial"/>
              </a:rPr>
              <a:t>The rule or model, its inputs, and when it buys or sells.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testing and judgement</a:t>
            </a:r>
          </a:p>
          <a:p>
            <a:pPr algn="l">
              <a:spcAft>
                <a:spcPts val="300"/>
              </a:spcAft>
            </a:pPr>
            <a:r>
              <a:rPr sz="1050" b="0">
                <a:solidFill>
                  <a:srgbClr val="5B6372"/>
                </a:solidFill>
                <a:latin typeface="Arial"/>
              </a:rPr>
              <a:t>Out-of-sample, next-bar, net of costs; read the metrics.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risk and accountability</a:t>
            </a:r>
          </a:p>
          <a:p>
            <a:pPr algn="l">
              <a:spcAft>
                <a:spcPts val="300"/>
              </a:spcAft>
            </a:pPr>
            <a:r>
              <a:rPr sz="1050" b="0">
                <a:solidFill>
                  <a:srgbClr val="5B6372"/>
                </a:solidFill>
                <a:latin typeface="Arial"/>
              </a:rPr>
              <a:t>Limits, kill switch, approval - you answer for every trade.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AI</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AI's job: the code</a:t>
            </a:r>
          </a:p>
          <a:p>
            <a:pPr algn="l">
              <a:spcAft>
                <a:spcPts val="300"/>
              </a:spcAft>
            </a:pPr>
            <a:r>
              <a:rPr sz="1050" b="0">
                <a:solidFill>
                  <a:srgbClr val="5B6372"/>
                </a:solidFill>
                <a:latin typeface="Arial"/>
              </a:rPr>
              <a:t>AI assistants write, run and fix the Python and Pine; you review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AI</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AI's job: the drudgery</a:t>
            </a:r>
          </a:p>
          <a:p>
            <a:pPr algn="l">
              <a:spcAft>
                <a:spcPts val="300"/>
              </a:spcAft>
            </a:pPr>
            <a:r>
              <a:rPr sz="1050" b="0">
                <a:solidFill>
                  <a:srgbClr val="5B6372"/>
                </a:solidFill>
                <a:latin typeface="Arial"/>
              </a:rPr>
              <a:t>Data plumbing, charts, reports - you review what it produces.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6-10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A7</a:t>
            </a:r>
          </a:p>
          <a:p>
            <a:pPr algn="l">
              <a:spcAft>
                <a:spcPts val="300"/>
              </a:spcAft>
            </a:pPr>
            <a:r>
              <a:rPr sz="1000" b="0">
                <a:solidFill>
                  <a:srgbClr val="5B6372"/>
                </a:solidFill>
                <a:latin typeface="Arial"/>
              </a:rPr>
              <a:t>Perform coding and configuration of software agents or programs based on selected models or algorithms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A8</a:t>
            </a:r>
          </a:p>
          <a:p>
            <a:pPr algn="l">
              <a:spcAft>
                <a:spcPts val="300"/>
              </a:spcAft>
            </a:pPr>
            <a:r>
              <a:rPr sz="1000" b="0">
                <a:solidFill>
                  <a:srgbClr val="5B6372"/>
                </a:solidFill>
                <a:latin typeface="Arial"/>
              </a:rPr>
              <a:t>Conduct tests on the actions taken and outcomes to assess effectiveness of the models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A9</a:t>
            </a:r>
          </a:p>
          <a:p>
            <a:pPr algn="l">
              <a:spcAft>
                <a:spcPts val="300"/>
              </a:spcAft>
            </a:pPr>
            <a:r>
              <a:rPr sz="1000" b="0">
                <a:solidFill>
                  <a:srgbClr val="5B6372"/>
                </a:solidFill>
                <a:latin typeface="Arial"/>
              </a:rPr>
              <a:t>Diagnose unintended outcomes produced by statistical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A10</a:t>
            </a:r>
          </a:p>
          <a:p>
            <a:pPr algn="l">
              <a:spcAft>
                <a:spcPts val="300"/>
              </a:spcAft>
            </a:pPr>
            <a:r>
              <a:rPr sz="1000" b="0">
                <a:solidFill>
                  <a:srgbClr val="5B6372"/>
                </a:solidFill>
                <a:latin typeface="Arial"/>
              </a:rPr>
              <a:t>Draw relevant trends and insights from data analysis to support decisions and report accordingly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6-9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K8</a:t>
            </a:r>
          </a:p>
          <a:p>
            <a:pPr algn="l">
              <a:spcAft>
                <a:spcPts val="300"/>
              </a:spcAft>
            </a:pPr>
            <a:r>
              <a:rPr sz="1000" b="0">
                <a:solidFill>
                  <a:srgbClr val="5B6372"/>
                </a:solidFill>
                <a:latin typeface="Arial"/>
              </a:rPr>
              <a:t>Potential reasons for unintended outcomes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09:00 - 09:30</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Course Overview, Trainer Introduction and Ground Rules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09:30 - 10:45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T1.1-1.4 Quant Success Stories, the Evolution of Quant, the ML-to-LLM Shift, and Agentic AI versus AI Agents</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K1, K9</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10:45 - 11:00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11:00 - 11:30</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T1.5-1.6 Forms of Financial Data, Big Data Applications and Trading Hypotheses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 K9</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11:30 - 11:50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1: Pipeline Skeleton, Configuration and the Alpaca Paper Account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K5</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11:50 - 12:10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2: Data-Validation Stage: Cross-Check Pipeline Bars against TradingView</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K9</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12:10 - 12:30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3: Ingestion Stage: Multi-Timeframe Bars, Headlines and Data Quality</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A6, K9</a:t>
            </a:r>
          </a:p>
        </p:txBody>
      </p:sp>
      <p:sp>
        <p:nvSpPr>
          <p:cNvPr id="28" name="Rectangle 27"/>
          <p:cNvSpPr/>
          <p:nvPr/>
        </p:nvSpPr>
        <p:spPr>
          <a:xfrm>
            <a:off x="777240" y="470001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70001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30" name="TextBox 29"/>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13:30 - 13:45</a:t>
            </a:r>
          </a:p>
        </p:txBody>
      </p:sp>
      <p:sp>
        <p:nvSpPr>
          <p:cNvPr id="31" name="TextBox 30"/>
          <p:cNvSpPr txBox="1"/>
          <p:nvPr/>
        </p:nvSpPr>
        <p:spPr>
          <a:xfrm>
            <a:off x="2377440" y="508406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4: Hypothesis Stage: from a Written Card to an Automated Statistical Test</a:t>
            </a:r>
          </a:p>
        </p:txBody>
      </p:sp>
      <p:sp>
        <p:nvSpPr>
          <p:cNvPr id="32" name="TextBox 31"/>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a:t>
            </a:r>
          </a:p>
        </p:txBody>
      </p:sp>
      <p:sp>
        <p:nvSpPr>
          <p:cNvPr id="33" name="TextBox 32"/>
          <p:cNvSpPr txBox="1"/>
          <p:nvPr/>
        </p:nvSpPr>
        <p:spPr>
          <a:xfrm>
            <a:off x="822960" y="546811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13:45 - 14:30</a:t>
            </a:r>
          </a:p>
        </p:txBody>
      </p:sp>
      <p:sp>
        <p:nvSpPr>
          <p:cNvPr id="34" name="TextBox 33"/>
          <p:cNvSpPr txBox="1"/>
          <p:nvPr/>
        </p:nvSpPr>
        <p:spPr>
          <a:xfrm>
            <a:off x="2377440" y="546811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T2.1-2.2 Technical Indicators and Standard Algorithmic Trading Strategies</a:t>
            </a:r>
          </a:p>
        </p:txBody>
      </p:sp>
      <p:sp>
        <p:nvSpPr>
          <p:cNvPr id="35" name="TextBox 34"/>
          <p:cNvSpPr txBox="1"/>
          <p:nvPr/>
        </p:nvSpPr>
        <p:spPr>
          <a:xfrm>
            <a:off x="10287000" y="546811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14:30 - 14:55</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5: Indicator Stage: Pine Script v6 Indicators and their Python Twins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 K7</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14:55 - 15:25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6: Strategy Prototype: TradingView Strategy Tester, Paper Trading from the Chart and Pipeline Reconciliation</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A3, K3, K7</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15:25 - 15:40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15:40 - 16:05</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7: Signal Stage: a Library of Trend, Mean-Reversion, Momentum and Breakout Signals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 K7</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16:05 - 16:50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T2.3-2.4 Analytics Platforms, Coding Languages and Order Placement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K7</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16:50 - 17:20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8: Execution Stage: an Order Manager that Trades the Paper Account in Any Session</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17:20 - 17:50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T2.5 Performance and Risk Metric Definitions</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28" name="TextBox 27"/>
          <p:cNvSpPr txBox="1"/>
          <p:nvPr/>
        </p:nvSpPr>
        <p:spPr>
          <a:xfrm>
            <a:off x="822960" y="470001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17:50 - 18:15</a:t>
            </a:r>
          </a:p>
        </p:txBody>
      </p:sp>
      <p:sp>
        <p:nvSpPr>
          <p:cNvPr id="29" name="TextBox 28"/>
          <p:cNvSpPr txBox="1"/>
          <p:nvPr/>
        </p:nvSpPr>
        <p:spPr>
          <a:xfrm>
            <a:off x="2377440" y="4700016"/>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9: Evaluation Stage: Performance and Risk Metrics with a Benchmark Table</a:t>
            </a:r>
          </a:p>
        </p:txBody>
      </p:sp>
      <p:sp>
        <p:nvSpPr>
          <p:cNvPr id="30" name="TextBox 29"/>
          <p:cNvSpPr txBox="1"/>
          <p:nvPr/>
        </p:nvSpPr>
        <p:spPr>
          <a:xfrm>
            <a:off x="10287000" y="470001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31" name="TextBox 30"/>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18:15 - 18:30</a:t>
            </a:r>
          </a:p>
        </p:txBody>
      </p:sp>
      <p:sp>
        <p:nvSpPr>
          <p:cNvPr id="32" name="TextBox 31"/>
          <p:cNvSpPr txBox="1"/>
          <p:nvPr/>
        </p:nvSpPr>
        <p:spPr>
          <a:xfrm>
            <a:off x="2377440" y="508406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Day 1 Recap and Q&amp;A</a:t>
            </a:r>
          </a:p>
        </p:txBody>
      </p:sp>
      <p:sp>
        <p:nvSpPr>
          <p:cNvPr id="33" name="TextBox 32"/>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09:00 - 09:15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Day 1 Recap and Day 2 Overview</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09:15 - 09:40</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T3.1-3.2 Statistical Analyses, Algorithms and Supervised Learning Models</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K2, K4</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09:40 - 10:00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10: Strategy-Search Stage: Grid Search, Out-of-Sample Ranking and Decay</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A2, A4, K2</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10:00 - 10:20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11: ML-Signal Stage: a Walk-Forward Classifier from Probability to Position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0" name="Rectangle 19"/>
          <p:cNvSpPr/>
          <p:nvPr/>
        </p:nvSpPr>
        <p:spPr>
          <a:xfrm>
            <a:off x="777240" y="339852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339852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10:20 - 10:35      Tea Break</a:t>
            </a:r>
          </a:p>
        </p:txBody>
      </p:sp>
      <p:sp>
        <p:nvSpPr>
          <p:cNvPr id="22" name="TextBox 21"/>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10:35 - 10:55</a:t>
            </a:r>
          </a:p>
        </p:txBody>
      </p:sp>
      <p:sp>
        <p:nvSpPr>
          <p:cNvPr id="23" name="TextBox 22"/>
          <p:cNvSpPr txBox="1"/>
          <p:nvPr/>
        </p:nvSpPr>
        <p:spPr>
          <a:xfrm>
            <a:off x="2377440" y="374523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T3.3-3.4 Unsupervised Learning and Statistical Modelling Techniques</a:t>
            </a:r>
          </a:p>
        </p:txBody>
      </p:sp>
      <p:sp>
        <p:nvSpPr>
          <p:cNvPr id="24" name="TextBox 23"/>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5" name="TextBox 24"/>
          <p:cNvSpPr txBox="1"/>
          <p:nvPr/>
        </p:nvSpPr>
        <p:spPr>
          <a:xfrm>
            <a:off x="822960" y="4091939"/>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10:55 - 11:10</a:t>
            </a:r>
          </a:p>
        </p:txBody>
      </p:sp>
      <p:sp>
        <p:nvSpPr>
          <p:cNvPr id="26" name="TextBox 25"/>
          <p:cNvSpPr txBox="1"/>
          <p:nvPr/>
        </p:nvSpPr>
        <p:spPr>
          <a:xfrm>
            <a:off x="2377440" y="4091939"/>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12: Regime-Filter Stage: PCA and K-Means as a Gate on the Signals</a:t>
            </a:r>
          </a:p>
        </p:txBody>
      </p:sp>
      <p:sp>
        <p:nvSpPr>
          <p:cNvPr id="27" name="TextBox 26"/>
          <p:cNvSpPr txBox="1"/>
          <p:nvPr/>
        </p:nvSpPr>
        <p:spPr>
          <a:xfrm>
            <a:off x="10287000" y="4091939"/>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11:10 - 11:25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T3.5-3.6 A/B Testing, and Pairs Trading as a Hedging Algorithm</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A5, K2, K6</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11:25 - 11:40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13: A/B-Test Stage: a Statistical Decision before Capital Moves</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A5, K2</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11:40 - 12:00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14: Pairs Stage: a Hedged, Market-Neutral Statistical-Arbitrage Sleeve</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K6</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12:00 - 12:30</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T4.1-4.2 Pipeline Architecture and Backtesting with Trading Costs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40" name="Rectangle 39"/>
          <p:cNvSpPr/>
          <p:nvPr/>
        </p:nvSpPr>
        <p:spPr>
          <a:xfrm>
            <a:off x="777240" y="582549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82549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13:30 - 13:55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15: Backtest-Engine Stage: Cost Models, Execution Timing and Break-Even</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13:55 - 14:05</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T4.3 Forward Testing with Automated Paper Trading</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14:05 - 14:30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16: Automation Stage: a Scheduled, Risk-Checked Forward Test and Live Paper Trading</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14:30 - 14:50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17: Event-Driven Automation: TradingView Webhook to Signal, Risk and Execution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K5, K7</a:t>
            </a:r>
          </a:p>
        </p:txBody>
      </p:sp>
      <p:sp>
        <p:nvSpPr>
          <p:cNvPr id="20" name="TextBox 19"/>
          <p:cNvSpPr txBox="1"/>
          <p:nvPr/>
        </p:nvSpPr>
        <p:spPr>
          <a:xfrm>
            <a:off x="822960" y="339852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14:50 - 15:00</a:t>
            </a:r>
          </a:p>
        </p:txBody>
      </p:sp>
      <p:sp>
        <p:nvSpPr>
          <p:cNvPr id="21" name="TextBox 20"/>
          <p:cNvSpPr txBox="1"/>
          <p:nvPr/>
        </p:nvSpPr>
        <p:spPr>
          <a:xfrm>
            <a:off x="2377440" y="339852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T4.4 Potential Reasons for Unintended Outcomes</a:t>
            </a:r>
          </a:p>
        </p:txBody>
      </p:sp>
      <p:sp>
        <p:nvSpPr>
          <p:cNvPr id="22" name="TextBox 21"/>
          <p:cNvSpPr txBox="1"/>
          <p:nvPr/>
        </p:nvSpPr>
        <p:spPr>
          <a:xfrm>
            <a:off x="10287000" y="339852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3" name="TextBox 22"/>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15:00 - 15:20</a:t>
            </a:r>
          </a:p>
        </p:txBody>
      </p:sp>
      <p:sp>
        <p:nvSpPr>
          <p:cNvPr id="24" name="TextBox 23"/>
          <p:cNvSpPr txBox="1"/>
          <p:nvPr/>
        </p:nvSpPr>
        <p:spPr>
          <a:xfrm>
            <a:off x="2377440" y="374523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18: Diagnostics Stage: Automated Bias Checks before Go-Live</a:t>
            </a:r>
          </a:p>
        </p:txBody>
      </p:sp>
      <p:sp>
        <p:nvSpPr>
          <p:cNvPr id="25" name="TextBox 24"/>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6" name="Rectangle 25"/>
          <p:cNvSpPr/>
          <p:nvPr/>
        </p:nvSpPr>
        <p:spPr>
          <a:xfrm>
            <a:off x="777240" y="4091939"/>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091939"/>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15:20 - 15:35      Tea Break</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15:35 - 15:45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T4.5 Performance Analysis, Insights and Reporting</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A10</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15:45 - 16:10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19: Monitoring and Reporting Stage: Automated Tearsheet and Backtest-vs-Forward Report</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A8, A10</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16:10 - 16:30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20: Capstone: One Command Runs the Pipeline End to End, with an Agentic Layer and Human Approval</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A10, K1</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16:30 - 17:15</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Written Assessment (Short Answer Questions)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K1 - K9</a:t>
            </a:r>
          </a:p>
        </p:txBody>
      </p:sp>
      <p:sp>
        <p:nvSpPr>
          <p:cNvPr id="40" name="TextBox 39"/>
          <p:cNvSpPr txBox="1"/>
          <p:nvPr/>
        </p:nvSpPr>
        <p:spPr>
          <a:xfrm>
            <a:off x="822960" y="58254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17:15 - 18:30</a:t>
            </a:r>
          </a:p>
        </p:txBody>
      </p:sp>
      <p:sp>
        <p:nvSpPr>
          <p:cNvPr id="41" name="TextBox 40"/>
          <p:cNvSpPr txBox="1"/>
          <p:nvPr/>
        </p:nvSpPr>
        <p:spPr>
          <a:xfrm>
            <a:off x="2377440" y="582549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Practical Performance Assessment</a:t>
            </a:r>
          </a:p>
        </p:txBody>
      </p:sp>
      <p:sp>
        <p:nvSpPr>
          <p:cNvPr id="42" name="TextBox 41"/>
          <p:cNvSpPr txBox="1"/>
          <p:nvPr/>
        </p:nvSpPr>
        <p:spPr>
          <a:xfrm>
            <a:off x="10287000" y="58254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A1 - A10</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You may use your Learner Guide, lab code and your own notes.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Two components</a:t>
            </a:r>
          </a:p>
          <a:p>
            <a:pPr algn="l">
              <a:spcAft>
                <a:spcPts val="300"/>
              </a:spcAft>
            </a:pPr>
            <a:r>
              <a:rPr sz="1300" b="0">
                <a:solidFill>
                  <a:srgbClr val="5B6372"/>
                </a:solidFill>
                <a:latin typeface="Arial"/>
              </a:rPr>
              <a:t>Written Assessment (45 min) and Practical Performance (75 min).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Both must be passed</a:t>
            </a:r>
          </a:p>
          <a:p>
            <a:pPr algn="l">
              <a:spcAft>
                <a:spcPts val="300"/>
              </a:spcAft>
            </a:pPr>
            <a:r>
              <a:rPr sz="1300" b="0">
                <a:solidFill>
                  <a:srgbClr val="5B6372"/>
                </a:solidFill>
                <a:latin typeface="Arial"/>
              </a:rPr>
              <a:t>Competent in BOTH is required to be awarded the module.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All your own work</a:t>
            </a:r>
          </a:p>
          <a:p>
            <a:pPr algn="l">
              <a:spcAft>
                <a:spcPts val="300"/>
              </a:spcAft>
            </a:pPr>
            <a:r>
              <a:rPr sz="1300" b="0">
                <a:solidFill>
                  <a:srgbClr val="5B6372"/>
                </a:solidFill>
                <a:latin typeface="Arial"/>
              </a:rPr>
              <a:t>Collaboration results in a Not Yet Competent outcome.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if unclear</a:t>
            </a:r>
          </a:p>
          <a:p>
            <a:pPr algn="l">
              <a:spcAft>
                <a:spcPts val="300"/>
              </a:spcAft>
            </a:pPr>
            <a:r>
              <a:rPr sz="1300" b="0">
                <a:solidFill>
                  <a:srgbClr val="5B6372"/>
                </a:solidFill>
                <a:latin typeface="Arial"/>
              </a:rPr>
              <a:t>The assessor can explain a question, but not how to answer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Yet Competent?</a:t>
            </a:r>
          </a:p>
          <a:p>
            <a:pPr algn="l">
              <a:spcAft>
                <a:spcPts val="300"/>
              </a:spcAft>
            </a:pPr>
            <a:r>
              <a:rPr sz="1300" b="0">
                <a:solidFill>
                  <a:srgbClr val="5B6372"/>
                </a:solidFill>
                <a:latin typeface="Arial"/>
              </a:rPr>
              <a:t>You will be counselled on the gaps and offered a re-assessment.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Short Answer Questions · 45 minutes · open book.
9 open-ended questions — one for each knowledge statement K1 - K9.
No multiple-choice questions.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Python + Alpaca paper trading · 75 minutes · open book.
4 practical tasks covering ability statements A1 - A10.
A new trading scenario, using the same pipeline tool-kit as the labs.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Both components are open book. You must be Competent in BOTH to be awarded the module.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GETTING STARTED</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Set Up Alpaca and TradingView</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Create the free accounts and the Python environment every lab uses. Everything runs on paper — no real money at any point.</a:t>
            </a:r>
          </a:p>
        </p:txBody>
      </p:sp>
      <p:sp>
        <p:nvSpPr>
          <p:cNvPr id="9" name="TextBox 8"/>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Download, Install and Start the Trading Simulator Software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Install Git, Python 3.11+ and uv (or Docker)</a:t>
            </a:r>
          </a:p>
        </p:txBody>
      </p:sp>
      <p:sp>
        <p:nvSpPr>
          <p:cNvPr id="13" name="TextBox 12"/>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git clone the simulator - or Download ZIP</a:t>
            </a:r>
          </a:p>
        </p:txBody>
      </p:sp>
      <p:sp>
        <p:nvSpPr>
          <p:cNvPr id="19" name="TextBox 18"/>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Copy .env.example to .env</a:t>
            </a:r>
          </a:p>
        </p:txBody>
      </p:sp>
      <p:sp>
        <p:nvSpPr>
          <p:cNvPr id="25" name="TextBox 24"/>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uv sync &gt; uv run trader seed &gt; uv run trader serve --with-worker</a:t>
            </a:r>
          </a:p>
        </p:txBody>
      </p:sp>
      <p:sp>
        <p:nvSpPr>
          <p:cNvPr id="31" name="TextBox 30"/>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 docker compose up -d --build &gt; docker compose exec backend trader seed</a:t>
            </a:r>
          </a:p>
        </p:txBody>
      </p:sp>
      <p:sp>
        <p:nvSpPr>
          <p:cNvPr id="37" name="TextBox 36"/>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8" name="Rectangle 37"/>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2" name="TextBox 41"/>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Open http://localhost:8000 &gt; Course Labs</a:t>
            </a:r>
          </a:p>
        </p:txBody>
      </p:sp>
      <p:sp>
        <p:nvSpPr>
          <p:cNvPr id="43" name="Rectangle 4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Simulator: github.com/alfredang/algorithmic-trader-bot - the README has the full start-up steps and troubleshooting.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Trading Simulator — Pipeline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pipeline_map.png"/>
          <p:cNvPicPr>
            <a:picLocks noChangeAspect="1"/>
          </p:cNvPicPr>
          <p:nvPr/>
        </p:nvPicPr>
        <p:blipFill>
          <a:blip r:embed="rId2"/>
          <a:stretch>
            <a:fillRect/>
          </a:stretch>
        </p:blipFill>
        <p:spPr>
          <a:xfrm>
            <a:off x="2491013" y="2057400"/>
            <a:ext cx="7209668" cy="3520440"/>
          </a:xfrm>
          <a:prstGeom prst="rect">
            <a:avLst/>
          </a:prstGeom>
        </p:spPr>
      </p:pic>
      <p:sp>
        <p:nvSpPr>
          <p:cNvPr id="8" name="Rectangle 7"/>
          <p:cNvSpPr/>
          <p:nvPr/>
        </p:nvSpPr>
        <p:spPr>
          <a:xfrm>
            <a:off x="2480040" y="2046427"/>
            <a:ext cx="723161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Once the simulator is running, Pipeline Map shows every stage of the automated pipeline and its live state. Click a stage to see its most recent activity.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Alpaca and Open the Paper-Trading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alpaca.markets and verify your email</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Log in; choose 'Paper Trading' (upper left)</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API section: generate key - copy the secret once</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Paste keys into labs/.env</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Run python -m pipeline check - must say ONLINE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No funding needed. Paper keys only work on paper-api.alpaca.markets. No account? Every lab also runs offline.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Alpaca Paper-Trading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paca_paper_home.png"/>
          <p:cNvPicPr>
            <a:picLocks noChangeAspect="1"/>
          </p:cNvPicPr>
          <p:nvPr/>
        </p:nvPicPr>
        <p:blipFill>
          <a:blip r:embed="rId2"/>
          <a:stretch>
            <a:fillRect/>
          </a:stretch>
        </p:blipFill>
        <p:spPr>
          <a:xfrm>
            <a:off x="1701184" y="2057400"/>
            <a:ext cx="8789325" cy="3520440"/>
          </a:xfrm>
          <a:prstGeom prst="rect">
            <a:avLst/>
          </a:prstGeom>
        </p:spPr>
      </p:pic>
      <p:sp>
        <p:nvSpPr>
          <p:cNvPr id="8" name="Rectangle 7"/>
          <p:cNvSpPr/>
          <p:nvPr/>
        </p:nvSpPr>
        <p:spPr>
          <a:xfrm>
            <a:off x="1690211" y="2046427"/>
            <a:ext cx="8811271"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Check that the account selector shows 'Paper'. The banner confirms that no real money is being used. The API keys for the labs are generated from this account.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Connect Alpaca to the Simulator —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integrations.png"/>
          <p:cNvPicPr>
            <a:picLocks noChangeAspect="1"/>
          </p:cNvPicPr>
          <p:nvPr/>
        </p:nvPicPr>
        <p:blipFill>
          <a:blip r:embed="rId2"/>
          <a:stretch>
            <a:fillRect/>
          </a:stretch>
        </p:blipFill>
        <p:spPr>
          <a:xfrm>
            <a:off x="1977491" y="2057400"/>
            <a:ext cx="8236712" cy="3520440"/>
          </a:xfrm>
          <a:prstGeom prst="rect">
            <a:avLst/>
          </a:prstGeom>
        </p:spPr>
      </p:pic>
      <p:sp>
        <p:nvSpPr>
          <p:cNvPr id="8" name="Rectangle 7"/>
          <p:cNvSpPr/>
          <p:nvPr/>
        </p:nvSpPr>
        <p:spPr>
          <a:xfrm>
            <a:off x="1966518" y="2046427"/>
            <a:ext cx="825865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Paste the paper Key ID and Secret into the Alpaca card, then press Save &amp; test. Keys stay on your computer and are only shown masked. Without keys, every lab still runs offline.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TradingView and Find the Tools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tradingview.com (email, Google or Apple)</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Keep the free plan</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Products &gt; Supercharts; search NASDAQ:AAPL or SGX:D05</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Set time zone to Singapore</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Find Indicators, Pine Editor, Strategy Tester, Trade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free plan covers Labs 2, 5 and 6. Webhook alerts in Lab 17 need a paid plan - the lab includes a local simulator.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 Chart, Watchlist and Symbol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adingview_chart.png"/>
          <p:cNvPicPr>
            <a:picLocks noChangeAspect="1"/>
          </p:cNvPicPr>
          <p:nvPr/>
        </p:nvPicPr>
        <p:blipFill>
          <a:blip r:embed="rId2"/>
          <a:stretch>
            <a:fillRect/>
          </a:stretch>
        </p:blipFill>
        <p:spPr>
          <a:xfrm>
            <a:off x="2493368" y="2057400"/>
            <a:ext cx="7204958" cy="3520440"/>
          </a:xfrm>
          <a:prstGeom prst="rect">
            <a:avLst/>
          </a:prstGeom>
        </p:spPr>
      </p:pic>
      <p:sp>
        <p:nvSpPr>
          <p:cNvPr id="8" name="Rectangle 7"/>
          <p:cNvSpPr/>
          <p:nvPr/>
        </p:nvSpPr>
        <p:spPr>
          <a:xfrm>
            <a:off x="2482395" y="2046427"/>
            <a:ext cx="722690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Search for a symbol, pick the interval, and add Indicators. Pine Script and the Strategy Tester open from the panel below the chart, and Trade opens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 · FULL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the Full Code Labs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Set up once</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Open a terminal in labs_fullcode: python3 -m venv .venv, activate it, then pip install -r requirements.txt. Alpaca paper keys go in .env (or leave blank: offline).</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Every lab folder</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LabNN_Instructions.pdf (the manual), LabNN_Prompts.pdf (step -&gt; prompt), README.md (how to run), the _stage.py runner and solution/ - the complete code.</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One command per lab</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python3 LabNN-.../&lt;stage&gt;_stage.py runs the stage. Prompt_Library.html has every prompt with a Copy button for your AI coding assistant.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PLATFORM · THE IDEA THAT MATTERS MOST</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Paper first. Always.</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strategy in this course is tested on history, then forward-tested on a paper account with automatic orders, before anyone would consider real capital. That discipline is the course.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TOPIC 1</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Quant and Algo Trading Foundations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A1, A6  ·  Knowledge K1, K9   ·   Day 1   ·   Labs 1–4   ·   Assessed by PP Task 1 and WA Q1, Q9</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 Success Stories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Ed Thorp - Princeton Newport  ·  1969</a:t>
            </a:r>
          </a:p>
          <a:p>
            <a:pPr algn="l">
              <a:spcAft>
                <a:spcPts val="300"/>
              </a:spcAft>
            </a:pPr>
            <a:r>
              <a:rPr sz="1000" b="0">
                <a:solidFill>
                  <a:srgbClr val="5B6372"/>
                </a:solidFill>
                <a:latin typeface="Arial"/>
              </a:rPr>
              <a:t>First market-neutral quant fund: about 20% a year after fees for two decades by hedging warrants and convertibles</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Renaissance - Medallion  ·  1988</a:t>
            </a:r>
          </a:p>
          <a:p>
            <a:pPr algn="l">
              <a:spcAft>
                <a:spcPts val="300"/>
              </a:spcAft>
            </a:pPr>
            <a:r>
              <a:rPr sz="1000" b="0">
                <a:solidFill>
                  <a:srgbClr val="5B6372"/>
                </a:solidFill>
                <a:latin typeface="Arial"/>
              </a:rPr>
              <a:t>Purely model-driven; about 66% a year before fees, 39% after (1988-2018); closed to outsiders, employee-owned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D.E. Shaw  ·  1988</a:t>
            </a:r>
          </a:p>
          <a:p>
            <a:pPr algn="l">
              <a:spcAft>
                <a:spcPts val="300"/>
              </a:spcAft>
            </a:pPr>
            <a:r>
              <a:rPr sz="1000" b="0">
                <a:solidFill>
                  <a:srgbClr val="5B6372"/>
                </a:solidFill>
                <a:latin typeface="Arial"/>
              </a:rPr>
              <a:t>Founded by a computer-science professor from Morgan Stanley's quant group; models and software; about US$60-65bn</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Man AHL  ·  1987</a:t>
            </a:r>
          </a:p>
          <a:p>
            <a:pPr algn="l">
              <a:spcAft>
                <a:spcPts val="300"/>
              </a:spcAft>
            </a:pPr>
            <a:r>
              <a:rPr sz="1000" b="0">
                <a:solidFill>
                  <a:srgbClr val="5B6372"/>
                </a:solidFill>
                <a:latin typeface="Arial"/>
              </a:rPr>
              <a:t>Systematic trend following from hand-typed price histories to momentum models across 800+ markets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Two Sigma  ·  2001</a:t>
            </a:r>
          </a:p>
          <a:p>
            <a:pPr algn="l">
              <a:spcAft>
                <a:spcPts val="300"/>
              </a:spcAft>
            </a:pPr>
            <a:r>
              <a:rPr sz="1000" b="0">
                <a:solidFill>
                  <a:srgbClr val="5B6372"/>
                </a:solidFill>
                <a:latin typeface="Arial"/>
              </a:rPr>
              <a:t>AI, machine learning and distributed computing applied to trading; about US$70bn under management</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Jane Street  ·  2024</a:t>
            </a:r>
          </a:p>
          <a:p>
            <a:pPr algn="l">
              <a:spcAft>
                <a:spcPts val="300"/>
              </a:spcAft>
            </a:pPr>
            <a:r>
              <a:rPr sz="1000" b="0">
                <a:solidFill>
                  <a:srgbClr val="5B6372"/>
                </a:solidFill>
                <a:latin typeface="Arial"/>
              </a:rPr>
              <a:t>Quant market maker: about US$20.5bn net trading revenue; nearly a quarter of primary US ETF activity</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Spotlight: Renaissance Technologies and the Medallion Fund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Founded by a mathematician</a:t>
            </a:r>
          </a:p>
          <a:p>
            <a:pPr algn="l">
              <a:spcAft>
                <a:spcPts val="300"/>
              </a:spcAft>
            </a:pPr>
            <a:r>
              <a:rPr sz="1100" b="0">
                <a:solidFill>
                  <a:srgbClr val="5B6372"/>
                </a:solidFill>
                <a:latin typeface="Arial"/>
              </a:rPr>
              <a:t>Jim Simons founds Monemetrics in 1978; renamed Renaissance Technologies in 1982</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Medallion fund, 1988</a:t>
            </a:r>
          </a:p>
          <a:p>
            <a:pPr algn="l">
              <a:spcAft>
                <a:spcPts val="300"/>
              </a:spcAft>
            </a:pPr>
            <a:r>
              <a:rPr sz="1100" b="0">
                <a:solidFill>
                  <a:srgbClr val="5B6372"/>
                </a:solidFill>
                <a:latin typeface="Arial"/>
              </a:rPr>
              <a:t>The flagship fund trades purely on mathematical models of market data</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About 66% a year before fees</a:t>
            </a:r>
          </a:p>
          <a:p>
            <a:pPr algn="l">
              <a:spcAft>
                <a:spcPts val="300"/>
              </a:spcAft>
            </a:pPr>
            <a:r>
              <a:rPr sz="1100" b="0">
                <a:solidFill>
                  <a:srgbClr val="5B6372"/>
                </a:solidFill>
                <a:latin typeface="Arial"/>
              </a:rPr>
              <a:t>Average gross return 1988-2018, about 39% after its high fees; closed to outsiders, employee-owned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lesson for this course</a:t>
            </a:r>
          </a:p>
          <a:p>
            <a:pPr algn="l">
              <a:spcAft>
                <a:spcPts val="300"/>
              </a:spcAft>
            </a:pPr>
            <a:r>
              <a:rPr sz="1100" b="0">
                <a:solidFill>
                  <a:srgbClr val="5B6372"/>
                </a:solidFill>
                <a:latin typeface="Arial"/>
              </a:rPr>
              <a:t>The edge came from data, rigorous testing, costs and risk control - not from one clever indicator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the Success Stories Have in Common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Hypothesis first</a:t>
            </a:r>
          </a:p>
          <a:p>
            <a:pPr algn="l">
              <a:spcAft>
                <a:spcPts val="300"/>
              </a:spcAft>
            </a:pPr>
            <a:r>
              <a:rPr sz="1050" b="0">
                <a:solidFill>
                  <a:srgbClr val="5B6372"/>
                </a:solidFill>
                <a:latin typeface="Arial"/>
              </a:rPr>
              <a:t>Each started from a testable idea about prices, not from a tool</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Data and testing</a:t>
            </a:r>
          </a:p>
          <a:p>
            <a:pPr algn="l">
              <a:spcAft>
                <a:spcPts val="300"/>
              </a:spcAft>
            </a:pPr>
            <a:r>
              <a:rPr sz="1050" b="0">
                <a:solidFill>
                  <a:srgbClr val="5B6372"/>
                </a:solidFill>
                <a:latin typeface="Arial"/>
              </a:rPr>
              <a:t>Clean data and out-of-sample tests before capital</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Many small edges</a:t>
            </a:r>
          </a:p>
          <a:p>
            <a:pPr algn="l">
              <a:spcAft>
                <a:spcPts val="300"/>
              </a:spcAft>
            </a:pPr>
            <a:r>
              <a:rPr sz="1050" b="0">
                <a:solidFill>
                  <a:srgbClr val="5B6372"/>
                </a:solidFill>
                <a:latin typeface="Arial"/>
              </a:rPr>
              <a:t>Diversified, market-neutral bets rather than one big call</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Costs and risk</a:t>
            </a:r>
          </a:p>
          <a:p>
            <a:pPr algn="l">
              <a:spcAft>
                <a:spcPts val="300"/>
              </a:spcAft>
            </a:pPr>
            <a:r>
              <a:rPr sz="1050" b="0">
                <a:solidFill>
                  <a:srgbClr val="5B6372"/>
                </a:solidFill>
                <a:latin typeface="Arial"/>
              </a:rPr>
              <a:t>Execution cost, leverage and risk limits decide survival - see LTCM 1998</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Citadel Securities</a:t>
            </a:r>
          </a:p>
          <a:p>
            <a:pPr algn="l">
              <a:spcAft>
                <a:spcPts val="300"/>
              </a:spcAft>
            </a:pPr>
            <a:r>
              <a:rPr sz="1050" b="0">
                <a:solidFill>
                  <a:srgbClr val="5B6372"/>
                </a:solidFill>
                <a:latin typeface="Arial"/>
              </a:rPr>
              <a:t>Quant market maker estimated to handle about a quarter of all US equities trading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F6FEB"/>
                </a:solidFill>
                <a:latin typeface="Arial"/>
              </a:rPr>
              <a:t>TOPIC 1 · DEFINITION</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Algorithmic trading</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Using computer programs that follow predefined rules on price, timing, volume or models to generate and execute orders automatically, with limited or no human intervention.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EVOLUTION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Evolution of Quant: From Thorp to HFT to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26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1950s-70s: portfolio theory, arbitrage and option pricing</a:t>
            </a:r>
          </a:p>
        </p:txBody>
      </p:sp>
      <p:sp>
        <p:nvSpPr>
          <p:cNvPr id="15" name="TextBox 14"/>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3563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210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1970s-80s: factor risk models and program trading</a:t>
            </a:r>
          </a:p>
        </p:txBody>
      </p:sp>
      <p:sp>
        <p:nvSpPr>
          <p:cNvPr id="21" name="TextBox 20"/>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94036"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79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1980s-90s: statistical arbitrage and pairs trading</a:t>
            </a:r>
          </a:p>
        </p:txBody>
      </p:sp>
      <p:sp>
        <p:nvSpPr>
          <p:cNvPr id="27" name="TextBox 26"/>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52434"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378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1988 on: fully systematic signal mining (Renaissance, D.E. Shaw)</a:t>
            </a:r>
          </a:p>
        </p:txBody>
      </p:sp>
      <p:sp>
        <p:nvSpPr>
          <p:cNvPr id="33" name="TextBox 32"/>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10832"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9625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2000s: electronic market making and HFT</a:t>
            </a:r>
          </a:p>
        </p:txBody>
      </p:sp>
      <p:sp>
        <p:nvSpPr>
          <p:cNvPr id="39" name="TextBox 38"/>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6923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85465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2010s: speed race - co-location, microwave, microseconds</a:t>
            </a:r>
          </a:p>
        </p:txBody>
      </p:sp>
      <p:sp>
        <p:nvSpPr>
          <p:cNvPr id="45" name="TextBox 44"/>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6" name="Rectangle 45"/>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12762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41305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2020s: ML on alternative data, then LLM and agentic quant</a:t>
            </a:r>
          </a:p>
        </p:txBody>
      </p:sp>
      <p:sp>
        <p:nvSpPr>
          <p:cNvPr id="51" name="Rectangle 5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Each era kept the last era's discipline - hypothesis, data, testing, costs, risk - and added speed or new data.</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1952</a:t>
            </a:r>
          </a:p>
          <a:p>
            <a:pPr algn="ctr">
              <a:spcAft>
                <a:spcPts val="100"/>
              </a:spcAft>
            </a:pPr>
            <a:r>
              <a:rPr sz="1150" b="1">
                <a:solidFill>
                  <a:srgbClr val="161B26"/>
                </a:solidFill>
                <a:latin typeface="Arial"/>
              </a:rPr>
              <a:t>Modern portfolio theory</a:t>
            </a:r>
          </a:p>
          <a:p>
            <a:pPr algn="ctr">
              <a:spcAft>
                <a:spcPts val="100"/>
              </a:spcAft>
            </a:pPr>
            <a:r>
              <a:rPr sz="950" b="0">
                <a:solidFill>
                  <a:srgbClr val="5B6372"/>
                </a:solidFill>
                <a:latin typeface="Arial"/>
              </a:rPr>
              <a:t>Markowitz's 'Portfolio Selection' measures risk as variance: diversification becomes maths</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1967</a:t>
            </a:r>
          </a:p>
          <a:p>
            <a:pPr algn="ctr">
              <a:spcAft>
                <a:spcPts val="100"/>
              </a:spcAft>
            </a:pPr>
            <a:r>
              <a:rPr sz="1150" b="1">
                <a:solidFill>
                  <a:srgbClr val="161B26"/>
                </a:solidFill>
                <a:latin typeface="Arial"/>
              </a:rPr>
              <a:t>Thorp's 'Beat the Market'</a:t>
            </a:r>
          </a:p>
          <a:p>
            <a:pPr algn="ctr">
              <a:spcAft>
                <a:spcPts val="100"/>
              </a:spcAft>
            </a:pPr>
            <a:r>
              <a:rPr sz="950" b="0">
                <a:solidFill>
                  <a:srgbClr val="5B6372"/>
                </a:solidFill>
                <a:latin typeface="Arial"/>
              </a:rPr>
              <a:t>Ed Thorp applies probability to hedging warrants - an early quant trading playbook</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1969</a:t>
            </a:r>
          </a:p>
          <a:p>
            <a:pPr algn="ctr">
              <a:spcAft>
                <a:spcPts val="100"/>
              </a:spcAft>
            </a:pPr>
            <a:r>
              <a:rPr sz="1150" b="1">
                <a:solidFill>
                  <a:srgbClr val="161B26"/>
                </a:solidFill>
                <a:latin typeface="Arial"/>
              </a:rPr>
              <a:t>First market-neutral quant fund</a:t>
            </a:r>
          </a:p>
          <a:p>
            <a:pPr algn="ctr">
              <a:spcAft>
                <a:spcPts val="100"/>
              </a:spcAft>
            </a:pPr>
            <a:r>
              <a:rPr sz="950" b="0">
                <a:solidFill>
                  <a:srgbClr val="5B6372"/>
                </a:solidFill>
                <a:latin typeface="Arial"/>
              </a:rPr>
              <a:t>Thorp's fund (Princeton Newport from 1974) earns about 20% a year after fees for two decades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1973</a:t>
            </a:r>
          </a:p>
          <a:p>
            <a:pPr algn="ctr">
              <a:spcAft>
                <a:spcPts val="100"/>
              </a:spcAft>
            </a:pPr>
            <a:r>
              <a:rPr sz="1150" b="1">
                <a:solidFill>
                  <a:srgbClr val="161B26"/>
                </a:solidFill>
                <a:latin typeface="Arial"/>
              </a:rPr>
              <a:t>Black-Scholes and the CBOE</a:t>
            </a:r>
          </a:p>
          <a:p>
            <a:pPr algn="ctr">
              <a:spcAft>
                <a:spcPts val="100"/>
              </a:spcAft>
            </a:pPr>
            <a:r>
              <a:rPr sz="950" b="0">
                <a:solidFill>
                  <a:srgbClr val="5B6372"/>
                </a:solidFill>
                <a:latin typeface="Arial"/>
              </a:rPr>
              <a:t>Option-pricing formula published as the CBOE opens (Apr 1973); CBOE adopts it by 1975</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Mid-1970s</a:t>
            </a:r>
          </a:p>
          <a:p>
            <a:pPr algn="ctr">
              <a:spcAft>
                <a:spcPts val="100"/>
              </a:spcAft>
            </a:pPr>
            <a:r>
              <a:rPr sz="1150" b="1">
                <a:solidFill>
                  <a:srgbClr val="161B26"/>
                </a:solidFill>
                <a:latin typeface="Arial"/>
              </a:rPr>
              <a:t>Factor risk models</a:t>
            </a:r>
          </a:p>
          <a:p>
            <a:pPr algn="ctr">
              <a:spcAft>
                <a:spcPts val="100"/>
              </a:spcAft>
            </a:pPr>
            <a:r>
              <a:rPr sz="950" b="0">
                <a:solidFill>
                  <a:srgbClr val="5B6372"/>
                </a:solidFill>
                <a:latin typeface="Arial"/>
              </a:rPr>
              <a:t>Barr Rosenberg's Barra models portfolio risk from style, industry and size factors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1978</a:t>
            </a:r>
          </a:p>
          <a:p>
            <a:pPr algn="ctr">
              <a:spcAft>
                <a:spcPts val="100"/>
              </a:spcAft>
            </a:pPr>
            <a:r>
              <a:rPr sz="1150" b="1">
                <a:solidFill>
                  <a:srgbClr val="161B26"/>
                </a:solidFill>
                <a:latin typeface="Arial"/>
              </a:rPr>
              <a:t>Renaissance is founded</a:t>
            </a:r>
          </a:p>
          <a:p>
            <a:pPr algn="ctr">
              <a:spcAft>
                <a:spcPts val="100"/>
              </a:spcAft>
            </a:pPr>
            <a:r>
              <a:rPr sz="950" b="0">
                <a:solidFill>
                  <a:srgbClr val="5B6372"/>
                </a:solidFill>
                <a:latin typeface="Arial"/>
              </a:rPr>
              <a:t>Mathematician Jim Simons founds Monemetrics; renamed Renaissance Technologies in 1982</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1980s</a:t>
            </a:r>
          </a:p>
          <a:p>
            <a:pPr algn="ctr">
              <a:spcAft>
                <a:spcPts val="100"/>
              </a:spcAft>
            </a:pPr>
            <a:r>
              <a:rPr sz="1150" b="1">
                <a:solidFill>
                  <a:srgbClr val="161B26"/>
                </a:solidFill>
                <a:latin typeface="Arial"/>
              </a:rPr>
              <a:t>Statistical arbitrage</a:t>
            </a:r>
          </a:p>
          <a:p>
            <a:pPr algn="ctr">
              <a:spcAft>
                <a:spcPts val="100"/>
              </a:spcAft>
            </a:pPr>
            <a:r>
              <a:rPr sz="950" b="0">
                <a:solidFill>
                  <a:srgbClr val="5B6372"/>
                </a:solidFill>
                <a:latin typeface="Arial"/>
              </a:rPr>
              <a:t>Bamberger and Tartaglia's Morgan Stanley group trades pairs of co-moving stocks by rule</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1987</a:t>
            </a:r>
          </a:p>
          <a:p>
            <a:pPr algn="ctr">
              <a:spcAft>
                <a:spcPts val="100"/>
              </a:spcAft>
            </a:pPr>
            <a:r>
              <a:rPr sz="1150" b="1">
                <a:solidFill>
                  <a:srgbClr val="161B26"/>
                </a:solidFill>
                <a:latin typeface="Arial"/>
              </a:rPr>
              <a:t>Black Monday</a:t>
            </a:r>
          </a:p>
          <a:p>
            <a:pPr algn="ctr">
              <a:spcAft>
                <a:spcPts val="100"/>
              </a:spcAft>
            </a:pPr>
            <a:r>
              <a:rPr sz="950" b="0">
                <a:solidFill>
                  <a:srgbClr val="5B6372"/>
                </a:solidFill>
                <a:latin typeface="Arial"/>
              </a:rPr>
              <a:t>Dow falls 22.6% on 19 Oct; portfolio-insurance program selling deepens the crash</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1988</a:t>
            </a:r>
          </a:p>
          <a:p>
            <a:pPr algn="ctr">
              <a:spcAft>
                <a:spcPts val="100"/>
              </a:spcAft>
            </a:pPr>
            <a:r>
              <a:rPr sz="1150" b="1">
                <a:solidFill>
                  <a:srgbClr val="161B26"/>
                </a:solidFill>
                <a:latin typeface="Arial"/>
              </a:rPr>
              <a:t>Medallion and D.E. Shaw</a:t>
            </a:r>
          </a:p>
          <a:p>
            <a:pPr algn="ctr">
              <a:spcAft>
                <a:spcPts val="100"/>
              </a:spcAft>
            </a:pPr>
            <a:r>
              <a:rPr sz="950" b="0">
                <a:solidFill>
                  <a:srgbClr val="5B6372"/>
                </a:solidFill>
                <a:latin typeface="Arial"/>
              </a:rPr>
              <a:t>Renaissance launches Medallion; ex-Morgan Stanley quant David Shaw founds D.E. Shaw</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1996</a:t>
            </a:r>
          </a:p>
          <a:p>
            <a:pPr algn="ctr">
              <a:spcAft>
                <a:spcPts val="100"/>
              </a:spcAft>
            </a:pPr>
            <a:r>
              <a:rPr sz="1150" b="1">
                <a:solidFill>
                  <a:srgbClr val="161B26"/>
                </a:solidFill>
                <a:latin typeface="Arial"/>
              </a:rPr>
              <a:t>Island ECN</a:t>
            </a:r>
          </a:p>
          <a:p>
            <a:pPr algn="ctr">
              <a:spcAft>
                <a:spcPts val="100"/>
              </a:spcAft>
            </a:pPr>
            <a:r>
              <a:rPr sz="950" b="0">
                <a:solidFill>
                  <a:srgbClr val="5B6372"/>
                </a:solidFill>
                <a:latin typeface="Arial"/>
              </a:rPr>
              <a:t>Fast electronic order book (trading from 1997) becomes a hub for early HFT firms</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1998</a:t>
            </a:r>
          </a:p>
          <a:p>
            <a:pPr algn="ctr">
              <a:spcAft>
                <a:spcPts val="100"/>
              </a:spcAft>
            </a:pPr>
            <a:r>
              <a:rPr sz="1150" b="1">
                <a:solidFill>
                  <a:srgbClr val="161B26"/>
                </a:solidFill>
                <a:latin typeface="Arial"/>
              </a:rPr>
              <a:t>LTCM collapses</a:t>
            </a:r>
          </a:p>
          <a:p>
            <a:pPr algn="ctr">
              <a:spcAft>
                <a:spcPts val="100"/>
              </a:spcAft>
            </a:pPr>
            <a:r>
              <a:rPr sz="950" b="0">
                <a:solidFill>
                  <a:srgbClr val="5B6372"/>
                </a:solidFill>
                <a:latin typeface="Arial"/>
              </a:rPr>
              <a:t>Leveraged relative-value fund loses US$4.6bn; Fed-supervised US$3.65bn recapitalisation</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2001</a:t>
            </a:r>
          </a:p>
          <a:p>
            <a:pPr algn="ctr">
              <a:spcAft>
                <a:spcPts val="100"/>
              </a:spcAft>
            </a:pPr>
            <a:r>
              <a:rPr sz="1150" b="1">
                <a:solidFill>
                  <a:srgbClr val="161B26"/>
                </a:solidFill>
                <a:latin typeface="Arial"/>
              </a:rPr>
              <a:t>Decimalisation</a:t>
            </a:r>
          </a:p>
          <a:p>
            <a:pPr algn="ctr">
              <a:spcAft>
                <a:spcPts val="100"/>
              </a:spcAft>
            </a:pPr>
            <a:r>
              <a:rPr sz="950" b="0">
                <a:solidFill>
                  <a:srgbClr val="5B6372"/>
                </a:solidFill>
                <a:latin typeface="Arial"/>
              </a:rPr>
              <a:t>US stocks quote in cents, not 1/16ths; spreads narrow and electronic market making grows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2005</a:t>
            </a:r>
          </a:p>
          <a:p>
            <a:pPr algn="ctr">
              <a:spcAft>
                <a:spcPts val="100"/>
              </a:spcAft>
            </a:pPr>
            <a:r>
              <a:rPr sz="1150" b="1">
                <a:solidFill>
                  <a:srgbClr val="161B26"/>
                </a:solidFill>
                <a:latin typeface="Arial"/>
              </a:rPr>
              <a:t>Regulation NMS</a:t>
            </a:r>
          </a:p>
          <a:p>
            <a:pPr algn="ctr">
              <a:spcAft>
                <a:spcPts val="100"/>
              </a:spcAft>
            </a:pPr>
            <a:r>
              <a:rPr sz="950" b="0">
                <a:solidFill>
                  <a:srgbClr val="5B6372"/>
                </a:solidFill>
                <a:latin typeface="Arial"/>
              </a:rPr>
              <a:t>SEC rule (in force 2007) links venues; fragmentation rewards speed and smart order routing</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2007</a:t>
            </a:r>
          </a:p>
          <a:p>
            <a:pPr algn="ctr">
              <a:spcAft>
                <a:spcPts val="100"/>
              </a:spcAft>
            </a:pPr>
            <a:r>
              <a:rPr sz="1150" b="1">
                <a:solidFill>
                  <a:srgbClr val="161B26"/>
                </a:solidFill>
                <a:latin typeface="Arial"/>
              </a:rPr>
              <a:t>The quant quake</a:t>
            </a:r>
          </a:p>
          <a:p>
            <a:pPr algn="ctr">
              <a:spcAft>
                <a:spcPts val="100"/>
              </a:spcAft>
            </a:pPr>
            <a:r>
              <a:rPr sz="950" b="0">
                <a:solidFill>
                  <a:srgbClr val="5B6372"/>
                </a:solidFill>
                <a:latin typeface="Arial"/>
              </a:rPr>
              <a:t>Week of 6 Aug: crowded quant market-neutral funds suffer sudden losses as positions unwind</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2010</a:t>
            </a:r>
          </a:p>
          <a:p>
            <a:pPr algn="ctr">
              <a:spcAft>
                <a:spcPts val="100"/>
              </a:spcAft>
            </a:pPr>
            <a:r>
              <a:rPr sz="1150" b="1">
                <a:solidFill>
                  <a:srgbClr val="161B26"/>
                </a:solidFill>
                <a:latin typeface="Arial"/>
              </a:rPr>
              <a:t>Flash Crash</a:t>
            </a:r>
          </a:p>
          <a:p>
            <a:pPr algn="ctr">
              <a:spcAft>
                <a:spcPts val="100"/>
              </a:spcAft>
            </a:pPr>
            <a:r>
              <a:rPr sz="950" b="0">
                <a:solidFill>
                  <a:srgbClr val="5B6372"/>
                </a:solidFill>
                <a:latin typeface="Arial"/>
              </a:rPr>
              <a:t>6 May: the Dow drops nearly 1,000 points in minutes after a large algorithmic sell order</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2010</a:t>
            </a:r>
          </a:p>
          <a:p>
            <a:pPr algn="ctr">
              <a:spcAft>
                <a:spcPts val="100"/>
              </a:spcAft>
            </a:pPr>
            <a:r>
              <a:rPr sz="1150" b="1">
                <a:solidFill>
                  <a:srgbClr val="161B26"/>
                </a:solidFill>
                <a:latin typeface="Arial"/>
              </a:rPr>
              <a:t>The speed race</a:t>
            </a:r>
          </a:p>
          <a:p>
            <a:pPr algn="ctr">
              <a:spcAft>
                <a:spcPts val="100"/>
              </a:spcAft>
            </a:pPr>
            <a:r>
              <a:rPr sz="950" b="0">
                <a:solidFill>
                  <a:srgbClr val="5B6372"/>
                </a:solidFill>
                <a:latin typeface="Arial"/>
              </a:rPr>
              <a:t>US$300m straight fibre New York-Chicago cuts about 3 ms; microwave links soon beat it</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2012</a:t>
            </a:r>
          </a:p>
          <a:p>
            <a:pPr algn="ctr">
              <a:spcAft>
                <a:spcPts val="100"/>
              </a:spcAft>
            </a:pPr>
            <a:r>
              <a:rPr sz="1150" b="1">
                <a:solidFill>
                  <a:srgbClr val="161B26"/>
                </a:solidFill>
                <a:latin typeface="Arial"/>
              </a:rPr>
              <a:t>Knight Capital</a:t>
            </a:r>
          </a:p>
          <a:p>
            <a:pPr algn="ctr">
              <a:spcAft>
                <a:spcPts val="100"/>
              </a:spcAft>
            </a:pPr>
            <a:r>
              <a:rPr sz="950" b="0">
                <a:solidFill>
                  <a:srgbClr val="5B6372"/>
                </a:solidFill>
                <a:latin typeface="Arial"/>
              </a:rPr>
              <a:t>A faulty deployment sends millions of orders in 45 minutes; Knight loses over US$460m</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2016</a:t>
            </a:r>
          </a:p>
          <a:p>
            <a:pPr algn="ctr">
              <a:spcAft>
                <a:spcPts val="100"/>
              </a:spcAft>
            </a:pPr>
            <a:r>
              <a:rPr sz="1150" b="1">
                <a:solidFill>
                  <a:srgbClr val="161B26"/>
                </a:solidFill>
                <a:latin typeface="Arial"/>
              </a:rPr>
              <a:t>IEX speed bump</a:t>
            </a:r>
          </a:p>
          <a:p>
            <a:pPr algn="ctr">
              <a:spcAft>
                <a:spcPts val="100"/>
              </a:spcAft>
            </a:pPr>
            <a:r>
              <a:rPr sz="950" b="0">
                <a:solidFill>
                  <a:srgbClr val="5B6372"/>
                </a:solidFill>
                <a:latin typeface="Arial"/>
              </a:rPr>
              <a:t>SEC approves IEX as an exchange with a 350-microsecond delay against latency arbitrage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2018</a:t>
            </a:r>
          </a:p>
          <a:p>
            <a:pPr algn="ctr">
              <a:spcAft>
                <a:spcPts val="100"/>
              </a:spcAft>
            </a:pPr>
            <a:r>
              <a:rPr sz="1150" b="1">
                <a:solidFill>
                  <a:srgbClr val="161B26"/>
                </a:solidFill>
                <a:latin typeface="Arial"/>
              </a:rPr>
              <a:t>MiFID II</a:t>
            </a:r>
          </a:p>
          <a:p>
            <a:pPr algn="ctr">
              <a:spcAft>
                <a:spcPts val="100"/>
              </a:spcAft>
            </a:pPr>
            <a:r>
              <a:rPr sz="950" b="0">
                <a:solidFill>
                  <a:srgbClr val="5B6372"/>
                </a:solidFill>
                <a:latin typeface="Arial"/>
              </a:rPr>
              <a:t>EU requires algorithm testing, kill switches and records; HFT formally defined</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2018</a:t>
            </a:r>
          </a:p>
          <a:p>
            <a:pPr algn="ctr">
              <a:spcAft>
                <a:spcPts val="100"/>
              </a:spcAft>
            </a:pPr>
            <a:r>
              <a:rPr sz="1150" b="1">
                <a:solidFill>
                  <a:srgbClr val="161B26"/>
                </a:solidFill>
                <a:latin typeface="Arial"/>
              </a:rPr>
              <a:t>API-first brokers</a:t>
            </a:r>
          </a:p>
          <a:p>
            <a:pPr algn="ctr">
              <a:spcAft>
                <a:spcPts val="100"/>
              </a:spcAft>
            </a:pPr>
            <a:r>
              <a:rPr sz="950" b="0">
                <a:solidFill>
                  <a:srgbClr val="5B6372"/>
                </a:solidFill>
                <a:latin typeface="Arial"/>
              </a:rPr>
              <a:t>Alpaca's commission-free trading API opens algorithmic stock trading to individuals</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2020</a:t>
            </a:r>
          </a:p>
          <a:p>
            <a:pPr algn="ctr">
              <a:spcAft>
                <a:spcPts val="100"/>
              </a:spcAft>
            </a:pPr>
            <a:r>
              <a:rPr sz="1150" b="1">
                <a:solidFill>
                  <a:srgbClr val="161B26"/>
                </a:solidFill>
                <a:latin typeface="Arial"/>
              </a:rPr>
              <a:t>SGX RegCo algo guide</a:t>
            </a:r>
          </a:p>
          <a:p>
            <a:pPr algn="ctr">
              <a:spcAft>
                <a:spcPts val="100"/>
              </a:spcAft>
            </a:pPr>
            <a:r>
              <a:rPr sz="950" b="0">
                <a:solidFill>
                  <a:srgbClr val="5B6372"/>
                </a:solidFill>
                <a:latin typeface="Arial"/>
              </a:rPr>
              <a:t>Sets expectations for governance, risk controls and testing of algorithms by SGX members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2023</a:t>
            </a:r>
          </a:p>
          <a:p>
            <a:pPr algn="ctr">
              <a:spcAft>
                <a:spcPts val="100"/>
              </a:spcAft>
            </a:pPr>
            <a:r>
              <a:rPr sz="1150" b="1">
                <a:solidFill>
                  <a:srgbClr val="161B26"/>
                </a:solidFill>
                <a:latin typeface="Arial"/>
              </a:rPr>
              <a:t>LLM trading signals</a:t>
            </a:r>
          </a:p>
          <a:p>
            <a:pPr algn="ctr">
              <a:spcAft>
                <a:spcPts val="100"/>
              </a:spcAft>
            </a:pPr>
            <a:r>
              <a:rPr sz="950" b="0">
                <a:solidFill>
                  <a:srgbClr val="5B6372"/>
                </a:solidFill>
                <a:latin typeface="Arial"/>
              </a:rPr>
              <a:t>ChatGPT headline sentiment predicts next-day stock returns (Lopez-Lira and Tang)</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2024</a:t>
            </a:r>
          </a:p>
          <a:p>
            <a:pPr algn="ctr">
              <a:spcAft>
                <a:spcPts val="100"/>
              </a:spcAft>
            </a:pPr>
            <a:r>
              <a:rPr sz="1150" b="1">
                <a:solidFill>
                  <a:srgbClr val="161B26"/>
                </a:solidFill>
                <a:latin typeface="Arial"/>
              </a:rPr>
              <a:t>Multi-agent LLM trading</a:t>
            </a:r>
          </a:p>
          <a:p>
            <a:pPr algn="ctr">
              <a:spcAft>
                <a:spcPts val="100"/>
              </a:spcAft>
            </a:pPr>
            <a:r>
              <a:rPr sz="950" b="0">
                <a:solidFill>
                  <a:srgbClr val="5B6372"/>
                </a:solidFill>
                <a:latin typeface="Arial"/>
              </a:rPr>
              <a:t>TradingAgents (Dec 2024): analyst, debate, trader and risk agents trade stocks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MAS AI Risk Management</a:t>
            </a:r>
          </a:p>
          <a:p>
            <a:pPr algn="ctr">
              <a:spcAft>
                <a:spcPts val="100"/>
              </a:spcAft>
            </a:pPr>
            <a:r>
              <a:rPr sz="950" b="0">
                <a:solidFill>
                  <a:srgbClr val="5B6372"/>
                </a:solidFill>
                <a:latin typeface="Arial"/>
              </a:rPr>
              <a:t>Guidelines issued 7 Oct 2026, effective 7 Oct 2027: AI inventories and lifecycle controls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PARADIGM SHIFTS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Six Paradigm Shifts in Quant and Algorithmic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intuition to probability  ·  1950s-1970s</a:t>
            </a:r>
          </a:p>
          <a:p>
            <a:pPr algn="l">
              <a:spcAft>
                <a:spcPts val="300"/>
              </a:spcAft>
            </a:pPr>
            <a:r>
              <a:rPr sz="950" b="0">
                <a:solidFill>
                  <a:srgbClr val="5B6372"/>
                </a:solidFill>
                <a:latin typeface="Arial"/>
              </a:rPr>
              <a:t>Markowitz, Thorp and Black-Scholes make risk, hedging and option value mathematical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stocks to factors  ·  1970s-1980s</a:t>
            </a:r>
          </a:p>
          <a:p>
            <a:pPr algn="l">
              <a:spcAft>
                <a:spcPts val="300"/>
              </a:spcAft>
            </a:pPr>
            <a:r>
              <a:rPr sz="950" b="0">
                <a:solidFill>
                  <a:srgbClr val="5B6372"/>
                </a:solidFill>
                <a:latin typeface="Arial"/>
              </a:rPr>
              <a:t>Barra factor models and program trading treat portfolios as baskets of risk exposures</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factors to statistical arbitrage  ·  1980s-2000s</a:t>
            </a:r>
          </a:p>
          <a:p>
            <a:pPr algn="l">
              <a:spcAft>
                <a:spcPts val="300"/>
              </a:spcAft>
            </a:pPr>
            <a:r>
              <a:rPr sz="950" b="0">
                <a:solidFill>
                  <a:srgbClr val="5B6372"/>
                </a:solidFill>
                <a:latin typeface="Arial"/>
              </a:rPr>
              <a:t>Morgan Stanley's pairs group, D.E. Shaw and Renaissance harvest many small market-neutral edges</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floors to electronic speed  ·  1996-2010s</a:t>
            </a:r>
          </a:p>
          <a:p>
            <a:pPr algn="l">
              <a:spcAft>
                <a:spcPts val="300"/>
              </a:spcAft>
            </a:pPr>
            <a:r>
              <a:rPr sz="950" b="0">
                <a:solidFill>
                  <a:srgbClr val="5B6372"/>
                </a:solidFill>
                <a:latin typeface="Arial"/>
              </a:rPr>
              <a:t>ECNs, decimalisation and Reg NMS enable HFT: co-location, microwave links, microseconds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statistics to machine learning  ·  2000s-2010s</a:t>
            </a:r>
          </a:p>
          <a:p>
            <a:pPr algn="l">
              <a:spcAft>
                <a:spcPts val="300"/>
              </a:spcAft>
            </a:pPr>
            <a:r>
              <a:rPr sz="950" b="0">
                <a:solidFill>
                  <a:srgbClr val="5B6372"/>
                </a:solidFill>
                <a:latin typeface="Arial"/>
              </a:rPr>
              <a:t>Models learn non-linear patterns from prices, order books and alternative data</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writing code to directing AI  ·  2023-present</a:t>
            </a:r>
          </a:p>
          <a:p>
            <a:pPr algn="l">
              <a:spcAft>
                <a:spcPts val="300"/>
              </a:spcAft>
            </a:pPr>
            <a:r>
              <a:rPr sz="950" b="0">
                <a:solidFill>
                  <a:srgbClr val="5B6372"/>
                </a:solidFill>
                <a:latin typeface="Arial"/>
              </a:rPr>
              <a:t>AI writes and runs the code; quants own the big concepts - hypothesis, algorithm logic, testing, risk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Algorithms - and What Can Go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10235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4645152" cy="365760"/>
          </a:xfrm>
          <a:prstGeom prst="rect">
            <a:avLst/>
          </a:prstGeom>
          <a:noFill/>
        </p:spPr>
        <p:txBody>
          <a:bodyPr wrap="square" anchor="t">
            <a:spAutoFit/>
          </a:bodyPr>
          <a:lstStyle/>
          <a:p>
            <a:pPr algn="l">
              <a:spcAft>
                <a:spcPts val="400"/>
              </a:spcAft>
            </a:pPr>
            <a:r>
              <a:rPr sz="1500" b="1">
                <a:solidFill>
                  <a:srgbClr val="1F6FEB"/>
                </a:solidFill>
                <a:latin typeface="Arial"/>
              </a:rPr>
              <a:t>Benefits</a:t>
            </a:r>
          </a:p>
        </p:txBody>
      </p:sp>
      <p:sp>
        <p:nvSpPr>
          <p:cNvPr id="10" name="TextBox 9"/>
          <p:cNvSpPr txBox="1"/>
          <p:nvPr/>
        </p:nvSpPr>
        <p:spPr>
          <a:xfrm>
            <a:off x="1005840" y="2514600"/>
            <a:ext cx="4645152" cy="3291840"/>
          </a:xfrm>
          <a:prstGeom prst="rect">
            <a:avLst/>
          </a:prstGeom>
          <a:noFill/>
        </p:spPr>
        <p:txBody>
          <a:bodyPr wrap="square">
            <a:spAutoFit/>
          </a:bodyPr>
          <a:lstStyle/>
          <a:p>
            <a:pPr>
              <a:spcAft>
                <a:spcPts val="800"/>
              </a:spcAft>
            </a:pPr>
            <a:r>
              <a:rPr sz="1250">
                <a:solidFill>
                  <a:srgbClr val="161B26"/>
                </a:solidFill>
                <a:latin typeface="Arial"/>
              </a:rPr>
              <a:t>•  Speed: reacts and executes in milliseconds</a:t>
            </a:r>
          </a:p>
          <a:p>
            <a:pPr>
              <a:spcAft>
                <a:spcPts val="800"/>
              </a:spcAft>
            </a:pPr>
            <a:r>
              <a:rPr sz="1250">
                <a:solidFill>
                  <a:srgbClr val="161B26"/>
                </a:solidFill>
                <a:latin typeface="Arial"/>
              </a:rPr>
              <a:t>•  Discipline: rules remove fear, greed and fatigue</a:t>
            </a:r>
          </a:p>
          <a:p>
            <a:pPr>
              <a:spcAft>
                <a:spcPts val="800"/>
              </a:spcAft>
            </a:pPr>
            <a:r>
              <a:rPr sz="1250">
                <a:solidFill>
                  <a:srgbClr val="161B26"/>
                </a:solidFill>
                <a:latin typeface="Arial"/>
              </a:rPr>
              <a:t>•  Backtesting: test ideas on historical data first</a:t>
            </a:r>
          </a:p>
          <a:p>
            <a:pPr>
              <a:spcAft>
                <a:spcPts val="800"/>
              </a:spcAft>
            </a:pPr>
            <a:r>
              <a:rPr sz="1250">
                <a:solidFill>
                  <a:srgbClr val="161B26"/>
                </a:solidFill>
                <a:latin typeface="Arial"/>
              </a:rPr>
              <a:t>•  Lower costs: split large orders to reduce market impact</a:t>
            </a:r>
          </a:p>
          <a:p>
            <a:pPr>
              <a:spcAft>
                <a:spcPts val="800"/>
              </a:spcAft>
            </a:pPr>
            <a:r>
              <a:rPr sz="1250">
                <a:solidFill>
                  <a:srgbClr val="161B26"/>
                </a:solidFill>
                <a:latin typeface="Arial"/>
              </a:rPr>
              <a:t>•  Scale: monitors many markets and assets around the clock</a:t>
            </a:r>
          </a:p>
        </p:txBody>
      </p:sp>
      <p:sp>
        <p:nvSpPr>
          <p:cNvPr id="11" name="Rectangle 10"/>
          <p:cNvSpPr/>
          <p:nvPr/>
        </p:nvSpPr>
        <p:spPr>
          <a:xfrm>
            <a:off x="630936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828800"/>
            <a:ext cx="510235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57400"/>
            <a:ext cx="4645152" cy="365760"/>
          </a:xfrm>
          <a:prstGeom prst="rect">
            <a:avLst/>
          </a:prstGeom>
          <a:noFill/>
        </p:spPr>
        <p:txBody>
          <a:bodyPr wrap="square" anchor="t">
            <a:spAutoFit/>
          </a:bodyPr>
          <a:lstStyle/>
          <a:p>
            <a:pPr algn="l">
              <a:spcAft>
                <a:spcPts val="400"/>
              </a:spcAft>
            </a:pPr>
            <a:r>
              <a:rPr sz="1500" b="1">
                <a:solidFill>
                  <a:srgbClr val="10B981"/>
                </a:solidFill>
                <a:latin typeface="Arial"/>
              </a:rPr>
              <a:t>Risks</a:t>
            </a:r>
          </a:p>
        </p:txBody>
      </p:sp>
      <p:sp>
        <p:nvSpPr>
          <p:cNvPr id="14" name="TextBox 13"/>
          <p:cNvSpPr txBox="1"/>
          <p:nvPr/>
        </p:nvSpPr>
        <p:spPr>
          <a:xfrm>
            <a:off x="6537960" y="2514600"/>
            <a:ext cx="4645152" cy="3291840"/>
          </a:xfrm>
          <a:prstGeom prst="rect">
            <a:avLst/>
          </a:prstGeom>
          <a:noFill/>
        </p:spPr>
        <p:txBody>
          <a:bodyPr wrap="square">
            <a:spAutoFit/>
          </a:bodyPr>
          <a:lstStyle/>
          <a:p>
            <a:pPr>
              <a:spcAft>
                <a:spcPts val="800"/>
              </a:spcAft>
            </a:pPr>
            <a:r>
              <a:rPr sz="1250">
                <a:solidFill>
                  <a:srgbClr val="161B26"/>
                </a:solidFill>
                <a:latin typeface="Arial"/>
              </a:rPr>
              <a:t>•  Technical failure: bugs and outages (Knight Capital, 2012)</a:t>
            </a:r>
          </a:p>
          <a:p>
            <a:pPr>
              <a:spcAft>
                <a:spcPts val="800"/>
              </a:spcAft>
            </a:pPr>
            <a:r>
              <a:rPr sz="1250">
                <a:solidFill>
                  <a:srgbClr val="161B26"/>
                </a:solidFill>
                <a:latin typeface="Arial"/>
              </a:rPr>
              <a:t>•  Overfitting: great backtests that fail on live data</a:t>
            </a:r>
          </a:p>
          <a:p>
            <a:pPr>
              <a:spcAft>
                <a:spcPts val="800"/>
              </a:spcAft>
            </a:pPr>
            <a:r>
              <a:rPr sz="1250">
                <a:solidFill>
                  <a:srgbClr val="161B26"/>
                </a:solidFill>
                <a:latin typeface="Arial"/>
              </a:rPr>
              <a:t>•  Black swans and regime change the model has never seen</a:t>
            </a:r>
          </a:p>
          <a:p>
            <a:pPr>
              <a:spcAft>
                <a:spcPts val="800"/>
              </a:spcAft>
            </a:pPr>
            <a:r>
              <a:rPr sz="1250">
                <a:solidFill>
                  <a:srgbClr val="161B26"/>
                </a:solidFill>
                <a:latin typeface="Arial"/>
              </a:rPr>
              <a:t>•  Feedback loops between algorithms (2010 Flash Crash)</a:t>
            </a:r>
          </a:p>
          <a:p>
            <a:pPr>
              <a:spcAft>
                <a:spcPts val="800"/>
              </a:spcAft>
            </a:pPr>
            <a:r>
              <a:rPr sz="1250">
                <a:solidFill>
                  <a:srgbClr val="161B26"/>
                </a:solidFill>
                <a:latin typeface="Arial"/>
              </a:rPr>
              <a:t>•  Set-up, data and compliance costs; no guaranteed profit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Eras of AI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Symbolic AI  ·  1956-1980s</a:t>
            </a:r>
          </a:p>
          <a:p>
            <a:pPr algn="l">
              <a:spcAft>
                <a:spcPts val="300"/>
              </a:spcAft>
            </a:pPr>
            <a:r>
              <a:rPr sz="1000" b="0">
                <a:solidFill>
                  <a:srgbClr val="5B6372"/>
                </a:solidFill>
                <a:latin typeface="Arial"/>
              </a:rPr>
              <a:t>Hand-written rules: expert systems and rule-based program trading; brittle when markets change</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Machine learning  ·  1990s-2000s</a:t>
            </a:r>
          </a:p>
          <a:p>
            <a:pPr algn="l">
              <a:spcAft>
                <a:spcPts val="300"/>
              </a:spcAft>
            </a:pPr>
            <a:r>
              <a:rPr sz="1000" b="0">
                <a:solidFill>
                  <a:srgbClr val="5B6372"/>
                </a:solidFill>
                <a:latin typeface="Arial"/>
              </a:rPr>
              <a:t>Models learn from data: regression, tree and boosting signals; statistical arbitrage at scale</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Deep learning  ·  2012-2017</a:t>
            </a:r>
          </a:p>
          <a:p>
            <a:pPr algn="l">
              <a:spcAft>
                <a:spcPts val="300"/>
              </a:spcAft>
            </a:pPr>
            <a:r>
              <a:rPr sz="1000" b="0">
                <a:solidFill>
                  <a:srgbClr val="5B6372"/>
                </a:solidFill>
                <a:latin typeface="Arial"/>
              </a:rPr>
              <a:t>Many-layer networks on GPUs find non-linear patterns in prices, order books and alternative data</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Generative AI  ·  2017-2023</a:t>
            </a:r>
          </a:p>
          <a:p>
            <a:pPr algn="l">
              <a:spcAft>
                <a:spcPts val="300"/>
              </a:spcAft>
            </a:pPr>
            <a:r>
              <a:rPr sz="1000" b="0">
                <a:solidFill>
                  <a:srgbClr val="5B6372"/>
                </a:solidFill>
                <a:latin typeface="Arial"/>
              </a:rPr>
              <a:t>Transformers and LLMs turn news, filings and earnings calls into trading signals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Agentic AI  ·  2024-present</a:t>
            </a:r>
          </a:p>
          <a:p>
            <a:pPr algn="l">
              <a:spcAft>
                <a:spcPts val="300"/>
              </a:spcAft>
            </a:pPr>
            <a:r>
              <a:rPr sz="1000" b="0">
                <a:solidFill>
                  <a:srgbClr val="5B6372"/>
                </a:solidFill>
                <a:latin typeface="Arial"/>
              </a:rPr>
              <a:t>LLM agents research, code, backtest and paper-trade strategies under hard risk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1950</a:t>
            </a:r>
          </a:p>
          <a:p>
            <a:pPr algn="ctr">
              <a:spcAft>
                <a:spcPts val="100"/>
              </a:spcAft>
            </a:pPr>
            <a:r>
              <a:rPr sz="1150" b="1">
                <a:solidFill>
                  <a:srgbClr val="161B26"/>
                </a:solidFill>
                <a:latin typeface="Arial"/>
              </a:rPr>
              <a:t>Turing Test</a:t>
            </a:r>
          </a:p>
          <a:p>
            <a:pPr algn="ctr">
              <a:spcAft>
                <a:spcPts val="100"/>
              </a:spcAft>
            </a:pPr>
            <a:r>
              <a:rPr sz="950" b="0">
                <a:solidFill>
                  <a:srgbClr val="5B6372"/>
                </a:solidFill>
                <a:latin typeface="Arial"/>
              </a:rPr>
              <a:t>Turing asks if machines can think; in 1952 Markowitz turns portfolio choice into maths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1956</a:t>
            </a:r>
          </a:p>
          <a:p>
            <a:pPr algn="ctr">
              <a:spcAft>
                <a:spcPts val="100"/>
              </a:spcAft>
            </a:pPr>
            <a:r>
              <a:rPr sz="1150" b="1">
                <a:solidFill>
                  <a:srgbClr val="161B26"/>
                </a:solidFill>
                <a:latin typeface="Arial"/>
              </a:rPr>
              <a:t>'AI' is named</a:t>
            </a:r>
          </a:p>
          <a:p>
            <a:pPr algn="ctr">
              <a:spcAft>
                <a:spcPts val="100"/>
              </a:spcAft>
            </a:pPr>
            <a:r>
              <a:rPr sz="950" b="0">
                <a:solidFill>
                  <a:srgbClr val="5B6372"/>
                </a:solidFill>
                <a:latin typeface="Arial"/>
              </a:rPr>
              <a:t>AI becomes a field; Ed Thorp soon applies computers and probability to blackjack, then markets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1980s</a:t>
            </a:r>
          </a:p>
          <a:p>
            <a:pPr algn="ctr">
              <a:spcAft>
                <a:spcPts val="100"/>
              </a:spcAft>
            </a:pPr>
            <a:r>
              <a:rPr sz="1150" b="1">
                <a:solidFill>
                  <a:srgbClr val="161B26"/>
                </a:solidFill>
                <a:latin typeface="Arial"/>
              </a:rPr>
              <a:t>Expert systems</a:t>
            </a:r>
          </a:p>
          <a:p>
            <a:pPr algn="ctr">
              <a:spcAft>
                <a:spcPts val="100"/>
              </a:spcAft>
            </a:pPr>
            <a:r>
              <a:rPr sz="950" b="0">
                <a:solidFill>
                  <a:srgbClr val="5B6372"/>
                </a:solidFill>
                <a:latin typeface="Arial"/>
              </a:rPr>
              <a:t>Hand-written if-then rules - the same logic as the rule-based program trading of the 1980s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1986</a:t>
            </a:r>
          </a:p>
          <a:p>
            <a:pPr algn="ctr">
              <a:spcAft>
                <a:spcPts val="100"/>
              </a:spcAft>
            </a:pPr>
            <a:r>
              <a:rPr sz="1150" b="1">
                <a:solidFill>
                  <a:srgbClr val="161B26"/>
                </a:solidFill>
                <a:latin typeface="Arial"/>
              </a:rPr>
              <a:t>Backpropagation</a:t>
            </a:r>
          </a:p>
          <a:p>
            <a:pPr algn="ctr">
              <a:spcAft>
                <a:spcPts val="100"/>
              </a:spcAft>
            </a:pPr>
            <a:r>
              <a:rPr sz="950" b="0">
                <a:solidFill>
                  <a:srgbClr val="5B6372"/>
                </a:solidFill>
                <a:latin typeface="Arial"/>
              </a:rPr>
              <a:t>Multi-layer neural networks become trainable - the ancestor of today's price-prediction nets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1988</a:t>
            </a:r>
          </a:p>
          <a:p>
            <a:pPr algn="ctr">
              <a:spcAft>
                <a:spcPts val="100"/>
              </a:spcAft>
            </a:pPr>
            <a:r>
              <a:rPr sz="1150" b="1">
                <a:solidFill>
                  <a:srgbClr val="161B26"/>
                </a:solidFill>
                <a:latin typeface="Arial"/>
              </a:rPr>
              <a:t>Models trade markets</a:t>
            </a:r>
          </a:p>
          <a:p>
            <a:pPr algn="ctr">
              <a:spcAft>
                <a:spcPts val="100"/>
              </a:spcAft>
            </a:pPr>
            <a:r>
              <a:rPr sz="950" b="0">
                <a:solidFill>
                  <a:srgbClr val="5B6372"/>
                </a:solidFill>
                <a:latin typeface="Arial"/>
              </a:rPr>
              <a:t>Renaissance's Medallion fund launches, trading purely on mathematical models of market data</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1997</a:t>
            </a:r>
          </a:p>
          <a:p>
            <a:pPr algn="ctr">
              <a:spcAft>
                <a:spcPts val="100"/>
              </a:spcAft>
            </a:pPr>
            <a:r>
              <a:rPr sz="1150" b="1">
                <a:solidFill>
                  <a:srgbClr val="161B26"/>
                </a:solidFill>
                <a:latin typeface="Arial"/>
              </a:rPr>
              <a:t>Deep Blue</a:t>
            </a:r>
          </a:p>
          <a:p>
            <a:pPr algn="ctr">
              <a:spcAft>
                <a:spcPts val="100"/>
              </a:spcAft>
            </a:pPr>
            <a:r>
              <a:rPr sz="950" b="0">
                <a:solidFill>
                  <a:srgbClr val="5B6372"/>
                </a:solidFill>
                <a:latin typeface="Arial"/>
              </a:rPr>
              <a:t>IBM beats Kasparov at chess; computer-driven quant firms such as D.E. Shaw are already trading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2012</a:t>
            </a:r>
          </a:p>
          <a:p>
            <a:pPr algn="ctr">
              <a:spcAft>
                <a:spcPts val="100"/>
              </a:spcAft>
            </a:pPr>
            <a:r>
              <a:rPr sz="1150" b="1">
                <a:solidFill>
                  <a:srgbClr val="161B26"/>
                </a:solidFill>
                <a:latin typeface="Arial"/>
              </a:rPr>
              <a:t>Deep learning</a:t>
            </a:r>
          </a:p>
          <a:p>
            <a:pPr algn="ctr">
              <a:spcAft>
                <a:spcPts val="100"/>
              </a:spcAft>
            </a:pPr>
            <a:r>
              <a:rPr sz="950" b="0">
                <a:solidFill>
                  <a:srgbClr val="5B6372"/>
                </a:solidFill>
                <a:latin typeface="Arial"/>
              </a:rPr>
              <a:t>GPU-trained deep networks win ImageNet; deep learning becomes a new tool for market data</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2016</a:t>
            </a:r>
          </a:p>
          <a:p>
            <a:pPr algn="ctr">
              <a:spcAft>
                <a:spcPts val="100"/>
              </a:spcAft>
            </a:pPr>
            <a:r>
              <a:rPr sz="1150" b="1">
                <a:solidFill>
                  <a:srgbClr val="161B26"/>
                </a:solidFill>
                <a:latin typeface="Arial"/>
              </a:rPr>
              <a:t>AlphaGo</a:t>
            </a:r>
          </a:p>
          <a:p>
            <a:pPr algn="ctr">
              <a:spcAft>
                <a:spcPts val="100"/>
              </a:spcAft>
            </a:pPr>
            <a:r>
              <a:rPr sz="950" b="0">
                <a:solidFill>
                  <a:srgbClr val="5B6372"/>
                </a:solidFill>
                <a:latin typeface="Arial"/>
              </a:rPr>
              <a:t>Deep reinforcement learning wins at Go; RL is researched for order execution and portfolios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2017</a:t>
            </a:r>
          </a:p>
          <a:p>
            <a:pPr algn="ctr">
              <a:spcAft>
                <a:spcPts val="100"/>
              </a:spcAft>
            </a:pPr>
            <a:r>
              <a:rPr sz="1150" b="1">
                <a:solidFill>
                  <a:srgbClr val="161B26"/>
                </a:solidFill>
                <a:latin typeface="Arial"/>
              </a:rPr>
              <a:t>Transformer</a:t>
            </a:r>
          </a:p>
          <a:p>
            <a:pPr algn="ctr">
              <a:spcAft>
                <a:spcPts val="100"/>
              </a:spcAft>
            </a:pPr>
            <a:r>
              <a:rPr sz="950" b="0">
                <a:solidFill>
                  <a:srgbClr val="5B6372"/>
                </a:solidFill>
                <a:latin typeface="Arial"/>
              </a:rPr>
              <a:t>The architecture behind every LLM - later used to read news and filings for trading signals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2023</a:t>
            </a:r>
          </a:p>
          <a:p>
            <a:pPr algn="ctr">
              <a:spcAft>
                <a:spcPts val="100"/>
              </a:spcAft>
            </a:pPr>
            <a:r>
              <a:rPr sz="1150" b="1">
                <a:solidFill>
                  <a:srgbClr val="161B26"/>
                </a:solidFill>
                <a:latin typeface="Arial"/>
              </a:rPr>
              <a:t>LLMs meet markets</a:t>
            </a:r>
          </a:p>
          <a:p>
            <a:pPr algn="ctr">
              <a:spcAft>
                <a:spcPts val="100"/>
              </a:spcAft>
            </a:pPr>
            <a:r>
              <a:rPr sz="950" b="0">
                <a:solidFill>
                  <a:srgbClr val="5B6372"/>
                </a:solidFill>
                <a:latin typeface="Arial"/>
              </a:rPr>
              <a:t>BloombergGPT (50bn parameters); ChatGPT headline sentiment predicts next-day stock returns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2024</a:t>
            </a:r>
          </a:p>
          <a:p>
            <a:pPr algn="ctr">
              <a:spcAft>
                <a:spcPts val="100"/>
              </a:spcAft>
            </a:pPr>
            <a:r>
              <a:rPr sz="1150" b="1">
                <a:solidFill>
                  <a:srgbClr val="161B26"/>
                </a:solidFill>
                <a:latin typeface="Arial"/>
              </a:rPr>
              <a:t>Multi-agent trading</a:t>
            </a:r>
          </a:p>
          <a:p>
            <a:pPr algn="ctr">
              <a:spcAft>
                <a:spcPts val="100"/>
              </a:spcAft>
            </a:pPr>
            <a:r>
              <a:rPr sz="950" b="0">
                <a:solidFill>
                  <a:srgbClr val="5B6372"/>
                </a:solidFill>
                <a:latin typeface="Arial"/>
              </a:rPr>
              <a:t>TradingAgents models a trading firm: analyst, bull/bear debate, trader and risk agents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2025</a:t>
            </a:r>
          </a:p>
          <a:p>
            <a:pPr algn="ctr">
              <a:spcAft>
                <a:spcPts val="100"/>
              </a:spcAft>
            </a:pPr>
            <a:r>
              <a:rPr sz="1150" b="1">
                <a:solidFill>
                  <a:srgbClr val="161B26"/>
                </a:solidFill>
                <a:latin typeface="Arial"/>
              </a:rPr>
              <a:t>Agentic quant research</a:t>
            </a:r>
          </a:p>
          <a:p>
            <a:pPr algn="ctr">
              <a:spcAft>
                <a:spcPts val="100"/>
              </a:spcAft>
            </a:pPr>
            <a:r>
              <a:rPr sz="950" b="0">
                <a:solidFill>
                  <a:srgbClr val="5B6372"/>
                </a:solidFill>
                <a:latin typeface="Arial"/>
              </a:rPr>
              <a:t>LLM agents mine formulaic alphas and write backtests (e.g. Alpha-GPT, AlphaAgent)</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Always-on AI agents</a:t>
            </a:r>
          </a:p>
          <a:p>
            <a:pPr algn="ctr">
              <a:spcAft>
                <a:spcPts val="100"/>
              </a:spcAft>
            </a:pPr>
            <a:r>
              <a:rPr sz="950" b="0">
                <a:solidFill>
                  <a:srgbClr val="5B6372"/>
                </a:solidFill>
                <a:latin typeface="Arial"/>
              </a:rPr>
              <a:t>OpenClaw, Hermes Agent and OpenAI Dots stand by 24/7: agentic AI that keeps working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2026</a:t>
            </a:r>
          </a:p>
          <a:p>
            <a:pPr algn="ctr">
              <a:spcAft>
                <a:spcPts val="100"/>
              </a:spcAft>
            </a:pPr>
            <a:r>
              <a:rPr sz="1150" b="1">
                <a:solidFill>
                  <a:srgbClr val="161B26"/>
                </a:solidFill>
                <a:latin typeface="Arial"/>
              </a:rPr>
              <a:t>Governed AI</a:t>
            </a:r>
          </a:p>
          <a:p>
            <a:pPr algn="ctr">
              <a:spcAft>
                <a:spcPts val="100"/>
              </a:spcAft>
            </a:pPr>
            <a:r>
              <a:rPr sz="950" b="0">
                <a:solidFill>
                  <a:srgbClr val="5B6372"/>
                </a:solidFill>
                <a:latin typeface="Arial"/>
              </a:rPr>
              <a:t>MAS AI Risk Management Guidelines (7 Oct 2026) set lifecycle controls for AI in finance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Paradigm Shift: Machine-Learning Quant versus LLM-Era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Machine-learning quant</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LLM-era quant</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data</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Structured: prices, volumes, fundamentals</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Adds unstructured text: news, filings, earnings calls, research</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Features</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Hand-engineered by the quant (lags, RSI, factors)</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Text read directly; LLM scores sentiment and events</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Model building</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Fit regressions, trees, boosting on labelled data</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Prompt or fine-tune pretrained LLMs; agents propose alphas</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Who writes the code</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line by line</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AI writes it; the quant directs and reviews</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Research workflow</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writes every line of code</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Coding agents draft code and backtests; the quant reviews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Alpha decay</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Signals fade as more funds trade them</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signals fade too as LLM adoption rises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New risks</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in features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training-data look-ahead and 'distraction'; homogeneous factors</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Model builder</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Supervisor: hypothesis, testing, risk sign-off</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of LLMs on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Text becomes a signal</a:t>
            </a:r>
          </a:p>
          <a:p>
            <a:pPr algn="l">
              <a:spcAft>
                <a:spcPts val="300"/>
              </a:spcAft>
            </a:pPr>
            <a:r>
              <a:rPr sz="950" b="0">
                <a:solidFill>
                  <a:srgbClr val="5B6372"/>
                </a:solidFill>
                <a:latin typeface="Arial"/>
              </a:rPr>
              <a:t>ChatGPT headline scores predict next-day returns, strongest for small stocks and bad news (Lopez-Lira and Tang)</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Finance-specific LLMs</a:t>
            </a:r>
          </a:p>
          <a:p>
            <a:pPr algn="l">
              <a:spcAft>
                <a:spcPts val="300"/>
              </a:spcAft>
            </a:pPr>
            <a:r>
              <a:rPr sz="950" b="0">
                <a:solidFill>
                  <a:srgbClr val="5B6372"/>
                </a:solidFill>
                <a:latin typeface="Arial"/>
              </a:rPr>
              <a:t>BloombergGPT (2023): 50bn parameters trained with 363bn tokens of Bloomberg financial data</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Automated alpha mining</a:t>
            </a:r>
          </a:p>
          <a:p>
            <a:pPr algn="l">
              <a:spcAft>
                <a:spcPts val="300"/>
              </a:spcAft>
            </a:pPr>
            <a:r>
              <a:rPr sz="950" b="0">
                <a:solidFill>
                  <a:srgbClr val="5B6372"/>
                </a:solidFill>
                <a:latin typeface="Arial"/>
              </a:rPr>
              <a:t>Alpha-GPT turns ideas into formulaic alphas; AlphaAgent targets alpha decay and crowding</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Backtests need new controls</a:t>
            </a:r>
          </a:p>
          <a:p>
            <a:pPr algn="l">
              <a:spcAft>
                <a:spcPts val="300"/>
              </a:spcAft>
            </a:pPr>
            <a:r>
              <a:rPr sz="950" b="0">
                <a:solidFill>
                  <a:srgbClr val="5B6372"/>
                </a:solidFill>
                <a:latin typeface="Arial"/>
              </a:rPr>
              <a:t>LLMs may 'know' in-sample history: test after the knowledge cutoff and anonymise firms (Glasserman and Lin)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Faster crowding</a:t>
            </a:r>
          </a:p>
          <a:p>
            <a:pPr algn="l">
              <a:spcAft>
                <a:spcPts val="300"/>
              </a:spcAft>
            </a:pPr>
            <a:r>
              <a:rPr sz="950" b="0">
                <a:solidFill>
                  <a:srgbClr val="5B6372"/>
                </a:solidFill>
                <a:latin typeface="Arial"/>
              </a:rPr>
              <a:t>Strategy returns decline as LLM adoption rises - prices become more efficient (Lopez-Lira and Tang)</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Agents still need limits</a:t>
            </a:r>
          </a:p>
          <a:p>
            <a:pPr algn="l">
              <a:spcAft>
                <a:spcPts val="300"/>
              </a:spcAft>
            </a:pPr>
            <a:r>
              <a:rPr sz="950" b="0">
                <a:solidFill>
                  <a:srgbClr val="5B6372"/>
                </a:solidFill>
                <a:latin typeface="Arial"/>
              </a:rPr>
              <a:t>Agents propose trades; hard-coded risk checks and humans approve them</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Agentic AI versus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Agentic AI - the capability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The capability of AI to plan and act: it calls tools, uses skills and memory, and follows instructions to complete multi-step work when it is asked.
Trading example: On request, an LLM fetches a stock's bars and news through tools, checks its memory of past trades and proposes an order within its instructions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AI Agent - always on, 24/7</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A special class of agentic AI that stands by 24/7 and works all the time: always on, woken by schedules, events and messages, with its own long-term memory.
Examples: OpenClaw, Hermes Agent, OpenAI Dots.
Trading example: A round-the-clock trading agent that watches prices and news overnight and proposes paper trades within risk limits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Agents vs Agentic AI - Side by Side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AI Agents</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Agentic AI</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 special class of agentic AI that is always on</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Capability to plan and act with tools, skills, memory</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Runtime</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Persistent: stands by 24/7 on a server or PC</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Runs when invoked: a chat, workflow or pipeline</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Trigger</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Schedules, events, messages - unprompted</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 user prompt or a pipeline step</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Long-term memory across days and tasks</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Session or task memory; can use long-term memory</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Building blocks</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Agentic AI + always-on runtime and scheduler</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 tools + skills + memory + instructions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OpenClaw, Hermes Agent, OpenAI Dots</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Claude Code, ChatGPT with tools, TradingAgents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24/7 market and news monitor proposing trades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On-demand multi-agent analysis before a trade</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risks</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Acting unsupervised overnight; runaway loops</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Hallucination; prompt injection; tool misuse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Chatbot to Always-On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470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70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1 · Chatbot: Answers one prompt at a time; no tools, no actions</a:t>
            </a:r>
          </a:p>
        </p:txBody>
      </p:sp>
      <p:sp>
        <p:nvSpPr>
          <p:cNvPr id="15" name="TextBox 14"/>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4438"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742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42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632454"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2 · Agentic AI: Plans and calls tools, skills, memory and instructions when asked</a:t>
            </a:r>
          </a:p>
        </p:txBody>
      </p:sp>
      <p:sp>
        <p:nvSpPr>
          <p:cNvPr id="21" name="TextBox 20"/>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01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1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6359652"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3 · Multi-agent agentic system: Specialist agents coordinate: analysts, debate, trader, risk manager</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286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86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9086850"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4 · AI agent (always on): Stands by 24/7, wakes on schedules and events, works continuously within limits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An AI agent is agentic AI that never switches off - so its limits, kill switch and monitoring matter most.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Roles in a Multi-Agent Trading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Fundamental Analyst</a:t>
            </a:r>
          </a:p>
          <a:p>
            <a:pPr algn="l">
              <a:spcAft>
                <a:spcPts val="300"/>
              </a:spcAft>
            </a:pPr>
            <a:r>
              <a:rPr sz="1000" b="0">
                <a:solidFill>
                  <a:srgbClr val="5B6372"/>
                </a:solidFill>
                <a:latin typeface="Arial"/>
              </a:rPr>
              <a:t>Reads filings, earnings and balance sheets to judge intrinsic value</a:t>
            </a:r>
          </a:p>
        </p:txBody>
      </p:sp>
      <p:sp>
        <p:nvSpPr>
          <p:cNvPr id="15" name="Rectangle 14"/>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Technical Analyst</a:t>
            </a:r>
          </a:p>
          <a:p>
            <a:pPr algn="l">
              <a:spcAft>
                <a:spcPts val="300"/>
              </a:spcAft>
            </a:pPr>
            <a:r>
              <a:rPr sz="1000" b="0">
                <a:solidFill>
                  <a:srgbClr val="5B6372"/>
                </a:solidFill>
                <a:latin typeface="Arial"/>
              </a:rPr>
              <a:t>Reads price, volume and indicators such as MACD and RSI</a:t>
            </a:r>
          </a:p>
        </p:txBody>
      </p:sp>
      <p:sp>
        <p:nvSpPr>
          <p:cNvPr id="20" name="Rectangle 19"/>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Sentiment Analyst</a:t>
            </a:r>
          </a:p>
          <a:p>
            <a:pPr algn="l">
              <a:spcAft>
                <a:spcPts val="300"/>
              </a:spcAft>
            </a:pPr>
            <a:r>
              <a:rPr sz="1000" b="0">
                <a:solidFill>
                  <a:srgbClr val="5B6372"/>
                </a:solidFill>
                <a:latin typeface="Arial"/>
              </a:rPr>
              <a:t>Gauges mood from social media, analyst ratings and options flow</a:t>
            </a:r>
          </a:p>
        </p:txBody>
      </p:sp>
      <p:sp>
        <p:nvSpPr>
          <p:cNvPr id="25" name="Rectangle 24"/>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News Analyst</a:t>
            </a:r>
          </a:p>
          <a:p>
            <a:pPr algn="l">
              <a:spcAft>
                <a:spcPts val="300"/>
              </a:spcAft>
            </a:pPr>
            <a:r>
              <a:rPr sz="1000" b="0">
                <a:solidFill>
                  <a:srgbClr val="5B6372"/>
                </a:solidFill>
                <a:latin typeface="Arial"/>
              </a:rPr>
              <a:t>Tracks news wires, press releases and macro events</a:t>
            </a:r>
          </a:p>
        </p:txBody>
      </p:sp>
      <p:sp>
        <p:nvSpPr>
          <p:cNvPr id="30" name="Rectangle 29"/>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Bull / Bear Researchers</a:t>
            </a:r>
          </a:p>
          <a:p>
            <a:pPr algn="l">
              <a:spcAft>
                <a:spcPts val="300"/>
              </a:spcAft>
            </a:pPr>
            <a:r>
              <a:rPr sz="1000" b="0">
                <a:solidFill>
                  <a:srgbClr val="5B6372"/>
                </a:solidFill>
                <a:latin typeface="Arial"/>
              </a:rPr>
              <a:t>Argue for and against the trade so weak ideas are challenged</a:t>
            </a:r>
          </a:p>
        </p:txBody>
      </p:sp>
      <p:sp>
        <p:nvSpPr>
          <p:cNvPr id="35" name="Rectangle 34"/>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Trader</a:t>
            </a:r>
          </a:p>
          <a:p>
            <a:pPr algn="l">
              <a:spcAft>
                <a:spcPts val="300"/>
              </a:spcAft>
            </a:pPr>
            <a:r>
              <a:rPr sz="1000" b="0">
                <a:solidFill>
                  <a:srgbClr val="5B6372"/>
                </a:solidFill>
                <a:latin typeface="Arial"/>
              </a:rPr>
              <a:t>Combines the reports into a buy, sell or hold call with timing and size</a:t>
            </a:r>
          </a:p>
        </p:txBody>
      </p:sp>
      <p:sp>
        <p:nvSpPr>
          <p:cNvPr id="40" name="Rectangle 39"/>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4" name="TextBox 43"/>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Risk Manager</a:t>
            </a:r>
          </a:p>
          <a:p>
            <a:pPr algn="l">
              <a:spcAft>
                <a:spcPts val="300"/>
              </a:spcAft>
            </a:pPr>
            <a:r>
              <a:rPr sz="1000" b="0">
                <a:solidFill>
                  <a:srgbClr val="5B6372"/>
                </a:solidFill>
                <a:latin typeface="Arial"/>
              </a:rPr>
              <a:t>Checks volatility, liquidity, exposure and drawdown limits</a:t>
            </a:r>
          </a:p>
        </p:txBody>
      </p:sp>
      <p:sp>
        <p:nvSpPr>
          <p:cNvPr id="45" name="Rectangle 44"/>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9" name="TextBox 48"/>
          <p:cNvSpPr txBox="1"/>
          <p:nvPr/>
        </p:nvSpPr>
        <p:spPr>
          <a:xfrm>
            <a:off x="7219188"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Portfolio Manager</a:t>
            </a:r>
          </a:p>
          <a:p>
            <a:pPr algn="l">
              <a:spcAft>
                <a:spcPts val="300"/>
              </a:spcAft>
            </a:pPr>
            <a:r>
              <a:rPr sz="1000" b="0">
                <a:solidFill>
                  <a:srgbClr val="5B6372"/>
                </a:solidFill>
                <a:latin typeface="Arial"/>
              </a:rPr>
              <a:t>Approves or rejects the proposal and fits it into the whole portfolio</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TradingAgents (Xiao et al., 2024)</a:t>
            </a:r>
          </a:p>
          <a:p>
            <a:pPr algn="l">
              <a:spcAft>
                <a:spcPts val="300"/>
              </a:spcAft>
            </a:pPr>
            <a:r>
              <a:rPr sz="950" b="0">
                <a:solidFill>
                  <a:srgbClr val="5B6372"/>
                </a:solidFill>
                <a:latin typeface="Arial"/>
              </a:rPr>
              <a:t>Simulated stock-trading firm: fundamental, sentiment, news and technical analysts, bull/bear debate, trader, risk team</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FinMem (Yu et al., 2023)</a:t>
            </a:r>
          </a:p>
          <a:p>
            <a:pPr algn="l">
              <a:spcAft>
                <a:spcPts val="300"/>
              </a:spcAft>
            </a:pPr>
            <a:r>
              <a:rPr sz="950" b="0">
                <a:solidFill>
                  <a:srgbClr val="5B6372"/>
                </a:solidFill>
                <a:latin typeface="Arial"/>
              </a:rPr>
              <a:t>LLM trading agent with profiling and layered memory making Buy / Sell / Hold decisions on individual stocks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FinAgent (Zhang et al., 2024)</a:t>
            </a:r>
          </a:p>
          <a:p>
            <a:pPr algn="l">
              <a:spcAft>
                <a:spcPts val="300"/>
              </a:spcAft>
            </a:pPr>
            <a:r>
              <a:rPr sz="950" b="0">
                <a:solidFill>
                  <a:srgbClr val="5B6372"/>
                </a:solidFill>
                <a:latin typeface="Arial"/>
              </a:rPr>
              <a:t>Multimodal agent reading prices, news and chart images, with dual-level reflection; tested on stocks and crypto</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StockAgent (2024)</a:t>
            </a:r>
          </a:p>
          <a:p>
            <a:pPr algn="l">
              <a:spcAft>
                <a:spcPts val="300"/>
              </a:spcAft>
            </a:pPr>
            <a:r>
              <a:rPr sz="950" b="0">
                <a:solidFill>
                  <a:srgbClr val="5B6372"/>
                </a:solidFill>
                <a:latin typeface="Arial"/>
              </a:rPr>
              <a:t>LLM investor agents trade a simulated stock market under macro, policy and event shocks; avoids test-set leakage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QuantAgent (2025)</a:t>
            </a:r>
          </a:p>
          <a:p>
            <a:pPr algn="l">
              <a:spcAft>
                <a:spcPts val="300"/>
              </a:spcAft>
            </a:pPr>
            <a:r>
              <a:rPr sz="950" b="0">
                <a:solidFill>
                  <a:srgbClr val="5B6372"/>
                </a:solidFill>
                <a:latin typeface="Arial"/>
              </a:rPr>
              <a:t>Price-driven multi-agent system for high-frequency trading: Indicator, Pattern, Trend and Risk agents</a:t>
            </a:r>
          </a:p>
        </p:txBody>
      </p:sp>
      <p:sp>
        <p:nvSpPr>
          <p:cNvPr id="15" name="Rectangle 14"/>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447288"/>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AI Hedge Fund (open source)</a:t>
            </a:r>
          </a:p>
          <a:p>
            <a:pPr algn="l">
              <a:spcAft>
                <a:spcPts val="300"/>
              </a:spcAft>
            </a:pPr>
            <a:r>
              <a:rPr sz="950" b="0">
                <a:solidFill>
                  <a:srgbClr val="5B6372"/>
                </a:solidFill>
                <a:latin typeface="Arial"/>
              </a:rPr>
              <a:t>Investor-persona agents (e.g. Warren Buffett), a risk manager and a portfolio manager decide trades for chosen tickers</a:t>
            </a:r>
          </a:p>
        </p:txBody>
      </p:sp>
      <p:sp>
        <p:nvSpPr>
          <p:cNvPr id="20" name="Rectangle 19"/>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983480"/>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Agentic Trading Lab (Open-Finance-Lab)</a:t>
            </a:r>
          </a:p>
          <a:p>
            <a:pPr algn="l">
              <a:spcAft>
                <a:spcPts val="300"/>
              </a:spcAft>
            </a:pPr>
            <a:r>
              <a:rPr sz="950" b="0">
                <a:solidFill>
                  <a:srgbClr val="5B6372"/>
                </a:solidFill>
                <a:latin typeface="Arial"/>
              </a:rPr>
              <a:t>Agent-run stock portfolios with backtests and paper trading through the Alpaca API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Risks and Controls for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What goes wrong</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Control</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Hallucination</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An LLM states a wrong earnings figure or invents a signal with confidence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Ground answers in tool or RAG data, log the reasoning, review unusual calls</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Prompt injection</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Malicious text in news, web pages or files hijacks the agent's instructions</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Input and output guardrails, least-privilege API keys, no secrets in prompts</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Overtrading and runaway loops</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Agents trade too often or amplify each other, compounding losses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Order and position caps, daily-loss circuit breaker, kill switch</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Model and backtest risk</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bias and regime change: strong backtests, weak live results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Walk-forward tests, paper trade first, monitor drift and costs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Accountability</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Unclear who answers for an autonomous agent's trade or a vendor's AI</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The firm stays accountable: human sign-off, audit trails, clear owners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Regulation (MAS)</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FEAT principles (2018) and MAS AI Risk Management Guidelines (issued Oct 2026)</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Board oversight, AI inventory, materiality assessment and lifecycle controls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Forms of Data within Financial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data</a:t>
            </a:r>
          </a:p>
          <a:p>
            <a:pPr algn="l">
              <a:spcAft>
                <a:spcPts val="300"/>
              </a:spcAft>
            </a:pPr>
            <a:r>
              <a:rPr sz="1150" b="0">
                <a:solidFill>
                  <a:srgbClr val="5B6372"/>
                </a:solidFill>
                <a:latin typeface="Arial"/>
              </a:rPr>
              <a:t>OHLCV bars, quotes, trades, order-book depth — Alpaca serves bars, quotes, trades, news.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Reference &amp; corporate actions</a:t>
            </a:r>
          </a:p>
          <a:p>
            <a:pPr algn="l">
              <a:spcAft>
                <a:spcPts val="300"/>
              </a:spcAft>
            </a:pPr>
            <a:r>
              <a:rPr sz="1150" b="0">
                <a:solidFill>
                  <a:srgbClr val="5B6372"/>
                </a:solidFill>
                <a:latin typeface="Arial"/>
              </a:rPr>
              <a:t>Symbols, calendars, splits, dividends — unadjusted splits fake a crash.</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Fundamental &amp; macro</a:t>
            </a:r>
          </a:p>
          <a:p>
            <a:pPr algn="l">
              <a:spcAft>
                <a:spcPts val="300"/>
              </a:spcAft>
            </a:pPr>
            <a:r>
              <a:rPr sz="1150" b="0">
                <a:solidFill>
                  <a:srgbClr val="5B6372"/>
                </a:solidFill>
                <a:latin typeface="Arial"/>
              </a:rPr>
              <a:t>Statements, ratios, earnings; rates, inflation, central-bank decisions.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Alternative data</a:t>
            </a:r>
          </a:p>
          <a:p>
            <a:pPr algn="l">
              <a:spcAft>
                <a:spcPts val="300"/>
              </a:spcAft>
            </a:pPr>
            <a:r>
              <a:rPr sz="1150" b="0">
                <a:solidFill>
                  <a:srgbClr val="5B6372"/>
                </a:solidFill>
                <a:latin typeface="Arial"/>
              </a:rPr>
              <a:t>News and social sentiment, web traffic, satellite, card spend, ESG.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Unstructured Data in Practice — Headlines and Sentiment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pic>
        <p:nvPicPr>
          <p:cNvPr id="10" name="Picture 9" descr="sim_news_sentiment.png"/>
          <p:cNvPicPr>
            <a:picLocks noChangeAspect="1"/>
          </p:cNvPicPr>
          <p:nvPr/>
        </p:nvPicPr>
        <p:blipFill>
          <a:blip r:embed="rId2"/>
          <a:stretch>
            <a:fillRect/>
          </a:stretch>
        </p:blipFill>
        <p:spPr>
          <a:xfrm>
            <a:off x="2281608" y="2057400"/>
            <a:ext cx="7628479" cy="3520440"/>
          </a:xfrm>
          <a:prstGeom prst="rect">
            <a:avLst/>
          </a:prstGeom>
        </p:spPr>
      </p:pic>
      <p:sp>
        <p:nvSpPr>
          <p:cNvPr id="11" name="Rectangle 10"/>
          <p:cNvSpPr/>
          <p:nvPr/>
        </p:nvSpPr>
        <p:spPr>
          <a:xfrm>
            <a:off x="2270635" y="2046427"/>
            <a:ext cx="7650424"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Data &gt; News &amp; sentiment: headlines (unstructured text) are scored by a lexicon model and stored as one sentiment number per symbol per day - structured data a strategy can use.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in Trading — the Four Vs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Volume</a:t>
            </a:r>
          </a:p>
          <a:p>
            <a:pPr algn="l">
              <a:spcAft>
                <a:spcPts val="300"/>
              </a:spcAft>
            </a:pPr>
            <a:r>
              <a:rPr sz="1150" b="0">
                <a:solidFill>
                  <a:srgbClr val="5B6372"/>
                </a:solidFill>
                <a:latin typeface="Arial"/>
              </a:rPr>
              <a:t>Tick data runs to billions of rows per year for one exchange.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Velocity</a:t>
            </a:r>
          </a:p>
          <a:p>
            <a:pPr algn="l">
              <a:spcAft>
                <a:spcPts val="300"/>
              </a:spcAft>
            </a:pPr>
            <a:r>
              <a:rPr sz="1150" b="0">
                <a:solidFill>
                  <a:srgbClr val="5B6372"/>
                </a:solidFill>
                <a:latin typeface="Arial"/>
              </a:rPr>
              <a:t>Streaming quotes and news arrive in milliseconds.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Variety</a:t>
            </a:r>
          </a:p>
          <a:p>
            <a:pPr algn="l">
              <a:spcAft>
                <a:spcPts val="300"/>
              </a:spcAft>
            </a:pPr>
            <a:r>
              <a:rPr sz="1150" b="0">
                <a:solidFill>
                  <a:srgbClr val="5B6372"/>
                </a:solidFill>
                <a:latin typeface="Arial"/>
              </a:rPr>
              <a:t>Prices, text, images, transcripts — structured and unstructured.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Veracity</a:t>
            </a:r>
          </a:p>
          <a:p>
            <a:pPr algn="l">
              <a:spcAft>
                <a:spcPts val="300"/>
              </a:spcAft>
            </a:pPr>
            <a:r>
              <a:rPr sz="1150" b="0">
                <a:solidFill>
                  <a:srgbClr val="5B6372"/>
                </a:solidFill>
                <a:latin typeface="Arial"/>
              </a:rPr>
              <a:t>Bad ticks, survivorship, restatements — verify before you trust.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 analytics</a:t>
            </a:r>
          </a:p>
          <a:p>
            <a:pPr algn="l">
              <a:spcAft>
                <a:spcPts val="300"/>
              </a:spcAft>
            </a:pPr>
            <a:r>
              <a:rPr sz="1150" b="0">
                <a:solidFill>
                  <a:srgbClr val="5B6372"/>
                </a:solidFill>
                <a:latin typeface="Arial"/>
              </a:rPr>
              <a:t>Tick and quote data to measure and cut slippage.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Sentiment and event trading</a:t>
            </a:r>
          </a:p>
          <a:p>
            <a:pPr algn="l">
              <a:spcAft>
                <a:spcPts val="300"/>
              </a:spcAft>
            </a:pPr>
            <a:r>
              <a:rPr sz="1150" b="0">
                <a:solidFill>
                  <a:srgbClr val="5B6372"/>
                </a:solidFill>
                <a:latin typeface="Arial"/>
              </a:rPr>
              <a:t>News and social text scored by NLP and LLMs.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detection</a:t>
            </a:r>
          </a:p>
          <a:p>
            <a:pPr algn="l">
              <a:spcAft>
                <a:spcPts val="300"/>
              </a:spcAft>
            </a:pPr>
            <a:r>
              <a:rPr sz="1150" b="0">
                <a:solidFill>
                  <a:srgbClr val="5B6372"/>
                </a:solidFill>
                <a:latin typeface="Arial"/>
              </a:rPr>
              <a:t>Cross-asset returns clustered into market states.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Surveillance and risk</a:t>
            </a:r>
          </a:p>
          <a:p>
            <a:pPr algn="l">
              <a:spcAft>
                <a:spcPts val="300"/>
              </a:spcAft>
            </a:pPr>
            <a:r>
              <a:rPr sz="1150" b="0">
                <a:solidFill>
                  <a:srgbClr val="5B6372"/>
                </a:solidFill>
                <a:latin typeface="Arial"/>
              </a:rPr>
              <a:t>Order and trade data scanned for market abuse; intraday risk.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Analytics and Modelling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generation</a:t>
            </a:r>
          </a:p>
          <a:p>
            <a:pPr algn="l">
              <a:spcAft>
                <a:spcPts val="300"/>
              </a:spcAft>
            </a:pPr>
            <a:r>
              <a:rPr sz="1150" b="0">
                <a:solidFill>
                  <a:srgbClr val="5B6372"/>
                </a:solidFill>
                <a:latin typeface="Arial"/>
              </a:rPr>
              <a:t>Find repeatable return — judged by out-of-sample, net Sharpe.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a:t>
            </a:r>
          </a:p>
          <a:p>
            <a:pPr algn="l">
              <a:spcAft>
                <a:spcPts val="300"/>
              </a:spcAft>
            </a:pPr>
            <a:r>
              <a:rPr sz="1150" b="0">
                <a:solidFill>
                  <a:srgbClr val="5B6372"/>
                </a:solidFill>
                <a:latin typeface="Arial"/>
              </a:rPr>
              <a:t>VWAP / TWAP / shortfall — judged by slippage in basis points.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 forecasting &amp; sizing</a:t>
            </a:r>
          </a:p>
          <a:p>
            <a:pPr algn="l">
              <a:spcAft>
                <a:spcPts val="300"/>
              </a:spcAft>
            </a:pPr>
            <a:r>
              <a:rPr sz="1150" b="0">
                <a:solidFill>
                  <a:srgbClr val="5B6372"/>
                </a:solidFill>
                <a:latin typeface="Arial"/>
              </a:rPr>
              <a:t>Volatility and VaR models — judged by limit breaches.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Research at scale</a:t>
            </a:r>
          </a:p>
          <a:p>
            <a:pPr algn="l">
              <a:spcAft>
                <a:spcPts val="300"/>
              </a:spcAft>
            </a:pPr>
            <a:r>
              <a:rPr sz="1150" b="0">
                <a:solidFill>
                  <a:srgbClr val="5B6372"/>
                </a:solidFill>
                <a:latin typeface="Arial"/>
              </a:rPr>
              <a:t>LLMs read filings and news — judged by accuracy and hours saved.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Hypothesis Testable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Instrument and universe</a:t>
            </a:r>
          </a:p>
          <a:p>
            <a:pPr algn="l">
              <a:spcAft>
                <a:spcPts val="300"/>
              </a:spcAft>
            </a:pPr>
            <a:r>
              <a:rPr sz="1150" b="0">
                <a:solidFill>
                  <a:srgbClr val="5B6372"/>
                </a:solidFill>
                <a:latin typeface="Arial"/>
              </a:rPr>
              <a:t>e.g. SPY, daily bars, 2018 – 2025.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and holding period</a:t>
            </a:r>
          </a:p>
          <a:p>
            <a:pPr algn="l">
              <a:spcAft>
                <a:spcPts val="300"/>
              </a:spcAft>
            </a:pPr>
            <a:r>
              <a:rPr sz="1150" b="0">
                <a:solidFill>
                  <a:srgbClr val="5B6372"/>
                </a:solidFill>
                <a:latin typeface="Arial"/>
              </a:rPr>
              <a:t>e.g. three down closes in a row; hold 5 days.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Expected effect and benchmark</a:t>
            </a:r>
          </a:p>
          <a:p>
            <a:pPr algn="l">
              <a:spcAft>
                <a:spcPts val="300"/>
              </a:spcAft>
            </a:pPr>
            <a:r>
              <a:rPr sz="1150" b="0">
                <a:solidFill>
                  <a:srgbClr val="5B6372"/>
                </a:solidFill>
                <a:latin typeface="Arial"/>
              </a:rPr>
              <a:t>Forward return exceeds the unconditional 5-day return.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Written BEFORE the test</a:t>
            </a:r>
          </a:p>
          <a:p>
            <a:pPr algn="l">
              <a:spcAft>
                <a:spcPts val="300"/>
              </a:spcAft>
            </a:pPr>
            <a:r>
              <a:rPr sz="1150" b="0">
                <a:solidFill>
                  <a:srgbClr val="5B6372"/>
                </a:solidFill>
                <a:latin typeface="Arial"/>
              </a:rPr>
              <a:t>H0, H1 and the significance level chosen first.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Testable Hypothesis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pic>
        <p:nvPicPr>
          <p:cNvPr id="10" name="Picture 9" descr="sim_hypothesis_test.png"/>
          <p:cNvPicPr>
            <a:picLocks noChangeAspect="1"/>
          </p:cNvPicPr>
          <p:nvPr/>
        </p:nvPicPr>
        <p:blipFill>
          <a:blip r:embed="rId2"/>
          <a:stretch>
            <a:fillRect/>
          </a:stretch>
        </p:blipFill>
        <p:spPr>
          <a:xfrm>
            <a:off x="2116919" y="2057400"/>
            <a:ext cx="7957856" cy="3520440"/>
          </a:xfrm>
          <a:prstGeom prst="rect">
            <a:avLst/>
          </a:prstGeom>
        </p:spPr>
      </p:pic>
      <p:sp>
        <p:nvSpPr>
          <p:cNvPr id="11" name="Rectangle 10"/>
          <p:cNvSpPr/>
          <p:nvPr/>
        </p:nvSpPr>
        <p:spPr>
          <a:xfrm>
            <a:off x="2105946" y="2046427"/>
            <a:ext cx="7979802"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Hypothesis test: H1 and H0 are written before the result, then tested with a Welch t-test, a bootstrap confidence interval and a minimum edge (Lab 4).</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Implementation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Frame the problem and hypothesis</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Collect and clean the data</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Define target and features</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Split by time; train and validate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out of sample</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Paper trade, then review</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model that skips the out-of-sample test and the paper trade has not been tested.</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Pipeline Skeleton, Configuration and the Alpaca Paper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Create the pipeline package and its config.yaml (universe, strategy parameters, risk limits, costs, secret names), build a validating configuration loader and a market-clock module, and run `python -m pipeline check` against the Alpaca paper account or the offline simulator.</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Set up Python and your AI coding assistant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Store Alpaca PAPER keys outside the code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Write the pipeline configuration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configuration loader with safety validation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market clock for US and Singapore time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The pipeline skeleton: config.yaml, risk limits and a verified Alpaca paper account (or simulator).</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Data-Validation Stage: Cross-Check Pipeline Bars against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K5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Read daily bars for SGX:D05 and NASDAQ:AAPL from the TradingView Data Window, record them, and build a validation stage that compares TradingView with the pipeline's raw and dividend-adjusted bars and writes a validation report.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data-check panel to SGX:D05</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Repeat for NASDAQ:AAPL and switch the adjustment</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Record what TradingView shows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validation stage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validation stage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data-validation report reconciling pipeline bars with TradingView for SGX:D05 and AAPL.</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2_validation.png"/>
          <p:cNvPicPr>
            <a:picLocks noChangeAspect="1"/>
          </p:cNvPicPr>
          <p:nvPr/>
        </p:nvPicPr>
        <p:blipFill>
          <a:blip r:embed="rId2"/>
          <a:stretch>
            <a:fillRect/>
          </a:stretch>
        </p:blipFill>
        <p:spPr>
          <a:xfrm>
            <a:off x="778611" y="1828800"/>
            <a:ext cx="10634472" cy="3517681"/>
          </a:xfrm>
          <a:prstGeom prst="rect">
            <a:avLst/>
          </a:prstGeom>
        </p:spPr>
      </p:pic>
      <p:sp>
        <p:nvSpPr>
          <p:cNvPr id="8" name="Rectangle 7"/>
          <p:cNvSpPr/>
          <p:nvPr/>
        </p:nvSpPr>
        <p:spPr>
          <a:xfrm>
            <a:off x="767638" y="1817827"/>
            <a:ext cx="10656417" cy="3539626"/>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92785"/>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492785"/>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492785"/>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Lab02-tradingview-charts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Ingestion Stage: Multi-Timeframe Bars, Headlines and Data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A6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ingest` to fetch and cache daily, weekly, monthly and hourly bars for the universe, run automated data-quality checks, ingest headlines as unstructured data, and describe the forms of data and the 3 Vs of big data.</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Understand how bars are requested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cache and load_bars()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automated data-quality checks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Ingest an unstructured source: news headlines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ingest run with the report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ingestion stage caching multi-timeframe bars and headlines with automated data-quality checks.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3_market_data.png"/>
          <p:cNvPicPr>
            <a:picLocks noChangeAspect="1"/>
          </p:cNvPicPr>
          <p:nvPr/>
        </p:nvPicPr>
        <p:blipFill>
          <a:blip r:embed="rId2"/>
          <a:stretch>
            <a:fillRect/>
          </a:stretch>
        </p:blipFill>
        <p:spPr>
          <a:xfrm>
            <a:off x="3102867" y="1828800"/>
            <a:ext cx="5985960" cy="3794760"/>
          </a:xfrm>
          <a:prstGeom prst="rect">
            <a:avLst/>
          </a:prstGeom>
        </p:spPr>
      </p:pic>
      <p:sp>
        <p:nvSpPr>
          <p:cNvPr id="8" name="Rectangle 7"/>
          <p:cNvSpPr/>
          <p:nvPr/>
        </p:nvSpPr>
        <p:spPr>
          <a:xfrm>
            <a:off x="3091894" y="1817827"/>
            <a:ext cx="600790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Lab03-alpaca-market-data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Hypothesis Stage: from a Written Card to an Automated Statistical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A1  A6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Write a falsifiable hypothesis card in YAML (H1, H0, signal known at the close, outcome, test, decision rule, big-data use case) and build `python -m pipeline hypothesis` to test it with a Welch t-test, a bootstrap confidence interval and a robustness grid.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hypothesis card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Write a card for your own idea</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test engine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robustness grid, chart and result file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test on the desk's card</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hypothesis card and an automated statistical test of the SPY dip-after-streak hypothesis.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4_hypothesis.png"/>
          <p:cNvPicPr>
            <a:picLocks noChangeAspect="1"/>
          </p:cNvPicPr>
          <p:nvPr/>
        </p:nvPicPr>
        <p:blipFill>
          <a:blip r:embed="rId2"/>
          <a:stretch>
            <a:fillRect/>
          </a:stretch>
        </p:blipFill>
        <p:spPr>
          <a:xfrm>
            <a:off x="2265950" y="1828800"/>
            <a:ext cx="7659793" cy="3794760"/>
          </a:xfrm>
          <a:prstGeom prst="rect">
            <a:avLst/>
          </a:prstGeom>
        </p:spPr>
      </p:pic>
      <p:sp>
        <p:nvSpPr>
          <p:cNvPr id="8" name="Rectangle 7"/>
          <p:cNvSpPr/>
          <p:nvPr/>
        </p:nvSpPr>
        <p:spPr>
          <a:xfrm>
            <a:off x="2254978" y="1817827"/>
            <a:ext cx="7681738"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Lab04-trading-hypothesis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1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F6FEB"/>
                </a:solidFill>
                <a:latin typeface="Arial"/>
              </a:rPr>
              <a:t>A1  A6  K1  K9</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0B981"/>
                </a:solidFill>
                <a:latin typeface="Arial"/>
              </a:rPr>
              <a:t>TOPIC 2</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Indicators, Strategies and Metrics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0B981"/>
                </a:solidFill>
                <a:latin typeface="Arial"/>
              </a:rPr>
              <a:t>LEARNING OUTCOME</a:t>
            </a:r>
          </a:p>
          <a:p>
            <a:pPr algn="l">
              <a:spcAft>
                <a:spcPts val="400"/>
              </a:spcAft>
            </a:pPr>
            <a:r>
              <a:rPr sz="1350" b="0">
                <a:solidFill>
                  <a:srgbClr val="161B26"/>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A2, A3  ·  Knowledge K3, K5, K7   ·   Day 1   ·   Labs 5–9   ·   Assessed by PP Task 2 and WA Q3, Q5, Q7</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Trend and Momentum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SMA / EMA</a:t>
            </a:r>
          </a:p>
          <a:p>
            <a:pPr algn="l">
              <a:spcAft>
                <a:spcPts val="300"/>
              </a:spcAft>
            </a:pPr>
            <a:r>
              <a:rPr sz="1150" b="0">
                <a:solidFill>
                  <a:srgbClr val="5B6372"/>
                </a:solidFill>
                <a:latin typeface="Arial"/>
              </a:rPr>
              <a:t>Average close over n bars; EMA weights recent bars by 2/(n+1).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MACD</a:t>
            </a:r>
          </a:p>
          <a:p>
            <a:pPr algn="l">
              <a:spcAft>
                <a:spcPts val="300"/>
              </a:spcAft>
            </a:pPr>
            <a:r>
              <a:rPr sz="1150" b="0">
                <a:solidFill>
                  <a:srgbClr val="5B6372"/>
                </a:solidFill>
                <a:latin typeface="Arial"/>
              </a:rPr>
              <a:t>EMA12 − EMA26 with a 9-EMA signal line; crosses flag momentum.</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RSI (14)</a:t>
            </a:r>
          </a:p>
          <a:p>
            <a:pPr algn="l">
              <a:spcAft>
                <a:spcPts val="300"/>
              </a:spcAft>
            </a:pPr>
            <a:r>
              <a:rPr sz="1150" b="0">
                <a:solidFill>
                  <a:srgbClr val="5B6372"/>
                </a:solidFill>
                <a:latin typeface="Arial"/>
              </a:rPr>
              <a:t>100 − 100/(1+RS); above 70 overbought, below 30 oversold.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Donchian channel</a:t>
            </a:r>
          </a:p>
          <a:p>
            <a:pPr algn="l">
              <a:spcAft>
                <a:spcPts val="300"/>
              </a:spcAft>
            </a:pPr>
            <a:r>
              <a:rPr sz="1150" b="0">
                <a:solidFill>
                  <a:srgbClr val="5B6372"/>
                </a:solidFill>
                <a:latin typeface="Arial"/>
              </a:rPr>
              <a:t>Highest high / lowest low of n bars — the breakout level.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Moving Averages (SMA and 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sma_ema.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closing price over the last n bars - a smoothed line that shows the trend. The EMA weights recent bars more, so it turns sooner.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SMA(n) = (C1 + C2 + ... + Cn) / n.  EMA(t) = a x C(t) + (1 - a) x EMA(t-1), with a = 2 / (n + 1).</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Price above a rising average = uptrend. The 50 / 200-day pair is the classic trend filter; EMA 20 tracks the short-term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Every average lags: the longer n, the smoother - and the later each signal. In sideways markets price whipsaws across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Indicator: MACD (Moving Average Convergence Divergence)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macd.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momentum-of-trend gauge: the gap between a fast and a slow EMA, with a signal line and a histogram that show whether momentum is growing.</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MACD = EMA12(C) - EMA26(C).  Signal = EMA9(MACD).  Histogram = MACD - Signal.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MACD crossing above its signal line = momentum turning up; MACD above zero = the 12-day trend is above the 26-day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 shrinking histogram warns that a move is losing strength before price turns - but it is built from EMAs, so it lags and whipsaws in ranges.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RSI (Relative Strength Index)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rsi.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oscillator from 0 to 100 that compares the size of recent gains with recent losses - how stretched the latest move is.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RS = average gain / average loss over n bars (Wilder smoothing, n = 14).  RSI = 100 - 100 / (1 + 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Above 70 = overbought, below 30 = oversold. Short look-backs such as RSI(2) are used for mean-reversion entries.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 a strong trend RSI can stay above 70 for weeks: overbought is not a sell signal by itself. Test the thresholds - they are conventions.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RSI(N): the Number Is the Look-back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RSI(2) - short look-back</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RSI(14) - Wilder's standard (1978)</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Look-back</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last 2 bars (days on a daily chart)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last 14 bars - about 3 trading weeks</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Reacts to</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1-2 day moves: fast and jumpy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Sustained moves: smooth and slower</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How often extreme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Often: SPY RSI(2) &lt; 10 on 9.6% of days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Rarely: SPY RSI(14) &lt; 30 on 1.7% of days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Typical levels</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10, exit above 70 (simulator default)</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30, sell above 70</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SPY, 10 Oct 2025 (-2.7% after a -0.3% day)</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5.8 - deeply oversold: the RSI(2) rule buys</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42.5 - neutral: no signal</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Next trading day, 13 Oct</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SPY +1.5% - the bounce is captured</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No trade</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Simulator strategy</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RSI(2) mean reversion (Connors style)</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RSI oversold / overbought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Number in Brackets Is Always the Look-back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RSI(N) formula</a:t>
            </a:r>
          </a:p>
          <a:p>
            <a:pPr algn="l">
              <a:spcAft>
                <a:spcPts val="300"/>
              </a:spcAft>
            </a:pPr>
            <a:r>
              <a:rPr sz="1100" b="0">
                <a:solidFill>
                  <a:srgbClr val="5B6372"/>
                </a:solidFill>
                <a:latin typeface="Arial"/>
              </a:rPr>
              <a:t>RS = average gain / average loss over the last N bars; RSI = 100 - 100 / (1 + RS). Mostly up days: near 100. Mostly down: near 0. Equal: 50.</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SMA(50) and EMA(20)</a:t>
            </a:r>
          </a:p>
          <a:p>
            <a:pPr algn="l">
              <a:spcAft>
                <a:spcPts val="300"/>
              </a:spcAft>
            </a:pPr>
            <a:r>
              <a:rPr sz="1100" b="0">
                <a:solidFill>
                  <a:srgbClr val="5B6372"/>
                </a:solidFill>
                <a:latin typeface="Arial"/>
              </a:rPr>
              <a:t>SMA(50): average of the last 50 closes. EMA(20): exponential average over about 20 bars, weighting recent bars more.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Bollinger(20, 2) and ATR(14)</a:t>
            </a:r>
          </a:p>
          <a:p>
            <a:pPr algn="l">
              <a:spcAft>
                <a:spcPts val="300"/>
              </a:spcAft>
            </a:pPr>
            <a:r>
              <a:rPr sz="1100" b="0">
                <a:solidFill>
                  <a:srgbClr val="5B6372"/>
                </a:solidFill>
                <a:latin typeface="Arial"/>
              </a:rPr>
              <a:t>Bollinger: 20-day average with bands 2 standard deviations away. ATR(14): average true range over 14 bars.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Where to change N</a:t>
            </a:r>
          </a:p>
          <a:p>
            <a:pPr algn="l">
              <a:spcAft>
                <a:spcPts val="300"/>
              </a:spcAft>
            </a:pPr>
            <a:r>
              <a:rPr sz="1100" b="0">
                <a:solidFill>
                  <a:srgbClr val="5B6372"/>
                </a:solidFill>
                <a:latin typeface="Arial"/>
              </a:rPr>
              <a:t>TradingView: the indicator's Settings &gt; Inputs &gt; Length. Simulator: the strategy's parameter (e.g. RSI length n) before you backtest.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Donchian Channel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donchian.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channel drawn through the highest high and the lowest low of the last n bars - the levels a breakout must clear.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Upper(n) = max(High, last n bars).  Lower(n) = min(Low, last n bars).  Classic n = 20 (the Turtle traders used 20 and 55).</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close above the prior upper band = upside breakout; exit on a break of a shorter (e.g. 10-day) low.</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Breakout systems win rarely but big. Compare today's close with the channel up to YESTERDAY - including today's high is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Volatility and Volume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Bollinger Bands</a:t>
            </a:r>
          </a:p>
          <a:p>
            <a:pPr algn="l">
              <a:spcAft>
                <a:spcPts val="300"/>
              </a:spcAft>
            </a:pPr>
            <a:r>
              <a:rPr sz="1150" b="0">
                <a:solidFill>
                  <a:srgbClr val="5B6372"/>
                </a:solidFill>
                <a:latin typeface="Arial"/>
              </a:rPr>
              <a:t>SMA20 ± 2 standard deviations; width tracks volatility.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ATR (14)</a:t>
            </a:r>
          </a:p>
          <a:p>
            <a:pPr algn="l">
              <a:spcAft>
                <a:spcPts val="300"/>
              </a:spcAft>
            </a:pPr>
            <a:r>
              <a:rPr sz="1150" b="0">
                <a:solidFill>
                  <a:srgbClr val="5B6372"/>
                </a:solidFill>
                <a:latin typeface="Arial"/>
              </a:rPr>
              <a:t>Average true range — position sizing and volatility stops.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VWAP</a:t>
            </a:r>
          </a:p>
          <a:p>
            <a:pPr algn="l">
              <a:spcAft>
                <a:spcPts val="300"/>
              </a:spcAft>
            </a:pPr>
            <a:r>
              <a:rPr sz="1150" b="0">
                <a:solidFill>
                  <a:srgbClr val="5B6372"/>
                </a:solidFill>
                <a:latin typeface="Arial"/>
              </a:rPr>
              <a:t>Volume-weighted average price — the execution benchmark.</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OBV</a:t>
            </a:r>
          </a:p>
          <a:p>
            <a:pPr algn="l">
              <a:spcAft>
                <a:spcPts val="300"/>
              </a:spcAft>
            </a:pPr>
            <a:r>
              <a:rPr sz="1150" b="0">
                <a:solidFill>
                  <a:srgbClr val="5B6372"/>
                </a:solidFill>
                <a:latin typeface="Arial"/>
              </a:rPr>
              <a:t>Adds volume on up days, subtracts on down days.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Bollinger Bands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bollinger.png"/>
          <p:cNvPicPr>
            <a:picLocks noChangeAspect="1"/>
          </p:cNvPicPr>
          <p:nvPr/>
        </p:nvPicPr>
        <p:blipFill>
          <a:blip r:embed="rId2"/>
          <a:stretch>
            <a:fillRect/>
          </a:stretch>
        </p:blipFill>
        <p:spPr>
          <a:xfrm>
            <a:off x="777240" y="2237444"/>
            <a:ext cx="6172200" cy="35261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moving average with bands set a number of standard deviations above and below it, so the bands widen and narrow with volatility.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Middle = SMA20(C).  Upper / Lower = Middle +/- 2 x StDev20(C).  %B = (C - Lower) / (Upper - Lower).</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Mean reversion: buy a close below the lower band, exit at the middle. A 'squeeze' (narrow bands) often comes before a big move.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Returns are not normal: closes fall outside the bands far more often than the 5% a normal curve implies. In a trend, 'oversold' keeps falling.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ATR (Average True Range)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atr.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size of a day's price range, including overnight gaps - a volatility ruler in price units.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TR = max(H - L, |H - previous C|, |L - previous C|).  ATR = average of TR over n bars (Wilder smoothing, n = 14).</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Set stops at 2-3 x ATR and size positions as risk budget / (k x ATR), so every trade carries similar risk.</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ATR says how far, not which way. Compare instruments with ATR as a % of price, since ATR rises with the price level.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VWAP (Volume-Weighted Average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v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price paid during the session, weighted by the volume traded at each price. It resets at every session open.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Typical price P = (H + L + C) / 3.  VWAP = sum(P x Volume) / sum(Volume), summed from the session open.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The execution benchmark: buying below VWAP is a good fill. Intraday traders read price above VWAP as buyers in control.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Institutions judge execution algorithms against VWAP. It needs intraday data - on daily bars it is only an approximation.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OBV (On-Balance Volume)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obv.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running total of volume that adds a day's volume when the close rises and subtracts it when the close falls.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OBV(t) = OBV(t-1) + Volume(t) if C(t) &gt; C(t-1); - Volume(t) if C(t) &lt; C(t-1); unchanged if equal.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rising OBV confirms an up-trend; OBV making new highs before price is read as accumulation. Read the slope, not the level.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Volume shows the conviction behind a move. An OBV that falls while price rises (divergence) is a warning, not a signal on its 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Matching the Method to the Hypothesis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'Does the signal beat the benchmark?'</a:t>
            </a:r>
          </a:p>
          <a:p>
            <a:pPr algn="l">
              <a:spcAft>
                <a:spcPts val="300"/>
              </a:spcAft>
            </a:pPr>
            <a:r>
              <a:rPr sz="1150" b="0">
                <a:solidFill>
                  <a:srgbClr val="5B6372"/>
                </a:solidFill>
                <a:latin typeface="Arial"/>
              </a:rPr>
              <a:t>Backtest + t-test or bootstrap on returns.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'Will tomorrow be up?'</a:t>
            </a:r>
          </a:p>
          <a:p>
            <a:pPr algn="l">
              <a:spcAft>
                <a:spcPts val="300"/>
              </a:spcAft>
            </a:pPr>
            <a:r>
              <a:rPr sz="1150" b="0">
                <a:solidFill>
                  <a:srgbClr val="5B6372"/>
                </a:solidFill>
                <a:latin typeface="Arial"/>
              </a:rPr>
              <a:t>Classifier: logistic regression, random forest, XGBoost.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'What state is the market in?'</a:t>
            </a:r>
          </a:p>
          <a:p>
            <a:pPr algn="l">
              <a:spcAft>
                <a:spcPts val="300"/>
              </a:spcAft>
            </a:pPr>
            <a:r>
              <a:rPr sz="1150" b="0">
                <a:solidFill>
                  <a:srgbClr val="5B6372"/>
                </a:solidFill>
                <a:latin typeface="Arial"/>
              </a:rPr>
              <a:t>Clustering: K-means on return and volatility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'Which parameters?'</a:t>
            </a:r>
          </a:p>
          <a:p>
            <a:pPr algn="l">
              <a:spcAft>
                <a:spcPts val="300"/>
              </a:spcAft>
            </a:pPr>
            <a:r>
              <a:rPr sz="1150" b="0">
                <a:solidFill>
                  <a:srgbClr val="5B6372"/>
                </a:solidFill>
                <a:latin typeface="Arial"/>
              </a:rPr>
              <a:t>Grid search in-sample, confirm out-of-sample.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Languages for Algorithms and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Pine Script v6</a:t>
            </a:r>
          </a:p>
          <a:p>
            <a:pPr algn="l">
              <a:spcAft>
                <a:spcPts val="300"/>
              </a:spcAft>
            </a:pPr>
            <a:r>
              <a:rPr sz="1150" b="0">
                <a:solidFill>
                  <a:srgbClr val="5B6372"/>
                </a:solidFill>
                <a:latin typeface="Arial"/>
              </a:rPr>
              <a:t>//@version=6 · ta.ema · ta.crossover · strategy.entry.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Python</a:t>
            </a:r>
          </a:p>
          <a:p>
            <a:pPr algn="l">
              <a:spcAft>
                <a:spcPts val="300"/>
              </a:spcAft>
            </a:pPr>
            <a:r>
              <a:rPr sz="1150" b="0">
                <a:solidFill>
                  <a:srgbClr val="5B6372"/>
                </a:solidFill>
                <a:latin typeface="Arial"/>
              </a:rPr>
              <a:t>Signals as pandas Series of +1 / 0 / −1 aligned to bars.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 / Java</a:t>
            </a:r>
          </a:p>
          <a:p>
            <a:pPr algn="l">
              <a:spcAft>
                <a:spcPts val="300"/>
              </a:spcAft>
            </a:pPr>
            <a:r>
              <a:rPr sz="1150" b="0">
                <a:solidFill>
                  <a:srgbClr val="5B6372"/>
                </a:solidFill>
                <a:latin typeface="Arial"/>
              </a:rPr>
              <a:t>Low-latency execution engines and exchange gateways.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 SQL, MQL</a:t>
            </a:r>
          </a:p>
          <a:p>
            <a:pPr algn="l">
              <a:spcAft>
                <a:spcPts val="300"/>
              </a:spcAft>
            </a:pPr>
            <a:r>
              <a:rPr sz="1150" b="0">
                <a:solidFill>
                  <a:srgbClr val="5B6372"/>
                </a:solidFill>
                <a:latin typeface="Arial"/>
              </a:rPr>
              <a:t>Statistics, data stores, MetaTrader expert advisors.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Order Types and Time in Force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and limit</a:t>
            </a:r>
          </a:p>
          <a:p>
            <a:pPr algn="l">
              <a:spcAft>
                <a:spcPts val="300"/>
              </a:spcAft>
            </a:pPr>
            <a:r>
              <a:rPr sz="1150" b="0">
                <a:solidFill>
                  <a:srgbClr val="5B6372"/>
                </a:solidFill>
                <a:latin typeface="Arial"/>
              </a:rPr>
              <a:t>Certainty of fill versus control of price.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Stop, stop-limit, trailing stop</a:t>
            </a:r>
          </a:p>
          <a:p>
            <a:pPr algn="l">
              <a:spcAft>
                <a:spcPts val="300"/>
              </a:spcAft>
            </a:pPr>
            <a:r>
              <a:rPr sz="1150" b="0">
                <a:solidFill>
                  <a:srgbClr val="5B6372"/>
                </a:solidFill>
                <a:latin typeface="Arial"/>
              </a:rPr>
              <a:t>Trigger on a price; protect or enter on breaks.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Bracket / OCO / OTO</a:t>
            </a:r>
          </a:p>
          <a:p>
            <a:pPr algn="l">
              <a:spcAft>
                <a:spcPts val="300"/>
              </a:spcAft>
            </a:pPr>
            <a:r>
              <a:rPr sz="1150" b="0">
                <a:solidFill>
                  <a:srgbClr val="5B6372"/>
                </a:solidFill>
                <a:latin typeface="Arial"/>
              </a:rPr>
              <a:t>Entry with attached take-profit and stop-loss.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day · gtc · opg · cls · ioc · fok</a:t>
            </a:r>
          </a:p>
          <a:p>
            <a:pPr algn="l">
              <a:spcAft>
                <a:spcPts val="300"/>
              </a:spcAft>
            </a:pPr>
            <a:r>
              <a:rPr sz="1150" b="0">
                <a:solidFill>
                  <a:srgbClr val="5B6372"/>
                </a:solidFill>
                <a:latin typeface="Arial"/>
              </a:rPr>
              <a:t>How long an order stays working.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Performance and Risk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a:t>
            </a:r>
          </a:p>
          <a:p>
            <a:pPr algn="l">
              <a:spcAft>
                <a:spcPts val="300"/>
              </a:spcAft>
            </a:pPr>
            <a:r>
              <a:rPr sz="1150" b="0">
                <a:solidFill>
                  <a:srgbClr val="5B6372"/>
                </a:solidFill>
                <a:latin typeface="Arial"/>
              </a:rPr>
              <a:t>Total return · CAGR = (end/start)^(1/years) − 1.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t>
            </a:r>
          </a:p>
          <a:p>
            <a:pPr algn="l">
              <a:spcAft>
                <a:spcPts val="300"/>
              </a:spcAft>
            </a:pPr>
            <a:r>
              <a:rPr sz="1150" b="0">
                <a:solidFill>
                  <a:srgbClr val="5B6372"/>
                </a:solidFill>
                <a:latin typeface="Arial"/>
              </a:rPr>
              <a:t>Volatility = σ(daily) × √252 · maximum drawdown.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Risk-adjusted</a:t>
            </a:r>
          </a:p>
          <a:p>
            <a:pPr algn="l">
              <a:spcAft>
                <a:spcPts val="300"/>
              </a:spcAft>
            </a:pPr>
            <a:r>
              <a:rPr sz="1150" b="0">
                <a:solidFill>
                  <a:srgbClr val="5B6372"/>
                </a:solidFill>
                <a:latin typeface="Arial"/>
              </a:rPr>
              <a:t>Sharpe · Sortino · Calmar = CAGR / |MaxDD|.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Trade quality</a:t>
            </a:r>
          </a:p>
          <a:p>
            <a:pPr algn="l">
              <a:spcAft>
                <a:spcPts val="300"/>
              </a:spcAft>
            </a:pPr>
            <a:r>
              <a:rPr sz="1150" b="0">
                <a:solidFill>
                  <a:srgbClr val="5B6372"/>
                </a:solidFill>
                <a:latin typeface="Arial"/>
              </a:rPr>
              <a:t>Win rate · profit factor · expectancy · turnover · exposure.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Sharpe Ratio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sharpe.png"/>
          <p:cNvPicPr>
            <a:picLocks noChangeAspect="1"/>
          </p:cNvPicPr>
          <p:nvPr/>
        </p:nvPicPr>
        <p:blipFill>
          <a:blip r:embed="rId2"/>
          <a:stretch>
            <a:fillRect/>
          </a:stretch>
        </p:blipFill>
        <p:spPr>
          <a:xfrm>
            <a:off x="777240" y="2245599"/>
            <a:ext cx="6172200" cy="350980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Return earned per unit of risk taken: the average excess return divided by its volatility, annualised.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Sharpe = (mean daily return - daily risk-free rate) / std of daily returns x sqrt(252).</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Below 0.5 weak, about 1 good, above 2 rare for a daily strategy - check for errors. Always compare with buy-and-hold over the same period.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Volatility counts as risk whether it is up or down, and a short or costless backtest inflates it - 2020 returned 18% but at 33% volatility, a Sharpe of only 0.67.</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Maximum Drawdown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drawdown.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largest fall of the equity curve from a previous peak to a later low - the worst loss an investor would have lived through before a new high.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Drawdown(t) = equity(t) / running peak(t) - 1.  Max drawdown = the most negative drawdown over the period.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-20% drawdown needs +25% to recover; -50% needs +100%. Compare with buy-and-hold and with the loss the investor can tolerate.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One path-dependent number: it does not say how long recovery took, and a short backtest may simply miss a bad period. SPY 2018-2025: -33.7% in five weeks of 2020.</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of Trading Algorithms by Purpose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Purpose</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Examples</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Execution algorithms</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Work a large order at low cost and market impact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VWAP, TWAP, POV, implementation shortfall, iceberg, smart order routing</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Market making</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Quote bids and offers, earn the spread, manage inventory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Passive market making with resting limit orders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Arbitrage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Capture mispricing between related products or markets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ETF versus its basket, index futures versus stocks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Directional / alpha</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Take a view on the direction of price</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Trend following, momentum, breakout, mean reversion, news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Statistical arbitrage and pairs</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Hedged: long one asset, short a related one; trade the spread</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Pairs trading, cointegration, market-neutral baskets</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Factor and portfolio</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Build and rebalance portfolios from return drivers and risk</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Value, momentum, size factors; mean-variance optimisation</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Hedging and risk</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Offset unwanted exposure and enforce limits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Delta hedging, beta hedging, pairs hedge, kill switch</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SEC Classification of High-Frequency Strategies (2010)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Passive market making</a:t>
            </a:r>
          </a:p>
          <a:p>
            <a:pPr algn="l">
              <a:spcAft>
                <a:spcPts val="300"/>
              </a:spcAft>
            </a:pPr>
            <a:r>
              <a:rPr sz="1050" b="0">
                <a:solidFill>
                  <a:srgbClr val="5B6372"/>
                </a:solidFill>
                <a:latin typeface="Arial"/>
              </a:rPr>
              <a:t>Submits non-marketable resting bids and offers that provide liquidity at specified prices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Arbitrage</a:t>
            </a:r>
          </a:p>
          <a:p>
            <a:pPr algn="l">
              <a:spcAft>
                <a:spcPts val="300"/>
              </a:spcAft>
            </a:pPr>
            <a:r>
              <a:rPr sz="1050" b="0">
                <a:solidFill>
                  <a:srgbClr val="5B6372"/>
                </a:solidFill>
                <a:latin typeface="Arial"/>
              </a:rPr>
              <a:t>Captures pricing inefficiencies between related products or markets, e.g. an ETF and its basket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Structural</a:t>
            </a:r>
          </a:p>
          <a:p>
            <a:pPr algn="l">
              <a:spcAft>
                <a:spcPts val="300"/>
              </a:spcAft>
            </a:pPr>
            <a:r>
              <a:rPr sz="1050" b="0">
                <a:solidFill>
                  <a:srgbClr val="5B6372"/>
                </a:solidFill>
                <a:latin typeface="Arial"/>
              </a:rPr>
              <a:t>Exploits structural vulnerabilities in the market or its participants, e.g. stale quotes via faster data</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Directional</a:t>
            </a:r>
          </a:p>
          <a:p>
            <a:pPr algn="l">
              <a:spcAft>
                <a:spcPts val="300"/>
              </a:spcAft>
            </a:pPr>
            <a:r>
              <a:rPr sz="1050" b="0">
                <a:solidFill>
                  <a:srgbClr val="5B6372"/>
                </a:solidFill>
                <a:latin typeface="Arial"/>
              </a:rPr>
              <a:t>Takes a short-term position anticipating an intraday price move in a particular direction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Holding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Horizon</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Typical algorithms</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High-frequency</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Microseconds to seconds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Market making, ETF and latency arbitrage</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Intraday</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Minutes to hours</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VWAP / TWAP execution, intraday momentum</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Swing</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Days to weeks</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Mean reversion, pairs trading</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Position</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Weeks to months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Trend following, factor portfolios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Model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Rule-based</a:t>
            </a:r>
          </a:p>
          <a:p>
            <a:pPr algn="l">
              <a:spcAft>
                <a:spcPts val="300"/>
              </a:spcAft>
            </a:pPr>
            <a:r>
              <a:rPr sz="1050" b="0">
                <a:solidFill>
                  <a:srgbClr val="5B6372"/>
                </a:solidFill>
                <a:latin typeface="Arial"/>
              </a:rPr>
              <a:t>Fixed if-then rules on indicators, e.g. a moving-average crossover</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Statistical</a:t>
            </a:r>
          </a:p>
          <a:p>
            <a:pPr algn="l">
              <a:spcAft>
                <a:spcPts val="300"/>
              </a:spcAft>
            </a:pPr>
            <a:r>
              <a:rPr sz="1050" b="0">
                <a:solidFill>
                  <a:srgbClr val="5B6372"/>
                </a:solidFill>
                <a:latin typeface="Arial"/>
              </a:rPr>
              <a:t>Econometric tests and models: cointegration, regression, t-tests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Machine learning</a:t>
            </a:r>
          </a:p>
          <a:p>
            <a:pPr algn="l">
              <a:spcAft>
                <a:spcPts val="300"/>
              </a:spcAft>
            </a:pPr>
            <a:r>
              <a:rPr sz="1050" b="0">
                <a:solidFill>
                  <a:srgbClr val="5B6372"/>
                </a:solidFill>
                <a:latin typeface="Arial"/>
              </a:rPr>
              <a:t>Models learn from labelled data: logistic regression, random forest, XGBoost</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Reinforcement learning</a:t>
            </a:r>
          </a:p>
          <a:p>
            <a:pPr algn="l">
              <a:spcAft>
                <a:spcPts val="300"/>
              </a:spcAft>
            </a:pPr>
            <a:r>
              <a:rPr sz="1050" b="0">
                <a:solidFill>
                  <a:srgbClr val="5B6372"/>
                </a:solidFill>
                <a:latin typeface="Arial"/>
              </a:rPr>
              <a:t>Learns a policy from rewards, e.g. order-execution research</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LLM and agentic</a:t>
            </a:r>
          </a:p>
          <a:p>
            <a:pPr algn="l">
              <a:spcAft>
                <a:spcPts val="300"/>
              </a:spcAft>
            </a:pPr>
            <a:r>
              <a:rPr sz="1050" b="0">
                <a:solidFill>
                  <a:srgbClr val="5B6372"/>
                </a:solidFill>
                <a:latin typeface="Arial"/>
              </a:rPr>
              <a:t>Language models read text and agents plan, code and act under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Positions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Long</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Short</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What you hold</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own</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borrowed and sold - you owe them back</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Opening trade</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(the borrowed shares)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Closing trade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Sell</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back ('buy to cover') and return the shares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You profit when</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rises</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falls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SPY at $500, sell at $550: +$50</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SPY at $500, buy back at $450: +$50</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Maximum loss</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What you paid - a price cannot go below $0</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Unlimited - a price can keep rising</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Extra requirements</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Only the cash to pay for the shares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A margin account (Alpaca: $2,000+ equity); borrow fees on hard-to-borrow stocks (Alpaca: $0 on easy-to-borrow)</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'Long = buy, short = sell' is shorthand</a:t>
            </a:r>
          </a:p>
          <a:p>
            <a:pPr algn="l">
              <a:spcAft>
                <a:spcPts val="300"/>
              </a:spcAft>
            </a:pPr>
            <a:r>
              <a:rPr sz="1100" b="0">
                <a:solidFill>
                  <a:srgbClr val="5B6372"/>
                </a:solidFill>
                <a:latin typeface="Arial"/>
              </a:rPr>
              <a:t>Opening a long is a buy; opening a short is a sell. Selling shares you already own only closes the long - you go flat, not short.</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Pine Script (TradingView)</a:t>
            </a:r>
          </a:p>
          <a:p>
            <a:pPr algn="l">
              <a:spcAft>
                <a:spcPts val="300"/>
              </a:spcAft>
            </a:pPr>
            <a:r>
              <a:rPr sz="1100" b="0">
                <a:solidFill>
                  <a:srgbClr val="5B6372"/>
                </a:solidFill>
                <a:latin typeface="Arial"/>
              </a:rPr>
              <a:t>strategy.entry("Long", strategy.long) opens a buy; strategy.close("Long") sells back to flat; strategy.short opens a short.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Trading Simulator</a:t>
            </a:r>
          </a:p>
          <a:p>
            <a:pPr algn="l">
              <a:spcAft>
                <a:spcPts val="300"/>
              </a:spcAft>
            </a:pPr>
            <a:r>
              <a:rPr sz="1100" b="0">
                <a:solidFill>
                  <a:srgbClr val="5B6372"/>
                </a:solidFill>
                <a:latin typeface="Arial"/>
              </a:rPr>
              <a:t>Most strategies are long-only: buy, then sell back to cash. 'RSI oversold / overbought' has an allow_short option that goes short above RSI 70.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Pairs trading (Lab 14)</a:t>
            </a:r>
          </a:p>
          <a:p>
            <a:pPr algn="l">
              <a:spcAft>
                <a:spcPts val="300"/>
              </a:spcAft>
            </a:pPr>
            <a:r>
              <a:rPr sz="1100" b="0">
                <a:solidFill>
                  <a:srgbClr val="5B6372"/>
                </a:solidFill>
                <a:latin typeface="Arial"/>
              </a:rPr>
              <a:t>Long the cheap stock and short the rich one at the same time: the trade profits from the gap closing, whichever way the market moves.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Trend following</a:t>
            </a:r>
          </a:p>
          <a:p>
            <a:pPr algn="l">
              <a:spcAft>
                <a:spcPts val="300"/>
              </a:spcAft>
            </a:pPr>
            <a:r>
              <a:rPr sz="1000" b="0">
                <a:solidFill>
                  <a:srgbClr val="5B6372"/>
                </a:solidFill>
                <a:latin typeface="Arial"/>
              </a:rPr>
              <a:t>Rides sustained moves in the direction of the trend; cuts losers quickly  -  e.g. Buy when the 50-day moving average crosses above the 200-day</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Mean reversion</a:t>
            </a:r>
          </a:p>
          <a:p>
            <a:pPr algn="l">
              <a:spcAft>
                <a:spcPts val="300"/>
              </a:spcAft>
            </a:pPr>
            <a:r>
              <a:rPr sz="1000" b="0">
                <a:solidFill>
                  <a:srgbClr val="5B6372"/>
                </a:solidFill>
                <a:latin typeface="Arial"/>
              </a:rPr>
              <a:t>Bets that prices stretched far from their average will snap back  -  e.g. Buy when price closes below the lower Bollinger Band (20-day, 2 std dev)</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Momentum and breakout</a:t>
            </a:r>
          </a:p>
          <a:p>
            <a:pPr algn="l">
              <a:spcAft>
                <a:spcPts val="300"/>
              </a:spcAft>
            </a:pPr>
            <a:r>
              <a:rPr sz="1000" b="0">
                <a:solidFill>
                  <a:srgbClr val="5B6372"/>
                </a:solidFill>
                <a:latin typeface="Arial"/>
              </a:rPr>
              <a:t>Buys recent winners or prices breaking out of a range, expecting them to keep going  -  e.g. Buy on a close above the 20-day high (Donchian channel breakout)</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Statistical / pairs arbitrage</a:t>
            </a:r>
          </a:p>
          <a:p>
            <a:pPr algn="l">
              <a:spcAft>
                <a:spcPts val="300"/>
              </a:spcAft>
            </a:pPr>
            <a:r>
              <a:rPr sz="1000" b="0">
                <a:solidFill>
                  <a:srgbClr val="5B6372"/>
                </a:solidFill>
                <a:latin typeface="Arial"/>
              </a:rPr>
              <a:t>Trades the spread between two related assets when it drifts from its normal level  -  e.g. Short the rich leg, buy the cheap leg when the spread z-score exceeds 2</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Execution algorithms</a:t>
            </a:r>
          </a:p>
          <a:p>
            <a:pPr algn="l">
              <a:spcAft>
                <a:spcPts val="300"/>
              </a:spcAft>
            </a:pPr>
            <a:r>
              <a:rPr sz="1000" b="0">
                <a:solidFill>
                  <a:srgbClr val="5B6372"/>
                </a:solidFill>
                <a:latin typeface="Arial"/>
              </a:rPr>
              <a:t>Split a large order to minimise cost and market impact: VWAP, TWAP, POV, implementation shortfall  -  e.g. POV: trade 10% of market volume until the order is filled</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Market making</a:t>
            </a:r>
          </a:p>
          <a:p>
            <a:pPr algn="l">
              <a:spcAft>
                <a:spcPts val="300"/>
              </a:spcAft>
            </a:pPr>
            <a:r>
              <a:rPr sz="1000" b="0">
                <a:solidFill>
                  <a:srgbClr val="5B6372"/>
                </a:solidFill>
                <a:latin typeface="Arial"/>
              </a:rPr>
              <a:t>Continuously quotes buy and sell prices, earning the spread while managing inventory  -  e.g. Quote bid and ask around mid-price; skew quotes as inventory builds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Index rebalancing / event-driven</a:t>
            </a:r>
          </a:p>
          <a:p>
            <a:pPr algn="l">
              <a:spcAft>
                <a:spcPts val="300"/>
              </a:spcAft>
            </a:pPr>
            <a:r>
              <a:rPr sz="1000" b="0">
                <a:solidFill>
                  <a:srgbClr val="5B6372"/>
                </a:solidFill>
                <a:latin typeface="Arial"/>
              </a:rPr>
              <a:t>Trades predictable flows around index changes, earnings and corporate events  -  e.g. Position ahead of announced index inclusions on the rebalance date</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Sentiment / NLP</a:t>
            </a:r>
          </a:p>
          <a:p>
            <a:pPr algn="l">
              <a:spcAft>
                <a:spcPts val="300"/>
              </a:spcAft>
            </a:pPr>
            <a:r>
              <a:rPr sz="1000" b="0">
                <a:solidFill>
                  <a:srgbClr val="5B6372"/>
                </a:solidFill>
                <a:latin typeface="Arial"/>
              </a:rPr>
              <a:t>Turns news, filings and social media text into trading signals using NLP or LLMs  -  e.g. Go long when the average FinBERT headline sentiment is strongly positive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Prices that have started to move tend to keep moving. Buy when a fast average is above a slow one (or price is above its 200-day average); exit when the trend turns.</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Long, persistent moves - bull or bear markets, macro trends lasting months. A few big winners pay for many small losses.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Sideways, choppy markets: price crosses the averages again and again (whipsaws), every crossing costs money, and signals arrive late at turns.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EMA 20/50 on SPY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Like a rubber band, short-term over-reactions snap back. Buy when price is stretched below its normal range (lower Bollinger Band, RSI(2) below 10) and sell when it returns to the average.</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Range-bound, liquid markets and stable large stocks, where extremes tend to snap back within days.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real trend or a news shock: 'cheap' keeps getting cheaper. A high win rate hides rare large losses - as in March 2020.</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20 / k = 2.0 and 1.5 on KO</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Rules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Buy when 'too low'</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Exit</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Bollinger Band mean reversion</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Close below the lower band (20-day mean - 2 standard deviations)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Price returns to the middle band (the 20-day mean)</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 oversold / overbought</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RSI(14) below 30 - oversold</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RSI(14) above 70 - overbought</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RSI(2) mean reversion</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RSI(2) below 10 - a sharp 1-2 day drop</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RSI(2) above 70 - the bounce</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Dip buy after a losing streak</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3 or more down closes in a row (the Lab 4 hypothesis)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After the holding horizon, e.g. the next day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versus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Mean reversion</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Trend following / momentum</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Belief</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Extremes snap back to the average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What is moving keeps moving</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After a big drop</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Sell or stay out</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Works best in</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Range-bound, sideways markets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Strongly trending markets</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horizon</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Short: days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Longer: weeks to months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Win rate</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High - many small wins</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Low - few but large wins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danger</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 rare big loss when the dip becomes a crash</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Many small losses in choppy markets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Mean Reversion: the Main Risk and Three Safeguards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2452878"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013966" cy="548640"/>
          </a:xfrm>
          <a:prstGeom prst="rect">
            <a:avLst/>
          </a:prstGeom>
          <a:noFill/>
        </p:spPr>
        <p:txBody>
          <a:bodyPr wrap="square" anchor="t">
            <a:spAutoFit/>
          </a:bodyPr>
          <a:lstStyle/>
          <a:p>
            <a:pPr algn="l">
              <a:spcAft>
                <a:spcPts val="400"/>
              </a:spcAft>
            </a:pPr>
            <a:r>
              <a:rPr sz="1600" b="1">
                <a:solidFill>
                  <a:srgbClr val="1F6FEB"/>
                </a:solidFill>
                <a:latin typeface="Arial"/>
              </a:rPr>
              <a:t>The risk</a:t>
            </a:r>
          </a:p>
        </p:txBody>
      </p:sp>
      <p:sp>
        <p:nvSpPr>
          <p:cNvPr id="10" name="TextBox 9"/>
          <p:cNvSpPr txBox="1"/>
          <p:nvPr/>
        </p:nvSpPr>
        <p:spPr>
          <a:xfrm>
            <a:off x="996696"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The rule assumes the average holds. After a real change - a crash, bad news, a broken business - price does not come back: buying the dip becomes catching a falling knife.</a:t>
            </a:r>
          </a:p>
        </p:txBody>
      </p:sp>
      <p:sp>
        <p:nvSpPr>
          <p:cNvPr id="11" name="Rectangle 10"/>
          <p:cNvSpPr/>
          <p:nvPr/>
        </p:nvSpPr>
        <p:spPr>
          <a:xfrm>
            <a:off x="3504438" y="1965960"/>
            <a:ext cx="2452878"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196596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3894" y="2331720"/>
            <a:ext cx="2013966" cy="548640"/>
          </a:xfrm>
          <a:prstGeom prst="rect">
            <a:avLst/>
          </a:prstGeom>
          <a:noFill/>
        </p:spPr>
        <p:txBody>
          <a:bodyPr wrap="square" anchor="t">
            <a:spAutoFit/>
          </a:bodyPr>
          <a:lstStyle/>
          <a:p>
            <a:pPr algn="l">
              <a:spcAft>
                <a:spcPts val="400"/>
              </a:spcAft>
            </a:pPr>
            <a:r>
              <a:rPr sz="1600" b="1">
                <a:solidFill>
                  <a:srgbClr val="10B981"/>
                </a:solidFill>
                <a:latin typeface="Arial"/>
              </a:rPr>
              <a:t>1  Stop-loss or time limit</a:t>
            </a:r>
          </a:p>
        </p:txBody>
      </p:sp>
      <p:sp>
        <p:nvSpPr>
          <p:cNvPr id="14" name="TextBox 13"/>
          <p:cNvSpPr txBox="1"/>
          <p:nvPr/>
        </p:nvSpPr>
        <p:spPr>
          <a:xfrm>
            <a:off x="3723894"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Cap the rare big loss: exit at a fixed loss, or after n days if the bounce has not come.</a:t>
            </a:r>
          </a:p>
        </p:txBody>
      </p:sp>
      <p:sp>
        <p:nvSpPr>
          <p:cNvPr id="15" name="Rectangle 14"/>
          <p:cNvSpPr/>
          <p:nvPr/>
        </p:nvSpPr>
        <p:spPr>
          <a:xfrm>
            <a:off x="6231636" y="1965960"/>
            <a:ext cx="2452878"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96596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1092" y="2331720"/>
            <a:ext cx="2013966" cy="548640"/>
          </a:xfrm>
          <a:prstGeom prst="rect">
            <a:avLst/>
          </a:prstGeom>
          <a:noFill/>
        </p:spPr>
        <p:txBody>
          <a:bodyPr wrap="square" anchor="t">
            <a:spAutoFit/>
          </a:bodyPr>
          <a:lstStyle/>
          <a:p>
            <a:pPr algn="l">
              <a:spcAft>
                <a:spcPts val="400"/>
              </a:spcAft>
            </a:pPr>
            <a:r>
              <a:rPr sz="1600" b="1">
                <a:solidFill>
                  <a:srgbClr val="7C3AED"/>
                </a:solidFill>
                <a:latin typeface="Arial"/>
              </a:rPr>
              <a:t>2  Trend filter</a:t>
            </a:r>
          </a:p>
        </p:txBody>
      </p:sp>
      <p:sp>
        <p:nvSpPr>
          <p:cNvPr id="18" name="TextBox 17"/>
          <p:cNvSpPr txBox="1"/>
          <p:nvPr/>
        </p:nvSpPr>
        <p:spPr>
          <a:xfrm>
            <a:off x="6451092"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Only buy dips while price is above its 200-day SMA, so you are not buying into a bear market.</a:t>
            </a:r>
          </a:p>
        </p:txBody>
      </p:sp>
      <p:sp>
        <p:nvSpPr>
          <p:cNvPr id="19" name="Rectangle 18"/>
          <p:cNvSpPr/>
          <p:nvPr/>
        </p:nvSpPr>
        <p:spPr>
          <a:xfrm>
            <a:off x="8958834" y="1965960"/>
            <a:ext cx="2452878" cy="356616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196596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8290" y="2331720"/>
            <a:ext cx="2013966" cy="548640"/>
          </a:xfrm>
          <a:prstGeom prst="rect">
            <a:avLst/>
          </a:prstGeom>
          <a:noFill/>
        </p:spPr>
        <p:txBody>
          <a:bodyPr wrap="square" anchor="t">
            <a:spAutoFit/>
          </a:bodyPr>
          <a:lstStyle/>
          <a:p>
            <a:pPr algn="l">
              <a:spcAft>
                <a:spcPts val="400"/>
              </a:spcAft>
            </a:pPr>
            <a:r>
              <a:rPr sz="1600" b="1">
                <a:solidFill>
                  <a:srgbClr val="F59E0B"/>
                </a:solidFill>
                <a:latin typeface="Arial"/>
              </a:rPr>
              <a:t>3  Stable markets</a:t>
            </a:r>
          </a:p>
        </p:txBody>
      </p:sp>
      <p:sp>
        <p:nvSpPr>
          <p:cNvPr id="22" name="TextBox 21"/>
          <p:cNvSpPr txBox="1"/>
          <p:nvPr/>
        </p:nvSpPr>
        <p:spPr>
          <a:xfrm>
            <a:off x="9178290"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Liquid, defensive stocks such as KO, and pairs trading (Lab 14: the spread between two linked stocks) revert more reliably.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
        <p:nvSpPr>
          <p:cNvPr id="26" name="Rectangle 25"/>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9" name="Rectangle 28"/>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on KO - high win rate, but losses larger than wins: many small wins, rare big losses.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Winners keep winning for months. Buy what has risen over the last 6-12 months (time-series) or what has risen most among its peers (cross-sectional).</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Persistent market or sector themes, spread across many assets and rebalanced regularly.</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Sharp reversals - 'momentum crashes' such as the 2009 rebound, when last year's losers rally hardest - and choppy markets that churn the portfolio.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126-day time-series momentum on QQQ</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close above the recent range (for example the 20-day high, the Donchian channel) signals the start of a new move: buy the breakout, exit on a shorter low.</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Volatility expanding after a quiet period and a new trend starting - indices and commodities in strong regimes.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False breakouts in a range: price pokes above the high and falls back. A low win rate, so exits must be disciplined and costs kept low.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Donchian 20 / 10 on QQQ</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TOPIC 2 · HOW THE ALGORITHMS WORK</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Concepts over code</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algorithm below is coded for you - by the simulator or an AI assistant. Learn what it does, when it works and what can go wrong; let AI handle the syntax.</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Moving-Average Crossover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_crossover.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Two moving averages of the close: a fast one reacts quickly, a slow one shows the trend.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Fast crosses ABOVE slow (golden cross): buy. Fast crosses BELOW (death cross): sell or go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Markets trend for months - it rides the move and cuts losers when the trend turns.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Whipsaws in sideways markets; signals lag; trade on the next bar, not the crossing bar.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Bollinger Band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ollinger.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Bands = 20-day mean +/- 2 standard deviations. A close outside the band is 'stretched'.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below the lower band: buy. Exit when the price returns to the middle band (the mean).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Range-bound markets where over-reactions snap back, e.g. a defensive stock such as KO.</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Strong trends keep 'stretching' - add a stop-loss or a trend filter; many small wins, rare big losses.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RSI and MACD Momentum Oscillators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rsi_macd.png"/>
          <p:cNvPicPr>
            <a:picLocks noChangeAspect="1"/>
          </p:cNvPicPr>
          <p:nvPr/>
        </p:nvPicPr>
        <p:blipFill>
          <a:blip r:embed="rId2"/>
          <a:stretch>
            <a:fillRect/>
          </a:stretch>
        </p:blipFill>
        <p:spPr>
          <a:xfrm>
            <a:off x="777240" y="2012079"/>
            <a:ext cx="6172200" cy="397684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RSI = 100 - 100/(1+RS), RS = average gain / average loss over 14 bars. MACD = EMA12 - EMA26.</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RSI &lt; 30 oversold / &gt; 70 overbought. MACD crossing above its 9-EMA signal line = momentum buy.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As filters or confirmation for a trend or mean-reversion rule, not as stand-alone predictors.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Oscillators can stay overbought in strong trends; RSI and MACD are highly correlated with price.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Cross-Sectional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omentum.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Rank a universe by past return (e.g. 12 months, skipping the last month) each month.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Hold the top-ranked assets, avoid or short the bottom-ranked; rebalance monthly.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Information spreads slowly and winners keep winning for several months.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Sharp 'momentum crashes' when markets reverse; turnover costs at every rebalance.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Donchian Channel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reakout.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Track the highest high and lowest low of the last n bars (n = 20 here).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above the 20-day high: buy the breakout. Exit below the 20-day low (or a trailing stop).</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New trends start with a break of a range - the rule used by the 1980s 'Turtle Traders'.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False breakouts in choppy markets; the channel must use PREVIOUS bars only (no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VWAP and TWAP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vwap_t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Split a large parent order into child orders through the day to reduce market impact.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TWAP: equal slices per time interval. VWAP: slices proportional to the typical volume curve.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Working client or fund orders too large to trade at once; benchmarked to the day's VWAP.</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VWAP relies on a volume forecast; both are predictable to other traders - add randomisation.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Market Making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rket_mak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Quote a bid below and an ask above the mid price at the same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Earn the spread when both sides fill; skew quotes down when long, up when short, to cut inventory.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Liquid markets with steady two-way flow - the business of quant market makers.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Adverse selection by better-informed traders; inventory risk in fast moves; needs low latency.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versus Alpaca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TradingView</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Alpaca</a:t>
            </a:r>
          </a:p>
        </p:txBody>
      </p:sp>
      <p:sp>
        <p:nvSpPr>
          <p:cNvPr id="14" name="Rectangle 13"/>
          <p:cNvSpPr/>
          <p:nvPr/>
        </p:nvSpPr>
        <p:spPr>
          <a:xfrm>
            <a:off x="777240" y="228600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Charting and strategy-design platform</a:t>
            </a:r>
          </a:p>
        </p:txBody>
      </p:sp>
      <p:sp>
        <p:nvSpPr>
          <p:cNvPr id="17" name="TextBox 16"/>
          <p:cNvSpPr txBox="1"/>
          <p:nvPr/>
        </p:nvSpPr>
        <p:spPr>
          <a:xfrm>
            <a:off x="7260336" y="228600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API-first US broker for automated trading</a:t>
            </a:r>
          </a:p>
        </p:txBody>
      </p:sp>
      <p:sp>
        <p:nvSpPr>
          <p:cNvPr id="18" name="TextBox 17"/>
          <p:cNvSpPr txBox="1"/>
          <p:nvPr/>
        </p:nvSpPr>
        <p:spPr>
          <a:xfrm>
            <a:off x="886968" y="272796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Markets</a:t>
            </a:r>
          </a:p>
        </p:txBody>
      </p:sp>
      <p:sp>
        <p:nvSpPr>
          <p:cNvPr id="19" name="TextBox 18"/>
          <p:cNvSpPr txBox="1"/>
          <p:nvPr/>
        </p:nvSpPr>
        <p:spPr>
          <a:xfrm>
            <a:off x="3017520" y="272796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Global charts incl. SGX, US, FX, crypto</a:t>
            </a:r>
          </a:p>
        </p:txBody>
      </p:sp>
      <p:sp>
        <p:nvSpPr>
          <p:cNvPr id="20" name="TextBox 19"/>
          <p:cNvSpPr txBox="1"/>
          <p:nvPr/>
        </p:nvSpPr>
        <p:spPr>
          <a:xfrm>
            <a:off x="7260336" y="272796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US stocks and ETFs, options, crypto</a:t>
            </a:r>
          </a:p>
        </p:txBody>
      </p:sp>
      <p:sp>
        <p:nvSpPr>
          <p:cNvPr id="21" name="Rectangle 20"/>
          <p:cNvSpPr/>
          <p:nvPr/>
        </p:nvSpPr>
        <p:spPr>
          <a:xfrm>
            <a:off x="777240" y="316992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1699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Strategy design</a:t>
            </a:r>
          </a:p>
        </p:txBody>
      </p:sp>
      <p:sp>
        <p:nvSpPr>
          <p:cNvPr id="23" name="TextBox 22"/>
          <p:cNvSpPr txBox="1"/>
          <p:nvPr/>
        </p:nvSpPr>
        <p:spPr>
          <a:xfrm>
            <a:off x="3017520" y="31699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Pine Script v6 indicators and strategies</a:t>
            </a:r>
          </a:p>
        </p:txBody>
      </p:sp>
      <p:sp>
        <p:nvSpPr>
          <p:cNvPr id="24" name="TextBox 23"/>
          <p:cNvSpPr txBox="1"/>
          <p:nvPr/>
        </p:nvSpPr>
        <p:spPr>
          <a:xfrm>
            <a:off x="7260336" y="31699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Write it yourself in Python (alpaca-py)</a:t>
            </a:r>
          </a:p>
        </p:txBody>
      </p:sp>
      <p:sp>
        <p:nvSpPr>
          <p:cNvPr id="25" name="TextBox 24"/>
          <p:cNvSpPr txBox="1"/>
          <p:nvPr/>
        </p:nvSpPr>
        <p:spPr>
          <a:xfrm>
            <a:off x="886968" y="361187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Backtesting</a:t>
            </a:r>
          </a:p>
        </p:txBody>
      </p:sp>
      <p:sp>
        <p:nvSpPr>
          <p:cNvPr id="26" name="TextBox 25"/>
          <p:cNvSpPr txBox="1"/>
          <p:nvPr/>
        </p:nvSpPr>
        <p:spPr>
          <a:xfrm>
            <a:off x="3017520" y="361187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Strategy Tester (simplified costs and fills)</a:t>
            </a:r>
          </a:p>
        </p:txBody>
      </p:sp>
      <p:sp>
        <p:nvSpPr>
          <p:cNvPr id="27" name="TextBox 26"/>
          <p:cNvSpPr txBox="1"/>
          <p:nvPr/>
        </p:nvSpPr>
        <p:spPr>
          <a:xfrm>
            <a:off x="7260336" y="361187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None built in - you build a cost-aware backtest</a:t>
            </a:r>
          </a:p>
        </p:txBody>
      </p:sp>
      <p:sp>
        <p:nvSpPr>
          <p:cNvPr id="28" name="Rectangle 27"/>
          <p:cNvSpPr/>
          <p:nvPr/>
        </p:nvSpPr>
        <p:spPr>
          <a:xfrm>
            <a:off x="777240" y="405384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05384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Paper trading</a:t>
            </a:r>
          </a:p>
        </p:txBody>
      </p:sp>
      <p:sp>
        <p:nvSpPr>
          <p:cNvPr id="30" name="TextBox 29"/>
          <p:cNvSpPr txBox="1"/>
          <p:nvPr/>
        </p:nvSpPr>
        <p:spPr>
          <a:xfrm>
            <a:off x="3017520" y="405384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Built-in Paper Trading account from the chart</a:t>
            </a:r>
          </a:p>
        </p:txBody>
      </p:sp>
      <p:sp>
        <p:nvSpPr>
          <p:cNvPr id="31" name="TextBox 30"/>
          <p:cNvSpPr txBox="1"/>
          <p:nvPr/>
        </p:nvSpPr>
        <p:spPr>
          <a:xfrm>
            <a:off x="7260336" y="405384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Paper account mirroring the live API</a:t>
            </a:r>
          </a:p>
        </p:txBody>
      </p:sp>
      <p:sp>
        <p:nvSpPr>
          <p:cNvPr id="32" name="TextBox 31"/>
          <p:cNvSpPr txBox="1"/>
          <p:nvPr/>
        </p:nvSpPr>
        <p:spPr>
          <a:xfrm>
            <a:off x="886968" y="449579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Automation</a:t>
            </a:r>
          </a:p>
        </p:txBody>
      </p:sp>
      <p:sp>
        <p:nvSpPr>
          <p:cNvPr id="33" name="TextBox 32"/>
          <p:cNvSpPr txBox="1"/>
          <p:nvPr/>
        </p:nvSpPr>
        <p:spPr>
          <a:xfrm>
            <a:off x="3017520" y="449579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Alerts; webhooks on paid plans</a:t>
            </a:r>
          </a:p>
        </p:txBody>
      </p:sp>
      <p:sp>
        <p:nvSpPr>
          <p:cNvPr id="34" name="TextBox 33"/>
          <p:cNvSpPr txBox="1"/>
          <p:nvPr/>
        </p:nvSpPr>
        <p:spPr>
          <a:xfrm>
            <a:off x="7260336" y="449579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Trading API: orders, positions, clock; 24/5 trading</a:t>
            </a:r>
          </a:p>
        </p:txBody>
      </p:sp>
      <p:sp>
        <p:nvSpPr>
          <p:cNvPr id="35" name="Rectangle 34"/>
          <p:cNvSpPr/>
          <p:nvPr/>
        </p:nvSpPr>
        <p:spPr>
          <a:xfrm>
            <a:off x="777240" y="4937759"/>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493775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Data</a:t>
            </a:r>
          </a:p>
        </p:txBody>
      </p:sp>
      <p:sp>
        <p:nvSpPr>
          <p:cNvPr id="37" name="TextBox 36"/>
          <p:cNvSpPr txBox="1"/>
          <p:nvPr/>
        </p:nvSpPr>
        <p:spPr>
          <a:xfrm>
            <a:off x="3017520" y="493775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Charts and Data Window</a:t>
            </a:r>
          </a:p>
        </p:txBody>
      </p:sp>
      <p:sp>
        <p:nvSpPr>
          <p:cNvPr id="38" name="TextBox 37"/>
          <p:cNvSpPr txBox="1"/>
          <p:nvPr/>
        </p:nvSpPr>
        <p:spPr>
          <a:xfrm>
            <a:off x="7260336" y="493775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Market Data API: bars, quotes, trades, news (IEX free)</a:t>
            </a:r>
          </a:p>
        </p:txBody>
      </p:sp>
      <p:sp>
        <p:nvSpPr>
          <p:cNvPr id="39" name="TextBox 38"/>
          <p:cNvSpPr txBox="1"/>
          <p:nvPr/>
        </p:nvSpPr>
        <p:spPr>
          <a:xfrm>
            <a:off x="886968" y="53797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Machine learning</a:t>
            </a:r>
          </a:p>
        </p:txBody>
      </p:sp>
      <p:sp>
        <p:nvSpPr>
          <p:cNvPr id="40" name="TextBox 39"/>
          <p:cNvSpPr txBox="1"/>
          <p:nvPr/>
        </p:nvSpPr>
        <p:spPr>
          <a:xfrm>
            <a:off x="3017520" y="53797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Not supported</a:t>
            </a:r>
          </a:p>
        </p:txBody>
      </p:sp>
      <p:sp>
        <p:nvSpPr>
          <p:cNvPr id="41" name="TextBox 40"/>
          <p:cNvSpPr txBox="1"/>
          <p:nvPr/>
        </p:nvSpPr>
        <p:spPr>
          <a:xfrm>
            <a:off x="7260336" y="53797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Any Python library (scikit-learn, XGBoost)</a:t>
            </a:r>
          </a:p>
        </p:txBody>
      </p:sp>
      <p:sp>
        <p:nvSpPr>
          <p:cNvPr id="42" name="Rectangle 41"/>
          <p:cNvSpPr/>
          <p:nvPr/>
        </p:nvSpPr>
        <p:spPr>
          <a:xfrm>
            <a:off x="777240" y="582168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582168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Best used for</a:t>
            </a:r>
          </a:p>
        </p:txBody>
      </p:sp>
      <p:sp>
        <p:nvSpPr>
          <p:cNvPr id="44" name="TextBox 43"/>
          <p:cNvSpPr txBox="1"/>
          <p:nvPr/>
        </p:nvSpPr>
        <p:spPr>
          <a:xfrm>
            <a:off x="3017520" y="582168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Designing, visualising and first-testing a rule</a:t>
            </a:r>
          </a:p>
        </p:txBody>
      </p:sp>
      <p:sp>
        <p:nvSpPr>
          <p:cNvPr id="45" name="TextBox 44"/>
          <p:cNvSpPr txBox="1"/>
          <p:nvPr/>
        </p:nvSpPr>
        <p:spPr>
          <a:xfrm>
            <a:off x="7260336" y="582168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Executing and forward-testing it automatically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Paper Trading on TradingView,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Supercharts &gt; Trade &gt; Paper Trading &gt; Connect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starting capital and commission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Order ticket: side, quantity, Market / Limit / Stop</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stop loss and take profit; place order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Track Positions, Orders, Account History</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Close the position; reset when done</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Paper fills use TradingView's prices but cannot show your own market impact - compare them with the backtest's assumed costs.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Paper Trading on Alpaca, Step by Step - Manual and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Dashboard: Paper account &gt; search SPY &gt; Buy</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Watch Orders: new &gt; accepted &gt; filled</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Outside US hours: extended-hours LIMIT orders</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python -m pipeline execute (order manager)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python -m pipeline run --loop --live-paper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Check dashboard; kill switch to stop</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From Singapore the US regular session is 21:30-04:00 (22:30-05:00 in northern winter); class-time orders use Alpaca's 24/5 extended-hours limit orders.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Order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program must read the status — never assume a fill.</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new</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accepted</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partially filled</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filled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cancelled / expired / rejected</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Bracket orders protect a position even if your program stops running.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Idea to Tested Rule on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A3</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Chart the instrument and timeframe</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indicators (Pine)</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Write the strategy() script</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commission and slippage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Read the Strategy Tester</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buy-and-hold</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Strategy Tester is a first filter; the full test with costs runs in Python.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Indicator Stage: Pine Script v6 Indicators and their Python Twins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Add the desk's Pine Script v6 indicators to a TradingView chart, build pipeline/indicators.py with twins of ta.ema, ta.sma, ta.rsi, ta.bb, ta.atr, ta.macd, ta.crossover and ta.crossunder, and cross-check the values against the TradingView Data Window.</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trend and bands indicator</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RSI pane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Record the TradingView values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Pine twins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cross-check run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Pine Script v6 indicators on TradingView and their Python twins, cross-checked value by value.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5_pine_preview.png"/>
          <p:cNvPicPr>
            <a:picLocks noChangeAspect="1"/>
          </p:cNvPicPr>
          <p:nvPr/>
        </p:nvPicPr>
        <p:blipFill>
          <a:blip r:embed="rId2"/>
          <a:stretch>
            <a:fillRect/>
          </a:stretch>
        </p:blipFill>
        <p:spPr>
          <a:xfrm>
            <a:off x="2870033" y="1828800"/>
            <a:ext cx="6451628" cy="3794760"/>
          </a:xfrm>
          <a:prstGeom prst="rect">
            <a:avLst/>
          </a:prstGeom>
        </p:spPr>
      </p:pic>
      <p:sp>
        <p:nvSpPr>
          <p:cNvPr id="8" name="Rectangle 7"/>
          <p:cNvSpPr/>
          <p:nvPr/>
        </p:nvSpPr>
        <p:spPr>
          <a:xfrm>
            <a:off x="2859060" y="1817827"/>
            <a:ext cx="6473574"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Lab05-pine-indicators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The Exported Strategy in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5_pine_strategy.png"/>
          <p:cNvPicPr>
            <a:picLocks noChangeAspect="1"/>
          </p:cNvPicPr>
          <p:nvPr/>
        </p:nvPicPr>
        <p:blipFill>
          <a:blip r:embed="rId2"/>
          <a:stretch>
            <a:fillRect/>
          </a:stretch>
        </p:blipFill>
        <p:spPr>
          <a:xfrm>
            <a:off x="1636368" y="1645920"/>
            <a:ext cx="8918958" cy="4114800"/>
          </a:xfrm>
          <a:prstGeom prst="rect">
            <a:avLst/>
          </a:prstGeom>
        </p:spPr>
      </p:pic>
      <p:sp>
        <p:nvSpPr>
          <p:cNvPr id="8" name="Rectangle 7"/>
          <p:cNvSpPr/>
          <p:nvPr/>
        </p:nvSpPr>
        <p:spPr>
          <a:xfrm>
            <a:off x="1625395" y="1634947"/>
            <a:ext cx="894090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The EMA crossover exported from the simulator as Pine Script v6, pasted into TradingView's Pine Editor and added to the SPY chart: the Strategy Tester reports PnL, drawdown and profitable trades to compare with the simulator's backtest.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 Prototype: TradingView Strategy Tester, Paper Trading from the Chart and Pipeline Reconciliation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Configure a Pine Script v6 strategy with costs, read the Strategy Tester, build `python -m pipeline reconcile` to check the Pine settings and reproduce the results, and place and manage paper trades from the chart with TradingView Paper Trading (and optionally an Alpaca paper account).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strategy code</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it in the Strategy Tester and record the results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reconciliation stage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Reconcile TradingView with the pipeline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Explain the differences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Pine MA-crossover strategy with costs, reconciled with the pipeline and paper-traded from the chart.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6_crosscheck.png"/>
          <p:cNvPicPr>
            <a:picLocks noChangeAspect="1"/>
          </p:cNvPicPr>
          <p:nvPr/>
        </p:nvPicPr>
        <p:blipFill>
          <a:blip r:embed="rId2"/>
          <a:stretch>
            <a:fillRect/>
          </a:stretch>
        </p:blipFill>
        <p:spPr>
          <a:xfrm>
            <a:off x="2918027" y="1828800"/>
            <a:ext cx="6355640" cy="3794760"/>
          </a:xfrm>
          <a:prstGeom prst="rect">
            <a:avLst/>
          </a:prstGeom>
        </p:spPr>
      </p:pic>
      <p:sp>
        <p:nvSpPr>
          <p:cNvPr id="8" name="Rectangle 7"/>
          <p:cNvSpPr/>
          <p:nvPr/>
        </p:nvSpPr>
        <p:spPr>
          <a:xfrm>
            <a:off x="2907054" y="1817827"/>
            <a:ext cx="637758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Lab06-pine-strategy-tester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06 — The SMA 50/200 Backtest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6_backtest.png"/>
          <p:cNvPicPr>
            <a:picLocks noChangeAspect="1"/>
          </p:cNvPicPr>
          <p:nvPr/>
        </p:nvPicPr>
        <p:blipFill>
          <a:blip r:embed="rId2"/>
          <a:stretch>
            <a:fillRect/>
          </a:stretch>
        </p:blipFill>
        <p:spPr>
          <a:xfrm>
            <a:off x="1811038" y="1645920"/>
            <a:ext cx="8569618" cy="4114800"/>
          </a:xfrm>
          <a:prstGeom prst="rect">
            <a:avLst/>
          </a:prstGeom>
        </p:spPr>
      </p:pic>
      <p:sp>
        <p:nvSpPr>
          <p:cNvPr id="8" name="Rectangle 7"/>
          <p:cNvSpPr/>
          <p:nvPr/>
        </p:nvSpPr>
        <p:spPr>
          <a:xfrm>
            <a:off x="1800065" y="1634947"/>
            <a:ext cx="859156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Backtest: SMA crossover 50/200 on SPY with Alpaca commission-free costs and next-bar-open fills - return, CAGR, Sharpe, drawdown and trades beside buy-and-hold, ready to reconcile with TradingView's Strategy Tester.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15 minutes  ·  see you at 15:40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Signal Stage: a Library of Trend, Mean-Reversion, Momentum and Breakout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pipeline/signals.py with trend, mean-reversion, momentum and breakout signals that return target positions with next-bar alignment, a registry, an automated look-ahead test and a universe target file for the execution stage.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Agree the signal contract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trend signals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mean-reversion, momentum and breakout signals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registry, next-bar alignment and the look-ahead 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signals command</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signal library (trend, mean reversion, momentum, breakout) with next-bar alignment and look-ahead tests.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7_signals.png"/>
          <p:cNvPicPr>
            <a:picLocks noChangeAspect="1"/>
          </p:cNvPicPr>
          <p:nvPr/>
        </p:nvPicPr>
        <p:blipFill>
          <a:blip r:embed="rId2"/>
          <a:stretch>
            <a:fillRect/>
          </a:stretch>
        </p:blipFill>
        <p:spPr>
          <a:xfrm>
            <a:off x="3635598" y="1828800"/>
            <a:ext cx="4920497" cy="3794760"/>
          </a:xfrm>
          <a:prstGeom prst="rect">
            <a:avLst/>
          </a:prstGeom>
        </p:spPr>
      </p:pic>
      <p:sp>
        <p:nvSpPr>
          <p:cNvPr id="8" name="Rectangle 7"/>
          <p:cNvSpPr/>
          <p:nvPr/>
        </p:nvSpPr>
        <p:spPr>
          <a:xfrm>
            <a:off x="3624625" y="1817827"/>
            <a:ext cx="4942443"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Lab07-technical-indicators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07 — Mean Reversion in TradingView, with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7_bb_paper_trading.png"/>
          <p:cNvPicPr>
            <a:picLocks noChangeAspect="1"/>
          </p:cNvPicPr>
          <p:nvPr/>
        </p:nvPicPr>
        <p:blipFill>
          <a:blip r:embed="rId2"/>
          <a:stretch>
            <a:fillRect/>
          </a:stretch>
        </p:blipFill>
        <p:spPr>
          <a:xfrm>
            <a:off x="1939173" y="1645920"/>
            <a:ext cx="8313347" cy="4114800"/>
          </a:xfrm>
          <a:prstGeom prst="rect">
            <a:avLst/>
          </a:prstGeom>
        </p:spPr>
      </p:pic>
      <p:sp>
        <p:nvSpPr>
          <p:cNvPr id="8" name="Rectangle 7"/>
          <p:cNvSpPr/>
          <p:nvPr/>
        </p:nvSpPr>
        <p:spPr>
          <a:xfrm>
            <a:off x="1928200" y="1634947"/>
            <a:ext cx="8335293"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Bollinger Bands mean reversion (20, 2) on SPY with TradingView Paper Trading's order panel open. It lost 7.87% since 1993 though 59% of trades won: buying dips in a trending index hurts, so the lab runs it on KO.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Execution Stage: an Order Manager that Trades the Paper Account in Any Session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pipeline/execution.py: a session-aware, idempotent order manager that sizes orders from target weights, sends market, extended-hours limit, GTC-queued or bracket PAPER orders, polls their lifecycle, cancels protective legs before exits, and falls back safely when an order is rejected.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Learn the order rules for each session</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planning logic: target vs actual</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session-aware, idempotent order submission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polling, protective-order handling and safe fallbacks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order manager in the current session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order manager that turns target positions into paper orders in regular or extended hours.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The Paper Order Ticket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ticket.png"/>
          <p:cNvPicPr>
            <a:picLocks noChangeAspect="1"/>
          </p:cNvPicPr>
          <p:nvPr/>
        </p:nvPicPr>
        <p:blipFill>
          <a:blip r:embed="rId2"/>
          <a:stretch>
            <a:fillRect/>
          </a:stretch>
        </p:blipFill>
        <p:spPr>
          <a:xfrm>
            <a:off x="1813685" y="1645920"/>
            <a:ext cx="8564324" cy="4114800"/>
          </a:xfrm>
          <a:prstGeom prst="rect">
            <a:avLst/>
          </a:prstGeom>
        </p:spPr>
      </p:pic>
      <p:sp>
        <p:nvSpPr>
          <p:cNvPr id="8" name="Rectangle 7"/>
          <p:cNvSpPr/>
          <p:nvPr/>
        </p:nvSpPr>
        <p:spPr>
          <a:xfrm>
            <a:off x="1802712" y="1634947"/>
            <a:ext cx="8586269"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Paper Trading &gt; Order ticket: buy 10 SPY, type auto (session-aware), time in force day, default paper account, Session (sim) = real clock. The banner shows the live session - here REGULAR, so all order types are accepted.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Risk Checks Passed, Order Filled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accepted.png"/>
          <p:cNvPicPr>
            <a:picLocks noChangeAspect="1"/>
          </p:cNvPicPr>
          <p:nvPr/>
        </p:nvPicPr>
        <p:blipFill>
          <a:blip r:embed="rId2"/>
          <a:stretch>
            <a:fillRect/>
          </a:stretch>
        </p:blipFill>
        <p:spPr>
          <a:xfrm>
            <a:off x="1805275" y="1645920"/>
            <a:ext cx="8581144" cy="4114800"/>
          </a:xfrm>
          <a:prstGeom prst="rect">
            <a:avLst/>
          </a:prstGeom>
        </p:spPr>
      </p:pic>
      <p:sp>
        <p:nvSpPr>
          <p:cNvPr id="8" name="Rectangle 7"/>
          <p:cNvSpPr/>
          <p:nvPr/>
        </p:nvSpPr>
        <p:spPr>
          <a:xfrm>
            <a:off x="1794302" y="1634947"/>
            <a:ext cx="8603090"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After Send paper order: ACCEPTED, all checks passed - BUY 10 SPY MARKET DAY -&gt; filled. Every manual order passes the same pre-trade checks as the bots: kill switch, duplicate, session, allow list, long only, daily loss, max order quantity and value, max 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Evaluation Stage: Performance and Risk Metrics with a Benchmark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K3</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evaluate` to compute total return, CAGR, volatility, Sharpe, Sortino, maximum drawdown, Calmar, win rate, profit factor, exposure, turnover, alpha and beta for every signal against a buy-and-hold benchmark, and interpret the ranking.</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metric formulas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evaluation stage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evaluation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Check one metric by hand</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Interpret trade and market metrics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evaluation stage producing the metrics and benchmark table for every strategy.</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9_metrics.png"/>
          <p:cNvPicPr>
            <a:picLocks noChangeAspect="1"/>
          </p:cNvPicPr>
          <p:nvPr/>
        </p:nvPicPr>
        <p:blipFill>
          <a:blip r:embed="rId2"/>
          <a:stretch>
            <a:fillRect/>
          </a:stretch>
        </p:blipFill>
        <p:spPr>
          <a:xfrm>
            <a:off x="2918027" y="1828800"/>
            <a:ext cx="6355640" cy="3794760"/>
          </a:xfrm>
          <a:prstGeom prst="rect">
            <a:avLst/>
          </a:prstGeom>
        </p:spPr>
      </p:pic>
      <p:sp>
        <p:nvSpPr>
          <p:cNvPr id="8" name="Rectangle 7"/>
          <p:cNvSpPr/>
          <p:nvPr/>
        </p:nvSpPr>
        <p:spPr>
          <a:xfrm>
            <a:off x="2907054" y="1817827"/>
            <a:ext cx="637758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Lab09-performance-metrics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Strategy versus Benchmark in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9_analytics.png"/>
          <p:cNvPicPr>
            <a:picLocks noChangeAspect="1"/>
          </p:cNvPicPr>
          <p:nvPr/>
        </p:nvPicPr>
        <p:blipFill>
          <a:blip r:embed="rId2"/>
          <a:stretch>
            <a:fillRect/>
          </a:stretch>
        </p:blipFill>
        <p:spPr>
          <a:xfrm>
            <a:off x="1898523" y="1645920"/>
            <a:ext cx="8394647" cy="4114800"/>
          </a:xfrm>
          <a:prstGeom prst="rect">
            <a:avLst/>
          </a:prstGeom>
        </p:spPr>
      </p:pic>
      <p:sp>
        <p:nvSpPr>
          <p:cNvPr id="8" name="Rectangle 7"/>
          <p:cNvSpPr/>
          <p:nvPr/>
        </p:nvSpPr>
        <p:spPr>
          <a:xfrm>
            <a:off x="1887551" y="1634947"/>
            <a:ext cx="8416592"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Performance Analytics for the SMA 50/200 backtest against SPY buy-and-hold: 79.71% versus 187.26% total return, Sharpe 0.55 versus 0.78 and the same -33.72% maximum drawdown, with drawdown, rolling Sharpe and monthly returns. Hover any metric for its definition.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2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K5  K7</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See you at 09:00 tomorrow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7C3AED"/>
                </a:solidFill>
                <a:latin typeface="Arial"/>
              </a:rPr>
              <a:t>TOPIC 3</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ML Models and A/B Testing</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7C3AED"/>
                </a:solidFill>
                <a:latin typeface="Arial"/>
              </a:rPr>
              <a:t>LEARNING OUTCOME</a:t>
            </a:r>
          </a:p>
          <a:p>
            <a:pPr algn="l">
              <a:spcAft>
                <a:spcPts val="400"/>
              </a:spcAft>
            </a:pPr>
            <a:r>
              <a:rPr sz="1350" b="0">
                <a:solidFill>
                  <a:srgbClr val="161B26"/>
                </a:solidFill>
                <a:latin typeface="Arial"/>
              </a:rPr>
              <a:t>Conduct statistical modelling of market data with machine learning models to derive patterns and solutions, and perform A/B testing of trading strategies based on different hypotheses.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A4, A5  ·  Knowledge K2, K4, K6   ·   Day 2   ·   Labs 10–14   ·   Assessed by PP Task 3 and WA Q2, Q4, Q6</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Statistical Analyses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Descriptive</a:t>
            </a:r>
          </a:p>
          <a:p>
            <a:pPr algn="l">
              <a:spcAft>
                <a:spcPts val="300"/>
              </a:spcAft>
            </a:pPr>
            <a:r>
              <a:rPr sz="1150" b="0">
                <a:solidFill>
                  <a:srgbClr val="5B6372"/>
                </a:solidFill>
                <a:latin typeface="Arial"/>
              </a:rPr>
              <a:t>What happened — mean return, volatility, skew, correlation.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Inferential</a:t>
            </a:r>
          </a:p>
          <a:p>
            <a:pPr algn="l">
              <a:spcAft>
                <a:spcPts val="300"/>
              </a:spcAft>
            </a:pPr>
            <a:r>
              <a:rPr sz="1150" b="0">
                <a:solidFill>
                  <a:srgbClr val="5B6372"/>
                </a:solidFill>
                <a:latin typeface="Arial"/>
              </a:rPr>
              <a:t>Is it real? — t-test, bootstrap, confidence intervals.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Predictive</a:t>
            </a:r>
          </a:p>
          <a:p>
            <a:pPr algn="l">
              <a:spcAft>
                <a:spcPts val="300"/>
              </a:spcAft>
            </a:pPr>
            <a:r>
              <a:rPr sz="1150" b="0">
                <a:solidFill>
                  <a:srgbClr val="5B6372"/>
                </a:solidFill>
                <a:latin typeface="Arial"/>
              </a:rPr>
              <a:t>What next? — regression, classification.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Prescriptive</a:t>
            </a:r>
          </a:p>
          <a:p>
            <a:pPr algn="l">
              <a:spcAft>
                <a:spcPts val="300"/>
              </a:spcAft>
            </a:pPr>
            <a:r>
              <a:rPr sz="1150" b="0">
                <a:solidFill>
                  <a:srgbClr val="5B6372"/>
                </a:solidFill>
                <a:latin typeface="Arial"/>
              </a:rPr>
              <a:t>What to do? — optimisation, position sizing.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Families of Learning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Supervised</a:t>
            </a:r>
          </a:p>
          <a:p>
            <a:pPr algn="l">
              <a:spcAft>
                <a:spcPts val="300"/>
              </a:spcAft>
            </a:pPr>
            <a:r>
              <a:rPr sz="1150" b="0">
                <a:solidFill>
                  <a:srgbClr val="5B6372"/>
                </a:solidFill>
                <a:latin typeface="Arial"/>
              </a:rPr>
              <a:t>Features → known target: up/down, next return.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Unsupervised</a:t>
            </a:r>
          </a:p>
          <a:p>
            <a:pPr algn="l">
              <a:spcAft>
                <a:spcPts val="300"/>
              </a:spcAft>
            </a:pPr>
            <a:r>
              <a:rPr sz="1150" b="0">
                <a:solidFill>
                  <a:srgbClr val="5B6372"/>
                </a:solidFill>
                <a:latin typeface="Arial"/>
              </a:rPr>
              <a:t>Structure without a target: regimes, PCA factors.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Reinforcement</a:t>
            </a:r>
          </a:p>
          <a:p>
            <a:pPr algn="l">
              <a:spcAft>
                <a:spcPts val="300"/>
              </a:spcAft>
            </a:pPr>
            <a:r>
              <a:rPr sz="1150" b="0">
                <a:solidFill>
                  <a:srgbClr val="5B6372"/>
                </a:solidFill>
                <a:latin typeface="Arial"/>
              </a:rPr>
              <a:t>Learn a policy from rewards — execution research.</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Search &amp; simulation</a:t>
            </a:r>
          </a:p>
          <a:p>
            <a:pPr algn="l">
              <a:spcAft>
                <a:spcPts val="300"/>
              </a:spcAft>
            </a:pPr>
            <a:r>
              <a:rPr sz="1150" b="0">
                <a:solidFill>
                  <a:srgbClr val="5B6372"/>
                </a:solidFill>
                <a:latin typeface="Arial"/>
              </a:rPr>
              <a:t>Grid search, Monte Carlo, bootstrap, walk-forward.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Supervised Models for Trading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Linear / logistic regression</a:t>
            </a:r>
          </a:p>
          <a:p>
            <a:pPr algn="l">
              <a:spcAft>
                <a:spcPts val="300"/>
              </a:spcAft>
            </a:pPr>
            <a:r>
              <a:rPr sz="1150" b="0">
                <a:solidFill>
                  <a:srgbClr val="5B6372"/>
                </a:solidFill>
                <a:latin typeface="Arial"/>
              </a:rPr>
              <a:t>Interpretable baselines; P(up) from a weighted sum.</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Decision tree &amp; random forest</a:t>
            </a:r>
          </a:p>
          <a:p>
            <a:pPr algn="l">
              <a:spcAft>
                <a:spcPts val="300"/>
              </a:spcAft>
            </a:pPr>
            <a:r>
              <a:rPr sz="1150" b="0">
                <a:solidFill>
                  <a:srgbClr val="5B6372"/>
                </a:solidFill>
                <a:latin typeface="Arial"/>
              </a:rPr>
              <a:t>Threshold splits; averaged trees reduce variance.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XGBoost</a:t>
            </a:r>
          </a:p>
          <a:p>
            <a:pPr algn="l">
              <a:spcAft>
                <a:spcPts val="300"/>
              </a:spcAft>
            </a:pPr>
            <a:r>
              <a:rPr sz="1150" b="0">
                <a:solidFill>
                  <a:srgbClr val="5B6372"/>
                </a:solidFill>
                <a:latin typeface="Arial"/>
              </a:rPr>
              <a:t>Sequential boosted trees — strongest on tabular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Neural networks</a:t>
            </a:r>
          </a:p>
          <a:p>
            <a:pPr algn="l">
              <a:spcAft>
                <a:spcPts val="300"/>
              </a:spcAft>
            </a:pPr>
            <a:r>
              <a:rPr sz="1150" b="0">
                <a:solidFill>
                  <a:srgbClr val="5B6372"/>
                </a:solidFill>
                <a:latin typeface="Arial"/>
              </a:rPr>
              <a:t>MLP, LSTM, Transformer — data-hungry, easy to overfit.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Unsupervised Models for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K-means</a:t>
            </a:r>
          </a:p>
          <a:p>
            <a:pPr algn="l">
              <a:spcAft>
                <a:spcPts val="300"/>
              </a:spcAft>
            </a:pPr>
            <a:r>
              <a:rPr sz="1150" b="0">
                <a:solidFill>
                  <a:srgbClr val="5B6372"/>
                </a:solidFill>
                <a:latin typeface="Arial"/>
              </a:rPr>
              <a:t>Minimise within-cluster variance; choose k by elbow or silhouette.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Hierarchical clustering</a:t>
            </a:r>
          </a:p>
          <a:p>
            <a:pPr algn="l">
              <a:spcAft>
                <a:spcPts val="300"/>
              </a:spcAft>
            </a:pPr>
            <a:r>
              <a:rPr sz="1150" b="0">
                <a:solidFill>
                  <a:srgbClr val="5B6372"/>
                </a:solidFill>
                <a:latin typeface="Arial"/>
              </a:rPr>
              <a:t>Dendrogram of similar assets for diversification.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PCA</a:t>
            </a:r>
          </a:p>
          <a:p>
            <a:pPr algn="l">
              <a:spcAft>
                <a:spcPts val="300"/>
              </a:spcAft>
            </a:pPr>
            <a:r>
              <a:rPr sz="1150" b="0">
                <a:solidFill>
                  <a:srgbClr val="5B6372"/>
                </a:solidFill>
                <a:latin typeface="Arial"/>
              </a:rPr>
              <a:t>First component ≈ the market; yield curve = level, slope, curvature.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Fit on the past only</a:t>
            </a:r>
          </a:p>
          <a:p>
            <a:pPr algn="l">
              <a:spcAft>
                <a:spcPts val="300"/>
              </a:spcAft>
            </a:pPr>
            <a:r>
              <a:rPr sz="1150" b="0">
                <a:solidFill>
                  <a:srgbClr val="5B6372"/>
                </a:solidFill>
                <a:latin typeface="Arial"/>
              </a:rPr>
              <a:t>Assign new days to regimes as they arrive.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Statistical Modelling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Returns, not prices</a:t>
            </a:r>
          </a:p>
          <a:p>
            <a:pPr algn="l">
              <a:spcAft>
                <a:spcPts val="300"/>
              </a:spcAft>
            </a:pPr>
            <a:r>
              <a:rPr sz="1150" b="0">
                <a:solidFill>
                  <a:srgbClr val="5B6372"/>
                </a:solidFill>
                <a:latin typeface="Arial"/>
              </a:rPr>
              <a:t>Closer to stationary; avoids spurious regression.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Time-ordered validation</a:t>
            </a:r>
          </a:p>
          <a:p>
            <a:pPr algn="l">
              <a:spcAft>
                <a:spcPts val="300"/>
              </a:spcAft>
            </a:pPr>
            <a:r>
              <a:rPr sz="1150" b="0">
                <a:solidFill>
                  <a:srgbClr val="5B6372"/>
                </a:solidFill>
                <a:latin typeface="Arial"/>
              </a:rPr>
              <a:t>TimeSeriesSplit and walk-forward — never shuffle.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Leak-free features</a:t>
            </a:r>
          </a:p>
          <a:p>
            <a:pPr algn="l">
              <a:spcAft>
                <a:spcPts val="300"/>
              </a:spcAft>
            </a:pPr>
            <a:r>
              <a:rPr sz="1150" b="0">
                <a:solidFill>
                  <a:srgbClr val="5B6372"/>
                </a:solidFill>
                <a:latin typeface="Arial"/>
              </a:rPr>
              <a:t>Lags and rolling windows known at decision time.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Regularise</a:t>
            </a:r>
          </a:p>
          <a:p>
            <a:pPr algn="l">
              <a:spcAft>
                <a:spcPts val="300"/>
              </a:spcAft>
            </a:pPr>
            <a:r>
              <a:rPr sz="1150" b="0">
                <a:solidFill>
                  <a:srgbClr val="5B6372"/>
                </a:solidFill>
                <a:latin typeface="Arial"/>
              </a:rPr>
              <a:t>L1/L2, depth limits, early stopping, fewer features.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State H0 and H1 first</a:t>
            </a:r>
          </a:p>
          <a:p>
            <a:pPr algn="l">
              <a:spcAft>
                <a:spcPts val="300"/>
              </a:spcAft>
            </a:pPr>
            <a:r>
              <a:rPr sz="1150" b="0">
                <a:solidFill>
                  <a:srgbClr val="5B6372"/>
                </a:solidFill>
                <a:latin typeface="Arial"/>
              </a:rPr>
              <a:t>H0: equal mean returns; H1: B is higher. α = 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Welch's t-test</a:t>
            </a:r>
          </a:p>
          <a:p>
            <a:pPr algn="l">
              <a:spcAft>
                <a:spcPts val="300"/>
              </a:spcAft>
            </a:pPr>
            <a:r>
              <a:rPr sz="1150" b="0">
                <a:solidFill>
                  <a:srgbClr val="5B6372"/>
                </a:solidFill>
                <a:latin typeface="Arial"/>
              </a:rPr>
              <a:t>Compare mean daily returns with unequal variances.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Bootstrap the Sharpe difference</a:t>
            </a:r>
          </a:p>
          <a:p>
            <a:pPr algn="l">
              <a:spcAft>
                <a:spcPts val="300"/>
              </a:spcAft>
            </a:pPr>
            <a:r>
              <a:rPr sz="1150" b="0">
                <a:solidFill>
                  <a:srgbClr val="5B6372"/>
                </a:solidFill>
                <a:latin typeface="Arial"/>
              </a:rPr>
              <a:t>Resample returns; 95% CI excluding 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Mind multiple testing</a:t>
            </a:r>
          </a:p>
          <a:p>
            <a:pPr algn="l">
              <a:spcAft>
                <a:spcPts val="300"/>
              </a:spcAft>
            </a:pPr>
            <a:r>
              <a:rPr sz="1150" b="0">
                <a:solidFill>
                  <a:srgbClr val="5B6372"/>
                </a:solidFill>
                <a:latin typeface="Arial"/>
              </a:rPr>
              <a:t>100 variants → ~5 false 'winners' by chance.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Logistic Regression for Direction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logistic.png"/>
          <p:cNvPicPr>
            <a:picLocks noChangeAspect="1"/>
          </p:cNvPicPr>
          <p:nvPr/>
        </p:nvPicPr>
        <p:blipFill>
          <a:blip r:embed="rId2"/>
          <a:stretch>
            <a:fillRect/>
          </a:stretch>
        </p:blipFill>
        <p:spPr>
          <a:xfrm>
            <a:off x="777240" y="2529219"/>
            <a:ext cx="6172200" cy="294256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Fits P(up tomorrow) = 1 / (1 + e^-(b0 + b1 x1 + ...)) from features known today.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Go long when P(up) exceeds a threshold such as 0.55; otherwise stay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 transparent baseline: each coefficient shows how a feature moves the probability.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Only linear effects unless you engineer features; daily direction is close to a coin toss.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Decision Tree and Random Forest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tree.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A tree splits the data on feature thresholds (e.g. RSI &lt; 30) into leaves with an up/down share.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A random forest averages hundreds of trees, each grown on a random sample of rows and features.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Non-linear, interacting signals - e.g. oversold AND low volatility.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Deep trees memorise noise; limit depth and leaf size and validate walk-forward.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Gradient Boosting (XGBoost)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boost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Builds trees one after another; each new tree corrects the errors of the ensemble so far.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Prediction = sum of many small trees x learning rate; stop early when test loss stops falling.</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Tabular features such as returns, indicators and volatility - usually the strongest model.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Training loss keeps falling while test loss rises: classic overfitting (see the chart).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K-Means Clustering for Market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kmeans.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Groups days into k clusters by minimising the distance of each day to its cluster centre.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Features: rolling return and volatility (standardised). Name clusters by their averages.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Switching or sizing strategies by regime: trend in calm markets, cut risk when stressed.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Fit on past data only; choose k with the elbow or silhouette method; regimes shift.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Principal Component Analysis (PCA)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pca.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Finds uncorrelated combinations of assets that explain the most variance of returns.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PC1 of a stock universe is 'the market'; later PCs are sector or style factors.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Reducing many correlated features; building factor-neutral and pairs portfolios.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Standardise first; components change over time; PCs are statistical, not economic, factors.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Walk-Forward Validation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walk_forward.png"/>
          <p:cNvPicPr>
            <a:picLocks noChangeAspect="1"/>
          </p:cNvPicPr>
          <p:nvPr/>
        </p:nvPicPr>
        <p:blipFill>
          <a:blip r:embed="rId2"/>
          <a:stretch>
            <a:fillRect/>
          </a:stretch>
        </p:blipFill>
        <p:spPr>
          <a:xfrm>
            <a:off x="777240" y="2633240"/>
            <a:ext cx="6172200" cy="273451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Train on a past window, test on the next unseen block, then roll forward and repeat.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Never shuffle time series; each test block is genuinely out of sample.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Estimating how a model or parameter set would really have performed live.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Overlapping targets leak information - leave a gap between train and test.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pic>
        <p:nvPicPr>
          <p:cNvPr id="10" name="Picture 9" descr="algo_ab_test.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Compare variant A and B on the same days: H0 'no difference' vs H1 'B is better'.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Welch / paired t-test on daily returns; bootstrap a 95% CI of the Sharpe difference.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Deciding which parameter set or filter to promote to paper trading.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If the CI contains 0, do not reject H0; testing 100 variants gives ~5 false winners.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Build leak-free features</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Train on past window</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Predict P(up) for tomorrow</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Long if P(up) &gt; 0.55, else flat</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net of costs</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Judge the model by the net-of-cost strategy, not by accuracy alone.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Pairs Trading: a Hedging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it is a hedge</a:t>
            </a:r>
          </a:p>
          <a:p>
            <a:pPr algn="l">
              <a:spcAft>
                <a:spcPts val="300"/>
              </a:spcAft>
            </a:pPr>
            <a:r>
              <a:rPr sz="1000" b="0">
                <a:solidFill>
                  <a:srgbClr val="5B6372"/>
                </a:solidFill>
                <a:latin typeface="Arial"/>
              </a:rPr>
              <a:t>Long the cheap stock, short the rich one in hedge-ratio proportion: market moves largely cancel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Choose the pair</a:t>
            </a:r>
          </a:p>
          <a:p>
            <a:pPr algn="l">
              <a:spcAft>
                <a:spcPts val="300"/>
              </a:spcAft>
            </a:pPr>
            <a:r>
              <a:rPr sz="1000" b="0">
                <a:solidFill>
                  <a:srgbClr val="5B6372"/>
                </a:solidFill>
                <a:latin typeface="Arial"/>
              </a:rPr>
              <a:t>Economically linked stocks (e.g. KO and PEP) that are cointegrated, not merely correlated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Hedge ratio and spread</a:t>
            </a:r>
          </a:p>
          <a:p>
            <a:pPr algn="l">
              <a:spcAft>
                <a:spcPts val="300"/>
              </a:spcAft>
            </a:pPr>
            <a:r>
              <a:rPr sz="1000" b="0">
                <a:solidFill>
                  <a:srgbClr val="5B6372"/>
                </a:solidFill>
                <a:latin typeface="Arial"/>
              </a:rPr>
              <a:t>Regress log price A on log price B: slope = hedge ratio, residual = the spread (Engle-Granger)</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Test the spread</a:t>
            </a:r>
          </a:p>
          <a:p>
            <a:pPr algn="l">
              <a:spcAft>
                <a:spcPts val="300"/>
              </a:spcAft>
            </a:pPr>
            <a:r>
              <a:rPr sz="1000" b="0">
                <a:solidFill>
                  <a:srgbClr val="5B6372"/>
                </a:solidFill>
                <a:latin typeface="Arial"/>
              </a:rPr>
              <a:t>ADF test on the residual: a stationary spread tends to revert to its mean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Trade the z-score</a:t>
            </a:r>
          </a:p>
          <a:p>
            <a:pPr algn="l">
              <a:spcAft>
                <a:spcPts val="300"/>
              </a:spcAft>
            </a:pPr>
            <a:r>
              <a:rPr sz="1000" b="0">
                <a:solidFill>
                  <a:srgbClr val="5B6372"/>
                </a:solidFill>
                <a:latin typeface="Arial"/>
              </a:rPr>
              <a:t>Enter when |z| &gt; 2, exit as z returns towards 0; trade both legs on the next bar</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Risks</a:t>
            </a:r>
          </a:p>
          <a:p>
            <a:pPr algn="l">
              <a:spcAft>
                <a:spcPts val="300"/>
              </a:spcAft>
            </a:pPr>
            <a:r>
              <a:rPr sz="1000" b="0">
                <a:solidFill>
                  <a:srgbClr val="5B6372"/>
                </a:solidFill>
                <a:latin typeface="Arial"/>
              </a:rPr>
              <a:t>Cointegration breaks, hedge ratio drifts, double costs, short-borrow, multiple testing</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Pairs-Trading Algorithm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Select an economically linked pair</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Estimate the hedge ratio (OLS)</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cointegration (ADF on residual)</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Compute the spread z-score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Enter / exit both legs</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re-test</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Gatev, Goetzmann and Rouwenhorst (2006): a simple pairs rule on US stocks earned average annualised excess returns of up to 11% (1962-2002); later studies find smaller and less consistent profits.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Pairs Trading (Hedged Statistical Arbitrage)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pairs.png"/>
          <p:cNvPicPr>
            <a:picLocks noChangeAspect="1"/>
          </p:cNvPicPr>
          <p:nvPr/>
        </p:nvPicPr>
        <p:blipFill>
          <a:blip r:embed="rId2"/>
          <a:stretch>
            <a:fillRect/>
          </a:stretch>
        </p:blipFill>
        <p:spPr>
          <a:xfrm>
            <a:off x="777240" y="2083742"/>
            <a:ext cx="6172200" cy="383351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Long one stock, short a cointegrated partner in hedge-ratio proportion: market moves cancel.</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Spread z &gt; +2: short A / long B. z &lt; -2: long A / short B. Exit as z returns to 0.</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Economically linked stocks (KO/PEP) whose spread has a stable mean.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Cointegration can break; costs on both legs; short-borrow; screening many pairs.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Strategy-Search Stage: Grid Search, Out-of-Sample Ranking and Decay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A4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search` to grid-search three signal families, rank parameter sets in sample, measure out-of-sample decay, prefer a robust parameter region, and decide whether anything deserves promotion into config.yaml.</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Define the search space</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grid search</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ranking, robustness and the decay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search</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overfitting evidence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strategy-search stage: grid search, out-of-sample ranking and the decay report.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0_grid_heatmap.png"/>
          <p:cNvPicPr>
            <a:picLocks noChangeAspect="1"/>
          </p:cNvPicPr>
          <p:nvPr/>
        </p:nvPicPr>
        <p:blipFill>
          <a:blip r:embed="rId2"/>
          <a:stretch>
            <a:fillRect/>
          </a:stretch>
        </p:blipFill>
        <p:spPr>
          <a:xfrm>
            <a:off x="1212295" y="1828800"/>
            <a:ext cx="9767103" cy="3794760"/>
          </a:xfrm>
          <a:prstGeom prst="rect">
            <a:avLst/>
          </a:prstGeom>
        </p:spPr>
      </p:pic>
      <p:sp>
        <p:nvSpPr>
          <p:cNvPr id="8" name="Rectangle 7"/>
          <p:cNvSpPr/>
          <p:nvPr/>
        </p:nvSpPr>
        <p:spPr>
          <a:xfrm>
            <a:off x="1201322" y="1817827"/>
            <a:ext cx="9789049"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Lab10-strategy-grid-search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ML-Signal Stage: a Walk-Forward Classifier 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pipeline/ml.py: engineer causal features, train logistic regression, random forest and XGBoost with walk-forward TimeSeriesSplit validation, turn P(up) into a target position and backtest it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causal features and the label</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walk-forward validation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Turn probability into a position and backtest it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ML stage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strategy result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walk-forward ML signal stage from predicted probability to position, with a leakage check.</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1_ml_strategy.png"/>
          <p:cNvPicPr>
            <a:picLocks noChangeAspect="1"/>
          </p:cNvPicPr>
          <p:nvPr/>
        </p:nvPicPr>
        <p:blipFill>
          <a:blip r:embed="rId2"/>
          <a:stretch>
            <a:fillRect/>
          </a:stretch>
        </p:blipFill>
        <p:spPr>
          <a:xfrm>
            <a:off x="984220" y="1828800"/>
            <a:ext cx="10223254" cy="3794760"/>
          </a:xfrm>
          <a:prstGeom prst="rect">
            <a:avLst/>
          </a:prstGeom>
        </p:spPr>
      </p:pic>
      <p:sp>
        <p:nvSpPr>
          <p:cNvPr id="8" name="Rectangle 7"/>
          <p:cNvSpPr/>
          <p:nvPr/>
        </p:nvSpPr>
        <p:spPr>
          <a:xfrm>
            <a:off x="973247" y="1817827"/>
            <a:ext cx="10245200"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Lab11-ml-signal-classifier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Regime-Filter Stage: PCA and K-Means as a Gate on the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pipeline/regime.py: PCA on the universe's returns, K-means regimes on backward-looking SPY features, walk-forward regime labels, and a gate that forces signals flat in the stress regime, evaluated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PCA and the regime features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walk-forward labels and the gate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regime stage and read the PCA</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regime profiles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Check the walk-forward labels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PCA / K-means regime gate applied to the signals, with before-and-after performance.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2_regimes.png"/>
          <p:cNvPicPr>
            <a:picLocks noChangeAspect="1"/>
          </p:cNvPicPr>
          <p:nvPr/>
        </p:nvPicPr>
        <p:blipFill>
          <a:blip r:embed="rId2"/>
          <a:stretch>
            <a:fillRect/>
          </a:stretch>
        </p:blipFill>
        <p:spPr>
          <a:xfrm>
            <a:off x="778611" y="1828800"/>
            <a:ext cx="10634472" cy="3011589"/>
          </a:xfrm>
          <a:prstGeom prst="rect">
            <a:avLst/>
          </a:prstGeom>
        </p:spPr>
      </p:pic>
      <p:sp>
        <p:nvSpPr>
          <p:cNvPr id="8" name="Rectangle 7"/>
          <p:cNvSpPr/>
          <p:nvPr/>
        </p:nvSpPr>
        <p:spPr>
          <a:xfrm>
            <a:off x="767638" y="1817827"/>
            <a:ext cx="10656417" cy="303353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986693"/>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86693"/>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86693"/>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Lab12-market-regimes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A/B-Test Stage: a Statistical Decision before Capital 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A5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abtest` to compare any two library signals with a Welch t-test, a paired t-test and a block-bootstrap confidence interval for the Sharpe difference, and to record an accept or reject decision with a multiple-testing caution.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State the hypotheses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statistics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A/B command</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A/B 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Compare the independent and paired tests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A/B-test stage that issues a statistical decision before capital moves.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3_ab_test.png"/>
          <p:cNvPicPr>
            <a:picLocks noChangeAspect="1"/>
          </p:cNvPicPr>
          <p:nvPr/>
        </p:nvPicPr>
        <p:blipFill>
          <a:blip r:embed="rId2"/>
          <a:stretch>
            <a:fillRect/>
          </a:stretch>
        </p:blipFill>
        <p:spPr>
          <a:xfrm>
            <a:off x="778611" y="1828800"/>
            <a:ext cx="10634472" cy="3679916"/>
          </a:xfrm>
          <a:prstGeom prst="rect">
            <a:avLst/>
          </a:prstGeom>
        </p:spPr>
      </p:pic>
      <p:sp>
        <p:nvSpPr>
          <p:cNvPr id="8" name="Rectangle 7"/>
          <p:cNvSpPr/>
          <p:nvPr/>
        </p:nvSpPr>
        <p:spPr>
          <a:xfrm>
            <a:off x="767638" y="1817827"/>
            <a:ext cx="10656417" cy="3701861"/>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65502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655020"/>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655020"/>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Lab13-ab-testing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Pairs Stage: a Hedged, Market-Neutral Statistical-Arbitrage Sleeve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pipeline/pairs.py: screen pairs with the Engle-Granger cointegration test, estimate the hedge ratio, trade the spread z-score out of sample with next-bar execution and costs on both legs, confirm market neutrality and output leg targets.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method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cointegration tools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spread trading rules and leg targets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pair screen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Interpret the hedge ratio</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hedged pairs sleeve: cointegration screen, hedge ratio and a market-neutral spread strategy.</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4_pairs_trading.png"/>
          <p:cNvPicPr>
            <a:picLocks noChangeAspect="1"/>
          </p:cNvPicPr>
          <p:nvPr/>
        </p:nvPicPr>
        <p:blipFill>
          <a:blip r:embed="rId2"/>
          <a:stretch>
            <a:fillRect/>
          </a:stretch>
        </p:blipFill>
        <p:spPr>
          <a:xfrm>
            <a:off x="3860746" y="1828800"/>
            <a:ext cx="4470202" cy="3794760"/>
          </a:xfrm>
          <a:prstGeom prst="rect">
            <a:avLst/>
          </a:prstGeom>
        </p:spPr>
      </p:pic>
      <p:sp>
        <p:nvSpPr>
          <p:cNvPr id="8" name="Rectangle 7"/>
          <p:cNvSpPr/>
          <p:nvPr/>
        </p:nvSpPr>
        <p:spPr>
          <a:xfrm>
            <a:off x="3849773" y="1817827"/>
            <a:ext cx="4492148"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Lab14-pairs-trading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3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7C3AED"/>
                </a:solidFill>
                <a:latin typeface="Arial"/>
              </a:rPr>
              <a:t>A4  A5  K2  K4  K6</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F59E0B"/>
                </a:solidFill>
                <a:latin typeface="Arial"/>
              </a:rPr>
              <a:t>TOPIC 4</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End-to-End Trading Pipeline</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F59E0B"/>
                </a:solidFill>
                <a:latin typeface="Arial"/>
              </a:rPr>
              <a:t>LEARNING OUTCOME</a:t>
            </a:r>
          </a:p>
          <a:p>
            <a:pPr algn="l">
              <a:spcAft>
                <a:spcPts val="400"/>
              </a:spcAft>
            </a:pPr>
            <a:r>
              <a:rPr sz="1350" b="0">
                <a:solidFill>
                  <a:srgbClr val="161B26"/>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A7, A8, A9, A10  ·  Knowledge K7, K8   ·   Day 2   ·   Labs 15–20   ·   Assessed by PP Task 4 and WA Q7, Q8</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Pre-Trade Risk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Position and order limits</a:t>
            </a:r>
          </a:p>
          <a:p>
            <a:pPr algn="l">
              <a:spcAft>
                <a:spcPts val="300"/>
              </a:spcAft>
            </a:pPr>
            <a:r>
              <a:rPr sz="1150" b="0">
                <a:solidFill>
                  <a:srgbClr val="5B6372"/>
                </a:solidFill>
                <a:latin typeface="Arial"/>
              </a:rPr>
              <a:t>Maximum shares, maximum order value per symbol.</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Maximum daily loss</a:t>
            </a:r>
          </a:p>
          <a:p>
            <a:pPr algn="l">
              <a:spcAft>
                <a:spcPts val="300"/>
              </a:spcAft>
            </a:pPr>
            <a:r>
              <a:rPr sz="1150" b="0">
                <a:solidFill>
                  <a:srgbClr val="5B6372"/>
                </a:solidFill>
                <a:latin typeface="Arial"/>
              </a:rPr>
              <a:t>Stop trading for the day when breached.</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Market-hours and duplicate checks</a:t>
            </a:r>
          </a:p>
          <a:p>
            <a:pPr algn="l">
              <a:spcAft>
                <a:spcPts val="300"/>
              </a:spcAft>
            </a:pPr>
            <a:r>
              <a:rPr sz="1150" b="0">
                <a:solidFill>
                  <a:srgbClr val="5B6372"/>
                </a:solidFill>
                <a:latin typeface="Arial"/>
              </a:rPr>
              <a:t>Alpaca clock; never resend an open order.</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Kill switch</a:t>
            </a:r>
          </a:p>
          <a:p>
            <a:pPr algn="l">
              <a:spcAft>
                <a:spcPts val="300"/>
              </a:spcAft>
            </a:pPr>
            <a:r>
              <a:rPr sz="1150" b="0">
                <a:solidFill>
                  <a:srgbClr val="5B6372"/>
                </a:solidFill>
                <a:latin typeface="Arial"/>
              </a:rPr>
              <a:t>One file or flag halts all trading immediately.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 Costs You Must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Commission</a:t>
            </a:r>
          </a:p>
          <a:p>
            <a:pPr algn="l">
              <a:spcAft>
                <a:spcPts val="300"/>
              </a:spcAft>
            </a:pPr>
            <a:r>
              <a:rPr sz="1150" b="0">
                <a:solidFill>
                  <a:srgbClr val="5B6372"/>
                </a:solidFill>
                <a:latin typeface="Arial"/>
              </a:rPr>
              <a:t>Zero on Alpaca US equities — not on most brokers.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Spread and slippage</a:t>
            </a:r>
          </a:p>
          <a:p>
            <a:pPr algn="l">
              <a:spcAft>
                <a:spcPts val="300"/>
              </a:spcAft>
            </a:pPr>
            <a:r>
              <a:rPr sz="1150" b="0">
                <a:solidFill>
                  <a:srgbClr val="5B6372"/>
                </a:solidFill>
                <a:latin typeface="Arial"/>
              </a:rPr>
              <a:t>Half-spread + slippage on every fill, in bps.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Regulatory fees on sells</a:t>
            </a:r>
          </a:p>
          <a:p>
            <a:pPr algn="l">
              <a:spcAft>
                <a:spcPts val="300"/>
              </a:spcAft>
            </a:pPr>
            <a:r>
              <a:rPr sz="1150" b="0">
                <a:solidFill>
                  <a:srgbClr val="5B6372"/>
                </a:solidFill>
                <a:latin typeface="Arial"/>
              </a:rPr>
              <a:t>SEC Section 31 fee and FINRA TAF.</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Borrow and impact</a:t>
            </a:r>
          </a:p>
          <a:p>
            <a:pPr algn="l">
              <a:spcAft>
                <a:spcPts val="300"/>
              </a:spcAft>
            </a:pPr>
            <a:r>
              <a:rPr sz="1150" b="0">
                <a:solidFill>
                  <a:srgbClr val="5B6372"/>
                </a:solidFill>
                <a:latin typeface="Arial"/>
              </a:rPr>
              <a:t>Short-borrow costs; your own market impact.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Historical Data: Backtest, Tune, Then Forward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F59E0B"/>
                </a:solidFill>
                <a:latin typeface="Arial"/>
              </a:rPr>
              <a:t>A8  K8</a:t>
            </a:r>
          </a:p>
        </p:txBody>
      </p:sp>
      <p:pic>
        <p:nvPicPr>
          <p:cNvPr id="10" name="Picture 9" descr="concept_data_split.png"/>
          <p:cNvPicPr>
            <a:picLocks noChangeAspect="1"/>
          </p:cNvPicPr>
          <p:nvPr/>
        </p:nvPicPr>
        <p:blipFill>
          <a:blip r:embed="rId2"/>
          <a:stretch>
            <a:fillRect/>
          </a:stretch>
        </p:blipFill>
        <p:spPr>
          <a:xfrm>
            <a:off x="777240" y="2299188"/>
            <a:ext cx="6172200" cy="340262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BACKTEST ON HISTORY</a:t>
            </a:r>
          </a:p>
          <a:p>
            <a:pPr algn="l">
              <a:spcAft>
                <a:spcPts val="200"/>
              </a:spcAft>
            </a:pPr>
            <a:r>
              <a:rPr sz="1150" b="0">
                <a:solidFill>
                  <a:srgbClr val="161B26"/>
                </a:solidFill>
                <a:latin typeface="Arial"/>
              </a:rPr>
              <a:t>Replay the strategy's rules over past prices - next-bar fills, trading costs - to see how it would have performed.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TUNE HYPERPARAMETERS (IN-SAMPLE)</a:t>
            </a:r>
          </a:p>
          <a:p>
            <a:pPr algn="l">
              <a:spcAft>
                <a:spcPts val="200"/>
              </a:spcAft>
            </a:pPr>
            <a:r>
              <a:rPr sz="1150" b="0">
                <a:solidFill>
                  <a:srgbClr val="161B26"/>
                </a:solidFill>
                <a:latin typeface="Arial"/>
              </a:rPr>
              <a:t>Search the settings (MA lengths, RSI levels, model parameters) on the OLDER history only, by grid search or walk-forward.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CONFIRM OUT-OF-SAMPLE</a:t>
            </a:r>
          </a:p>
          <a:p>
            <a:pPr algn="l">
              <a:spcAft>
                <a:spcPts val="200"/>
              </a:spcAft>
            </a:pPr>
            <a:r>
              <a:rPr sz="1150" b="0">
                <a:solidFill>
                  <a:srgbClr val="161B26"/>
                </a:solidFill>
                <a:latin typeface="Arial"/>
              </a:rPr>
              <a:t>Backtest the tuned settings ONCE on later history the search never saw. A big drop from in-sample = overfitting.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FORWARD TEST (PAPER)</a:t>
            </a:r>
          </a:p>
          <a:p>
            <a:pPr algn="l">
              <a:spcAft>
                <a:spcPts val="200"/>
              </a:spcAft>
            </a:pPr>
            <a:r>
              <a:rPr sz="1150" b="0">
                <a:solidFill>
                  <a:srgbClr val="161B26"/>
                </a:solidFill>
                <a:latin typeface="Arial"/>
              </a:rPr>
              <a:t>Run the tuned strategy on NEW data as it arrives - paper orders, real fills and risk checks - before any capital.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From Historical Data to a Forward-Tested Strategy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same rule moves through four tests; each uses data the previous step never touched.</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Historical data (2018-2025)</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Tune in-sample (2018-2021)</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once out-of-sample (2022-2024)</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 on paper (2025 onward)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Go-live decision</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Tuning on the test period, or re-tuning after seeing out-of-sample results, turns the test into more tuning - the result will look better than reality (Labs 10, 15, 16).</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Potential Reasons for Unintended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K8</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Overfitting and data snooping</a:t>
            </a:r>
          </a:p>
          <a:p>
            <a:pPr algn="l">
              <a:spcAft>
                <a:spcPts val="300"/>
              </a:spcAft>
            </a:pPr>
            <a:r>
              <a:rPr sz="1150" b="0">
                <a:solidFill>
                  <a:srgbClr val="5B6372"/>
                </a:solidFill>
                <a:latin typeface="Arial"/>
              </a:rPr>
              <a:t>Great in-sample, collapses out of sample.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Look-ahead and survivorship bias</a:t>
            </a:r>
          </a:p>
          <a:p>
            <a:pPr algn="l">
              <a:spcAft>
                <a:spcPts val="300"/>
              </a:spcAft>
            </a:pPr>
            <a:r>
              <a:rPr sz="1150" b="0">
                <a:solidFill>
                  <a:srgbClr val="5B6372"/>
                </a:solidFill>
                <a:latin typeface="Arial"/>
              </a:rPr>
              <a:t>Same-bar fills; only today's survivors.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Cost and execution drag</a:t>
            </a:r>
          </a:p>
          <a:p>
            <a:pPr algn="l">
              <a:spcAft>
                <a:spcPts val="300"/>
              </a:spcAft>
            </a:pPr>
            <a:r>
              <a:rPr sz="1150" b="0">
                <a:solidFill>
                  <a:srgbClr val="5B6372"/>
                </a:solidFill>
                <a:latin typeface="Arial"/>
              </a:rPr>
              <a:t>Live returns trail the backtest by turnover × cost.</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change, data and code errors</a:t>
            </a:r>
          </a:p>
          <a:p>
            <a:pPr algn="l">
              <a:spcAft>
                <a:spcPts val="300"/>
              </a:spcAft>
            </a:pPr>
            <a:r>
              <a:rPr sz="1150" b="0">
                <a:solidFill>
                  <a:srgbClr val="5B6372"/>
                </a:solidFill>
                <a:latin typeface="Arial"/>
              </a:rPr>
              <a:t>Drift, bad splits, time zones, duplicate orders.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Goes on a Tearsheet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A10</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Equity versus benchmark</a:t>
            </a:r>
          </a:p>
          <a:p>
            <a:pPr algn="l">
              <a:spcAft>
                <a:spcPts val="300"/>
              </a:spcAft>
            </a:pPr>
            <a:r>
              <a:rPr sz="1150" b="0">
                <a:solidFill>
                  <a:srgbClr val="5B6372"/>
                </a:solidFill>
                <a:latin typeface="Arial"/>
              </a:rPr>
              <a:t>Growth of USD 100,000, strategy and buy-and-hold.</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Drawdown and rolling Sharpe</a:t>
            </a:r>
          </a:p>
          <a:p>
            <a:pPr algn="l">
              <a:spcAft>
                <a:spcPts val="300"/>
              </a:spcAft>
            </a:pPr>
            <a:r>
              <a:rPr sz="1150" b="0">
                <a:solidFill>
                  <a:srgbClr val="5B6372"/>
                </a:solidFill>
                <a:latin typeface="Arial"/>
              </a:rPr>
              <a:t>Depth, length and stability of the edge.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Monthly returns heatmap</a:t>
            </a:r>
          </a:p>
          <a:p>
            <a:pPr algn="l">
              <a:spcAft>
                <a:spcPts val="300"/>
              </a:spcAft>
            </a:pPr>
            <a:r>
              <a:rPr sz="1150" b="0">
                <a:solidFill>
                  <a:srgbClr val="5B6372"/>
                </a:solidFill>
                <a:latin typeface="Arial"/>
              </a:rPr>
              <a:t>When did it make — and lose — money?</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Metrics and cost table</a:t>
            </a:r>
          </a:p>
          <a:p>
            <a:pPr algn="l">
              <a:spcAft>
                <a:spcPts val="300"/>
              </a:spcAft>
            </a:pPr>
            <a:r>
              <a:rPr sz="1150" b="0">
                <a:solidFill>
                  <a:srgbClr val="5B6372"/>
                </a:solidFill>
                <a:latin typeface="Arial"/>
              </a:rPr>
              <a:t>Gross versus net; backtest versus 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End-to-End Algorithmic Trading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52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52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Strategy search</a:t>
            </a:r>
          </a:p>
        </p:txBody>
      </p:sp>
      <p:sp>
        <p:nvSpPr>
          <p:cNvPr id="15" name="TextBox 14"/>
          <p:cNvSpPr txBox="1"/>
          <p:nvPr/>
        </p:nvSpPr>
        <p:spPr>
          <a:xfrm>
            <a:off x="1848231"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140839"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0839"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288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288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268855"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Data ingestion</a:t>
            </a:r>
          </a:p>
        </p:txBody>
      </p:sp>
      <p:sp>
        <p:nvSpPr>
          <p:cNvPr id="21" name="TextBox 20"/>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3504438"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04438"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924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924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3632454"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Signal</a:t>
            </a:r>
          </a:p>
        </p:txBody>
      </p:sp>
      <p:sp>
        <p:nvSpPr>
          <p:cNvPr id="27" name="TextBox 26"/>
          <p:cNvSpPr txBox="1"/>
          <p:nvPr/>
        </p:nvSpPr>
        <p:spPr>
          <a:xfrm>
            <a:off x="4575429"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4868037"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68037"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05606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5606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4996053"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Backtest with costs</a:t>
            </a:r>
          </a:p>
        </p:txBody>
      </p:sp>
      <p:sp>
        <p:nvSpPr>
          <p:cNvPr id="33" name="TextBox 32"/>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6231636"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636"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196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6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6359652"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9" name="TextBox 38"/>
          <p:cNvSpPr txBox="1"/>
          <p:nvPr/>
        </p:nvSpPr>
        <p:spPr>
          <a:xfrm>
            <a:off x="7302627"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0" name="Rectangle 39"/>
          <p:cNvSpPr/>
          <p:nvPr/>
        </p:nvSpPr>
        <p:spPr>
          <a:xfrm>
            <a:off x="7595235"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95235"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832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832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7723251"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Order execution</a:t>
            </a:r>
          </a:p>
        </p:txBody>
      </p:sp>
      <p:sp>
        <p:nvSpPr>
          <p:cNvPr id="45" name="TextBox 44"/>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6" name="Rectangle 45"/>
          <p:cNvSpPr/>
          <p:nvPr/>
        </p:nvSpPr>
        <p:spPr>
          <a:xfrm>
            <a:off x="8958834"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58834"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46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6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9086850"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a:t>
            </a:r>
          </a:p>
        </p:txBody>
      </p:sp>
      <p:sp>
        <p:nvSpPr>
          <p:cNvPr id="51" name="TextBox 50"/>
          <p:cNvSpPr txBox="1"/>
          <p:nvPr/>
        </p:nvSpPr>
        <p:spPr>
          <a:xfrm>
            <a:off x="10029825"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52" name="Rectangle 51"/>
          <p:cNvSpPr/>
          <p:nvPr/>
        </p:nvSpPr>
        <p:spPr>
          <a:xfrm>
            <a:off x="10322433"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322433"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51045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1045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8</a:t>
            </a:r>
          </a:p>
        </p:txBody>
      </p:sp>
      <p:sp>
        <p:nvSpPr>
          <p:cNvPr id="56" name="TextBox 55"/>
          <p:cNvSpPr txBox="1"/>
          <p:nvPr/>
        </p:nvSpPr>
        <p:spPr>
          <a:xfrm>
            <a:off x="10450449"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report</a:t>
            </a:r>
          </a:p>
        </p:txBody>
      </p:sp>
      <p:sp>
        <p:nvSpPr>
          <p:cNvPr id="57" name="Rectangle 5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Configuration — symbols, parameters, limits, keys — lives outside the code.</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Automated Paper-Trading Bot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One cycle per closed bar.</a:t>
            </a:r>
          </a:p>
        </p:txBody>
      </p:sp>
      <p:sp>
        <p:nvSpPr>
          <p:cNvPr id="11" name="Rectangle 10"/>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26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Bar closes</a:t>
            </a:r>
          </a:p>
        </p:txBody>
      </p:sp>
      <p:sp>
        <p:nvSpPr>
          <p:cNvPr id="16" name="TextBox 15"/>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563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210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Fetch latest bars</a:t>
            </a:r>
          </a:p>
        </p:txBody>
      </p:sp>
      <p:sp>
        <p:nvSpPr>
          <p:cNvPr id="22" name="TextBox 21"/>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4036"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794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Compute signal</a:t>
            </a:r>
          </a:p>
        </p:txBody>
      </p:sp>
      <p:sp>
        <p:nvSpPr>
          <p:cNvPr id="28" name="TextBox 27"/>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52434"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737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Run risk checks</a:t>
            </a:r>
          </a:p>
        </p:txBody>
      </p:sp>
      <p:sp>
        <p:nvSpPr>
          <p:cNvPr id="34" name="TextBox 33"/>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10832"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9625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Target vs actual position</a:t>
            </a:r>
          </a:p>
        </p:txBody>
      </p:sp>
      <p:sp>
        <p:nvSpPr>
          <p:cNvPr id="40" name="TextBox 39"/>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6923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85465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Submit order; read status</a:t>
            </a:r>
          </a:p>
        </p:txBody>
      </p:sp>
      <p:sp>
        <p:nvSpPr>
          <p:cNvPr id="46" name="TextBox 45"/>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7" name="Rectangle 46"/>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2762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41305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1" name="TextBox 50"/>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Log and sleep</a:t>
            </a:r>
          </a:p>
        </p:txBody>
      </p:sp>
      <p:sp>
        <p:nvSpPr>
          <p:cNvPr id="52" name="Rectangle 51"/>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Every cycle writes to the trade log — the evidence for performance and audit.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Alert to Alpaca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Webhook-driven execution.</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Pine strategy fires alert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TradingView POSTs JSON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Your server checks secret</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alpaca-py submits paper order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Log and respond 200</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Webhook alerts need a paid TradingView plan and a public URL (e.g. a tunnel).</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Diagnosing an Unintended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A9</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Reproduce the result</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Isolate the first divergent step</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Data · signal · order · fill?</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a known-good run</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Fix and re-test</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Read the first failure, not the last — everything after it is a consequence.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Backtest-Engine Stage: Cost Models, Execution Timing and Break-Even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pipeline/backtest.py around the common backtester: run any library signal under every cost scenario (and a custom one), break the cost into commission, spread, slippage and regulatory fees, find each strategy's break-even cost and test next-open versus next-close execution.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cost model</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engine helpers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scenario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cost scenarios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Analyse the cost breakdown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backtest engine with three cost models, execution timing and break-even cost.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5_costs.png"/>
          <p:cNvPicPr>
            <a:picLocks noChangeAspect="1"/>
          </p:cNvPicPr>
          <p:nvPr/>
        </p:nvPicPr>
        <p:blipFill>
          <a:blip r:embed="rId2"/>
          <a:stretch>
            <a:fillRect/>
          </a:stretch>
        </p:blipFill>
        <p:spPr>
          <a:xfrm>
            <a:off x="984220" y="1828800"/>
            <a:ext cx="10223254" cy="3794760"/>
          </a:xfrm>
          <a:prstGeom prst="rect">
            <a:avLst/>
          </a:prstGeom>
        </p:spPr>
      </p:pic>
      <p:sp>
        <p:nvSpPr>
          <p:cNvPr id="8" name="Rectangle 7"/>
          <p:cNvSpPr/>
          <p:nvPr/>
        </p:nvSpPr>
        <p:spPr>
          <a:xfrm>
            <a:off x="973247" y="1817827"/>
            <a:ext cx="10245200"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Lab15-trading-costs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Automation Stage: a Scheduled, Risk-Checked Forward Test and Live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pipeline/risk.py and pipeline/runner.py: `python -m pipeline run --once | --loop` with the market clock, risk checks, kill switch and trade log; run a 2025 forward test; run the strategy live on the paper account for a few cycles; and schedule it with cron, launchd or Windows Task Scheduler.</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risk layer and the kill switch</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one decision cycle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forward-test replay and the logs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live paper loop and scheduling</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2025 forward test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+4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scheduled, risk-checked bot trading the paper account live, with a trade log and kill switch.</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6_forward_test.png"/>
          <p:cNvPicPr>
            <a:picLocks noChangeAspect="1"/>
          </p:cNvPicPr>
          <p:nvPr/>
        </p:nvPicPr>
        <p:blipFill>
          <a:blip r:embed="rId2"/>
          <a:stretch>
            <a:fillRect/>
          </a:stretch>
        </p:blipFill>
        <p:spPr>
          <a:xfrm>
            <a:off x="1299692" y="1828800"/>
            <a:ext cx="9592310" cy="3794760"/>
          </a:xfrm>
          <a:prstGeom prst="rect">
            <a:avLst/>
          </a:prstGeom>
        </p:spPr>
      </p:pic>
      <p:sp>
        <p:nvSpPr>
          <p:cNvPr id="8" name="Rectangle 7"/>
          <p:cNvSpPr/>
          <p:nvPr/>
        </p:nvSpPr>
        <p:spPr>
          <a:xfrm>
            <a:off x="1288719" y="1817827"/>
            <a:ext cx="961425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Lab16-paper-trading-bot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Event-Driven Automation: TradingView Webhook to Signal, Risk and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K5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pipeline/webhook.py: a webhook receiver that turns TradingView alert JSON into a pipeline decision (validation -&gt; signal -&gt; risk -&gt; execution), test it with a local alert simulator and a self-test, and configure a real TradingView strategy alert.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Set the shared secret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alert validation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Route valid alerts through signal, risk and execution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server, the simulator and the self-test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self-test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+4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Event-driven automation: TradingView alert to webhook to signal, risk and paper execution.</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Diagnostics Stage: Automated Bias Checks before Go-Live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A9  K8</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diagnose` to run automated look-ahead (features and execution), cost-drag, overfitting and survivorship checks on any strategy and on the junior quant's exhibit, and write a PASS / WARN / FAIL report with a go-live verdict.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suspicious backtest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Find the problems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look-ahead checks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cost, overfitting and survivorship checks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diagnostics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Automated bias diagnostics (look-ahead, costs, overfitting, survivorship) before go-live.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8_bias_comparison.png"/>
          <p:cNvPicPr>
            <a:picLocks noChangeAspect="1"/>
          </p:cNvPicPr>
          <p:nvPr/>
        </p:nvPicPr>
        <p:blipFill>
          <a:blip r:embed="rId2"/>
          <a:stretch>
            <a:fillRect/>
          </a:stretch>
        </p:blipFill>
        <p:spPr>
          <a:xfrm>
            <a:off x="1841352" y="1828800"/>
            <a:ext cx="8508989" cy="3794760"/>
          </a:xfrm>
          <a:prstGeom prst="rect">
            <a:avLst/>
          </a:prstGeom>
        </p:spPr>
      </p:pic>
      <p:sp>
        <p:nvSpPr>
          <p:cNvPr id="8" name="Rectangle 7"/>
          <p:cNvSpPr/>
          <p:nvPr/>
        </p:nvSpPr>
        <p:spPr>
          <a:xfrm>
            <a:off x="1830380" y="1817827"/>
            <a:ext cx="853093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Lab18-diagnose-bias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Monitoring and Reporting Stage: Automated Tearsheet and Backtest-vs-Forward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A8  A10</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report` to compare the research backtest with the runner's forward-test logs, run monitoring checks with thresholds, and generate a tearsheet and a markdown report with data-driven insights and a recommendation.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Make sure the forward-test logs exist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backtest-vs-forward comparison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monitoring checks, the tearsheet and the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Generate the report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monitoring checks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automated tearsheet and backtest-versus-forward-test report with monitoring checks.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9_tearsheet.png"/>
          <p:cNvPicPr>
            <a:picLocks noChangeAspect="1"/>
          </p:cNvPicPr>
          <p:nvPr/>
        </p:nvPicPr>
        <p:blipFill>
          <a:blip r:embed="rId2"/>
          <a:stretch>
            <a:fillRect/>
          </a:stretch>
        </p:blipFill>
        <p:spPr>
          <a:xfrm>
            <a:off x="3832362" y="1828800"/>
            <a:ext cx="4526970" cy="3794760"/>
          </a:xfrm>
          <a:prstGeom prst="rect">
            <a:avLst/>
          </a:prstGeom>
        </p:spPr>
      </p:pic>
      <p:sp>
        <p:nvSpPr>
          <p:cNvPr id="8" name="Rectangle 7"/>
          <p:cNvSpPr/>
          <p:nvPr/>
        </p:nvSpPr>
        <p:spPr>
          <a:xfrm>
            <a:off x="3821389" y="1817827"/>
            <a:ext cx="454891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Lab19-performance-report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Capstone: One Command Runs the Pipeline End to End, with an Agentic Layer and Human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A10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20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pipeline/agents.py (analyst, researcher, trader and risk agents; rule-based by default, Claude optional) and pipeline/e2e.py (`python -m pipeline e2e`) that runs every stage in order with gates, then evaluate the pipeline and the role of human oversight.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agent layer</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end-to-end orchestrator</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whole pipeline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Trace the run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agents' decisions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One command running the whole pipeline end to end, with a human-approved agentic layer.</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20_e2e_pipeline.png"/>
          <p:cNvPicPr>
            <a:picLocks noChangeAspect="1"/>
          </p:cNvPicPr>
          <p:nvPr/>
        </p:nvPicPr>
        <p:blipFill>
          <a:blip r:embed="rId2"/>
          <a:stretch>
            <a:fillRect/>
          </a:stretch>
        </p:blipFill>
        <p:spPr>
          <a:xfrm>
            <a:off x="2388212" y="1828800"/>
            <a:ext cx="7415270" cy="3794760"/>
          </a:xfrm>
          <a:prstGeom prst="rect">
            <a:avLst/>
          </a:prstGeom>
        </p:spPr>
      </p:pic>
      <p:sp>
        <p:nvSpPr>
          <p:cNvPr id="8" name="Rectangle 7"/>
          <p:cNvSpPr/>
          <p:nvPr/>
        </p:nvSpPr>
        <p:spPr>
          <a:xfrm>
            <a:off x="2377239" y="1817827"/>
            <a:ext cx="743721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Lab20-agentic-capstone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4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23376" y="475488"/>
            <a:ext cx="268833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72337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23376" y="475488"/>
            <a:ext cx="2688336" cy="310896"/>
          </a:xfrm>
          <a:prstGeom prst="rect">
            <a:avLst/>
          </a:prstGeom>
          <a:noFill/>
        </p:spPr>
        <p:txBody>
          <a:bodyPr wrap="square" anchor="ctr">
            <a:spAutoFit/>
          </a:bodyPr>
          <a:lstStyle/>
          <a:p>
            <a:pPr algn="ctr">
              <a:spcAft>
                <a:spcPts val="400"/>
              </a:spcAft>
            </a:pPr>
            <a:r>
              <a:rPr sz="1100" b="1">
                <a:solidFill>
                  <a:srgbClr val="F59E0B"/>
                </a:solidFill>
                <a:latin typeface="Arial"/>
              </a:rPr>
              <a:t>A7  A8  A9  A10  K7  K8</a:t>
            </a:r>
          </a:p>
        </p:txBody>
      </p:sp>
      <p:sp>
        <p:nvSpPr>
          <p:cNvPr id="10" name="Rectangle 9"/>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A7</a:t>
            </a:r>
          </a:p>
          <a:p>
            <a:pPr algn="l">
              <a:spcAft>
                <a:spcPts val="300"/>
              </a:spcAft>
            </a:pPr>
            <a:r>
              <a:rPr sz="900" b="0">
                <a:solidFill>
                  <a:srgbClr val="5B6372"/>
                </a:solidFill>
                <a:latin typeface="Arial"/>
              </a:rPr>
              <a:t>Perform coding and configuration of software agents or programs based on selected models or algorithms</a:t>
            </a:r>
          </a:p>
        </p:txBody>
      </p:sp>
      <p:sp>
        <p:nvSpPr>
          <p:cNvPr id="15" name="Rectangle 14"/>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679192"/>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A8</a:t>
            </a:r>
          </a:p>
          <a:p>
            <a:pPr algn="l">
              <a:spcAft>
                <a:spcPts val="300"/>
              </a:spcAft>
            </a:pPr>
            <a:r>
              <a:rPr sz="900" b="0">
                <a:solidFill>
                  <a:srgbClr val="5B6372"/>
                </a:solidFill>
                <a:latin typeface="Arial"/>
              </a:rPr>
              <a:t>Conduct tests on the actions taken and outcomes to assess effectiveness of the models</a:t>
            </a:r>
          </a:p>
        </p:txBody>
      </p:sp>
      <p:sp>
        <p:nvSpPr>
          <p:cNvPr id="20" name="Rectangle 19"/>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A9</a:t>
            </a:r>
          </a:p>
          <a:p>
            <a:pPr algn="l">
              <a:spcAft>
                <a:spcPts val="300"/>
              </a:spcAft>
            </a:pPr>
            <a:r>
              <a:rPr sz="900" b="0">
                <a:solidFill>
                  <a:srgbClr val="5B6372"/>
                </a:solidFill>
                <a:latin typeface="Arial"/>
              </a:rPr>
              <a:t>Diagnose unintended outcomes produced by statistical models</a:t>
            </a:r>
          </a:p>
        </p:txBody>
      </p:sp>
      <p:sp>
        <p:nvSpPr>
          <p:cNvPr id="25" name="Rectangle 24"/>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215384"/>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A10</a:t>
            </a:r>
          </a:p>
          <a:p>
            <a:pPr algn="l">
              <a:spcAft>
                <a:spcPts val="300"/>
              </a:spcAft>
            </a:pPr>
            <a:r>
              <a:rPr sz="900" b="0">
                <a:solidFill>
                  <a:srgbClr val="5B6372"/>
                </a:solidFill>
                <a:latin typeface="Arial"/>
              </a:rPr>
              <a:t>Draw relevant trends and insights from data analysis to support decisions and report accordingly</a:t>
            </a:r>
          </a:p>
        </p:txBody>
      </p:sp>
      <p:sp>
        <p:nvSpPr>
          <p:cNvPr id="30" name="Rectangle 29"/>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K7</a:t>
            </a:r>
          </a:p>
          <a:p>
            <a:pPr algn="l">
              <a:spcAft>
                <a:spcPts val="300"/>
              </a:spcAft>
            </a:pPr>
            <a:r>
              <a:rPr sz="900" b="0">
                <a:solidFill>
                  <a:srgbClr val="5B6372"/>
                </a:solidFill>
                <a:latin typeface="Arial"/>
              </a:rPr>
              <a:t>Coding languages for programming of algorithms and signals</a:t>
            </a:r>
          </a:p>
        </p:txBody>
      </p:sp>
      <p:sp>
        <p:nvSpPr>
          <p:cNvPr id="35" name="Rectangle 34"/>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1764792" y="575157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K8</a:t>
            </a:r>
          </a:p>
          <a:p>
            <a:pPr algn="l">
              <a:spcAft>
                <a:spcPts val="300"/>
              </a:spcAft>
            </a:pPr>
            <a:r>
              <a:rPr sz="900" b="0">
                <a:solidFill>
                  <a:srgbClr val="5B6372"/>
                </a:solidFill>
                <a:latin typeface="Arial"/>
              </a:rPr>
              <a:t>Potential reasons for unintended outcomes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Framed testable hypotheses</a:t>
            </a:r>
          </a:p>
          <a:p>
            <a:pPr algn="l">
              <a:spcAft>
                <a:spcPts val="300"/>
              </a:spcAft>
            </a:pPr>
            <a:r>
              <a:rPr sz="1300" b="0">
                <a:solidFill>
                  <a:srgbClr val="5B6372"/>
                </a:solidFill>
                <a:latin typeface="Arial"/>
              </a:rPr>
              <a:t>Instrument, signal, holding period, effect, benchmark.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Built indicators and strategies</a:t>
            </a:r>
          </a:p>
          <a:p>
            <a:pPr algn="l">
              <a:spcAft>
                <a:spcPts val="300"/>
              </a:spcAft>
            </a:pPr>
            <a:r>
              <a:rPr sz="1300" b="0">
                <a:solidFill>
                  <a:srgbClr val="5B6372"/>
                </a:solidFill>
                <a:latin typeface="Arial"/>
              </a:rPr>
              <a:t>Pine Script on TradingView; Python on Alpaca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Modelled and A/B-tested</a:t>
            </a:r>
          </a:p>
          <a:p>
            <a:pPr algn="l">
              <a:spcAft>
                <a:spcPts val="300"/>
              </a:spcAft>
            </a:pPr>
            <a:r>
              <a:rPr sz="1300" b="0">
                <a:solidFill>
                  <a:srgbClr val="5B6372"/>
                </a:solidFill>
                <a:latin typeface="Arial"/>
              </a:rPr>
              <a:t>ML classifiers, regimes, Welch's t-test and bootstrap.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Backtested net of costs</a:t>
            </a:r>
          </a:p>
          <a:p>
            <a:pPr algn="l">
              <a:spcAft>
                <a:spcPts val="300"/>
              </a:spcAft>
            </a:pPr>
            <a:r>
              <a:rPr sz="1300" b="0">
                <a:solidFill>
                  <a:srgbClr val="5B6372"/>
                </a:solidFill>
                <a:latin typeface="Arial"/>
              </a:rPr>
              <a:t>Commission, spread, slippage and regulatory fees.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Forward-tested automatically</a:t>
            </a:r>
          </a:p>
          <a:p>
            <a:pPr algn="l">
              <a:spcAft>
                <a:spcPts val="300"/>
              </a:spcAft>
            </a:pPr>
            <a:r>
              <a:rPr sz="1300" b="0">
                <a:solidFill>
                  <a:srgbClr val="5B6372"/>
                </a:solidFill>
                <a:latin typeface="Arial"/>
              </a:rPr>
              <a:t>A paper-trading bot with risk checks and a trade log.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Diagnosed and reported</a:t>
            </a:r>
          </a:p>
          <a:p>
            <a:pPr algn="l">
              <a:spcAft>
                <a:spcPts val="300"/>
              </a:spcAft>
            </a:pPr>
            <a:r>
              <a:rPr sz="1300" b="0">
                <a:solidFill>
                  <a:srgbClr val="5B6372"/>
                </a:solidFill>
                <a:latin typeface="Arial"/>
              </a:rPr>
              <a:t>Found the bias, fixed it, and wrote the recommendation.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8" name="Rectangle 7"/>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40279" y="251460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79" y="2514600"/>
            <a:ext cx="822960" cy="822960"/>
          </a:xfrm>
          <a:prstGeom prst="rect">
            <a:avLst/>
          </a:prstGeom>
          <a:noFill/>
        </p:spPr>
        <p:txBody>
          <a:bodyPr wrap="square" anchor="ctr">
            <a:spAutoFit/>
          </a:bodyPr>
          <a:lstStyle/>
          <a:p>
            <a:pPr algn="ctr">
              <a:spcAft>
                <a:spcPts val="400"/>
              </a:spcAft>
            </a:pPr>
            <a:r>
              <a:rPr sz="3200" b="1">
                <a:solidFill>
                  <a:srgbClr val="0F2A5F"/>
                </a:solidFill>
                <a:latin typeface="Arial"/>
              </a:rPr>
              <a:t>T</a:t>
            </a:r>
          </a:p>
        </p:txBody>
      </p:sp>
      <p:sp>
        <p:nvSpPr>
          <p:cNvPr id="11" name="TextBox 10"/>
          <p:cNvSpPr txBox="1"/>
          <p:nvPr/>
        </p:nvSpPr>
        <p:spPr>
          <a:xfrm>
            <a:off x="777240" y="3520440"/>
            <a:ext cx="3749039" cy="457200"/>
          </a:xfrm>
          <a:prstGeom prst="rect">
            <a:avLst/>
          </a:prstGeom>
          <a:noFill/>
        </p:spPr>
        <p:txBody>
          <a:bodyPr wrap="square" anchor="t">
            <a:spAutoFit/>
          </a:bodyPr>
          <a:lstStyle/>
          <a:p>
            <a:pPr algn="ctr">
              <a:spcAft>
                <a:spcPts val="400"/>
              </a:spcAft>
            </a:pPr>
            <a:r>
              <a:rPr sz="1700" b="1">
                <a:solidFill>
                  <a:srgbClr val="FFFFFF"/>
                </a:solidFill>
                <a:latin typeface="Arial"/>
              </a:rPr>
              <a:t>Tertiary Infotech Academy</a:t>
            </a:r>
          </a:p>
        </p:txBody>
      </p:sp>
      <p:sp>
        <p:nvSpPr>
          <p:cNvPr id="12" name="TextBox 11"/>
          <p:cNvSpPr txBox="1"/>
          <p:nvPr/>
        </p:nvSpPr>
        <p:spPr>
          <a:xfrm>
            <a:off x="777240" y="397764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for IBF-STS courses</a:t>
            </a:r>
          </a:p>
        </p:txBody>
      </p:sp>
      <p:sp>
        <p:nvSpPr>
          <p:cNvPr id="13" name="Rectangle 12"/>
          <p:cNvSpPr/>
          <p:nvPr/>
        </p:nvSpPr>
        <p:spPr>
          <a:xfrm>
            <a:off x="1737360" y="45262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45262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5" name="TextBox 14"/>
          <p:cNvSpPr txBox="1"/>
          <p:nvPr/>
        </p:nvSpPr>
        <p:spPr>
          <a:xfrm>
            <a:off x="777240" y="516636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6" name="Rectangle 15"/>
          <p:cNvSpPr/>
          <p:nvPr/>
        </p:nvSpPr>
        <p:spPr>
          <a:xfrm>
            <a:off x="4846320" y="2148840"/>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214884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120640" y="235915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359152"/>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20" name="TextBox 19"/>
          <p:cNvSpPr txBox="1"/>
          <p:nvPr/>
        </p:nvSpPr>
        <p:spPr>
          <a:xfrm>
            <a:off x="5715000" y="2148840"/>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50" b="0">
                <a:solidFill>
                  <a:srgbClr val="5B6372"/>
                </a:solidFill>
                <a:latin typeface="Arial"/>
              </a:rPr>
              <a:t>Log in with your registered email (OTP or password).</a:t>
            </a:r>
          </a:p>
        </p:txBody>
      </p:sp>
      <p:sp>
        <p:nvSpPr>
          <p:cNvPr id="21" name="Rectangle 20"/>
          <p:cNvSpPr/>
          <p:nvPr/>
        </p:nvSpPr>
        <p:spPr>
          <a:xfrm>
            <a:off x="4846320" y="3072384"/>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3072384"/>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120640" y="3282696"/>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3282696"/>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5" name="TextBox 24"/>
          <p:cNvSpPr txBox="1"/>
          <p:nvPr/>
        </p:nvSpPr>
        <p:spPr>
          <a:xfrm>
            <a:off x="5715000" y="3072384"/>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Download the courseware</a:t>
            </a:r>
          </a:p>
          <a:p>
            <a:pPr algn="l">
              <a:spcAft>
                <a:spcPts val="200"/>
              </a:spcAft>
            </a:pPr>
            <a:r>
              <a:rPr sz="1150" b="0">
                <a:solidFill>
                  <a:srgbClr val="5B6372"/>
                </a:solidFill>
                <a:latin typeface="Arial"/>
              </a:rPr>
              <a:t>Trainer slides, Learner Guide and lab artefacts.</a:t>
            </a:r>
          </a:p>
        </p:txBody>
      </p:sp>
      <p:sp>
        <p:nvSpPr>
          <p:cNvPr id="26" name="Rectangle 25"/>
          <p:cNvSpPr/>
          <p:nvPr/>
        </p:nvSpPr>
        <p:spPr>
          <a:xfrm>
            <a:off x="4846320" y="3995928"/>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46320" y="3995928"/>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20640" y="4206240"/>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0640" y="4206240"/>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30" name="TextBox 29"/>
          <p:cNvSpPr txBox="1"/>
          <p:nvPr/>
        </p:nvSpPr>
        <p:spPr>
          <a:xfrm>
            <a:off x="5715000" y="3995928"/>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Mark attendance</a:t>
            </a:r>
          </a:p>
          <a:p>
            <a:pPr algn="l">
              <a:spcAft>
                <a:spcPts val="200"/>
              </a:spcAft>
            </a:pPr>
            <a:r>
              <a:rPr sz="1150" b="0">
                <a:solidFill>
                  <a:srgbClr val="5B6372"/>
                </a:solidFill>
                <a:latin typeface="Arial"/>
              </a:rPr>
              <a:t>Sign in for each session — IBF-STS funding needs 75% attendance.</a:t>
            </a:r>
          </a:p>
        </p:txBody>
      </p:sp>
      <p:sp>
        <p:nvSpPr>
          <p:cNvPr id="31" name="Rectangle 30"/>
          <p:cNvSpPr/>
          <p:nvPr/>
        </p:nvSpPr>
        <p:spPr>
          <a:xfrm>
            <a:off x="4846320" y="4919472"/>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846320" y="4919472"/>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120640" y="5129784"/>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0" y="5129784"/>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5715000" y="4919472"/>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Submit the assessment</a:t>
            </a:r>
          </a:p>
          <a:p>
            <a:pPr algn="l">
              <a:spcAft>
                <a:spcPts val="200"/>
              </a:spcAft>
            </a:pPr>
            <a:r>
              <a:rPr sz="1150" b="0">
                <a:solidFill>
                  <a:srgbClr val="5B6372"/>
                </a:solidFill>
                <a:latin typeface="Arial"/>
              </a:rPr>
              <a:t>Upload your WA answers and PP evidence here.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 Reminder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45 minutes · open book · 9 short-answer questions covering K1 - K9.</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75 minutes · open book · 4 tasks (Python + Alpaca paper trading), A1 - A10.</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Sign the assessment attendance record BEFORE you begin. Submit on the LMS.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CLOSING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Before You Leave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Make sure every session is signed — 75% is required for IBF-STS funding.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feedback form on the LMS.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Keep practising on paper</a:t>
            </a:r>
          </a:p>
          <a:p>
            <a:pPr algn="l">
              <a:spcAft>
                <a:spcPts val="300"/>
              </a:spcAft>
            </a:pPr>
            <a:r>
              <a:rPr sz="1300" b="0">
                <a:solidFill>
                  <a:srgbClr val="5B6372"/>
                </a:solidFill>
                <a:latin typeface="Arial"/>
              </a:rPr>
              <a:t>Your Alpaca paper account, the Trading Simulator and the lab code are yours to keep.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Scenarios are fictitious; trade real money only with proper advice.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651760"/>
            <a:ext cx="12191695" cy="1097280"/>
          </a:xfrm>
          <a:prstGeom prst="rect">
            <a:avLst/>
          </a:prstGeom>
          <a:noFill/>
        </p:spPr>
        <p:txBody>
          <a:bodyPr wrap="square" anchor="t">
            <a:spAutoFit/>
          </a:bodyPr>
          <a:lstStyle/>
          <a:p>
            <a:pPr algn="ctr">
              <a:spcAft>
                <a:spcPts val="400"/>
              </a:spcAft>
            </a:pPr>
            <a:r>
              <a:rPr sz="5400" b="1">
                <a:solidFill>
                  <a:srgbClr val="161B26"/>
                </a:solidFill>
                <a:latin typeface="Arial"/>
              </a:rPr>
              <a:t>Thank You</a:t>
            </a:r>
          </a:p>
        </p:txBody>
      </p:sp>
      <p:sp>
        <p:nvSpPr>
          <p:cNvPr id="6" name="TextBox 5"/>
          <p:cNvSpPr txBox="1"/>
          <p:nvPr/>
        </p:nvSpPr>
        <p:spPr>
          <a:xfrm>
            <a:off x="0" y="3840480"/>
            <a:ext cx="12191695" cy="548640"/>
          </a:xfrm>
          <a:prstGeom prst="rect">
            <a:avLst/>
          </a:prstGeom>
          <a:noFill/>
        </p:spPr>
        <p:txBody>
          <a:bodyPr wrap="square" anchor="t">
            <a:spAutoFit/>
          </a:bodyPr>
          <a:lstStyle/>
          <a:p>
            <a:pPr algn="ctr">
              <a:spcAft>
                <a:spcPts val="400"/>
              </a:spcAft>
            </a:pPr>
            <a:r>
              <a:rPr sz="1600" b="0">
                <a:solidFill>
                  <a:srgbClr val="5B6372"/>
                </a:solidFill>
                <a:latin typeface="Arial"/>
              </a:rPr>
              <a:t>Machine Learning 101 for Financial Trading  ·  FSE-DAT-3019-1.1</a:t>
            </a:r>
          </a:p>
        </p:txBody>
      </p:sp>
      <p:sp>
        <p:nvSpPr>
          <p:cNvPr id="7" name="TextBox 6"/>
          <p:cNvSpPr txBox="1"/>
          <p:nvPr/>
        </p:nvSpPr>
        <p:spPr>
          <a:xfrm>
            <a:off x="0" y="4434840"/>
            <a:ext cx="12191695" cy="548640"/>
          </a:xfrm>
          <a:prstGeom prst="rect">
            <a:avLst/>
          </a:prstGeom>
          <a:noFill/>
        </p:spPr>
        <p:txBody>
          <a:bodyPr wrap="square" anchor="t">
            <a:spAutoFit/>
          </a:bodyPr>
          <a:lstStyle/>
          <a:p>
            <a:pPr algn="ctr">
              <a:spcAft>
                <a:spcPts val="400"/>
              </a:spcAft>
            </a:pPr>
            <a:r>
              <a:rPr sz="1300" b="0">
                <a:solidFill>
                  <a:srgbClr val="5B6372"/>
                </a:solidFill>
                <a:latin typeface="Arial"/>
              </a:rPr>
              <a:t>Tertiary Infotech Academy Pte Ltd  ·  UEN 201200696W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101 for Financial Trading - Full Code Edition</dc:title>
  <dc:subject/>
  <dc:creator>Tertiary Infotech Academy Pte Ltd</dc:creator>
  <cp:keywords/>
  <dc:description>generated using python-pptx</dc:description>
  <cp:lastModifiedBy>Tertiary Infotech Academy Pte Ltd</cp:lastModifiedBy>
  <cp:revision>1</cp:revision>
  <dcterms:created xsi:type="dcterms:W3CDTF">2013-01-27T09:14:16Z</dcterms:created>
  <dcterms:modified xsi:type="dcterms:W3CDTF">2013-01-27T09:15:58Z</dcterms:modified>
  <cp:category/>
</cp:coreProperties>
</file>
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685800"/>
            <a:ext cx="822960" cy="822960"/>
          </a:xfrm>
          <a:prstGeom prst="ellipse">
            <a:avLst/>
          </a:prstGeom>
          <a:solidFill>
            <a:srgbClr val="0F2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85800"/>
            <a:ext cx="822960" cy="822960"/>
          </a:xfrm>
          <a:prstGeom prst="rect">
            <a:avLst/>
          </a:prstGeom>
          <a:noFill/>
        </p:spPr>
        <p:txBody>
          <a:bodyPr wrap="square" anchor="ctr">
            <a:spAutoFit/>
          </a:bodyPr>
          <a:lstStyle/>
          <a:p>
            <a:pPr algn="ctr">
              <a:spcAft>
                <a:spcPts val="400"/>
              </a:spcAft>
            </a:pPr>
            <a:r>
              <a:rPr sz="3400" b="1">
                <a:solidFill>
                  <a:srgbClr val="FFFFFF"/>
                </a:solidFill>
                <a:latin typeface="Arial"/>
              </a:rPr>
              <a:t>T</a:t>
            </a:r>
          </a:p>
        </p:txBody>
      </p:sp>
      <p:sp>
        <p:nvSpPr>
          <p:cNvPr id="7" name="TextBox 6"/>
          <p:cNvSpPr txBox="1"/>
          <p:nvPr/>
        </p:nvSpPr>
        <p:spPr>
          <a:xfrm>
            <a:off x="731520" y="1874519"/>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TRAINER SLIDES  ·  IBF-STS ACCREDITED  ·  FULL CODE EDITION</a:t>
            </a:r>
          </a:p>
        </p:txBody>
      </p:sp>
      <p:sp>
        <p:nvSpPr>
          <p:cNvPr id="8" name="TextBox 7"/>
          <p:cNvSpPr txBox="1"/>
          <p:nvPr/>
        </p:nvSpPr>
        <p:spPr>
          <a:xfrm>
            <a:off x="731520" y="2331720"/>
            <a:ext cx="10607040" cy="1097280"/>
          </a:xfrm>
          <a:prstGeom prst="rect">
            <a:avLst/>
          </a:prstGeom>
          <a:noFill/>
        </p:spPr>
        <p:txBody>
          <a:bodyPr wrap="square" anchor="t">
            <a:spAutoFit/>
          </a:bodyPr>
          <a:lstStyle/>
          <a:p>
            <a:pPr algn="l">
              <a:spcAft>
                <a:spcPts val="400"/>
              </a:spcAft>
            </a:pPr>
            <a:r>
              <a:rPr sz="3400" b="1">
                <a:solidFill>
                  <a:srgbClr val="161B26"/>
                </a:solidFill>
                <a:latin typeface="Arial"/>
              </a:rPr>
              <a:t>Machine Learning 101 for Financial Trading</a:t>
            </a:r>
          </a:p>
        </p:txBody>
      </p:sp>
      <p:sp>
        <p:nvSpPr>
          <p:cNvPr id="9" name="Rectangle 8"/>
          <p:cNvSpPr/>
          <p:nvPr/>
        </p:nvSpPr>
        <p:spPr>
          <a:xfrm>
            <a:off x="731520" y="3611880"/>
            <a:ext cx="201168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3886200"/>
            <a:ext cx="10607040" cy="1371600"/>
          </a:xfrm>
          <a:prstGeom prst="rect">
            <a:avLst/>
          </a:prstGeom>
          <a:noFill/>
        </p:spPr>
        <p:txBody>
          <a:bodyPr wrap="square" anchor="t">
            <a:spAutoFit/>
          </a:bodyPr>
          <a:lstStyle/>
          <a:p>
            <a:pPr algn="l">
              <a:spcAft>
                <a:spcPts val="700"/>
              </a:spcAft>
            </a:pPr>
            <a:r>
              <a:rPr sz="1500" b="0">
                <a:solidFill>
                  <a:srgbClr val="5B6372"/>
                </a:solidFill>
                <a:latin typeface="Arial"/>
              </a:rPr>
              <a:t>FSE-DAT-3019-1.1  ·  Data Analytics and Computational Modelling  ·  Proficiency Level 3</a:t>
            </a:r>
          </a:p>
          <a:p>
            <a:pPr algn="l">
              <a:spcAft>
                <a:spcPts val="700"/>
              </a:spcAft>
            </a:pPr>
            <a:r>
              <a:rPr sz="1500" b="0">
                <a:solidFill>
                  <a:srgbClr val="5B6372"/>
                </a:solidFill>
                <a:latin typeface="Arial"/>
              </a:rPr>
              <a:t>Conducted by Tertiary Infotech Academy Pte Ltd  ·  UEN 201200696W</a:t>
            </a:r>
          </a:p>
          <a:p>
            <a:pPr algn="l">
              <a:spcAft>
                <a:spcPts val="700"/>
              </a:spcAft>
            </a:pPr>
            <a:r>
              <a:rPr sz="1400" b="1">
                <a:solidFill>
                  <a:srgbClr val="1F6FEB"/>
                </a:solidFill>
                <a:latin typeface="Arial"/>
              </a:rPr>
              <a:t>Version 2.7  ·  23 October 2026</a:t>
            </a:r>
          </a:p>
        </p:txBody>
      </p:sp>
      <p:sp>
        <p:nvSpPr>
          <p:cNvPr id="11" name="TextBox 10"/>
          <p:cNvSpPr txBox="1"/>
          <p:nvPr/>
        </p:nvSpPr>
        <p:spPr>
          <a:xfrm>
            <a:off x="731520" y="5943600"/>
            <a:ext cx="10607040" cy="365760"/>
          </a:xfrm>
          <a:prstGeom prst="rect">
            <a:avLst/>
          </a:prstGeom>
          <a:noFill/>
        </p:spPr>
        <p:txBody>
          <a:bodyPr wrap="square" anchor="t">
            <a:spAutoFit/>
          </a:bodyPr>
          <a:lstStyle/>
          <a:p>
            <a:pPr algn="l">
              <a:spcAft>
                <a:spcPts val="400"/>
              </a:spcAft>
            </a:pPr>
            <a:r>
              <a:rPr sz="1000" b="0">
                <a:solidFill>
                  <a:srgbClr val="5B6372"/>
                </a:solidFill>
                <a:latin typeface="Arial"/>
              </a:rPr>
              <a:t>© Tertiary Infotech Academy Pte Ltd. All rights reserved.  ·  www.tertiarycourses.com.sg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ATTENDANCE · IBF-STS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Attendance and IBF-STS Funding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Sign in every session</a:t>
            </a:r>
          </a:p>
          <a:p>
            <a:pPr algn="l">
              <a:spcAft>
                <a:spcPts val="300"/>
              </a:spcAft>
            </a:pPr>
            <a:r>
              <a:rPr sz="1300" b="0">
                <a:solidFill>
                  <a:srgbClr val="5B6372"/>
                </a:solidFill>
                <a:latin typeface="Arial"/>
              </a:rPr>
              <a:t>Mark attendance at the start of each session and after lunch.</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75% attendance</a:t>
            </a:r>
          </a:p>
          <a:p>
            <a:pPr algn="l">
              <a:spcAft>
                <a:spcPts val="300"/>
              </a:spcAft>
            </a:pPr>
            <a:r>
              <a:rPr sz="1300" b="0">
                <a:solidFill>
                  <a:srgbClr val="5B6372"/>
                </a:solidFill>
                <a:latin typeface="Arial"/>
              </a:rPr>
              <a:t>IBF-STS funding requires at least 75% attendance.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Pass the assessment</a:t>
            </a:r>
          </a:p>
          <a:p>
            <a:pPr algn="l">
              <a:spcAft>
                <a:spcPts val="300"/>
              </a:spcAft>
            </a:pPr>
            <a:r>
              <a:rPr sz="1300" b="0">
                <a:solidFill>
                  <a:srgbClr val="5B6372"/>
                </a:solidFill>
                <a:latin typeface="Arial"/>
              </a:rPr>
              <a:t>Funding also requires passing both assessment components.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Assessment attendance</a:t>
            </a:r>
          </a:p>
          <a:p>
            <a:pPr algn="l">
              <a:spcAft>
                <a:spcPts val="300"/>
              </a:spcAft>
            </a:pPr>
            <a:r>
              <a:rPr sz="1300" b="0">
                <a:solidFill>
                  <a:srgbClr val="5B6372"/>
                </a:solidFill>
                <a:latin typeface="Arial"/>
              </a:rPr>
              <a:t>A separate record is signed before the assessment begins.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________________________</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Complete this panel with your own details before delivery.</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Course Developer · Trainer · Assessor for this IBF-STS programme.</a:t>
            </a:r>
          </a:p>
        </p:txBody>
      </p:sp>
      <p:sp>
        <p:nvSpPr>
          <p:cNvPr id="13" name="Rectangle 12"/>
          <p:cNvSpPr/>
          <p:nvPr/>
        </p:nvSpPr>
        <p:spPr>
          <a:xfrm>
            <a:off x="4480560" y="1783080"/>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713232"/>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300" b="0">
                <a:solidFill>
                  <a:srgbClr val="161B26"/>
                </a:solidFill>
                <a:latin typeface="Arial"/>
              </a:rPr>
              <a:t>Course Developer, Trainer and Assessor</a:t>
            </a:r>
          </a:p>
        </p:txBody>
      </p:sp>
      <p:sp>
        <p:nvSpPr>
          <p:cNvPr id="16" name="Rectangle 15"/>
          <p:cNvSpPr/>
          <p:nvPr/>
        </p:nvSpPr>
        <p:spPr>
          <a:xfrm>
            <a:off x="4480560" y="2679192"/>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679192"/>
            <a:ext cx="91440"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679192"/>
            <a:ext cx="6400800" cy="713232"/>
          </a:xfrm>
          <a:prstGeom prst="rect">
            <a:avLst/>
          </a:prstGeom>
          <a:noFill/>
        </p:spPr>
        <p:txBody>
          <a:bodyPr wrap="square" anchor="ctr">
            <a:spAutoFit/>
          </a:bodyPr>
          <a:lstStyle/>
          <a:p>
            <a:pPr algn="l">
              <a:spcAft>
                <a:spcPts val="300"/>
              </a:spcAft>
            </a:pPr>
            <a:r>
              <a:rPr sz="1100" b="1">
                <a:solidFill>
                  <a:srgbClr val="10B981"/>
                </a:solidFill>
                <a:latin typeface="Arial"/>
              </a:rPr>
              <a:t>CERTIFICATION</a:t>
            </a:r>
          </a:p>
          <a:p>
            <a:pPr algn="l">
              <a:spcAft>
                <a:spcPts val="300"/>
              </a:spcAft>
            </a:pPr>
            <a:r>
              <a:rPr sz="1300" b="0">
                <a:solidFill>
                  <a:srgbClr val="161B26"/>
                </a:solidFill>
                <a:latin typeface="Arial"/>
              </a:rPr>
              <a:t>ACTA · DACE · PhD</a:t>
            </a:r>
          </a:p>
        </p:txBody>
      </p:sp>
      <p:sp>
        <p:nvSpPr>
          <p:cNvPr id="19" name="Rectangle 18"/>
          <p:cNvSpPr/>
          <p:nvPr/>
        </p:nvSpPr>
        <p:spPr>
          <a:xfrm>
            <a:off x="4480560" y="3575304"/>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575304"/>
            <a:ext cx="91440"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575304"/>
            <a:ext cx="6400800" cy="713232"/>
          </a:xfrm>
          <a:prstGeom prst="rect">
            <a:avLst/>
          </a:prstGeom>
          <a:noFill/>
        </p:spPr>
        <p:txBody>
          <a:bodyPr wrap="square" anchor="ctr">
            <a:spAutoFit/>
          </a:bodyPr>
          <a:lstStyle/>
          <a:p>
            <a:pPr algn="l">
              <a:spcAft>
                <a:spcPts val="300"/>
              </a:spcAft>
            </a:pPr>
            <a:r>
              <a:rPr sz="1100" b="1">
                <a:solidFill>
                  <a:srgbClr val="7C3AED"/>
                </a:solidFill>
                <a:latin typeface="Arial"/>
              </a:rPr>
              <a:t>FINANCIAL SERVICES</a:t>
            </a:r>
          </a:p>
          <a:p>
            <a:pPr algn="l">
              <a:spcAft>
                <a:spcPts val="300"/>
              </a:spcAft>
            </a:pPr>
            <a:r>
              <a:rPr sz="1300" b="0">
                <a:solidFill>
                  <a:srgbClr val="161B26"/>
                </a:solidFill>
                <a:latin typeface="Arial"/>
              </a:rPr>
              <a:t>IBF-STS programmes in AI, algorithmic trading and fintech</a:t>
            </a:r>
          </a:p>
        </p:txBody>
      </p:sp>
      <p:sp>
        <p:nvSpPr>
          <p:cNvPr id="22" name="Rectangle 21"/>
          <p:cNvSpPr/>
          <p:nvPr/>
        </p:nvSpPr>
        <p:spPr>
          <a:xfrm>
            <a:off x="4480560" y="4471416"/>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471416"/>
            <a:ext cx="91440"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471416"/>
            <a:ext cx="6400800" cy="713232"/>
          </a:xfrm>
          <a:prstGeom prst="rect">
            <a:avLst/>
          </a:prstGeom>
          <a:noFill/>
        </p:spPr>
        <p:txBody>
          <a:bodyPr wrap="square" anchor="ctr">
            <a:spAutoFit/>
          </a:bodyPr>
          <a:lstStyle/>
          <a:p>
            <a:pPr algn="l">
              <a:spcAft>
                <a:spcPts val="300"/>
              </a:spcAft>
            </a:pPr>
            <a:r>
              <a:rPr sz="1100" b="1">
                <a:solidFill>
                  <a:srgbClr val="F59E0B"/>
                </a:solidFill>
                <a:latin typeface="Arial"/>
              </a:rPr>
              <a:t>DELIVERS</a:t>
            </a:r>
          </a:p>
          <a:p>
            <a:pPr algn="l">
              <a:spcAft>
                <a:spcPts val="300"/>
              </a:spcAft>
            </a:pPr>
            <a:r>
              <a:rPr sz="1300" b="0">
                <a:solidFill>
                  <a:srgbClr val="161B26"/>
                </a:solidFill>
                <a:latin typeface="Arial"/>
              </a:rPr>
              <a:t>AI, machine learning and data programmes for financial institutions</a:t>
            </a:r>
          </a:p>
        </p:txBody>
      </p:sp>
      <p:sp>
        <p:nvSpPr>
          <p:cNvPr id="25" name="Rectangle 24"/>
          <p:cNvSpPr/>
          <p:nvPr/>
        </p:nvSpPr>
        <p:spPr>
          <a:xfrm>
            <a:off x="4480560" y="5367528"/>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5367528"/>
            <a:ext cx="91440"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5367528"/>
            <a:ext cx="6400800" cy="713232"/>
          </a:xfrm>
          <a:prstGeom prst="rect">
            <a:avLst/>
          </a:prstGeom>
          <a:noFill/>
        </p:spPr>
        <p:txBody>
          <a:bodyPr wrap="square" anchor="ctr">
            <a:spAutoFit/>
          </a:bodyPr>
          <a:lstStyle/>
          <a:p>
            <a:pPr algn="l">
              <a:spcAft>
                <a:spcPts val="300"/>
              </a:spcAft>
            </a:pPr>
            <a:r>
              <a:rPr sz="1100" b="1">
                <a:solidFill>
                  <a:srgbClr val="1F6FEB"/>
                </a:solidFill>
                <a:latin typeface="Arial"/>
              </a:rPr>
              <a:t>FOUNDER</a:t>
            </a:r>
          </a:p>
          <a:p>
            <a:pPr algn="l">
              <a:spcAft>
                <a:spcPts val="300"/>
              </a:spcAft>
            </a:pPr>
            <a:r>
              <a:rPr sz="1300" b="0">
                <a:solidFill>
                  <a:srgbClr val="161B26"/>
                </a:solidFill>
                <a:latin typeface="Arial"/>
              </a:rPr>
              <a:t>Tertiary Infotech Academy Pte Ltd</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19"/>
            <a:ext cx="10515600" cy="4297680"/>
          </a:xfrm>
          <a:prstGeom prst="rect">
            <a:avLst/>
          </a:prstGeom>
          <a:noFill/>
        </p:spPr>
        <p:txBody>
          <a:bodyPr wrap="square">
            <a:spAutoFit/>
          </a:bodyPr>
          <a:lstStyle/>
          <a:p>
            <a:pPr>
              <a:spcAft>
                <a:spcPts val="1000"/>
              </a:spcAft>
            </a:pPr>
            <a:r>
              <a:rPr sz="1700">
                <a:solidFill>
                  <a:srgbClr val="161B26"/>
                </a:solidFill>
                <a:latin typeface="Arial"/>
              </a:rPr>
              <a:t>•  Your name, your institution and your role.</a:t>
            </a:r>
          </a:p>
          <a:p>
            <a:pPr>
              <a:spcAft>
                <a:spcPts val="1000"/>
              </a:spcAft>
            </a:pPr>
            <a:r>
              <a:rPr sz="1700">
                <a:solidFill>
                  <a:srgbClr val="161B26"/>
                </a:solidFill>
                <a:latin typeface="Arial"/>
              </a:rPr>
              <a:t>•  Do you trade, invest, analyse or build systems for markets today?</a:t>
            </a:r>
          </a:p>
          <a:p>
            <a:pPr>
              <a:spcAft>
                <a:spcPts val="1000"/>
              </a:spcAft>
            </a:pPr>
            <a:r>
              <a:rPr sz="1700">
                <a:solidFill>
                  <a:srgbClr val="161B26"/>
                </a:solidFill>
                <a:latin typeface="Arial"/>
              </a:rPr>
              <a:t>•  Have you used TradingView, a broker API or Python before?</a:t>
            </a:r>
          </a:p>
          <a:p>
            <a:pPr>
              <a:spcAft>
                <a:spcPts val="1000"/>
              </a:spcAft>
            </a:pPr>
            <a:r>
              <a:rPr sz="1700">
                <a:solidFill>
                  <a:srgbClr val="161B26"/>
                </a:solidFill>
                <a:latin typeface="Arial"/>
              </a:rPr>
              <a:t>•  One trading rule you believe works — we will test it this week.</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Be on time</a:t>
            </a:r>
          </a:p>
          <a:p>
            <a:pPr algn="l">
              <a:spcAft>
                <a:spcPts val="300"/>
              </a:spcAft>
            </a:pPr>
            <a:r>
              <a:rPr sz="1300" b="0">
                <a:solidFill>
                  <a:srgbClr val="5B6372"/>
                </a:solidFill>
                <a:latin typeface="Arial"/>
              </a:rPr>
              <a:t>Sessions restart promptly after each break.</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Phones on silent</a:t>
            </a:r>
          </a:p>
          <a:p>
            <a:pPr algn="l">
              <a:spcAft>
                <a:spcPts val="300"/>
              </a:spcAft>
            </a:pPr>
            <a:r>
              <a:rPr sz="1300" b="0">
                <a:solidFill>
                  <a:srgbClr val="5B6372"/>
                </a:solidFill>
                <a:latin typeface="Arial"/>
              </a:rPr>
              <a:t>Take calls outside the room.</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Ask as we go</a:t>
            </a:r>
          </a:p>
          <a:p>
            <a:pPr algn="l">
              <a:spcAft>
                <a:spcPts val="300"/>
              </a:spcAft>
            </a:pPr>
            <a:r>
              <a:rPr sz="1300" b="0">
                <a:solidFill>
                  <a:srgbClr val="5B6372"/>
                </a:solidFill>
                <a:latin typeface="Arial"/>
              </a:rPr>
              <a:t>Questions are welcome at any point.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Hands on the keyboard</a:t>
            </a:r>
          </a:p>
          <a:p>
            <a:pPr algn="l">
              <a:spcAft>
                <a:spcPts val="300"/>
              </a:spcAft>
            </a:pPr>
            <a:r>
              <a:rPr sz="1300" b="0">
                <a:solidFill>
                  <a:srgbClr val="5B6372"/>
                </a:solidFill>
                <a:latin typeface="Arial"/>
              </a:rPr>
              <a:t>Twenty labs — follow along on your own laptop.</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Paper trading only</a:t>
            </a:r>
          </a:p>
          <a:p>
            <a:pPr algn="l">
              <a:spcAft>
                <a:spcPts val="300"/>
              </a:spcAft>
            </a:pPr>
            <a:r>
              <a:rPr sz="1300" b="0">
                <a:solidFill>
                  <a:srgbClr val="5B6372"/>
                </a:solidFill>
                <a:latin typeface="Arial"/>
              </a:rPr>
              <a:t>No real money is used anywhere in this course.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Not investment advice</a:t>
            </a:r>
          </a:p>
          <a:p>
            <a:pPr algn="l">
              <a:spcAft>
                <a:spcPts val="300"/>
              </a:spcAft>
            </a:pPr>
            <a:r>
              <a:rPr sz="1300" b="0">
                <a:solidFill>
                  <a:srgbClr val="5B6372"/>
                </a:solidFill>
                <a:latin typeface="Arial"/>
              </a:rPr>
              <a:t>Lion City Capital and all scenarios are fictitious.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Login to TMS and Download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ms-tms-portal.png"/>
          <p:cNvPicPr>
            <a:picLocks noChangeAspect="1"/>
          </p:cNvPicPr>
          <p:nvPr/>
        </p:nvPicPr>
        <p:blipFill>
          <a:blip r:embed="rId2"/>
          <a:stretch>
            <a:fillRect/>
          </a:stretch>
        </p:blipFill>
        <p:spPr>
          <a:xfrm>
            <a:off x="2557716" y="2057400"/>
            <a:ext cx="7076261" cy="3520440"/>
          </a:xfrm>
          <a:prstGeom prst="rect">
            <a:avLst/>
          </a:prstGeom>
        </p:spPr>
      </p:pic>
      <p:sp>
        <p:nvSpPr>
          <p:cNvPr id="8" name="Rectangle 7"/>
          <p:cNvSpPr/>
          <p:nvPr/>
        </p:nvSpPr>
        <p:spPr>
          <a:xfrm>
            <a:off x="2546744" y="2046427"/>
            <a:ext cx="7098206" cy="354238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2414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24144"/>
            <a:ext cx="9144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2414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Log in at lms-tms.tertiaryinfotech.com with your registered email + the OTP from your inbox, then download the slides, Learner Guide and labs.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 · STEPS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Download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4343"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1" name="TextBox 10"/>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Go to lms-tms. tertiaryinfotech.com</a:t>
            </a:r>
          </a:p>
        </p:txBody>
      </p:sp>
      <p:sp>
        <p:nvSpPr>
          <p:cNvPr id="12" name="TextBox 11"/>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13" name="Rectangle 12"/>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56101"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17" name="TextBox 16"/>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Enter your registered email and click Send OTP</a:t>
            </a:r>
          </a:p>
        </p:txBody>
      </p:sp>
      <p:sp>
        <p:nvSpPr>
          <p:cNvPr id="18" name="TextBox 17"/>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19" name="Rectangle 18"/>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37859"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3" name="TextBox 22"/>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Key in the one-time password from your inbox</a:t>
            </a:r>
          </a:p>
        </p:txBody>
      </p:sp>
      <p:sp>
        <p:nvSpPr>
          <p:cNvPr id="24" name="TextBox 23"/>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25" name="Rectangle 24"/>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22514"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19617"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29" name="TextBox 28"/>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Open this course: download the Learner Slides + Learner Guide PDFs</a:t>
            </a:r>
          </a:p>
        </p:txBody>
      </p:sp>
      <p:sp>
        <p:nvSpPr>
          <p:cNvPr id="30" name="TextBox 29"/>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31" name="Rectangle 30"/>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04272"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101375"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5" name="TextBox 34"/>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Activities / Lab: download the labs folder (lab manuals + code)</a:t>
            </a:r>
          </a:p>
        </p:txBody>
      </p:sp>
      <p:sp>
        <p:nvSpPr>
          <p:cNvPr id="36" name="Rectangle 35"/>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77240" y="5257800"/>
            <a:ext cx="91440" cy="8229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Keep the Learner Guide open all course — the assessment is open book.</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COURSE PORTAL · GITHUB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Download the Labs and Simulator (GitHub)</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5180076"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5180076"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4741164" cy="548640"/>
          </a:xfrm>
          <a:prstGeom prst="rect">
            <a:avLst/>
          </a:prstGeom>
          <a:noFill/>
        </p:spPr>
        <p:txBody>
          <a:bodyPr wrap="square" anchor="t">
            <a:spAutoFit/>
          </a:bodyPr>
          <a:lstStyle/>
          <a:p>
            <a:pPr algn="l">
              <a:spcAft>
                <a:spcPts val="400"/>
              </a:spcAft>
            </a:pPr>
            <a:r>
              <a:rPr sz="1600" b="1">
                <a:solidFill>
                  <a:srgbClr val="1F6FEB"/>
                </a:solidFill>
                <a:latin typeface="Arial"/>
              </a:rPr>
              <a:t>Course repository</a:t>
            </a:r>
          </a:p>
        </p:txBody>
      </p:sp>
      <p:sp>
        <p:nvSpPr>
          <p:cNvPr id="10" name="TextBox 9"/>
          <p:cNvSpPr txBox="1"/>
          <p:nvPr/>
        </p:nvSpPr>
        <p:spPr>
          <a:xfrm>
            <a:off x="996696" y="2926080"/>
            <a:ext cx="4741164" cy="2377440"/>
          </a:xfrm>
          <a:prstGeom prst="rect">
            <a:avLst/>
          </a:prstGeom>
          <a:noFill/>
        </p:spPr>
        <p:txBody>
          <a:bodyPr wrap="square" anchor="t">
            <a:spAutoFit/>
          </a:bodyPr>
          <a:lstStyle/>
          <a:p>
            <a:pPr algn="l">
              <a:spcAft>
                <a:spcPts val="400"/>
              </a:spcAft>
            </a:pPr>
            <a:r>
              <a:rPr sz="1200" b="0">
                <a:solidFill>
                  <a:srgbClr val="161B26"/>
                </a:solidFill>
                <a:latin typeface="Arial"/>
              </a:rPr>
              <a:t>github.com/tertiarycourses/TGS-2023018794-Machine-Learning-101-for-Financial-Trading
Learner Guide, Learner Slides, Lesson Plan and all 20 lab folders (instruction PDFs, .py and .pine files) - Full Code edition.
Code &gt; Download ZIP, or git clone.</a:t>
            </a:r>
          </a:p>
        </p:txBody>
      </p:sp>
      <p:sp>
        <p:nvSpPr>
          <p:cNvPr id="11" name="Rectangle 10"/>
          <p:cNvSpPr/>
          <p:nvPr/>
        </p:nvSpPr>
        <p:spPr>
          <a:xfrm>
            <a:off x="6231636" y="1965960"/>
            <a:ext cx="5180076"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965960"/>
            <a:ext cx="5180076"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51092" y="2331720"/>
            <a:ext cx="4741164" cy="548640"/>
          </a:xfrm>
          <a:prstGeom prst="rect">
            <a:avLst/>
          </a:prstGeom>
          <a:noFill/>
        </p:spPr>
        <p:txBody>
          <a:bodyPr wrap="square" anchor="t">
            <a:spAutoFit/>
          </a:bodyPr>
          <a:lstStyle/>
          <a:p>
            <a:pPr algn="l">
              <a:spcAft>
                <a:spcPts val="400"/>
              </a:spcAft>
            </a:pPr>
            <a:r>
              <a:rPr sz="1600" b="1">
                <a:solidFill>
                  <a:srgbClr val="10B981"/>
                </a:solidFill>
                <a:latin typeface="Arial"/>
              </a:rPr>
              <a:t>Trading simulator software</a:t>
            </a:r>
          </a:p>
        </p:txBody>
      </p:sp>
      <p:sp>
        <p:nvSpPr>
          <p:cNvPr id="14" name="TextBox 13"/>
          <p:cNvSpPr txBox="1"/>
          <p:nvPr/>
        </p:nvSpPr>
        <p:spPr>
          <a:xfrm>
            <a:off x="6451092" y="2926080"/>
            <a:ext cx="4741164" cy="2377440"/>
          </a:xfrm>
          <a:prstGeom prst="rect">
            <a:avLst/>
          </a:prstGeom>
          <a:noFill/>
        </p:spPr>
        <p:txBody>
          <a:bodyPr wrap="square" anchor="t">
            <a:spAutoFit/>
          </a:bodyPr>
          <a:lstStyle/>
          <a:p>
            <a:pPr algn="l">
              <a:spcAft>
                <a:spcPts val="400"/>
              </a:spcAft>
            </a:pPr>
            <a:r>
              <a:rPr sz="1200" b="0">
                <a:solidFill>
                  <a:srgbClr val="161B26"/>
                </a:solidFill>
                <a:latin typeface="Arial"/>
              </a:rPr>
              <a:t>github.com/alfredang/algorithmic-trader-bot
The quant / algo trading simulator the labs run in: backtest, forward test, paper trading, analytics.
Install steps: next section and the Learner Guide.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You'll Achieve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LO1  ·  A1, A6</a:t>
            </a:r>
          </a:p>
          <a:p>
            <a:pPr algn="l">
              <a:spcAft>
                <a:spcPts val="300"/>
              </a:spcAft>
            </a:pPr>
            <a:r>
              <a:rPr sz="1000" b="0">
                <a:solidFill>
                  <a:srgbClr val="5B6372"/>
                </a:solidFill>
                <a:latin typeface="Arial"/>
              </a:rPr>
              <a:t>Develop hypotheses for implementing data analytics and computational modelling activities in algorithmic trading, and identify possible big data applications across the forms of data within financial services.</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LO2  ·  A2, A3</a:t>
            </a:r>
          </a:p>
          <a:p>
            <a:pPr algn="l">
              <a:spcAft>
                <a:spcPts val="300"/>
              </a:spcAft>
            </a:pPr>
            <a:r>
              <a:rPr sz="1000" b="0">
                <a:solidFill>
                  <a:srgbClr val="5B6372"/>
                </a:solidFill>
                <a:latin typeface="Arial"/>
              </a:rPr>
              <a:t>Identify appropriate statistical algorithms and data models to test trading hypotheses, and use appropriate analytics platforms, analytical tools and statistical methods given specific analytics and reporting requirements.</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LO3  ·  A4, A5</a:t>
            </a:r>
          </a:p>
          <a:p>
            <a:pPr algn="l">
              <a:spcAft>
                <a:spcPts val="300"/>
              </a:spcAft>
            </a:pPr>
            <a:r>
              <a:rPr sz="1000" b="0">
                <a:solidFill>
                  <a:srgbClr val="5B6372"/>
                </a:solidFill>
                <a:latin typeface="Arial"/>
              </a:rPr>
              <a:t>Conduct statistical modelling of market data with machine learning models to derive patterns and solutions, and perform A/B testing of trading strategies based on different hypotheses.</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LO4  ·  A7, A8, A9, A10</a:t>
            </a:r>
          </a:p>
          <a:p>
            <a:pPr algn="l">
              <a:spcAft>
                <a:spcPts val="300"/>
              </a:spcAft>
            </a:pPr>
            <a:r>
              <a:rPr sz="1000" b="0">
                <a:solidFill>
                  <a:srgbClr val="5B6372"/>
                </a:solidFill>
                <a:latin typeface="Arial"/>
              </a:rPr>
              <a:t>Perform coding and configuration of an automated trading program based on selected models or algorithms, conduct tests on its actions and outcomes, diagnose unintended outcomes, and draw insights from the results to support decisions and report accordingly.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COURSE JOURNEY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Course Journey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Topic 1 — Quant and Algo Trading Foundations</a:t>
            </a:r>
          </a:p>
          <a:p>
            <a:pPr algn="l">
              <a:spcAft>
                <a:spcPts val="300"/>
              </a:spcAft>
            </a:pPr>
            <a:r>
              <a:rPr sz="1100" b="0">
                <a:solidFill>
                  <a:srgbClr val="5B6372"/>
                </a:solidFill>
                <a:latin typeface="Arial"/>
              </a:rPr>
              <a:t>Day 1  ·  Labs 1–4  ·  A1, A6, K1, K9  ·  Foundations of Quant and Algorithmic Trading: From Thorp to AI Agents</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Topic 2 — Indicators, Strategies and Metrics</a:t>
            </a:r>
          </a:p>
          <a:p>
            <a:pPr algn="l">
              <a:spcAft>
                <a:spcPts val="300"/>
              </a:spcAft>
            </a:pPr>
            <a:r>
              <a:rPr sz="1100" b="0">
                <a:solidFill>
                  <a:srgbClr val="5B6372"/>
                </a:solidFill>
                <a:latin typeface="Arial"/>
              </a:rPr>
              <a:t>Day 1  ·  Labs 5–9  ·  A2, A3, K3, K5, K7  ·  Technical Indicators, Trading Strategies and Metrics with TradingView and Alpaca</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Topic 3 — ML Models and A/B Testing</a:t>
            </a:r>
          </a:p>
          <a:p>
            <a:pPr algn="l">
              <a:spcAft>
                <a:spcPts val="300"/>
              </a:spcAft>
            </a:pPr>
            <a:r>
              <a:rPr sz="1100" b="0">
                <a:solidFill>
                  <a:srgbClr val="5B6372"/>
                </a:solidFill>
                <a:latin typeface="Arial"/>
              </a:rPr>
              <a:t>Day 2  ·  Labs 10–14  ·  A4, A5, K2, K4, K6  ·  Machine Learning Models, Statistical Modelling and A/B Testing for Trading Signals</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Topic 4 — End-to-End Trading Pipeline</a:t>
            </a:r>
          </a:p>
          <a:p>
            <a:pPr algn="l">
              <a:spcAft>
                <a:spcPts val="300"/>
              </a:spcAft>
            </a:pPr>
            <a:r>
              <a:rPr sz="1100" b="0">
                <a:solidFill>
                  <a:srgbClr val="5B6372"/>
                </a:solidFill>
                <a:latin typeface="Arial"/>
              </a:rPr>
              <a:t>Day 2  ·  Labs 15–20  ·  A7, A8, A9, A10, K7, K8  ·  Building an End-to-End Algorithmic Trading Pipeline: Backtest, Forward Test and Performance Analysis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920240"/>
            <a:ext cx="9692640" cy="365760"/>
          </a:xfrm>
          <a:prstGeom prst="rect">
            <a:avLst/>
          </a:prstGeom>
          <a:noFill/>
        </p:spPr>
        <p:txBody>
          <a:bodyPr wrap="square" anchor="t">
            <a:spAutoFit/>
          </a:bodyPr>
          <a:lstStyle/>
          <a:p>
            <a:pPr algn="l">
              <a:spcAft>
                <a:spcPts val="400"/>
              </a:spcAft>
            </a:pPr>
            <a:r>
              <a:rPr sz="1400" b="1">
                <a:solidFill>
                  <a:srgbClr val="10B981"/>
                </a:solidFill>
                <a:latin typeface="Arial"/>
              </a:rPr>
              <a:t>THE PARADIGM SHIFT · HOW THIS COURSE WORKS</a:t>
            </a:r>
          </a:p>
        </p:txBody>
      </p:sp>
      <p:sp>
        <p:nvSpPr>
          <p:cNvPr id="5" name="TextBox 4"/>
          <p:cNvSpPr txBox="1"/>
          <p:nvPr/>
        </p:nvSpPr>
        <p:spPr>
          <a:xfrm>
            <a:off x="1188720" y="2377440"/>
            <a:ext cx="9692640" cy="1645920"/>
          </a:xfrm>
          <a:prstGeom prst="rect">
            <a:avLst/>
          </a:prstGeom>
          <a:noFill/>
        </p:spPr>
        <p:txBody>
          <a:bodyPr wrap="square" anchor="t">
            <a:spAutoFit/>
          </a:bodyPr>
          <a:lstStyle/>
          <a:p>
            <a:pPr algn="l">
              <a:spcAft>
                <a:spcPts val="400"/>
              </a:spcAft>
            </a:pPr>
            <a:r>
              <a:rPr sz="3400" b="1">
                <a:solidFill>
                  <a:srgbClr val="161B26"/>
                </a:solidFill>
                <a:latin typeface="Arial"/>
              </a:rPr>
              <a:t>AI writes the code. You own the algorithm.</a:t>
            </a:r>
          </a:p>
        </p:txBody>
      </p:sp>
      <p:sp>
        <p:nvSpPr>
          <p:cNvPr id="6" name="TextBox 5"/>
          <p:cNvSpPr txBox="1"/>
          <p:nvPr/>
        </p:nvSpPr>
        <p:spPr>
          <a:xfrm>
            <a:off x="1188720" y="4206240"/>
            <a:ext cx="9692640" cy="1097280"/>
          </a:xfrm>
          <a:prstGeom prst="rect">
            <a:avLst/>
          </a:prstGeom>
          <a:noFill/>
        </p:spPr>
        <p:txBody>
          <a:bodyPr wrap="square" anchor="t">
            <a:spAutoFit/>
          </a:bodyPr>
          <a:lstStyle/>
          <a:p>
            <a:pPr algn="l">
              <a:spcAft>
                <a:spcPts val="400"/>
              </a:spcAft>
            </a:pPr>
            <a:r>
              <a:rPr sz="1600" b="0">
                <a:solidFill>
                  <a:srgbClr val="5B6372"/>
                </a:solidFill>
                <a:latin typeface="Arial"/>
              </a:rPr>
              <a:t>This Full Code edition is for learners who want full customisation in Python. Every lab builds one stage of a single Python pipeline: the complete scripts are provided in each lab folder, with the prompts that generate them, and an AI coding assistant writes and changes the code. What matters is still the big concepts: the hypothesis, how each algorithm makes its decision, how it is tested without bias and with costs, how risk is controlled, and how the results are judged.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THE PARADIGM SHIFT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Your Role versus the AI's Role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Your job: the hypothesis</a:t>
            </a:r>
          </a:p>
          <a:p>
            <a:pPr algn="l">
              <a:spcAft>
                <a:spcPts val="300"/>
              </a:spcAft>
            </a:pPr>
            <a:r>
              <a:rPr sz="1050" b="0">
                <a:solidFill>
                  <a:srgbClr val="5B6372"/>
                </a:solidFill>
                <a:latin typeface="Arial"/>
              </a:rPr>
              <a:t>What edge do you expect, why, and how will you know it is real?</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Your job: the algorithm's logic</a:t>
            </a:r>
          </a:p>
          <a:p>
            <a:pPr algn="l">
              <a:spcAft>
                <a:spcPts val="300"/>
              </a:spcAft>
            </a:pPr>
            <a:r>
              <a:rPr sz="1050" b="0">
                <a:solidFill>
                  <a:srgbClr val="5B6372"/>
                </a:solidFill>
                <a:latin typeface="Arial"/>
              </a:rPr>
              <a:t>The rule or model, its inputs, and when it buys or sells.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Your job: testing and judgement</a:t>
            </a:r>
          </a:p>
          <a:p>
            <a:pPr algn="l">
              <a:spcAft>
                <a:spcPts val="300"/>
              </a:spcAft>
            </a:pPr>
            <a:r>
              <a:rPr sz="1050" b="0">
                <a:solidFill>
                  <a:srgbClr val="5B6372"/>
                </a:solidFill>
                <a:latin typeface="Arial"/>
              </a:rPr>
              <a:t>Out-of-sample, next-bar, net of costs; read the metrics.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Your job: risk and accountability</a:t>
            </a:r>
          </a:p>
          <a:p>
            <a:pPr algn="l">
              <a:spcAft>
                <a:spcPts val="300"/>
              </a:spcAft>
            </a:pPr>
            <a:r>
              <a:rPr sz="1050" b="0">
                <a:solidFill>
                  <a:srgbClr val="5B6372"/>
                </a:solidFill>
                <a:latin typeface="Arial"/>
              </a:rPr>
              <a:t>Limits, kill switch, approval - you answer for every trade.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AI</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AI's job: the code</a:t>
            </a:r>
          </a:p>
          <a:p>
            <a:pPr algn="l">
              <a:spcAft>
                <a:spcPts val="300"/>
              </a:spcAft>
            </a:pPr>
            <a:r>
              <a:rPr sz="1050" b="0">
                <a:solidFill>
                  <a:srgbClr val="5B6372"/>
                </a:solidFill>
                <a:latin typeface="Arial"/>
              </a:rPr>
              <a:t>AI assistants write, run and fix the Python and Pine; you review it.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AI</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AI's job: the drudgery</a:t>
            </a:r>
          </a:p>
          <a:p>
            <a:pPr algn="l">
              <a:spcAft>
                <a:spcPts val="300"/>
              </a:spcAft>
            </a:pPr>
            <a:r>
              <a:rPr sz="1050" b="0">
                <a:solidFill>
                  <a:srgbClr val="5B6372"/>
                </a:solidFill>
                <a:latin typeface="Arial"/>
              </a:rPr>
              <a:t>Data plumbing, charts, reports - you review what it produces.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FSE-DAT-3019-1.1 · ABILITIES 1-5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TSC Alignment — Abilities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A1</a:t>
            </a:r>
          </a:p>
          <a:p>
            <a:pPr algn="l">
              <a:spcAft>
                <a:spcPts val="300"/>
              </a:spcAft>
            </a:pPr>
            <a:r>
              <a:rPr sz="1000" b="0">
                <a:solidFill>
                  <a:srgbClr val="5B6372"/>
                </a:solidFill>
                <a:latin typeface="Arial"/>
              </a:rPr>
              <a:t>Develop hypotheses for implementing data analytics and computational modelling activities</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A2</a:t>
            </a:r>
          </a:p>
          <a:p>
            <a:pPr algn="l">
              <a:spcAft>
                <a:spcPts val="300"/>
              </a:spcAft>
            </a:pPr>
            <a:r>
              <a:rPr sz="1000" b="0">
                <a:solidFill>
                  <a:srgbClr val="5B6372"/>
                </a:solidFill>
                <a:latin typeface="Arial"/>
              </a:rPr>
              <a:t>Identify appropriate statistical algorithms and data models to test hypotheses and/or theories</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A3</a:t>
            </a:r>
          </a:p>
          <a:p>
            <a:pPr algn="l">
              <a:spcAft>
                <a:spcPts val="300"/>
              </a:spcAft>
            </a:pPr>
            <a:r>
              <a:rPr sz="1000" b="0">
                <a:solidFill>
                  <a:srgbClr val="5B6372"/>
                </a:solidFill>
                <a:latin typeface="Arial"/>
              </a:rPr>
              <a:t>Use appropriate analytics platforms, analytical tools, statistical methods and analytical approaches given specific analytics and reporting requirements</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A4</a:t>
            </a:r>
          </a:p>
          <a:p>
            <a:pPr algn="l">
              <a:spcAft>
                <a:spcPts val="300"/>
              </a:spcAft>
            </a:pPr>
            <a:r>
              <a:rPr sz="1000" b="0">
                <a:solidFill>
                  <a:srgbClr val="5B6372"/>
                </a:solidFill>
                <a:latin typeface="Arial"/>
              </a:rPr>
              <a:t>Conduct statistical modelling of data to derive patterns and solutions</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A5</a:t>
            </a:r>
          </a:p>
          <a:p>
            <a:pPr algn="l">
              <a:spcAft>
                <a:spcPts val="300"/>
              </a:spcAft>
            </a:pPr>
            <a:r>
              <a:rPr sz="1000" b="0">
                <a:solidFill>
                  <a:srgbClr val="5B6372"/>
                </a:solidFill>
                <a:latin typeface="Arial"/>
              </a:rPr>
              <a:t>Perform A/B testing based on different hypotheses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FSE-DAT-3019-1.1 · ABILITIES 6-10</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TSC Alignment — Abilities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A6</a:t>
            </a:r>
          </a:p>
          <a:p>
            <a:pPr algn="l">
              <a:spcAft>
                <a:spcPts val="300"/>
              </a:spcAft>
            </a:pPr>
            <a:r>
              <a:rPr sz="1000" b="0">
                <a:solidFill>
                  <a:srgbClr val="5B6372"/>
                </a:solidFill>
                <a:latin typeface="Arial"/>
              </a:rPr>
              <a:t>Identify possible big data applications</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A7</a:t>
            </a:r>
          </a:p>
          <a:p>
            <a:pPr algn="l">
              <a:spcAft>
                <a:spcPts val="300"/>
              </a:spcAft>
            </a:pPr>
            <a:r>
              <a:rPr sz="1000" b="0">
                <a:solidFill>
                  <a:srgbClr val="5B6372"/>
                </a:solidFill>
                <a:latin typeface="Arial"/>
              </a:rPr>
              <a:t>Perform coding and configuration of software agents or programs based on selected models or algorithms</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A8</a:t>
            </a:r>
          </a:p>
          <a:p>
            <a:pPr algn="l">
              <a:spcAft>
                <a:spcPts val="300"/>
              </a:spcAft>
            </a:pPr>
            <a:r>
              <a:rPr sz="1000" b="0">
                <a:solidFill>
                  <a:srgbClr val="5B6372"/>
                </a:solidFill>
                <a:latin typeface="Arial"/>
              </a:rPr>
              <a:t>Conduct tests on the actions taken and outcomes to assess effectiveness of the models</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A9</a:t>
            </a:r>
          </a:p>
          <a:p>
            <a:pPr algn="l">
              <a:spcAft>
                <a:spcPts val="300"/>
              </a:spcAft>
            </a:pPr>
            <a:r>
              <a:rPr sz="1000" b="0">
                <a:solidFill>
                  <a:srgbClr val="5B6372"/>
                </a:solidFill>
                <a:latin typeface="Arial"/>
              </a:rPr>
              <a:t>Diagnose unintended outcomes produced by statistical models</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A10</a:t>
            </a:r>
          </a:p>
          <a:p>
            <a:pPr algn="l">
              <a:spcAft>
                <a:spcPts val="300"/>
              </a:spcAft>
            </a:pPr>
            <a:r>
              <a:rPr sz="1000" b="0">
                <a:solidFill>
                  <a:srgbClr val="5B6372"/>
                </a:solidFill>
                <a:latin typeface="Arial"/>
              </a:rPr>
              <a:t>Draw relevant trends and insights from data analysis to support decisions and report accordingly</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FSE-DAT-3019-1.1 · KNOWLEDGE 1-5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TSC Alignment — Knowledge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K1</a:t>
            </a:r>
          </a:p>
          <a:p>
            <a:pPr algn="l">
              <a:spcAft>
                <a:spcPts val="300"/>
              </a:spcAft>
            </a:pPr>
            <a:r>
              <a:rPr sz="1000" b="0">
                <a:solidFill>
                  <a:srgbClr val="5B6372"/>
                </a:solidFill>
                <a:latin typeface="Arial"/>
              </a:rPr>
              <a:t>Data analytics and modelling business use cases</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K2</a:t>
            </a:r>
          </a:p>
          <a:p>
            <a:pPr algn="l">
              <a:spcAft>
                <a:spcPts val="300"/>
              </a:spcAft>
            </a:pPr>
            <a:r>
              <a:rPr sz="1000" b="0">
                <a:solidFill>
                  <a:srgbClr val="5B6372"/>
                </a:solidFill>
                <a:latin typeface="Arial"/>
              </a:rPr>
              <a:t>Types of statistical analyses, data models, algorithms and advanced computational methods</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K3</a:t>
            </a:r>
          </a:p>
          <a:p>
            <a:pPr algn="l">
              <a:spcAft>
                <a:spcPts val="300"/>
              </a:spcAft>
            </a:pPr>
            <a:r>
              <a:rPr sz="1000" b="0">
                <a:solidFill>
                  <a:srgbClr val="5B6372"/>
                </a:solidFill>
                <a:latin typeface="Arial"/>
              </a:rPr>
              <a:t>Range and application of various statistical methods and algorithms</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K4</a:t>
            </a:r>
          </a:p>
          <a:p>
            <a:pPr algn="l">
              <a:spcAft>
                <a:spcPts val="300"/>
              </a:spcAft>
            </a:pPr>
            <a:r>
              <a:rPr sz="1000" b="0">
                <a:solidFill>
                  <a:srgbClr val="5B6372"/>
                </a:solidFill>
                <a:latin typeface="Arial"/>
              </a:rPr>
              <a:t>Range and application of various types of data models</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K5</a:t>
            </a:r>
          </a:p>
          <a:p>
            <a:pPr algn="l">
              <a:spcAft>
                <a:spcPts val="300"/>
              </a:spcAft>
            </a:pPr>
            <a:r>
              <a:rPr sz="1000" b="0">
                <a:solidFill>
                  <a:srgbClr val="5B6372"/>
                </a:solidFill>
                <a:latin typeface="Arial"/>
              </a:rPr>
              <a:t>Usage of analytics platforms and tools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FSE-DAT-3019-1.1 · KNOWLEDGE 6-9</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TSC Alignment — Knowledge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K6</a:t>
            </a:r>
          </a:p>
          <a:p>
            <a:pPr algn="l">
              <a:spcAft>
                <a:spcPts val="300"/>
              </a:spcAft>
            </a:pPr>
            <a:r>
              <a:rPr sz="1000" b="0">
                <a:solidFill>
                  <a:srgbClr val="5B6372"/>
                </a:solidFill>
                <a:latin typeface="Arial"/>
              </a:rPr>
              <a:t>Statistical modelling techniques</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K7</a:t>
            </a:r>
          </a:p>
          <a:p>
            <a:pPr algn="l">
              <a:spcAft>
                <a:spcPts val="300"/>
              </a:spcAft>
            </a:pPr>
            <a:r>
              <a:rPr sz="1000" b="0">
                <a:solidFill>
                  <a:srgbClr val="5B6372"/>
                </a:solidFill>
                <a:latin typeface="Arial"/>
              </a:rPr>
              <a:t>Coding languages for programming of algorithms and signals</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K8</a:t>
            </a:r>
          </a:p>
          <a:p>
            <a:pPr algn="l">
              <a:spcAft>
                <a:spcPts val="300"/>
              </a:spcAft>
            </a:pPr>
            <a:r>
              <a:rPr sz="1000" b="0">
                <a:solidFill>
                  <a:srgbClr val="5B6372"/>
                </a:solidFill>
                <a:latin typeface="Arial"/>
              </a:rPr>
              <a:t>Potential reasons for unintended outcomes</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K9</a:t>
            </a:r>
          </a:p>
          <a:p>
            <a:pPr algn="l">
              <a:spcAft>
                <a:spcPts val="300"/>
              </a:spcAft>
            </a:pPr>
            <a:r>
              <a:rPr sz="1000" b="0">
                <a:solidFill>
                  <a:srgbClr val="5B6372"/>
                </a:solidFill>
                <a:latin typeface="Arial"/>
              </a:rPr>
              <a:t>Forms of data within financial services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Lesson Plan — Day 1 (1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09:00 - 18:30  ·  8 instructional hours  ·  excluding 1-hour lunch and two tea breaks</a:t>
            </a:r>
          </a:p>
        </p:txBody>
      </p:sp>
      <p:sp>
        <p:nvSpPr>
          <p:cNvPr id="8" name="TextBox 7"/>
          <p:cNvSpPr txBox="1"/>
          <p:nvPr/>
        </p:nvSpPr>
        <p:spPr>
          <a:xfrm>
            <a:off x="822960" y="2011680"/>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09:00 - 09:30</a:t>
            </a:r>
          </a:p>
        </p:txBody>
      </p:sp>
      <p:sp>
        <p:nvSpPr>
          <p:cNvPr id="9" name="TextBox 8"/>
          <p:cNvSpPr txBox="1"/>
          <p:nvPr/>
        </p:nvSpPr>
        <p:spPr>
          <a:xfrm>
            <a:off x="2377440" y="2011680"/>
            <a:ext cx="7863840" cy="356616"/>
          </a:xfrm>
          <a:prstGeom prst="rect">
            <a:avLst/>
          </a:prstGeom>
          <a:noFill/>
        </p:spPr>
        <p:txBody>
          <a:bodyPr wrap="square" anchor="ctr">
            <a:spAutoFit/>
          </a:bodyPr>
          <a:lstStyle/>
          <a:p>
            <a:pPr algn="l">
              <a:spcAft>
                <a:spcPts val="400"/>
              </a:spcAft>
            </a:pPr>
            <a:r>
              <a:rPr sz="1050" b="0">
                <a:solidFill>
                  <a:srgbClr val="161B26"/>
                </a:solidFill>
                <a:latin typeface="Arial"/>
              </a:rPr>
              <a:t>Course Overview, Trainer Introduction and Ground Rules</a:t>
            </a:r>
          </a:p>
        </p:txBody>
      </p:sp>
      <p:sp>
        <p:nvSpPr>
          <p:cNvPr id="10" name="TextBox 9"/>
          <p:cNvSpPr txBox="1"/>
          <p:nvPr/>
        </p:nvSpPr>
        <p:spPr>
          <a:xfrm>
            <a:off x="10287000" y="2011680"/>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11" name="TextBox 10"/>
          <p:cNvSpPr txBox="1"/>
          <p:nvPr/>
        </p:nvSpPr>
        <p:spPr>
          <a:xfrm>
            <a:off x="822960" y="2395728"/>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09:30 - 10:45</a:t>
            </a:r>
          </a:p>
        </p:txBody>
      </p:sp>
      <p:sp>
        <p:nvSpPr>
          <p:cNvPr id="12" name="TextBox 11"/>
          <p:cNvSpPr txBox="1"/>
          <p:nvPr/>
        </p:nvSpPr>
        <p:spPr>
          <a:xfrm>
            <a:off x="2377440" y="2395728"/>
            <a:ext cx="7863840" cy="356616"/>
          </a:xfrm>
          <a:prstGeom prst="rect">
            <a:avLst/>
          </a:prstGeom>
          <a:noFill/>
        </p:spPr>
        <p:txBody>
          <a:bodyPr wrap="square" anchor="ctr">
            <a:spAutoFit/>
          </a:bodyPr>
          <a:lstStyle/>
          <a:p>
            <a:pPr algn="l">
              <a:spcAft>
                <a:spcPts val="400"/>
              </a:spcAft>
            </a:pPr>
            <a:r>
              <a:rPr sz="1050" b="0">
                <a:solidFill>
                  <a:srgbClr val="161B26"/>
                </a:solidFill>
                <a:latin typeface="Arial"/>
              </a:rPr>
              <a:t>T1.1-1.4 Quant Success Stories, the Evolution of Quant, the ML-to-LLM Shift, and Agentic AI versus AI Agents</a:t>
            </a:r>
          </a:p>
        </p:txBody>
      </p:sp>
      <p:sp>
        <p:nvSpPr>
          <p:cNvPr id="13" name="TextBox 12"/>
          <p:cNvSpPr txBox="1"/>
          <p:nvPr/>
        </p:nvSpPr>
        <p:spPr>
          <a:xfrm>
            <a:off x="10287000" y="2395728"/>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K1, K9</a:t>
            </a:r>
          </a:p>
        </p:txBody>
      </p:sp>
      <p:sp>
        <p:nvSpPr>
          <p:cNvPr id="14" name="Rectangle 13"/>
          <p:cNvSpPr/>
          <p:nvPr/>
        </p:nvSpPr>
        <p:spPr>
          <a:xfrm>
            <a:off x="777240" y="2779776"/>
            <a:ext cx="10634472" cy="3566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2779776"/>
            <a:ext cx="10241280" cy="356616"/>
          </a:xfrm>
          <a:prstGeom prst="rect">
            <a:avLst/>
          </a:prstGeom>
          <a:noFill/>
        </p:spPr>
        <p:txBody>
          <a:bodyPr wrap="square" anchor="ctr">
            <a:spAutoFit/>
          </a:bodyPr>
          <a:lstStyle/>
          <a:p>
            <a:pPr algn="l">
              <a:spcAft>
                <a:spcPts val="400"/>
              </a:spcAft>
            </a:pPr>
            <a:r>
              <a:rPr sz="1050" b="1">
                <a:solidFill>
                  <a:srgbClr val="5B6372"/>
                </a:solidFill>
                <a:latin typeface="Arial"/>
              </a:rPr>
              <a:t>10:45 - 11:00      Tea Break</a:t>
            </a:r>
          </a:p>
        </p:txBody>
      </p:sp>
      <p:sp>
        <p:nvSpPr>
          <p:cNvPr id="16" name="TextBox 15"/>
          <p:cNvSpPr txBox="1"/>
          <p:nvPr/>
        </p:nvSpPr>
        <p:spPr>
          <a:xfrm>
            <a:off x="822960" y="3163824"/>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11:00 - 11:30</a:t>
            </a:r>
          </a:p>
        </p:txBody>
      </p:sp>
      <p:sp>
        <p:nvSpPr>
          <p:cNvPr id="17" name="TextBox 16"/>
          <p:cNvSpPr txBox="1"/>
          <p:nvPr/>
        </p:nvSpPr>
        <p:spPr>
          <a:xfrm>
            <a:off x="2377440" y="3163824"/>
            <a:ext cx="7863840" cy="356616"/>
          </a:xfrm>
          <a:prstGeom prst="rect">
            <a:avLst/>
          </a:prstGeom>
          <a:noFill/>
        </p:spPr>
        <p:txBody>
          <a:bodyPr wrap="square" anchor="ctr">
            <a:spAutoFit/>
          </a:bodyPr>
          <a:lstStyle/>
          <a:p>
            <a:pPr algn="l">
              <a:spcAft>
                <a:spcPts val="400"/>
              </a:spcAft>
            </a:pPr>
            <a:r>
              <a:rPr sz="1050" b="0">
                <a:solidFill>
                  <a:srgbClr val="161B26"/>
                </a:solidFill>
                <a:latin typeface="Arial"/>
              </a:rPr>
              <a:t>T1.5-1.6 Forms of Financial Data, Big Data Applications and Trading Hypotheses</a:t>
            </a:r>
          </a:p>
        </p:txBody>
      </p:sp>
      <p:sp>
        <p:nvSpPr>
          <p:cNvPr id="18" name="TextBox 17"/>
          <p:cNvSpPr txBox="1"/>
          <p:nvPr/>
        </p:nvSpPr>
        <p:spPr>
          <a:xfrm>
            <a:off x="10287000" y="3163824"/>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A1, A6, K1, K9</a:t>
            </a:r>
          </a:p>
        </p:txBody>
      </p:sp>
      <p:sp>
        <p:nvSpPr>
          <p:cNvPr id="19" name="TextBox 18"/>
          <p:cNvSpPr txBox="1"/>
          <p:nvPr/>
        </p:nvSpPr>
        <p:spPr>
          <a:xfrm>
            <a:off x="822960" y="3547872"/>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11:30 - 11:50</a:t>
            </a:r>
          </a:p>
        </p:txBody>
      </p:sp>
      <p:sp>
        <p:nvSpPr>
          <p:cNvPr id="20" name="TextBox 19"/>
          <p:cNvSpPr txBox="1"/>
          <p:nvPr/>
        </p:nvSpPr>
        <p:spPr>
          <a:xfrm>
            <a:off x="2377440" y="3547872"/>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1: Pipeline Skeleton, Configuration and the Alpaca Paper Account</a:t>
            </a:r>
          </a:p>
        </p:txBody>
      </p:sp>
      <p:sp>
        <p:nvSpPr>
          <p:cNvPr id="21" name="TextBox 20"/>
          <p:cNvSpPr txBox="1"/>
          <p:nvPr/>
        </p:nvSpPr>
        <p:spPr>
          <a:xfrm>
            <a:off x="10287000" y="3547872"/>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K5</a:t>
            </a:r>
          </a:p>
        </p:txBody>
      </p:sp>
      <p:sp>
        <p:nvSpPr>
          <p:cNvPr id="22" name="TextBox 21"/>
          <p:cNvSpPr txBox="1"/>
          <p:nvPr/>
        </p:nvSpPr>
        <p:spPr>
          <a:xfrm>
            <a:off x="822960" y="3931920"/>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11:50 - 12:10</a:t>
            </a:r>
          </a:p>
        </p:txBody>
      </p:sp>
      <p:sp>
        <p:nvSpPr>
          <p:cNvPr id="23" name="TextBox 22"/>
          <p:cNvSpPr txBox="1"/>
          <p:nvPr/>
        </p:nvSpPr>
        <p:spPr>
          <a:xfrm>
            <a:off x="2377440" y="3931920"/>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2: Data-Validation Stage: Cross-Check Pipeline Bars against TradingView</a:t>
            </a:r>
          </a:p>
        </p:txBody>
      </p:sp>
      <p:sp>
        <p:nvSpPr>
          <p:cNvPr id="24" name="TextBox 23"/>
          <p:cNvSpPr txBox="1"/>
          <p:nvPr/>
        </p:nvSpPr>
        <p:spPr>
          <a:xfrm>
            <a:off x="10287000" y="3931920"/>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A3, K5, K9</a:t>
            </a:r>
          </a:p>
        </p:txBody>
      </p:sp>
      <p:sp>
        <p:nvSpPr>
          <p:cNvPr id="25" name="TextBox 24"/>
          <p:cNvSpPr txBox="1"/>
          <p:nvPr/>
        </p:nvSpPr>
        <p:spPr>
          <a:xfrm>
            <a:off x="822960" y="4315968"/>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12:10 - 12:30</a:t>
            </a:r>
          </a:p>
        </p:txBody>
      </p:sp>
      <p:sp>
        <p:nvSpPr>
          <p:cNvPr id="26" name="TextBox 25"/>
          <p:cNvSpPr txBox="1"/>
          <p:nvPr/>
        </p:nvSpPr>
        <p:spPr>
          <a:xfrm>
            <a:off x="2377440" y="4315968"/>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3: Ingestion Stage: Multi-Timeframe Bars, Headlines and Data Quality</a:t>
            </a:r>
          </a:p>
        </p:txBody>
      </p:sp>
      <p:sp>
        <p:nvSpPr>
          <p:cNvPr id="27" name="TextBox 26"/>
          <p:cNvSpPr txBox="1"/>
          <p:nvPr/>
        </p:nvSpPr>
        <p:spPr>
          <a:xfrm>
            <a:off x="10287000" y="4315968"/>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A6, K9</a:t>
            </a:r>
          </a:p>
        </p:txBody>
      </p:sp>
      <p:sp>
        <p:nvSpPr>
          <p:cNvPr id="28" name="Rectangle 27"/>
          <p:cNvSpPr/>
          <p:nvPr/>
        </p:nvSpPr>
        <p:spPr>
          <a:xfrm>
            <a:off x="777240" y="4700016"/>
            <a:ext cx="10634472" cy="3566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0120" y="4700016"/>
            <a:ext cx="10241280" cy="356616"/>
          </a:xfrm>
          <a:prstGeom prst="rect">
            <a:avLst/>
          </a:prstGeom>
          <a:noFill/>
        </p:spPr>
        <p:txBody>
          <a:bodyPr wrap="square" anchor="ctr">
            <a:spAutoFit/>
          </a:bodyPr>
          <a:lstStyle/>
          <a:p>
            <a:pPr algn="l">
              <a:spcAft>
                <a:spcPts val="400"/>
              </a:spcAft>
            </a:pPr>
            <a:r>
              <a:rPr sz="1050" b="1">
                <a:solidFill>
                  <a:srgbClr val="5B6372"/>
                </a:solidFill>
                <a:latin typeface="Arial"/>
              </a:rPr>
              <a:t>12:30 - 13:30      Lunch Break</a:t>
            </a:r>
          </a:p>
        </p:txBody>
      </p:sp>
      <p:sp>
        <p:nvSpPr>
          <p:cNvPr id="30" name="TextBox 29"/>
          <p:cNvSpPr txBox="1"/>
          <p:nvPr/>
        </p:nvSpPr>
        <p:spPr>
          <a:xfrm>
            <a:off x="822960" y="5084064"/>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13:30 - 13:45</a:t>
            </a:r>
          </a:p>
        </p:txBody>
      </p:sp>
      <p:sp>
        <p:nvSpPr>
          <p:cNvPr id="31" name="TextBox 30"/>
          <p:cNvSpPr txBox="1"/>
          <p:nvPr/>
        </p:nvSpPr>
        <p:spPr>
          <a:xfrm>
            <a:off x="2377440" y="5084064"/>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4: Hypothesis Stage: from a Written Card to an Automated Statistical Test</a:t>
            </a:r>
          </a:p>
        </p:txBody>
      </p:sp>
      <p:sp>
        <p:nvSpPr>
          <p:cNvPr id="32" name="TextBox 31"/>
          <p:cNvSpPr txBox="1"/>
          <p:nvPr/>
        </p:nvSpPr>
        <p:spPr>
          <a:xfrm>
            <a:off x="10287000" y="5084064"/>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A1, A6, K1</a:t>
            </a:r>
          </a:p>
        </p:txBody>
      </p:sp>
      <p:sp>
        <p:nvSpPr>
          <p:cNvPr id="33" name="TextBox 32"/>
          <p:cNvSpPr txBox="1"/>
          <p:nvPr/>
        </p:nvSpPr>
        <p:spPr>
          <a:xfrm>
            <a:off x="822960" y="5468112"/>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13:45 - 14:30</a:t>
            </a:r>
          </a:p>
        </p:txBody>
      </p:sp>
      <p:sp>
        <p:nvSpPr>
          <p:cNvPr id="34" name="TextBox 33"/>
          <p:cNvSpPr txBox="1"/>
          <p:nvPr/>
        </p:nvSpPr>
        <p:spPr>
          <a:xfrm>
            <a:off x="2377440" y="5468112"/>
            <a:ext cx="7863840" cy="356616"/>
          </a:xfrm>
          <a:prstGeom prst="rect">
            <a:avLst/>
          </a:prstGeom>
          <a:noFill/>
        </p:spPr>
        <p:txBody>
          <a:bodyPr wrap="square" anchor="ctr">
            <a:spAutoFit/>
          </a:bodyPr>
          <a:lstStyle/>
          <a:p>
            <a:pPr algn="l">
              <a:spcAft>
                <a:spcPts val="400"/>
              </a:spcAft>
            </a:pPr>
            <a:r>
              <a:rPr sz="1050" b="0">
                <a:solidFill>
                  <a:srgbClr val="161B26"/>
                </a:solidFill>
                <a:latin typeface="Arial"/>
              </a:rPr>
              <a:t>T2.1-2.2 Technical Indicators and Standard Algorithmic Trading Strategies</a:t>
            </a:r>
          </a:p>
        </p:txBody>
      </p:sp>
      <p:sp>
        <p:nvSpPr>
          <p:cNvPr id="35" name="TextBox 34"/>
          <p:cNvSpPr txBox="1"/>
          <p:nvPr/>
        </p:nvSpPr>
        <p:spPr>
          <a:xfrm>
            <a:off x="10287000" y="5468112"/>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A2, K3</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Lesson Plan — Day 1 (2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09:00 - 18:30  ·  8 instructional hours  ·  excluding 1-hour lunch and two tea breaks</a:t>
            </a:r>
          </a:p>
        </p:txBody>
      </p:sp>
      <p:sp>
        <p:nvSpPr>
          <p:cNvPr id="8" name="TextBox 7"/>
          <p:cNvSpPr txBox="1"/>
          <p:nvPr/>
        </p:nvSpPr>
        <p:spPr>
          <a:xfrm>
            <a:off x="822960" y="2011680"/>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14:30 - 14:55</a:t>
            </a:r>
          </a:p>
        </p:txBody>
      </p:sp>
      <p:sp>
        <p:nvSpPr>
          <p:cNvPr id="9" name="TextBox 8"/>
          <p:cNvSpPr txBox="1"/>
          <p:nvPr/>
        </p:nvSpPr>
        <p:spPr>
          <a:xfrm>
            <a:off x="2377440" y="2011680"/>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5: Indicator Stage: Pine Script v6 Indicators and their Python Twins</a:t>
            </a:r>
          </a:p>
        </p:txBody>
      </p:sp>
      <p:sp>
        <p:nvSpPr>
          <p:cNvPr id="10" name="TextBox 9"/>
          <p:cNvSpPr txBox="1"/>
          <p:nvPr/>
        </p:nvSpPr>
        <p:spPr>
          <a:xfrm>
            <a:off x="10287000" y="2011680"/>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A3, K3, K7</a:t>
            </a:r>
          </a:p>
        </p:txBody>
      </p:sp>
      <p:sp>
        <p:nvSpPr>
          <p:cNvPr id="11" name="TextBox 10"/>
          <p:cNvSpPr txBox="1"/>
          <p:nvPr/>
        </p:nvSpPr>
        <p:spPr>
          <a:xfrm>
            <a:off x="822960" y="2395728"/>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14:55 - 15:25</a:t>
            </a:r>
          </a:p>
        </p:txBody>
      </p:sp>
      <p:sp>
        <p:nvSpPr>
          <p:cNvPr id="12" name="TextBox 11"/>
          <p:cNvSpPr txBox="1"/>
          <p:nvPr/>
        </p:nvSpPr>
        <p:spPr>
          <a:xfrm>
            <a:off x="2377440" y="2395728"/>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6: Strategy Prototype: TradingView Strategy Tester, Paper Trading from the Chart and Pipeline Reconciliation</a:t>
            </a:r>
          </a:p>
        </p:txBody>
      </p:sp>
      <p:sp>
        <p:nvSpPr>
          <p:cNvPr id="13" name="TextBox 12"/>
          <p:cNvSpPr txBox="1"/>
          <p:nvPr/>
        </p:nvSpPr>
        <p:spPr>
          <a:xfrm>
            <a:off x="10287000" y="2395728"/>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A2, A3, K3, K7</a:t>
            </a:r>
          </a:p>
        </p:txBody>
      </p:sp>
      <p:sp>
        <p:nvSpPr>
          <p:cNvPr id="14" name="Rectangle 13"/>
          <p:cNvSpPr/>
          <p:nvPr/>
        </p:nvSpPr>
        <p:spPr>
          <a:xfrm>
            <a:off x="777240" y="2779776"/>
            <a:ext cx="10634472" cy="3566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2779776"/>
            <a:ext cx="10241280" cy="356616"/>
          </a:xfrm>
          <a:prstGeom prst="rect">
            <a:avLst/>
          </a:prstGeom>
          <a:noFill/>
        </p:spPr>
        <p:txBody>
          <a:bodyPr wrap="square" anchor="ctr">
            <a:spAutoFit/>
          </a:bodyPr>
          <a:lstStyle/>
          <a:p>
            <a:pPr algn="l">
              <a:spcAft>
                <a:spcPts val="400"/>
              </a:spcAft>
            </a:pPr>
            <a:r>
              <a:rPr sz="1050" b="1">
                <a:solidFill>
                  <a:srgbClr val="5B6372"/>
                </a:solidFill>
                <a:latin typeface="Arial"/>
              </a:rPr>
              <a:t>15:25 - 15:40      Tea Break</a:t>
            </a:r>
          </a:p>
        </p:txBody>
      </p:sp>
      <p:sp>
        <p:nvSpPr>
          <p:cNvPr id="16" name="TextBox 15"/>
          <p:cNvSpPr txBox="1"/>
          <p:nvPr/>
        </p:nvSpPr>
        <p:spPr>
          <a:xfrm>
            <a:off x="822960" y="3163824"/>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15:40 - 16:05</a:t>
            </a:r>
          </a:p>
        </p:txBody>
      </p:sp>
      <p:sp>
        <p:nvSpPr>
          <p:cNvPr id="17" name="TextBox 16"/>
          <p:cNvSpPr txBox="1"/>
          <p:nvPr/>
        </p:nvSpPr>
        <p:spPr>
          <a:xfrm>
            <a:off x="2377440" y="3163824"/>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7: Signal Stage: a Library of Trend, Mean-Reversion, Momentum and Breakout Signals</a:t>
            </a:r>
          </a:p>
        </p:txBody>
      </p:sp>
      <p:sp>
        <p:nvSpPr>
          <p:cNvPr id="18" name="TextBox 17"/>
          <p:cNvSpPr txBox="1"/>
          <p:nvPr/>
        </p:nvSpPr>
        <p:spPr>
          <a:xfrm>
            <a:off x="10287000" y="3163824"/>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A2, K3, K7</a:t>
            </a:r>
          </a:p>
        </p:txBody>
      </p:sp>
      <p:sp>
        <p:nvSpPr>
          <p:cNvPr id="19" name="TextBox 18"/>
          <p:cNvSpPr txBox="1"/>
          <p:nvPr/>
        </p:nvSpPr>
        <p:spPr>
          <a:xfrm>
            <a:off x="822960" y="3547872"/>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16:05 - 16:50</a:t>
            </a:r>
          </a:p>
        </p:txBody>
      </p:sp>
      <p:sp>
        <p:nvSpPr>
          <p:cNvPr id="20" name="TextBox 19"/>
          <p:cNvSpPr txBox="1"/>
          <p:nvPr/>
        </p:nvSpPr>
        <p:spPr>
          <a:xfrm>
            <a:off x="2377440" y="3547872"/>
            <a:ext cx="7863840" cy="356616"/>
          </a:xfrm>
          <a:prstGeom prst="rect">
            <a:avLst/>
          </a:prstGeom>
          <a:noFill/>
        </p:spPr>
        <p:txBody>
          <a:bodyPr wrap="square" anchor="ctr">
            <a:spAutoFit/>
          </a:bodyPr>
          <a:lstStyle/>
          <a:p>
            <a:pPr algn="l">
              <a:spcAft>
                <a:spcPts val="400"/>
              </a:spcAft>
            </a:pPr>
            <a:r>
              <a:rPr sz="1050" b="0">
                <a:solidFill>
                  <a:srgbClr val="161B26"/>
                </a:solidFill>
                <a:latin typeface="Arial"/>
              </a:rPr>
              <a:t>T2.3-2.4 Analytics Platforms, Coding Languages and Order Placement</a:t>
            </a:r>
          </a:p>
        </p:txBody>
      </p:sp>
      <p:sp>
        <p:nvSpPr>
          <p:cNvPr id="21" name="TextBox 20"/>
          <p:cNvSpPr txBox="1"/>
          <p:nvPr/>
        </p:nvSpPr>
        <p:spPr>
          <a:xfrm>
            <a:off x="10287000" y="3547872"/>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A3, K5, K7</a:t>
            </a:r>
          </a:p>
        </p:txBody>
      </p:sp>
      <p:sp>
        <p:nvSpPr>
          <p:cNvPr id="22" name="TextBox 21"/>
          <p:cNvSpPr txBox="1"/>
          <p:nvPr/>
        </p:nvSpPr>
        <p:spPr>
          <a:xfrm>
            <a:off x="822960" y="3931920"/>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16:50 - 17:20</a:t>
            </a:r>
          </a:p>
        </p:txBody>
      </p:sp>
      <p:sp>
        <p:nvSpPr>
          <p:cNvPr id="23" name="TextBox 22"/>
          <p:cNvSpPr txBox="1"/>
          <p:nvPr/>
        </p:nvSpPr>
        <p:spPr>
          <a:xfrm>
            <a:off x="2377440" y="3931920"/>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8: Execution Stage: an Order Manager that Trades the Paper Account in Any Session</a:t>
            </a:r>
          </a:p>
        </p:txBody>
      </p:sp>
      <p:sp>
        <p:nvSpPr>
          <p:cNvPr id="24" name="TextBox 23"/>
          <p:cNvSpPr txBox="1"/>
          <p:nvPr/>
        </p:nvSpPr>
        <p:spPr>
          <a:xfrm>
            <a:off x="10287000" y="3931920"/>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A3, K5</a:t>
            </a:r>
          </a:p>
        </p:txBody>
      </p:sp>
      <p:sp>
        <p:nvSpPr>
          <p:cNvPr id="25" name="TextBox 24"/>
          <p:cNvSpPr txBox="1"/>
          <p:nvPr/>
        </p:nvSpPr>
        <p:spPr>
          <a:xfrm>
            <a:off x="822960" y="4315968"/>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17:20 - 17:50</a:t>
            </a:r>
          </a:p>
        </p:txBody>
      </p:sp>
      <p:sp>
        <p:nvSpPr>
          <p:cNvPr id="26" name="TextBox 25"/>
          <p:cNvSpPr txBox="1"/>
          <p:nvPr/>
        </p:nvSpPr>
        <p:spPr>
          <a:xfrm>
            <a:off x="2377440" y="4315968"/>
            <a:ext cx="7863840" cy="356616"/>
          </a:xfrm>
          <a:prstGeom prst="rect">
            <a:avLst/>
          </a:prstGeom>
          <a:noFill/>
        </p:spPr>
        <p:txBody>
          <a:bodyPr wrap="square" anchor="ctr">
            <a:spAutoFit/>
          </a:bodyPr>
          <a:lstStyle/>
          <a:p>
            <a:pPr algn="l">
              <a:spcAft>
                <a:spcPts val="400"/>
              </a:spcAft>
            </a:pPr>
            <a:r>
              <a:rPr sz="1050" b="0">
                <a:solidFill>
                  <a:srgbClr val="161B26"/>
                </a:solidFill>
                <a:latin typeface="Arial"/>
              </a:rPr>
              <a:t>T2.5 Performance and Risk Metric Definitions</a:t>
            </a:r>
          </a:p>
        </p:txBody>
      </p:sp>
      <p:sp>
        <p:nvSpPr>
          <p:cNvPr id="27" name="TextBox 26"/>
          <p:cNvSpPr txBox="1"/>
          <p:nvPr/>
        </p:nvSpPr>
        <p:spPr>
          <a:xfrm>
            <a:off x="10287000" y="4315968"/>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A3, K3</a:t>
            </a:r>
          </a:p>
        </p:txBody>
      </p:sp>
      <p:sp>
        <p:nvSpPr>
          <p:cNvPr id="28" name="TextBox 27"/>
          <p:cNvSpPr txBox="1"/>
          <p:nvPr/>
        </p:nvSpPr>
        <p:spPr>
          <a:xfrm>
            <a:off x="822960" y="4700016"/>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17:50 - 18:15</a:t>
            </a:r>
          </a:p>
        </p:txBody>
      </p:sp>
      <p:sp>
        <p:nvSpPr>
          <p:cNvPr id="29" name="TextBox 28"/>
          <p:cNvSpPr txBox="1"/>
          <p:nvPr/>
        </p:nvSpPr>
        <p:spPr>
          <a:xfrm>
            <a:off x="2377440" y="4700016"/>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9: Evaluation Stage: Performance and Risk Metrics with a Benchmark Table</a:t>
            </a:r>
          </a:p>
        </p:txBody>
      </p:sp>
      <p:sp>
        <p:nvSpPr>
          <p:cNvPr id="30" name="TextBox 29"/>
          <p:cNvSpPr txBox="1"/>
          <p:nvPr/>
        </p:nvSpPr>
        <p:spPr>
          <a:xfrm>
            <a:off x="10287000" y="4700016"/>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A3, K3</a:t>
            </a:r>
          </a:p>
        </p:txBody>
      </p:sp>
      <p:sp>
        <p:nvSpPr>
          <p:cNvPr id="31" name="TextBox 30"/>
          <p:cNvSpPr txBox="1"/>
          <p:nvPr/>
        </p:nvSpPr>
        <p:spPr>
          <a:xfrm>
            <a:off x="822960" y="5084064"/>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18:15 - 18:30</a:t>
            </a:r>
          </a:p>
        </p:txBody>
      </p:sp>
      <p:sp>
        <p:nvSpPr>
          <p:cNvPr id="32" name="TextBox 31"/>
          <p:cNvSpPr txBox="1"/>
          <p:nvPr/>
        </p:nvSpPr>
        <p:spPr>
          <a:xfrm>
            <a:off x="2377440" y="5084064"/>
            <a:ext cx="7863840" cy="356616"/>
          </a:xfrm>
          <a:prstGeom prst="rect">
            <a:avLst/>
          </a:prstGeom>
          <a:noFill/>
        </p:spPr>
        <p:txBody>
          <a:bodyPr wrap="square" anchor="ctr">
            <a:spAutoFit/>
          </a:bodyPr>
          <a:lstStyle/>
          <a:p>
            <a:pPr algn="l">
              <a:spcAft>
                <a:spcPts val="400"/>
              </a:spcAft>
            </a:pPr>
            <a:r>
              <a:rPr sz="1050" b="0">
                <a:solidFill>
                  <a:srgbClr val="161B26"/>
                </a:solidFill>
                <a:latin typeface="Arial"/>
              </a:rPr>
              <a:t>Day 1 Recap and Q&amp;A</a:t>
            </a:r>
          </a:p>
        </p:txBody>
      </p:sp>
      <p:sp>
        <p:nvSpPr>
          <p:cNvPr id="33" name="TextBox 32"/>
          <p:cNvSpPr txBox="1"/>
          <p:nvPr/>
        </p:nvSpPr>
        <p:spPr>
          <a:xfrm>
            <a:off x="10287000" y="5084064"/>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Lesson Plan — Day 2 (1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09:00 - 18:30  ·  8 instructional hours  ·  excluding 1-hour lunch and two tea breaks</a:t>
            </a:r>
          </a:p>
        </p:txBody>
      </p:sp>
      <p:sp>
        <p:nvSpPr>
          <p:cNvPr id="8" name="TextBox 7"/>
          <p:cNvSpPr txBox="1"/>
          <p:nvPr/>
        </p:nvSpPr>
        <p:spPr>
          <a:xfrm>
            <a:off x="822960" y="201168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09:00 - 09:15</a:t>
            </a:r>
          </a:p>
        </p:txBody>
      </p:sp>
      <p:sp>
        <p:nvSpPr>
          <p:cNvPr id="9" name="TextBox 8"/>
          <p:cNvSpPr txBox="1"/>
          <p:nvPr/>
        </p:nvSpPr>
        <p:spPr>
          <a:xfrm>
            <a:off x="2377440" y="201168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Day 1 Recap and Day 2 Overview</a:t>
            </a:r>
          </a:p>
        </p:txBody>
      </p:sp>
      <p:sp>
        <p:nvSpPr>
          <p:cNvPr id="10" name="TextBox 9"/>
          <p:cNvSpPr txBox="1"/>
          <p:nvPr/>
        </p:nvSpPr>
        <p:spPr>
          <a:xfrm>
            <a:off x="10287000" y="201168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11" name="TextBox 10"/>
          <p:cNvSpPr txBox="1"/>
          <p:nvPr/>
        </p:nvSpPr>
        <p:spPr>
          <a:xfrm>
            <a:off x="822960" y="235839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09:15 - 09:40</a:t>
            </a:r>
          </a:p>
        </p:txBody>
      </p:sp>
      <p:sp>
        <p:nvSpPr>
          <p:cNvPr id="12" name="TextBox 11"/>
          <p:cNvSpPr txBox="1"/>
          <p:nvPr/>
        </p:nvSpPr>
        <p:spPr>
          <a:xfrm>
            <a:off x="2377440" y="235839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T3.1-3.2 Statistical Analyses, Algorithms and Supervised Learning Models</a:t>
            </a:r>
          </a:p>
        </p:txBody>
      </p:sp>
      <p:sp>
        <p:nvSpPr>
          <p:cNvPr id="13" name="TextBox 12"/>
          <p:cNvSpPr txBox="1"/>
          <p:nvPr/>
        </p:nvSpPr>
        <p:spPr>
          <a:xfrm>
            <a:off x="10287000" y="235839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A4, K2, K4</a:t>
            </a:r>
          </a:p>
        </p:txBody>
      </p:sp>
      <p:sp>
        <p:nvSpPr>
          <p:cNvPr id="14" name="TextBox 13"/>
          <p:cNvSpPr txBox="1"/>
          <p:nvPr/>
        </p:nvSpPr>
        <p:spPr>
          <a:xfrm>
            <a:off x="822960" y="270510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09:40 - 10:00</a:t>
            </a:r>
          </a:p>
        </p:txBody>
      </p:sp>
      <p:sp>
        <p:nvSpPr>
          <p:cNvPr id="15" name="TextBox 14"/>
          <p:cNvSpPr txBox="1"/>
          <p:nvPr/>
        </p:nvSpPr>
        <p:spPr>
          <a:xfrm>
            <a:off x="2377440" y="270510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10: Strategy-Search Stage: Grid Search, Out-of-Sample Ranking and Decay</a:t>
            </a:r>
          </a:p>
        </p:txBody>
      </p:sp>
      <p:sp>
        <p:nvSpPr>
          <p:cNvPr id="16" name="TextBox 15"/>
          <p:cNvSpPr txBox="1"/>
          <p:nvPr/>
        </p:nvSpPr>
        <p:spPr>
          <a:xfrm>
            <a:off x="10287000" y="270510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A2, A4, K2</a:t>
            </a:r>
          </a:p>
        </p:txBody>
      </p:sp>
      <p:sp>
        <p:nvSpPr>
          <p:cNvPr id="17" name="TextBox 16"/>
          <p:cNvSpPr txBox="1"/>
          <p:nvPr/>
        </p:nvSpPr>
        <p:spPr>
          <a:xfrm>
            <a:off x="822960" y="305181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10:00 - 10:20</a:t>
            </a:r>
          </a:p>
        </p:txBody>
      </p:sp>
      <p:sp>
        <p:nvSpPr>
          <p:cNvPr id="18" name="TextBox 17"/>
          <p:cNvSpPr txBox="1"/>
          <p:nvPr/>
        </p:nvSpPr>
        <p:spPr>
          <a:xfrm>
            <a:off x="2377440" y="305181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11: ML-Signal Stage: a Walk-Forward Classifier from Probability to Position</a:t>
            </a:r>
          </a:p>
        </p:txBody>
      </p:sp>
      <p:sp>
        <p:nvSpPr>
          <p:cNvPr id="19" name="TextBox 18"/>
          <p:cNvSpPr txBox="1"/>
          <p:nvPr/>
        </p:nvSpPr>
        <p:spPr>
          <a:xfrm>
            <a:off x="10287000" y="305181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A4, K4, K6</a:t>
            </a:r>
          </a:p>
        </p:txBody>
      </p:sp>
      <p:sp>
        <p:nvSpPr>
          <p:cNvPr id="20" name="Rectangle 19"/>
          <p:cNvSpPr/>
          <p:nvPr/>
        </p:nvSpPr>
        <p:spPr>
          <a:xfrm>
            <a:off x="777240" y="3398520"/>
            <a:ext cx="10634472" cy="3192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0120" y="3398520"/>
            <a:ext cx="10241280" cy="319277"/>
          </a:xfrm>
          <a:prstGeom prst="rect">
            <a:avLst/>
          </a:prstGeom>
          <a:noFill/>
        </p:spPr>
        <p:txBody>
          <a:bodyPr wrap="square" anchor="ctr">
            <a:spAutoFit/>
          </a:bodyPr>
          <a:lstStyle/>
          <a:p>
            <a:pPr algn="l">
              <a:spcAft>
                <a:spcPts val="400"/>
              </a:spcAft>
            </a:pPr>
            <a:r>
              <a:rPr sz="1050" b="1">
                <a:solidFill>
                  <a:srgbClr val="5B6372"/>
                </a:solidFill>
                <a:latin typeface="Arial"/>
              </a:rPr>
              <a:t>10:20 - 10:35      Tea Break</a:t>
            </a:r>
          </a:p>
        </p:txBody>
      </p:sp>
      <p:sp>
        <p:nvSpPr>
          <p:cNvPr id="22" name="TextBox 21"/>
          <p:cNvSpPr txBox="1"/>
          <p:nvPr/>
        </p:nvSpPr>
        <p:spPr>
          <a:xfrm>
            <a:off x="822960" y="374523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10:35 - 10:55</a:t>
            </a:r>
          </a:p>
        </p:txBody>
      </p:sp>
      <p:sp>
        <p:nvSpPr>
          <p:cNvPr id="23" name="TextBox 22"/>
          <p:cNvSpPr txBox="1"/>
          <p:nvPr/>
        </p:nvSpPr>
        <p:spPr>
          <a:xfrm>
            <a:off x="2377440" y="374523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T3.3-3.4 Unsupervised Learning and Statistical Modelling Techniques</a:t>
            </a:r>
          </a:p>
        </p:txBody>
      </p:sp>
      <p:sp>
        <p:nvSpPr>
          <p:cNvPr id="24" name="TextBox 23"/>
          <p:cNvSpPr txBox="1"/>
          <p:nvPr/>
        </p:nvSpPr>
        <p:spPr>
          <a:xfrm>
            <a:off x="10287000" y="374523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A4, K4, K6</a:t>
            </a:r>
          </a:p>
        </p:txBody>
      </p:sp>
      <p:sp>
        <p:nvSpPr>
          <p:cNvPr id="25" name="TextBox 24"/>
          <p:cNvSpPr txBox="1"/>
          <p:nvPr/>
        </p:nvSpPr>
        <p:spPr>
          <a:xfrm>
            <a:off x="822960" y="4091939"/>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10:55 - 11:10</a:t>
            </a:r>
          </a:p>
        </p:txBody>
      </p:sp>
      <p:sp>
        <p:nvSpPr>
          <p:cNvPr id="26" name="TextBox 25"/>
          <p:cNvSpPr txBox="1"/>
          <p:nvPr/>
        </p:nvSpPr>
        <p:spPr>
          <a:xfrm>
            <a:off x="2377440" y="4091939"/>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12: Regime-Filter Stage: PCA and K-Means as a Gate on the Signals</a:t>
            </a:r>
          </a:p>
        </p:txBody>
      </p:sp>
      <p:sp>
        <p:nvSpPr>
          <p:cNvPr id="27" name="TextBox 26"/>
          <p:cNvSpPr txBox="1"/>
          <p:nvPr/>
        </p:nvSpPr>
        <p:spPr>
          <a:xfrm>
            <a:off x="10287000" y="4091939"/>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A4, K4, K6</a:t>
            </a:r>
          </a:p>
        </p:txBody>
      </p:sp>
      <p:sp>
        <p:nvSpPr>
          <p:cNvPr id="28" name="TextBox 27"/>
          <p:cNvSpPr txBox="1"/>
          <p:nvPr/>
        </p:nvSpPr>
        <p:spPr>
          <a:xfrm>
            <a:off x="822960" y="443865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11:10 - 11:25</a:t>
            </a:r>
          </a:p>
        </p:txBody>
      </p:sp>
      <p:sp>
        <p:nvSpPr>
          <p:cNvPr id="29" name="TextBox 28"/>
          <p:cNvSpPr txBox="1"/>
          <p:nvPr/>
        </p:nvSpPr>
        <p:spPr>
          <a:xfrm>
            <a:off x="2377440" y="443865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T3.5-3.6 A/B Testing, and Pairs Trading as a Hedging Algorithm</a:t>
            </a:r>
          </a:p>
        </p:txBody>
      </p:sp>
      <p:sp>
        <p:nvSpPr>
          <p:cNvPr id="30" name="TextBox 29"/>
          <p:cNvSpPr txBox="1"/>
          <p:nvPr/>
        </p:nvSpPr>
        <p:spPr>
          <a:xfrm>
            <a:off x="10287000" y="443865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A4, A5, K2, K6</a:t>
            </a:r>
          </a:p>
        </p:txBody>
      </p:sp>
      <p:sp>
        <p:nvSpPr>
          <p:cNvPr id="31" name="TextBox 30"/>
          <p:cNvSpPr txBox="1"/>
          <p:nvPr/>
        </p:nvSpPr>
        <p:spPr>
          <a:xfrm>
            <a:off x="822960" y="478536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11:25 - 11:40</a:t>
            </a:r>
          </a:p>
        </p:txBody>
      </p:sp>
      <p:sp>
        <p:nvSpPr>
          <p:cNvPr id="32" name="TextBox 31"/>
          <p:cNvSpPr txBox="1"/>
          <p:nvPr/>
        </p:nvSpPr>
        <p:spPr>
          <a:xfrm>
            <a:off x="2377440" y="478536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13: A/B-Test Stage: a Statistical Decision before Capital Moves</a:t>
            </a:r>
          </a:p>
        </p:txBody>
      </p:sp>
      <p:sp>
        <p:nvSpPr>
          <p:cNvPr id="33" name="TextBox 32"/>
          <p:cNvSpPr txBox="1"/>
          <p:nvPr/>
        </p:nvSpPr>
        <p:spPr>
          <a:xfrm>
            <a:off x="10287000" y="478536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A5, K2</a:t>
            </a:r>
          </a:p>
        </p:txBody>
      </p:sp>
      <p:sp>
        <p:nvSpPr>
          <p:cNvPr id="34" name="TextBox 33"/>
          <p:cNvSpPr txBox="1"/>
          <p:nvPr/>
        </p:nvSpPr>
        <p:spPr>
          <a:xfrm>
            <a:off x="822960" y="513207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11:40 - 12:00</a:t>
            </a:r>
          </a:p>
        </p:txBody>
      </p:sp>
      <p:sp>
        <p:nvSpPr>
          <p:cNvPr id="35" name="TextBox 34"/>
          <p:cNvSpPr txBox="1"/>
          <p:nvPr/>
        </p:nvSpPr>
        <p:spPr>
          <a:xfrm>
            <a:off x="2377440" y="513207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14: Pairs Stage: a Hedged, Market-Neutral Statistical-Arbitrage Sleeve</a:t>
            </a:r>
          </a:p>
        </p:txBody>
      </p:sp>
      <p:sp>
        <p:nvSpPr>
          <p:cNvPr id="36" name="TextBox 35"/>
          <p:cNvSpPr txBox="1"/>
          <p:nvPr/>
        </p:nvSpPr>
        <p:spPr>
          <a:xfrm>
            <a:off x="10287000" y="513207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A4, K6</a:t>
            </a:r>
          </a:p>
        </p:txBody>
      </p:sp>
      <p:sp>
        <p:nvSpPr>
          <p:cNvPr id="37" name="TextBox 36"/>
          <p:cNvSpPr txBox="1"/>
          <p:nvPr/>
        </p:nvSpPr>
        <p:spPr>
          <a:xfrm>
            <a:off x="822960" y="547878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12:00 - 12:30</a:t>
            </a:r>
          </a:p>
        </p:txBody>
      </p:sp>
      <p:sp>
        <p:nvSpPr>
          <p:cNvPr id="38" name="TextBox 37"/>
          <p:cNvSpPr txBox="1"/>
          <p:nvPr/>
        </p:nvSpPr>
        <p:spPr>
          <a:xfrm>
            <a:off x="2377440" y="547878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T4.1-4.2 Pipeline Architecture and Backtesting with Trading Costs</a:t>
            </a:r>
          </a:p>
        </p:txBody>
      </p:sp>
      <p:sp>
        <p:nvSpPr>
          <p:cNvPr id="39" name="TextBox 38"/>
          <p:cNvSpPr txBox="1"/>
          <p:nvPr/>
        </p:nvSpPr>
        <p:spPr>
          <a:xfrm>
            <a:off x="10287000" y="547878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A7, A8, K7</a:t>
            </a:r>
          </a:p>
        </p:txBody>
      </p:sp>
      <p:sp>
        <p:nvSpPr>
          <p:cNvPr id="40" name="Rectangle 39"/>
          <p:cNvSpPr/>
          <p:nvPr/>
        </p:nvSpPr>
        <p:spPr>
          <a:xfrm>
            <a:off x="777240" y="5825490"/>
            <a:ext cx="10634472" cy="3192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60120" y="5825490"/>
            <a:ext cx="10241280" cy="319277"/>
          </a:xfrm>
          <a:prstGeom prst="rect">
            <a:avLst/>
          </a:prstGeom>
          <a:noFill/>
        </p:spPr>
        <p:txBody>
          <a:bodyPr wrap="square" anchor="ctr">
            <a:spAutoFit/>
          </a:bodyPr>
          <a:lstStyle/>
          <a:p>
            <a:pPr algn="l">
              <a:spcAft>
                <a:spcPts val="400"/>
              </a:spcAft>
            </a:pPr>
            <a:r>
              <a:rPr sz="1050" b="1">
                <a:solidFill>
                  <a:srgbClr val="5B6372"/>
                </a:solidFill>
                <a:latin typeface="Arial"/>
              </a:rPr>
              <a:t>12:30 - 13:30      Lunch Break</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Lesson Plan — Day 2 (2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09:00 - 18:30  ·  8 instructional hours  ·  excluding 1-hour lunch and two tea breaks</a:t>
            </a:r>
          </a:p>
        </p:txBody>
      </p:sp>
      <p:sp>
        <p:nvSpPr>
          <p:cNvPr id="8" name="TextBox 7"/>
          <p:cNvSpPr txBox="1"/>
          <p:nvPr/>
        </p:nvSpPr>
        <p:spPr>
          <a:xfrm>
            <a:off x="822960" y="201168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13:30 - 13:55</a:t>
            </a:r>
          </a:p>
        </p:txBody>
      </p:sp>
      <p:sp>
        <p:nvSpPr>
          <p:cNvPr id="9" name="TextBox 8"/>
          <p:cNvSpPr txBox="1"/>
          <p:nvPr/>
        </p:nvSpPr>
        <p:spPr>
          <a:xfrm>
            <a:off x="2377440" y="201168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15: Backtest-Engine Stage: Cost Models, Execution Timing and Break-Even</a:t>
            </a:r>
          </a:p>
        </p:txBody>
      </p:sp>
      <p:sp>
        <p:nvSpPr>
          <p:cNvPr id="10" name="TextBox 9"/>
          <p:cNvSpPr txBox="1"/>
          <p:nvPr/>
        </p:nvSpPr>
        <p:spPr>
          <a:xfrm>
            <a:off x="10287000" y="201168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A7, A8, K7</a:t>
            </a:r>
          </a:p>
        </p:txBody>
      </p:sp>
      <p:sp>
        <p:nvSpPr>
          <p:cNvPr id="11" name="TextBox 10"/>
          <p:cNvSpPr txBox="1"/>
          <p:nvPr/>
        </p:nvSpPr>
        <p:spPr>
          <a:xfrm>
            <a:off x="822960" y="235839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13:55 - 14:05</a:t>
            </a:r>
          </a:p>
        </p:txBody>
      </p:sp>
      <p:sp>
        <p:nvSpPr>
          <p:cNvPr id="12" name="TextBox 11"/>
          <p:cNvSpPr txBox="1"/>
          <p:nvPr/>
        </p:nvSpPr>
        <p:spPr>
          <a:xfrm>
            <a:off x="2377440" y="235839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T4.3 Forward Testing with Automated Paper Trading</a:t>
            </a:r>
          </a:p>
        </p:txBody>
      </p:sp>
      <p:sp>
        <p:nvSpPr>
          <p:cNvPr id="13" name="TextBox 12"/>
          <p:cNvSpPr txBox="1"/>
          <p:nvPr/>
        </p:nvSpPr>
        <p:spPr>
          <a:xfrm>
            <a:off x="10287000" y="235839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A7, A8</a:t>
            </a:r>
          </a:p>
        </p:txBody>
      </p:sp>
      <p:sp>
        <p:nvSpPr>
          <p:cNvPr id="14" name="TextBox 13"/>
          <p:cNvSpPr txBox="1"/>
          <p:nvPr/>
        </p:nvSpPr>
        <p:spPr>
          <a:xfrm>
            <a:off x="822960" y="270510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14:05 - 14:30</a:t>
            </a:r>
          </a:p>
        </p:txBody>
      </p:sp>
      <p:sp>
        <p:nvSpPr>
          <p:cNvPr id="15" name="TextBox 14"/>
          <p:cNvSpPr txBox="1"/>
          <p:nvPr/>
        </p:nvSpPr>
        <p:spPr>
          <a:xfrm>
            <a:off x="2377440" y="270510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16: Automation Stage: a Scheduled, Risk-Checked Forward Test and Live Paper Trading</a:t>
            </a:r>
          </a:p>
        </p:txBody>
      </p:sp>
      <p:sp>
        <p:nvSpPr>
          <p:cNvPr id="16" name="TextBox 15"/>
          <p:cNvSpPr txBox="1"/>
          <p:nvPr/>
        </p:nvSpPr>
        <p:spPr>
          <a:xfrm>
            <a:off x="10287000" y="270510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A7, A8, K7</a:t>
            </a:r>
          </a:p>
        </p:txBody>
      </p:sp>
      <p:sp>
        <p:nvSpPr>
          <p:cNvPr id="17" name="TextBox 16"/>
          <p:cNvSpPr txBox="1"/>
          <p:nvPr/>
        </p:nvSpPr>
        <p:spPr>
          <a:xfrm>
            <a:off x="822960" y="305181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14:30 - 14:50</a:t>
            </a:r>
          </a:p>
        </p:txBody>
      </p:sp>
      <p:sp>
        <p:nvSpPr>
          <p:cNvPr id="18" name="TextBox 17"/>
          <p:cNvSpPr txBox="1"/>
          <p:nvPr/>
        </p:nvSpPr>
        <p:spPr>
          <a:xfrm>
            <a:off x="2377440" y="305181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17: Event-Driven Automation: TradingView Webhook to Signal, Risk and Execution</a:t>
            </a:r>
          </a:p>
        </p:txBody>
      </p:sp>
      <p:sp>
        <p:nvSpPr>
          <p:cNvPr id="19" name="TextBox 18"/>
          <p:cNvSpPr txBox="1"/>
          <p:nvPr/>
        </p:nvSpPr>
        <p:spPr>
          <a:xfrm>
            <a:off x="10287000" y="305181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A7, K5, K7</a:t>
            </a:r>
          </a:p>
        </p:txBody>
      </p:sp>
      <p:sp>
        <p:nvSpPr>
          <p:cNvPr id="20" name="TextBox 19"/>
          <p:cNvSpPr txBox="1"/>
          <p:nvPr/>
        </p:nvSpPr>
        <p:spPr>
          <a:xfrm>
            <a:off x="822960" y="339852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14:50 - 15:00</a:t>
            </a:r>
          </a:p>
        </p:txBody>
      </p:sp>
      <p:sp>
        <p:nvSpPr>
          <p:cNvPr id="21" name="TextBox 20"/>
          <p:cNvSpPr txBox="1"/>
          <p:nvPr/>
        </p:nvSpPr>
        <p:spPr>
          <a:xfrm>
            <a:off x="2377440" y="339852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T4.4 Potential Reasons for Unintended Outcomes</a:t>
            </a:r>
          </a:p>
        </p:txBody>
      </p:sp>
      <p:sp>
        <p:nvSpPr>
          <p:cNvPr id="22" name="TextBox 21"/>
          <p:cNvSpPr txBox="1"/>
          <p:nvPr/>
        </p:nvSpPr>
        <p:spPr>
          <a:xfrm>
            <a:off x="10287000" y="339852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A9, K8</a:t>
            </a:r>
          </a:p>
        </p:txBody>
      </p:sp>
      <p:sp>
        <p:nvSpPr>
          <p:cNvPr id="23" name="TextBox 22"/>
          <p:cNvSpPr txBox="1"/>
          <p:nvPr/>
        </p:nvSpPr>
        <p:spPr>
          <a:xfrm>
            <a:off x="822960" y="374523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15:00 - 15:20</a:t>
            </a:r>
          </a:p>
        </p:txBody>
      </p:sp>
      <p:sp>
        <p:nvSpPr>
          <p:cNvPr id="24" name="TextBox 23"/>
          <p:cNvSpPr txBox="1"/>
          <p:nvPr/>
        </p:nvSpPr>
        <p:spPr>
          <a:xfrm>
            <a:off x="2377440" y="374523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18: Diagnostics Stage: Automated Bias Checks before Go-Live</a:t>
            </a:r>
          </a:p>
        </p:txBody>
      </p:sp>
      <p:sp>
        <p:nvSpPr>
          <p:cNvPr id="25" name="TextBox 24"/>
          <p:cNvSpPr txBox="1"/>
          <p:nvPr/>
        </p:nvSpPr>
        <p:spPr>
          <a:xfrm>
            <a:off x="10287000" y="374523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A9, K8</a:t>
            </a:r>
          </a:p>
        </p:txBody>
      </p:sp>
      <p:sp>
        <p:nvSpPr>
          <p:cNvPr id="26" name="Rectangle 25"/>
          <p:cNvSpPr/>
          <p:nvPr/>
        </p:nvSpPr>
        <p:spPr>
          <a:xfrm>
            <a:off x="777240" y="4091939"/>
            <a:ext cx="10634472" cy="3192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0120" y="4091939"/>
            <a:ext cx="10241280" cy="319277"/>
          </a:xfrm>
          <a:prstGeom prst="rect">
            <a:avLst/>
          </a:prstGeom>
          <a:noFill/>
        </p:spPr>
        <p:txBody>
          <a:bodyPr wrap="square" anchor="ctr">
            <a:spAutoFit/>
          </a:bodyPr>
          <a:lstStyle/>
          <a:p>
            <a:pPr algn="l">
              <a:spcAft>
                <a:spcPts val="400"/>
              </a:spcAft>
            </a:pPr>
            <a:r>
              <a:rPr sz="1050" b="1">
                <a:solidFill>
                  <a:srgbClr val="5B6372"/>
                </a:solidFill>
                <a:latin typeface="Arial"/>
              </a:rPr>
              <a:t>15:20 - 15:35      Tea Break</a:t>
            </a:r>
          </a:p>
        </p:txBody>
      </p:sp>
      <p:sp>
        <p:nvSpPr>
          <p:cNvPr id="28" name="TextBox 27"/>
          <p:cNvSpPr txBox="1"/>
          <p:nvPr/>
        </p:nvSpPr>
        <p:spPr>
          <a:xfrm>
            <a:off x="822960" y="443865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15:35 - 15:45</a:t>
            </a:r>
          </a:p>
        </p:txBody>
      </p:sp>
      <p:sp>
        <p:nvSpPr>
          <p:cNvPr id="29" name="TextBox 28"/>
          <p:cNvSpPr txBox="1"/>
          <p:nvPr/>
        </p:nvSpPr>
        <p:spPr>
          <a:xfrm>
            <a:off x="2377440" y="443865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T4.5 Performance Analysis, Insights and Reporting</a:t>
            </a:r>
          </a:p>
        </p:txBody>
      </p:sp>
      <p:sp>
        <p:nvSpPr>
          <p:cNvPr id="30" name="TextBox 29"/>
          <p:cNvSpPr txBox="1"/>
          <p:nvPr/>
        </p:nvSpPr>
        <p:spPr>
          <a:xfrm>
            <a:off x="10287000" y="443865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A10</a:t>
            </a:r>
          </a:p>
        </p:txBody>
      </p:sp>
      <p:sp>
        <p:nvSpPr>
          <p:cNvPr id="31" name="TextBox 30"/>
          <p:cNvSpPr txBox="1"/>
          <p:nvPr/>
        </p:nvSpPr>
        <p:spPr>
          <a:xfrm>
            <a:off x="822960" y="478536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15:45 - 16:10</a:t>
            </a:r>
          </a:p>
        </p:txBody>
      </p:sp>
      <p:sp>
        <p:nvSpPr>
          <p:cNvPr id="32" name="TextBox 31"/>
          <p:cNvSpPr txBox="1"/>
          <p:nvPr/>
        </p:nvSpPr>
        <p:spPr>
          <a:xfrm>
            <a:off x="2377440" y="478536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19: Monitoring and Reporting Stage: Automated Tearsheet and Backtest-vs-Forward Report</a:t>
            </a:r>
          </a:p>
        </p:txBody>
      </p:sp>
      <p:sp>
        <p:nvSpPr>
          <p:cNvPr id="33" name="TextBox 32"/>
          <p:cNvSpPr txBox="1"/>
          <p:nvPr/>
        </p:nvSpPr>
        <p:spPr>
          <a:xfrm>
            <a:off x="10287000" y="478536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A8, A10</a:t>
            </a:r>
          </a:p>
        </p:txBody>
      </p:sp>
      <p:sp>
        <p:nvSpPr>
          <p:cNvPr id="34" name="TextBox 33"/>
          <p:cNvSpPr txBox="1"/>
          <p:nvPr/>
        </p:nvSpPr>
        <p:spPr>
          <a:xfrm>
            <a:off x="822960" y="513207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16:10 - 16:30</a:t>
            </a:r>
          </a:p>
        </p:txBody>
      </p:sp>
      <p:sp>
        <p:nvSpPr>
          <p:cNvPr id="35" name="TextBox 34"/>
          <p:cNvSpPr txBox="1"/>
          <p:nvPr/>
        </p:nvSpPr>
        <p:spPr>
          <a:xfrm>
            <a:off x="2377440" y="513207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20: Capstone: One Command Runs the Pipeline End to End, with an Agentic Layer and Human Approval</a:t>
            </a:r>
          </a:p>
        </p:txBody>
      </p:sp>
      <p:sp>
        <p:nvSpPr>
          <p:cNvPr id="36" name="TextBox 35"/>
          <p:cNvSpPr txBox="1"/>
          <p:nvPr/>
        </p:nvSpPr>
        <p:spPr>
          <a:xfrm>
            <a:off x="10287000" y="513207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A7, A10, K1</a:t>
            </a:r>
          </a:p>
        </p:txBody>
      </p:sp>
      <p:sp>
        <p:nvSpPr>
          <p:cNvPr id="37" name="TextBox 36"/>
          <p:cNvSpPr txBox="1"/>
          <p:nvPr/>
        </p:nvSpPr>
        <p:spPr>
          <a:xfrm>
            <a:off x="822960" y="547878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16:30 - 17:15</a:t>
            </a:r>
          </a:p>
        </p:txBody>
      </p:sp>
      <p:sp>
        <p:nvSpPr>
          <p:cNvPr id="38" name="TextBox 37"/>
          <p:cNvSpPr txBox="1"/>
          <p:nvPr/>
        </p:nvSpPr>
        <p:spPr>
          <a:xfrm>
            <a:off x="2377440" y="5478780"/>
            <a:ext cx="7863840" cy="319277"/>
          </a:xfrm>
          <a:prstGeom prst="rect">
            <a:avLst/>
          </a:prstGeom>
          <a:noFill/>
        </p:spPr>
        <p:txBody>
          <a:bodyPr wrap="square" anchor="ctr">
            <a:spAutoFit/>
          </a:bodyPr>
          <a:lstStyle/>
          <a:p>
            <a:pPr algn="l">
              <a:spcAft>
                <a:spcPts val="400"/>
              </a:spcAft>
            </a:pPr>
            <a:r>
              <a:rPr sz="1050" b="1">
                <a:solidFill>
                  <a:srgbClr val="7C3AED"/>
                </a:solidFill>
                <a:latin typeface="Arial"/>
              </a:rPr>
              <a:t>Written Assessment (Short Answer Questions)</a:t>
            </a:r>
          </a:p>
        </p:txBody>
      </p:sp>
      <p:sp>
        <p:nvSpPr>
          <p:cNvPr id="39" name="TextBox 38"/>
          <p:cNvSpPr txBox="1"/>
          <p:nvPr/>
        </p:nvSpPr>
        <p:spPr>
          <a:xfrm>
            <a:off x="10287000" y="547878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K1 - K9</a:t>
            </a:r>
          </a:p>
        </p:txBody>
      </p:sp>
      <p:sp>
        <p:nvSpPr>
          <p:cNvPr id="40" name="TextBox 39"/>
          <p:cNvSpPr txBox="1"/>
          <p:nvPr/>
        </p:nvSpPr>
        <p:spPr>
          <a:xfrm>
            <a:off x="822960" y="582549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17:15 - 18:30</a:t>
            </a:r>
          </a:p>
        </p:txBody>
      </p:sp>
      <p:sp>
        <p:nvSpPr>
          <p:cNvPr id="41" name="TextBox 40"/>
          <p:cNvSpPr txBox="1"/>
          <p:nvPr/>
        </p:nvSpPr>
        <p:spPr>
          <a:xfrm>
            <a:off x="2377440" y="5825490"/>
            <a:ext cx="7863840" cy="319277"/>
          </a:xfrm>
          <a:prstGeom prst="rect">
            <a:avLst/>
          </a:prstGeom>
          <a:noFill/>
        </p:spPr>
        <p:txBody>
          <a:bodyPr wrap="square" anchor="ctr">
            <a:spAutoFit/>
          </a:bodyPr>
          <a:lstStyle/>
          <a:p>
            <a:pPr algn="l">
              <a:spcAft>
                <a:spcPts val="400"/>
              </a:spcAft>
            </a:pPr>
            <a:r>
              <a:rPr sz="1050" b="1">
                <a:solidFill>
                  <a:srgbClr val="7C3AED"/>
                </a:solidFill>
                <a:latin typeface="Arial"/>
              </a:rPr>
              <a:t>Practical Performance Assessment</a:t>
            </a:r>
          </a:p>
        </p:txBody>
      </p:sp>
      <p:sp>
        <p:nvSpPr>
          <p:cNvPr id="42" name="TextBox 41"/>
          <p:cNvSpPr txBox="1"/>
          <p:nvPr/>
        </p:nvSpPr>
        <p:spPr>
          <a:xfrm>
            <a:off x="10287000" y="582549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A1 - A10</a:t>
            </a:r>
          </a:p>
        </p:txBody>
      </p:sp>
      <p:sp>
        <p:nvSpPr>
          <p:cNvPr id="43" name="TextBox 4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44" name="TextBox 4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5" name="TextBox 4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BEFORE THE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Briefing for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Open book</a:t>
            </a:r>
          </a:p>
          <a:p>
            <a:pPr algn="l">
              <a:spcAft>
                <a:spcPts val="300"/>
              </a:spcAft>
            </a:pPr>
            <a:r>
              <a:rPr sz="1300" b="0">
                <a:solidFill>
                  <a:srgbClr val="5B6372"/>
                </a:solidFill>
                <a:latin typeface="Arial"/>
              </a:rPr>
              <a:t>You may use your Learner Guide, lab code and your own notes.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Two components</a:t>
            </a:r>
          </a:p>
          <a:p>
            <a:pPr algn="l">
              <a:spcAft>
                <a:spcPts val="300"/>
              </a:spcAft>
            </a:pPr>
            <a:r>
              <a:rPr sz="1300" b="0">
                <a:solidFill>
                  <a:srgbClr val="5B6372"/>
                </a:solidFill>
                <a:latin typeface="Arial"/>
              </a:rPr>
              <a:t>Written Assessment (45 min) and Practical Performance (75 min).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Both must be passed</a:t>
            </a:r>
          </a:p>
          <a:p>
            <a:pPr algn="l">
              <a:spcAft>
                <a:spcPts val="300"/>
              </a:spcAft>
            </a:pPr>
            <a:r>
              <a:rPr sz="1300" b="0">
                <a:solidFill>
                  <a:srgbClr val="5B6372"/>
                </a:solidFill>
                <a:latin typeface="Arial"/>
              </a:rPr>
              <a:t>Competent in BOTH is required to be awarded the module.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All your own work</a:t>
            </a:r>
          </a:p>
          <a:p>
            <a:pPr algn="l">
              <a:spcAft>
                <a:spcPts val="300"/>
              </a:spcAft>
            </a:pPr>
            <a:r>
              <a:rPr sz="1300" b="0">
                <a:solidFill>
                  <a:srgbClr val="5B6372"/>
                </a:solidFill>
                <a:latin typeface="Arial"/>
              </a:rPr>
              <a:t>Collaboration results in a Not Yet Competent outcome.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Ask if unclear</a:t>
            </a:r>
          </a:p>
          <a:p>
            <a:pPr algn="l">
              <a:spcAft>
                <a:spcPts val="300"/>
              </a:spcAft>
            </a:pPr>
            <a:r>
              <a:rPr sz="1300" b="0">
                <a:solidFill>
                  <a:srgbClr val="5B6372"/>
                </a:solidFill>
                <a:latin typeface="Arial"/>
              </a:rPr>
              <a:t>The assessor can explain a question, but not how to answer it.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Not Yet Competent?</a:t>
            </a:r>
          </a:p>
          <a:p>
            <a:pPr algn="l">
              <a:spcAft>
                <a:spcPts val="300"/>
              </a:spcAft>
            </a:pPr>
            <a:r>
              <a:rPr sz="1300" b="0">
                <a:solidFill>
                  <a:srgbClr val="5B6372"/>
                </a:solidFill>
                <a:latin typeface="Arial"/>
              </a:rPr>
              <a:t>You will be counselled on the gaps and offered a re-assessment.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FINAL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Final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5180076"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5180076"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4741164" cy="548640"/>
          </a:xfrm>
          <a:prstGeom prst="rect">
            <a:avLst/>
          </a:prstGeom>
          <a:noFill/>
        </p:spPr>
        <p:txBody>
          <a:bodyPr wrap="square" anchor="t">
            <a:spAutoFit/>
          </a:bodyPr>
          <a:lstStyle/>
          <a:p>
            <a:pPr algn="l">
              <a:spcAft>
                <a:spcPts val="400"/>
              </a:spcAft>
            </a:pPr>
            <a:r>
              <a:rPr sz="1600" b="1">
                <a:solidFill>
                  <a:srgbClr val="1F6FEB"/>
                </a:solidFill>
                <a:latin typeface="Arial"/>
              </a:rPr>
              <a:t>Written Assessment</a:t>
            </a:r>
          </a:p>
        </p:txBody>
      </p:sp>
      <p:sp>
        <p:nvSpPr>
          <p:cNvPr id="10" name="TextBox 9"/>
          <p:cNvSpPr txBox="1"/>
          <p:nvPr/>
        </p:nvSpPr>
        <p:spPr>
          <a:xfrm>
            <a:off x="996696" y="2926080"/>
            <a:ext cx="4741164" cy="2377440"/>
          </a:xfrm>
          <a:prstGeom prst="rect">
            <a:avLst/>
          </a:prstGeom>
          <a:noFill/>
        </p:spPr>
        <p:txBody>
          <a:bodyPr wrap="square" anchor="t">
            <a:spAutoFit/>
          </a:bodyPr>
          <a:lstStyle/>
          <a:p>
            <a:pPr algn="l">
              <a:spcAft>
                <a:spcPts val="400"/>
              </a:spcAft>
            </a:pPr>
            <a:r>
              <a:rPr sz="1200" b="0">
                <a:solidFill>
                  <a:srgbClr val="161B26"/>
                </a:solidFill>
                <a:latin typeface="Arial"/>
              </a:rPr>
              <a:t>Short Answer Questions · 45 minutes · open book.
9 open-ended questions — one for each knowledge statement K1 - K9.
No multiple-choice questions.</a:t>
            </a:r>
          </a:p>
        </p:txBody>
      </p:sp>
      <p:sp>
        <p:nvSpPr>
          <p:cNvPr id="11" name="Rectangle 10"/>
          <p:cNvSpPr/>
          <p:nvPr/>
        </p:nvSpPr>
        <p:spPr>
          <a:xfrm>
            <a:off x="6231636" y="1965960"/>
            <a:ext cx="5180076"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965960"/>
            <a:ext cx="5180076"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51092" y="2331720"/>
            <a:ext cx="4741164" cy="548640"/>
          </a:xfrm>
          <a:prstGeom prst="rect">
            <a:avLst/>
          </a:prstGeom>
          <a:noFill/>
        </p:spPr>
        <p:txBody>
          <a:bodyPr wrap="square" anchor="t">
            <a:spAutoFit/>
          </a:bodyPr>
          <a:lstStyle/>
          <a:p>
            <a:pPr algn="l">
              <a:spcAft>
                <a:spcPts val="400"/>
              </a:spcAft>
            </a:pPr>
            <a:r>
              <a:rPr sz="1600" b="1">
                <a:solidFill>
                  <a:srgbClr val="10B981"/>
                </a:solidFill>
                <a:latin typeface="Arial"/>
              </a:rPr>
              <a:t>Practical Performance</a:t>
            </a:r>
          </a:p>
        </p:txBody>
      </p:sp>
      <p:sp>
        <p:nvSpPr>
          <p:cNvPr id="14" name="TextBox 13"/>
          <p:cNvSpPr txBox="1"/>
          <p:nvPr/>
        </p:nvSpPr>
        <p:spPr>
          <a:xfrm>
            <a:off x="6451092" y="2926080"/>
            <a:ext cx="4741164" cy="2377440"/>
          </a:xfrm>
          <a:prstGeom prst="rect">
            <a:avLst/>
          </a:prstGeom>
          <a:noFill/>
        </p:spPr>
        <p:txBody>
          <a:bodyPr wrap="square" anchor="t">
            <a:spAutoFit/>
          </a:bodyPr>
          <a:lstStyle/>
          <a:p>
            <a:pPr algn="l">
              <a:spcAft>
                <a:spcPts val="400"/>
              </a:spcAft>
            </a:pPr>
            <a:r>
              <a:rPr sz="1200" b="0">
                <a:solidFill>
                  <a:srgbClr val="161B26"/>
                </a:solidFill>
                <a:latin typeface="Arial"/>
              </a:rPr>
              <a:t>The Trading Simulator and TradingView, as in the labs - no coding · 75 minutes · open book.
4 practical tasks covering ability statements A1 - A10.
A new trading scenario, using the same pipeline tool-kit as the labs.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4343"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1" name="TextBox 10"/>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Sign the assessment attendance record</a:t>
            </a:r>
          </a:p>
        </p:txBody>
      </p:sp>
      <p:sp>
        <p:nvSpPr>
          <p:cNvPr id="12" name="TextBox 11"/>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13" name="Rectangle 12"/>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56101"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17" name="TextBox 16"/>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Assessor briefing (not assessed)</a:t>
            </a:r>
          </a:p>
        </p:txBody>
      </p:sp>
      <p:sp>
        <p:nvSpPr>
          <p:cNvPr id="18" name="TextBox 17"/>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19" name="Rectangle 18"/>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37859"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3" name="TextBox 22"/>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Sit the WA (45 min) then the PP (75 min) — open book</a:t>
            </a:r>
          </a:p>
        </p:txBody>
      </p:sp>
      <p:sp>
        <p:nvSpPr>
          <p:cNvPr id="24" name="TextBox 23"/>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25" name="Rectangle 24"/>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22514"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19617"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29" name="TextBox 28"/>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Submit your answers on the LMS</a:t>
            </a:r>
          </a:p>
        </p:txBody>
      </p:sp>
      <p:sp>
        <p:nvSpPr>
          <p:cNvPr id="30" name="TextBox 29"/>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31" name="Rectangle 30"/>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04272"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101375"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5" name="TextBox 34"/>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Sign the Assessment Summary Record</a:t>
            </a:r>
          </a:p>
        </p:txBody>
      </p:sp>
      <p:sp>
        <p:nvSpPr>
          <p:cNvPr id="36" name="Rectangle 35"/>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77240" y="5257800"/>
            <a:ext cx="91440" cy="8229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Both components are open book. You must be Competent in BOTH to be awarded the module.</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874519"/>
            <a:ext cx="8778240" cy="457200"/>
          </a:xfrm>
          <a:prstGeom prst="rect">
            <a:avLst/>
          </a:prstGeom>
          <a:noFill/>
        </p:spPr>
        <p:txBody>
          <a:bodyPr wrap="square" anchor="t">
            <a:spAutoFit/>
          </a:bodyPr>
          <a:lstStyle/>
          <a:p>
            <a:pPr algn="l">
              <a:spcAft>
                <a:spcPts val="400"/>
              </a:spcAft>
            </a:pPr>
            <a:r>
              <a:rPr sz="1600" b="1">
                <a:solidFill>
                  <a:srgbClr val="1F6FEB"/>
                </a:solidFill>
                <a:latin typeface="Arial"/>
              </a:rPr>
              <a:t>GETTING STARTED</a:t>
            </a:r>
          </a:p>
        </p:txBody>
      </p:sp>
      <p:sp>
        <p:nvSpPr>
          <p:cNvPr id="5" name="TextBox 4"/>
          <p:cNvSpPr txBox="1"/>
          <p:nvPr/>
        </p:nvSpPr>
        <p:spPr>
          <a:xfrm>
            <a:off x="1188720" y="2331720"/>
            <a:ext cx="9509760" cy="914400"/>
          </a:xfrm>
          <a:prstGeom prst="rect">
            <a:avLst/>
          </a:prstGeom>
          <a:noFill/>
        </p:spPr>
        <p:txBody>
          <a:bodyPr wrap="square" anchor="t">
            <a:spAutoFit/>
          </a:bodyPr>
          <a:lstStyle/>
          <a:p>
            <a:pPr algn="l">
              <a:spcAft>
                <a:spcPts val="400"/>
              </a:spcAft>
            </a:pPr>
            <a:r>
              <a:rPr sz="4000" b="1">
                <a:solidFill>
                  <a:srgbClr val="161B26"/>
                </a:solidFill>
                <a:latin typeface="Arial"/>
              </a:rPr>
              <a:t>Set Up Alpaca and TradingView</a:t>
            </a:r>
          </a:p>
        </p:txBody>
      </p:sp>
      <p:sp>
        <p:nvSpPr>
          <p:cNvPr id="6" name="Rectangle 5"/>
          <p:cNvSpPr/>
          <p:nvPr/>
        </p:nvSpPr>
        <p:spPr>
          <a:xfrm>
            <a:off x="1188720" y="3429000"/>
            <a:ext cx="9509760"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88720" y="3429000"/>
            <a:ext cx="82296" cy="1234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81328" y="3429000"/>
            <a:ext cx="9052560" cy="1234440"/>
          </a:xfrm>
          <a:prstGeom prst="rect">
            <a:avLst/>
          </a:prstGeom>
          <a:noFill/>
        </p:spPr>
        <p:txBody>
          <a:bodyPr wrap="square" anchor="ctr">
            <a:spAutoFit/>
          </a:bodyPr>
          <a:lstStyle/>
          <a:p>
            <a:pPr algn="l">
              <a:spcAft>
                <a:spcPts val="400"/>
              </a:spcAft>
            </a:pPr>
            <a:r>
              <a:rPr sz="1050" b="1">
                <a:solidFill>
                  <a:srgbClr val="1F6FEB"/>
                </a:solidFill>
                <a:latin typeface="Arial"/>
              </a:rPr>
              <a:t>LEARNING OUTCOME</a:t>
            </a:r>
          </a:p>
          <a:p>
            <a:pPr algn="l">
              <a:spcAft>
                <a:spcPts val="400"/>
              </a:spcAft>
            </a:pPr>
            <a:r>
              <a:rPr sz="1350" b="0">
                <a:solidFill>
                  <a:srgbClr val="161B26"/>
                </a:solidFill>
                <a:latin typeface="Arial"/>
              </a:rPr>
              <a:t>Create the free accounts and the Python environment every lab uses. Everything runs on paper — no real money at any point.</a:t>
            </a:r>
          </a:p>
        </p:txBody>
      </p:sp>
      <p:sp>
        <p:nvSpPr>
          <p:cNvPr id="9" name="TextBox 8"/>
          <p:cNvSpPr txBox="1"/>
          <p:nvPr/>
        </p:nvSpPr>
        <p:spPr>
          <a:xfrm>
            <a:off x="9692640" y="914400"/>
            <a:ext cx="2011680" cy="2011680"/>
          </a:xfrm>
          <a:prstGeom prst="rect">
            <a:avLst/>
          </a:prstGeom>
          <a:noFill/>
        </p:spPr>
        <p:txBody>
          <a:bodyPr wrap="square" anchor="t">
            <a:spAutoFit/>
          </a:bodyPr>
          <a:lstStyle/>
          <a:p>
            <a:pPr algn="r">
              <a:spcAft>
                <a:spcPts val="400"/>
              </a:spcAft>
            </a:pPr>
            <a:r>
              <a:rPr sz="9600" b="1">
                <a:solidFill>
                  <a:srgbClr val="F5F8FC"/>
                </a:solidFill>
                <a:latin typeface="Arial"/>
              </a:rPr>
              <a:t>01</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Download, Install and Start the Trading Simulator Software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Full step-by-step guide: Learner Guide, 'Platform Guides'.</a:t>
            </a:r>
          </a:p>
        </p:txBody>
      </p:sp>
      <p:sp>
        <p:nvSpPr>
          <p:cNvPr id="8" name="Rectangle 7"/>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9253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9253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2" name="TextBox 11"/>
          <p:cNvSpPr txBox="1"/>
          <p:nvPr/>
        </p:nvSpPr>
        <p:spPr>
          <a:xfrm>
            <a:off x="90525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Install Git, Python 3.11+ and uv (or Docker)</a:t>
            </a:r>
          </a:p>
        </p:txBody>
      </p:sp>
      <p:sp>
        <p:nvSpPr>
          <p:cNvPr id="13" name="TextBox 12"/>
          <p:cNvSpPr txBox="1"/>
          <p:nvPr/>
        </p:nvSpPr>
        <p:spPr>
          <a:xfrm>
            <a:off x="23027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4" name="Rectangle 13"/>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95372"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010662"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106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18" name="TextBox 17"/>
          <p:cNvSpPr txBox="1"/>
          <p:nvPr/>
        </p:nvSpPr>
        <p:spPr>
          <a:xfrm>
            <a:off x="2723388"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git clone the simulator - or Download ZIP</a:t>
            </a:r>
          </a:p>
        </p:txBody>
      </p:sp>
      <p:sp>
        <p:nvSpPr>
          <p:cNvPr id="19" name="TextBox 18"/>
          <p:cNvSpPr txBox="1"/>
          <p:nvPr/>
        </p:nvSpPr>
        <p:spPr>
          <a:xfrm>
            <a:off x="412089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0" name="Rectangle 19"/>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3504"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828794"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28794"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4" name="TextBox 23"/>
          <p:cNvSpPr txBox="1"/>
          <p:nvPr/>
        </p:nvSpPr>
        <p:spPr>
          <a:xfrm>
            <a:off x="4541520"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Copy .env.example to .env</a:t>
            </a:r>
          </a:p>
        </p:txBody>
      </p:sp>
      <p:sp>
        <p:nvSpPr>
          <p:cNvPr id="25" name="TextBox 24"/>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6" name="Rectangle 25"/>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31636"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646926"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4692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0" name="TextBox 29"/>
          <p:cNvSpPr txBox="1"/>
          <p:nvPr/>
        </p:nvSpPr>
        <p:spPr>
          <a:xfrm>
            <a:off x="6359652"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uv sync &gt; uv run trader seed &gt; uv run trader serve --with-worker</a:t>
            </a:r>
          </a:p>
        </p:txBody>
      </p:sp>
      <p:sp>
        <p:nvSpPr>
          <p:cNvPr id="31" name="TextBox 30"/>
          <p:cNvSpPr txBox="1"/>
          <p:nvPr/>
        </p:nvSpPr>
        <p:spPr>
          <a:xfrm>
            <a:off x="775716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2" name="Rectangle 31"/>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465058"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650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6" name="TextBox 35"/>
          <p:cNvSpPr txBox="1"/>
          <p:nvPr/>
        </p:nvSpPr>
        <p:spPr>
          <a:xfrm>
            <a:off x="8177784"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Or: docker compose up -d --build &gt; docker compose exec backend trader seed</a:t>
            </a:r>
          </a:p>
        </p:txBody>
      </p:sp>
      <p:sp>
        <p:nvSpPr>
          <p:cNvPr id="37" name="TextBox 36"/>
          <p:cNvSpPr txBox="1"/>
          <p:nvPr/>
        </p:nvSpPr>
        <p:spPr>
          <a:xfrm>
            <a:off x="9575292"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8" name="Rectangle 37"/>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86790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28319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28319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2" name="TextBox 41"/>
          <p:cNvSpPr txBox="1"/>
          <p:nvPr/>
        </p:nvSpPr>
        <p:spPr>
          <a:xfrm>
            <a:off x="999591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Open http://localhost:8000 &gt; Course Labs</a:t>
            </a:r>
          </a:p>
        </p:txBody>
      </p:sp>
      <p:sp>
        <p:nvSpPr>
          <p:cNvPr id="43" name="Rectangle 42"/>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Simulator: github.com/alfredang/algorithmic-trader-bot - the README has the full start-up steps and troubleshooting.</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Trading Simulator — Pipeline Map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im_pipeline_map_v2.png"/>
          <p:cNvPicPr>
            <a:picLocks noChangeAspect="1"/>
          </p:cNvPicPr>
          <p:nvPr/>
        </p:nvPicPr>
        <p:blipFill>
          <a:blip r:embed="rId2"/>
          <a:stretch>
            <a:fillRect/>
          </a:stretch>
        </p:blipFill>
        <p:spPr>
          <a:xfrm>
            <a:off x="1448866" y="2057400"/>
            <a:ext cx="9293961" cy="3520440"/>
          </a:xfrm>
          <a:prstGeom prst="rect">
            <a:avLst/>
          </a:prstGeom>
        </p:spPr>
      </p:pic>
      <p:sp>
        <p:nvSpPr>
          <p:cNvPr id="8" name="Rectangle 7"/>
          <p:cNvSpPr/>
          <p:nvPr/>
        </p:nvSpPr>
        <p:spPr>
          <a:xfrm>
            <a:off x="1437894" y="2046427"/>
            <a:ext cx="9315907" cy="354238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2414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2414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2414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Pipeline Map shows the 14 stages of the automated pipeline, plus TradingView webhook alerts and the always-on AI agent as side inputs, each with its live state. Click a stage to see its activity.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Sign Up for Alpaca and Open the Paper-Trading Account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Full step-by-step guide: Learner Guide, 'Platform Guides'.</a:t>
            </a:r>
          </a:p>
        </p:txBody>
      </p:sp>
      <p:sp>
        <p:nvSpPr>
          <p:cNvPr id="8" name="Rectangle 7"/>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374343"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2" name="TextBox 11"/>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Sign up at alpaca.markets and verify your email</a:t>
            </a:r>
          </a:p>
        </p:txBody>
      </p:sp>
      <p:sp>
        <p:nvSpPr>
          <p:cNvPr id="13" name="TextBox 12"/>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4" name="Rectangle 13"/>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8998"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56101"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18" name="TextBox 17"/>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Log in; choose 'Paper Trading' (upper left)</a:t>
            </a:r>
          </a:p>
        </p:txBody>
      </p:sp>
      <p:sp>
        <p:nvSpPr>
          <p:cNvPr id="19" name="TextBox 18"/>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0" name="Rectangle 19"/>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37859"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4" name="TextBox 23"/>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API section: generate key - copy the secret once</a:t>
            </a:r>
          </a:p>
        </p:txBody>
      </p:sp>
      <p:sp>
        <p:nvSpPr>
          <p:cNvPr id="25" name="TextBox 24"/>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6" name="Rectangle 25"/>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919617"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0" name="TextBox 29"/>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Paste keys into labs/.env</a:t>
            </a:r>
          </a:p>
        </p:txBody>
      </p:sp>
      <p:sp>
        <p:nvSpPr>
          <p:cNvPr id="31" name="TextBox 30"/>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2" name="Rectangle 31"/>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504272"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101375"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6" name="TextBox 35"/>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Run python -m pipeline check - must say ONLINE</a:t>
            </a:r>
          </a:p>
        </p:txBody>
      </p:sp>
      <p:sp>
        <p:nvSpPr>
          <p:cNvPr id="37" name="Rectangle 36"/>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No funding needed. Paper keys only work on paper-api.alpaca.markets. No account? Every lab also runs offline.</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Your Alpaca Paper-Trading Dashboard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lpaca_paper_home.png"/>
          <p:cNvPicPr>
            <a:picLocks noChangeAspect="1"/>
          </p:cNvPicPr>
          <p:nvPr/>
        </p:nvPicPr>
        <p:blipFill>
          <a:blip r:embed="rId2"/>
          <a:stretch>
            <a:fillRect/>
          </a:stretch>
        </p:blipFill>
        <p:spPr>
          <a:xfrm>
            <a:off x="1701184" y="2057400"/>
            <a:ext cx="8789325" cy="3520440"/>
          </a:xfrm>
          <a:prstGeom prst="rect">
            <a:avLst/>
          </a:prstGeom>
        </p:spPr>
      </p:pic>
      <p:sp>
        <p:nvSpPr>
          <p:cNvPr id="8" name="Rectangle 7"/>
          <p:cNvSpPr/>
          <p:nvPr/>
        </p:nvSpPr>
        <p:spPr>
          <a:xfrm>
            <a:off x="1690211" y="2046427"/>
            <a:ext cx="8811271" cy="354238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2414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2414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2414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Check that the account selector shows 'Paper'. The banner confirms that no real money is being used. The API keys for the labs are generated from this account.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Connect Alpaca to the Simulator — Integrations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im_integrations.png"/>
          <p:cNvPicPr>
            <a:picLocks noChangeAspect="1"/>
          </p:cNvPicPr>
          <p:nvPr/>
        </p:nvPicPr>
        <p:blipFill>
          <a:blip r:embed="rId2"/>
          <a:stretch>
            <a:fillRect/>
          </a:stretch>
        </p:blipFill>
        <p:spPr>
          <a:xfrm>
            <a:off x="1977491" y="2057400"/>
            <a:ext cx="8236712" cy="3520440"/>
          </a:xfrm>
          <a:prstGeom prst="rect">
            <a:avLst/>
          </a:prstGeom>
        </p:spPr>
      </p:pic>
      <p:sp>
        <p:nvSpPr>
          <p:cNvPr id="8" name="Rectangle 7"/>
          <p:cNvSpPr/>
          <p:nvPr/>
        </p:nvSpPr>
        <p:spPr>
          <a:xfrm>
            <a:off x="1966518" y="2046427"/>
            <a:ext cx="8258657" cy="354238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2414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2414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2414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Paste the paper Key ID and Secret into the Alpaca card, then press Save &amp; test. Keys stay on your computer and are only shown masked. Without keys, every lab still runs offline.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Sign Up for TradingView and Find the Tools You Will Use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Full step-by-step guide: Learner Guide, 'Platform Guides'.</a:t>
            </a:r>
          </a:p>
        </p:txBody>
      </p:sp>
      <p:sp>
        <p:nvSpPr>
          <p:cNvPr id="8" name="Rectangle 7"/>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374343"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2" name="TextBox 11"/>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Sign up at tradingview.com (email, Google or Apple)</a:t>
            </a:r>
          </a:p>
        </p:txBody>
      </p:sp>
      <p:sp>
        <p:nvSpPr>
          <p:cNvPr id="13" name="TextBox 12"/>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4" name="Rectangle 13"/>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8998"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56101"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18" name="TextBox 17"/>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Keep the free plan</a:t>
            </a:r>
          </a:p>
        </p:txBody>
      </p:sp>
      <p:sp>
        <p:nvSpPr>
          <p:cNvPr id="19" name="TextBox 18"/>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0" name="Rectangle 19"/>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37859"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4" name="TextBox 23"/>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Products &gt; Supercharts; search NASDAQ:AAPL or SGX:D05</a:t>
            </a:r>
          </a:p>
        </p:txBody>
      </p:sp>
      <p:sp>
        <p:nvSpPr>
          <p:cNvPr id="25" name="TextBox 24"/>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6" name="Rectangle 25"/>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919617"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0" name="TextBox 29"/>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Set time zone to Singapore</a:t>
            </a:r>
          </a:p>
        </p:txBody>
      </p:sp>
      <p:sp>
        <p:nvSpPr>
          <p:cNvPr id="31" name="TextBox 30"/>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2" name="Rectangle 31"/>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504272"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101375"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6" name="TextBox 35"/>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Find Indicators, Pine Editor, Strategy Tester, Trade</a:t>
            </a:r>
          </a:p>
        </p:txBody>
      </p:sp>
      <p:sp>
        <p:nvSpPr>
          <p:cNvPr id="37" name="Rectangle 36"/>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The free plan covers Labs 2, 5 and 6. Webhook alerts in Lab 17 need a paid plan - the lab includes a local simulator.</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TradingView — Chart, Watchlist and Symbol Panel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radingview_chart.png"/>
          <p:cNvPicPr>
            <a:picLocks noChangeAspect="1"/>
          </p:cNvPicPr>
          <p:nvPr/>
        </p:nvPicPr>
        <p:blipFill>
          <a:blip r:embed="rId2"/>
          <a:stretch>
            <a:fillRect/>
          </a:stretch>
        </p:blipFill>
        <p:spPr>
          <a:xfrm>
            <a:off x="2493368" y="2057400"/>
            <a:ext cx="7204958" cy="3520440"/>
          </a:xfrm>
          <a:prstGeom prst="rect">
            <a:avLst/>
          </a:prstGeom>
        </p:spPr>
      </p:pic>
      <p:sp>
        <p:nvSpPr>
          <p:cNvPr id="8" name="Rectangle 7"/>
          <p:cNvSpPr/>
          <p:nvPr/>
        </p:nvSpPr>
        <p:spPr>
          <a:xfrm>
            <a:off x="2482395" y="2046427"/>
            <a:ext cx="7226903" cy="354238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2414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2414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2414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Search for a symbol, pick the interval, and add Indicators. Pine Script and the Strategy Tester open from the panel below the chart, and Trade opens Paper Trading.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 · FULL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How the Full Code Labs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3361944"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3361944"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2923032" cy="548640"/>
          </a:xfrm>
          <a:prstGeom prst="rect">
            <a:avLst/>
          </a:prstGeom>
          <a:noFill/>
        </p:spPr>
        <p:txBody>
          <a:bodyPr wrap="square" anchor="t">
            <a:spAutoFit/>
          </a:bodyPr>
          <a:lstStyle/>
          <a:p>
            <a:pPr algn="l">
              <a:spcAft>
                <a:spcPts val="400"/>
              </a:spcAft>
            </a:pPr>
            <a:r>
              <a:rPr sz="1600" b="1">
                <a:solidFill>
                  <a:srgbClr val="1F6FEB"/>
                </a:solidFill>
                <a:latin typeface="Arial"/>
              </a:rPr>
              <a:t>Set up once</a:t>
            </a:r>
          </a:p>
        </p:txBody>
      </p:sp>
      <p:sp>
        <p:nvSpPr>
          <p:cNvPr id="10" name="TextBox 9"/>
          <p:cNvSpPr txBox="1"/>
          <p:nvPr/>
        </p:nvSpPr>
        <p:spPr>
          <a:xfrm>
            <a:off x="996696"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Open a terminal in labs_fullcode: python3 -m venv .venv, activate it, then pip install -r requirements.txt. Alpaca paper keys go in .env (or leave blank: offline).</a:t>
            </a:r>
          </a:p>
        </p:txBody>
      </p:sp>
      <p:sp>
        <p:nvSpPr>
          <p:cNvPr id="11" name="Rectangle 10"/>
          <p:cNvSpPr/>
          <p:nvPr/>
        </p:nvSpPr>
        <p:spPr>
          <a:xfrm>
            <a:off x="4413504" y="1965960"/>
            <a:ext cx="3361944"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13504" y="1965960"/>
            <a:ext cx="3361944"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2960" y="2331720"/>
            <a:ext cx="2923032" cy="548640"/>
          </a:xfrm>
          <a:prstGeom prst="rect">
            <a:avLst/>
          </a:prstGeom>
          <a:noFill/>
        </p:spPr>
        <p:txBody>
          <a:bodyPr wrap="square" anchor="t">
            <a:spAutoFit/>
          </a:bodyPr>
          <a:lstStyle/>
          <a:p>
            <a:pPr algn="l">
              <a:spcAft>
                <a:spcPts val="400"/>
              </a:spcAft>
            </a:pPr>
            <a:r>
              <a:rPr sz="1600" b="1">
                <a:solidFill>
                  <a:srgbClr val="10B981"/>
                </a:solidFill>
                <a:latin typeface="Arial"/>
              </a:rPr>
              <a:t>Every lab folder</a:t>
            </a:r>
          </a:p>
        </p:txBody>
      </p:sp>
      <p:sp>
        <p:nvSpPr>
          <p:cNvPr id="14" name="TextBox 13"/>
          <p:cNvSpPr txBox="1"/>
          <p:nvPr/>
        </p:nvSpPr>
        <p:spPr>
          <a:xfrm>
            <a:off x="4632960"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LabNN_Instructions.pdf (the manual), LabNN_Prompts.pdf (step -&gt; prompt), README.md (how to run), the _stage.py runner and solution/ - the complete code.</a:t>
            </a:r>
          </a:p>
        </p:txBody>
      </p:sp>
      <p:sp>
        <p:nvSpPr>
          <p:cNvPr id="15" name="Rectangle 14"/>
          <p:cNvSpPr/>
          <p:nvPr/>
        </p:nvSpPr>
        <p:spPr>
          <a:xfrm>
            <a:off x="8049768" y="1965960"/>
            <a:ext cx="3361944" cy="3566160"/>
          </a:xfrm>
          <a:prstGeom prst="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9768" y="1965960"/>
            <a:ext cx="3361944"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9224" y="2331720"/>
            <a:ext cx="2923032" cy="548640"/>
          </a:xfrm>
          <a:prstGeom prst="rect">
            <a:avLst/>
          </a:prstGeom>
          <a:noFill/>
        </p:spPr>
        <p:txBody>
          <a:bodyPr wrap="square" anchor="t">
            <a:spAutoFit/>
          </a:bodyPr>
          <a:lstStyle/>
          <a:p>
            <a:pPr algn="l">
              <a:spcAft>
                <a:spcPts val="400"/>
              </a:spcAft>
            </a:pPr>
            <a:r>
              <a:rPr sz="1600" b="1">
                <a:solidFill>
                  <a:srgbClr val="7C3AED"/>
                </a:solidFill>
                <a:latin typeface="Arial"/>
              </a:rPr>
              <a:t>One command per lab</a:t>
            </a:r>
          </a:p>
        </p:txBody>
      </p:sp>
      <p:sp>
        <p:nvSpPr>
          <p:cNvPr id="18" name="TextBox 17"/>
          <p:cNvSpPr txBox="1"/>
          <p:nvPr/>
        </p:nvSpPr>
        <p:spPr>
          <a:xfrm>
            <a:off x="8269224"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python3 LabNN-.../&lt;stage&gt;_stage.py runs the stage. Prompt_Library.html has every prompt with a Copy button for your AI coding assistant.</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920240"/>
            <a:ext cx="9692640" cy="365760"/>
          </a:xfrm>
          <a:prstGeom prst="rect">
            <a:avLst/>
          </a:prstGeom>
          <a:noFill/>
        </p:spPr>
        <p:txBody>
          <a:bodyPr wrap="square" anchor="t">
            <a:spAutoFit/>
          </a:bodyPr>
          <a:lstStyle/>
          <a:p>
            <a:pPr algn="l">
              <a:spcAft>
                <a:spcPts val="400"/>
              </a:spcAft>
            </a:pPr>
            <a:r>
              <a:rPr sz="1400" b="1">
                <a:solidFill>
                  <a:srgbClr val="10B981"/>
                </a:solidFill>
                <a:latin typeface="Arial"/>
              </a:rPr>
              <a:t>PLATFORM · THE IDEA THAT MATTERS MOST</a:t>
            </a:r>
          </a:p>
        </p:txBody>
      </p:sp>
      <p:sp>
        <p:nvSpPr>
          <p:cNvPr id="5" name="TextBox 4"/>
          <p:cNvSpPr txBox="1"/>
          <p:nvPr/>
        </p:nvSpPr>
        <p:spPr>
          <a:xfrm>
            <a:off x="1188720" y="2377440"/>
            <a:ext cx="9692640" cy="1645920"/>
          </a:xfrm>
          <a:prstGeom prst="rect">
            <a:avLst/>
          </a:prstGeom>
          <a:noFill/>
        </p:spPr>
        <p:txBody>
          <a:bodyPr wrap="square" anchor="t">
            <a:spAutoFit/>
          </a:bodyPr>
          <a:lstStyle/>
          <a:p>
            <a:pPr algn="l">
              <a:spcAft>
                <a:spcPts val="400"/>
              </a:spcAft>
            </a:pPr>
            <a:r>
              <a:rPr sz="3400" b="1">
                <a:solidFill>
                  <a:srgbClr val="161B26"/>
                </a:solidFill>
                <a:latin typeface="Arial"/>
              </a:rPr>
              <a:t>Paper first. Always.</a:t>
            </a:r>
          </a:p>
        </p:txBody>
      </p:sp>
      <p:sp>
        <p:nvSpPr>
          <p:cNvPr id="6" name="TextBox 5"/>
          <p:cNvSpPr txBox="1"/>
          <p:nvPr/>
        </p:nvSpPr>
        <p:spPr>
          <a:xfrm>
            <a:off x="1188720" y="4206240"/>
            <a:ext cx="9692640" cy="1097280"/>
          </a:xfrm>
          <a:prstGeom prst="rect">
            <a:avLst/>
          </a:prstGeom>
          <a:noFill/>
        </p:spPr>
        <p:txBody>
          <a:bodyPr wrap="square" anchor="t">
            <a:spAutoFit/>
          </a:bodyPr>
          <a:lstStyle/>
          <a:p>
            <a:pPr algn="l">
              <a:spcAft>
                <a:spcPts val="400"/>
              </a:spcAft>
            </a:pPr>
            <a:r>
              <a:rPr sz="1600" b="0">
                <a:solidFill>
                  <a:srgbClr val="5B6372"/>
                </a:solidFill>
                <a:latin typeface="Arial"/>
              </a:rPr>
              <a:t>Every strategy in this course is tested on history, then forward-tested on a paper account with automatic orders, before anyone would consider real capital. That discipline is the course.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874519"/>
            <a:ext cx="8778240" cy="457200"/>
          </a:xfrm>
          <a:prstGeom prst="rect">
            <a:avLst/>
          </a:prstGeom>
          <a:noFill/>
        </p:spPr>
        <p:txBody>
          <a:bodyPr wrap="square" anchor="t">
            <a:spAutoFit/>
          </a:bodyPr>
          <a:lstStyle/>
          <a:p>
            <a:pPr algn="l">
              <a:spcAft>
                <a:spcPts val="400"/>
              </a:spcAft>
            </a:pPr>
            <a:r>
              <a:rPr sz="1600" b="1">
                <a:solidFill>
                  <a:srgbClr val="1F6FEB"/>
                </a:solidFill>
                <a:latin typeface="Arial"/>
              </a:rPr>
              <a:t>TOPIC 1</a:t>
            </a:r>
          </a:p>
        </p:txBody>
      </p:sp>
      <p:sp>
        <p:nvSpPr>
          <p:cNvPr id="5" name="TextBox 4"/>
          <p:cNvSpPr txBox="1"/>
          <p:nvPr/>
        </p:nvSpPr>
        <p:spPr>
          <a:xfrm>
            <a:off x="1188720" y="2331720"/>
            <a:ext cx="9509760" cy="914400"/>
          </a:xfrm>
          <a:prstGeom prst="rect">
            <a:avLst/>
          </a:prstGeom>
          <a:noFill/>
        </p:spPr>
        <p:txBody>
          <a:bodyPr wrap="square" anchor="t">
            <a:spAutoFit/>
          </a:bodyPr>
          <a:lstStyle/>
          <a:p>
            <a:pPr algn="l">
              <a:spcAft>
                <a:spcPts val="400"/>
              </a:spcAft>
            </a:pPr>
            <a:r>
              <a:rPr sz="4000" b="1">
                <a:solidFill>
                  <a:srgbClr val="161B26"/>
                </a:solidFill>
                <a:latin typeface="Arial"/>
              </a:rPr>
              <a:t>Quant and Algo Trading Foundations</a:t>
            </a:r>
          </a:p>
        </p:txBody>
      </p:sp>
      <p:sp>
        <p:nvSpPr>
          <p:cNvPr id="6" name="Rectangle 5"/>
          <p:cNvSpPr/>
          <p:nvPr/>
        </p:nvSpPr>
        <p:spPr>
          <a:xfrm>
            <a:off x="1188720" y="3429000"/>
            <a:ext cx="9509760"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88720" y="3429000"/>
            <a:ext cx="82296" cy="1234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81328" y="3429000"/>
            <a:ext cx="9052560" cy="1234440"/>
          </a:xfrm>
          <a:prstGeom prst="rect">
            <a:avLst/>
          </a:prstGeom>
          <a:noFill/>
        </p:spPr>
        <p:txBody>
          <a:bodyPr wrap="square" anchor="ctr">
            <a:spAutoFit/>
          </a:bodyPr>
          <a:lstStyle/>
          <a:p>
            <a:pPr algn="l">
              <a:spcAft>
                <a:spcPts val="400"/>
              </a:spcAft>
            </a:pPr>
            <a:r>
              <a:rPr sz="1050" b="1">
                <a:solidFill>
                  <a:srgbClr val="1F6FEB"/>
                </a:solidFill>
                <a:latin typeface="Arial"/>
              </a:rPr>
              <a:t>LEARNING OUTCOME</a:t>
            </a:r>
          </a:p>
          <a:p>
            <a:pPr algn="l">
              <a:spcAft>
                <a:spcPts val="400"/>
              </a:spcAft>
            </a:pPr>
            <a:r>
              <a:rPr sz="1350" b="0">
                <a:solidFill>
                  <a:srgbClr val="161B26"/>
                </a:solidFill>
                <a:latin typeface="Arial"/>
              </a:rPr>
              <a:t>Develop hypotheses for implementing data analytics and computational modelling activities in algorithmic trading, and identify possible big data applications across the forms of data within financial services.</a:t>
            </a:r>
          </a:p>
        </p:txBody>
      </p:sp>
      <p:sp>
        <p:nvSpPr>
          <p:cNvPr id="9" name="TextBox 8"/>
          <p:cNvSpPr txBox="1"/>
          <p:nvPr/>
        </p:nvSpPr>
        <p:spPr>
          <a:xfrm>
            <a:off x="1188720" y="4892040"/>
            <a:ext cx="9509760" cy="457200"/>
          </a:xfrm>
          <a:prstGeom prst="rect">
            <a:avLst/>
          </a:prstGeom>
          <a:noFill/>
        </p:spPr>
        <p:txBody>
          <a:bodyPr wrap="square" anchor="t">
            <a:spAutoFit/>
          </a:bodyPr>
          <a:lstStyle/>
          <a:p>
            <a:pPr algn="l">
              <a:spcAft>
                <a:spcPts val="400"/>
              </a:spcAft>
            </a:pPr>
            <a:r>
              <a:rPr sz="1150" b="0">
                <a:solidFill>
                  <a:srgbClr val="5B6372"/>
                </a:solidFill>
                <a:latin typeface="Arial"/>
              </a:rPr>
              <a:t>Abilities A1, A6  ·  Knowledge K1, K9   ·   Day 1   ·   Labs 1–4   ·   Assessed by PP Task 1 and WA Q1, Q9</a:t>
            </a:r>
          </a:p>
        </p:txBody>
      </p:sp>
      <p:sp>
        <p:nvSpPr>
          <p:cNvPr id="10" name="TextBox 9"/>
          <p:cNvSpPr txBox="1"/>
          <p:nvPr/>
        </p:nvSpPr>
        <p:spPr>
          <a:xfrm>
            <a:off x="9692640" y="914400"/>
            <a:ext cx="2011680" cy="2011680"/>
          </a:xfrm>
          <a:prstGeom prst="rect">
            <a:avLst/>
          </a:prstGeom>
          <a:noFill/>
        </p:spPr>
        <p:txBody>
          <a:bodyPr wrap="square" anchor="t">
            <a:spAutoFit/>
          </a:bodyPr>
          <a:lstStyle/>
          <a:p>
            <a:pPr algn="r">
              <a:spcAft>
                <a:spcPts val="400"/>
              </a:spcAft>
            </a:pPr>
            <a:r>
              <a:rPr sz="9600" b="1">
                <a:solidFill>
                  <a:srgbClr val="F5F8FC"/>
                </a:solidFill>
                <a:latin typeface="Arial"/>
              </a:rPr>
              <a:t>01</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QUANT SUCCESS STORIES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 Success Stories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Ed Thorp - Princeton Newport  ·  1969</a:t>
            </a:r>
          </a:p>
          <a:p>
            <a:pPr algn="l">
              <a:spcAft>
                <a:spcPts val="300"/>
              </a:spcAft>
            </a:pPr>
            <a:r>
              <a:rPr sz="1000" b="0">
                <a:solidFill>
                  <a:srgbClr val="5B6372"/>
                </a:solidFill>
                <a:latin typeface="Arial"/>
              </a:rPr>
              <a:t>First market-neutral quant fund: about 20% a year after fees for two decades by hedging warrants and convertibles</a:t>
            </a:r>
          </a:p>
        </p:txBody>
      </p:sp>
      <p:sp>
        <p:nvSpPr>
          <p:cNvPr id="15" name="Rectangle 14"/>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Renaissance - Medallion  ·  1988</a:t>
            </a:r>
          </a:p>
          <a:p>
            <a:pPr algn="l">
              <a:spcAft>
                <a:spcPts val="300"/>
              </a:spcAft>
            </a:pPr>
            <a:r>
              <a:rPr sz="1000" b="0">
                <a:solidFill>
                  <a:srgbClr val="5B6372"/>
                </a:solidFill>
                <a:latin typeface="Arial"/>
              </a:rPr>
              <a:t>Purely model-driven; about 66% a year before fees, 39% after (1988-2018); closed to outsiders, employee-owned</a:t>
            </a:r>
          </a:p>
        </p:txBody>
      </p:sp>
      <p:sp>
        <p:nvSpPr>
          <p:cNvPr id="20" name="Rectangle 19"/>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D.E. Shaw  ·  1988</a:t>
            </a:r>
          </a:p>
          <a:p>
            <a:pPr algn="l">
              <a:spcAft>
                <a:spcPts val="300"/>
              </a:spcAft>
            </a:pPr>
            <a:r>
              <a:rPr sz="1000" b="0">
                <a:solidFill>
                  <a:srgbClr val="5B6372"/>
                </a:solidFill>
                <a:latin typeface="Arial"/>
              </a:rPr>
              <a:t>Founded by a computer-science professor from Morgan Stanley's quant group; models and software; about US$60-65bn</a:t>
            </a:r>
          </a:p>
        </p:txBody>
      </p:sp>
      <p:sp>
        <p:nvSpPr>
          <p:cNvPr id="25" name="Rectangle 24"/>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Man AHL  ·  1987</a:t>
            </a:r>
          </a:p>
          <a:p>
            <a:pPr algn="l">
              <a:spcAft>
                <a:spcPts val="300"/>
              </a:spcAft>
            </a:pPr>
            <a:r>
              <a:rPr sz="1000" b="0">
                <a:solidFill>
                  <a:srgbClr val="5B6372"/>
                </a:solidFill>
                <a:latin typeface="Arial"/>
              </a:rPr>
              <a:t>Systematic trend following from hand-typed price histories to momentum models across 800+ markets</a:t>
            </a:r>
          </a:p>
        </p:txBody>
      </p:sp>
      <p:sp>
        <p:nvSpPr>
          <p:cNvPr id="30" name="Rectangle 29"/>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Two Sigma  ·  2001</a:t>
            </a:r>
          </a:p>
          <a:p>
            <a:pPr algn="l">
              <a:spcAft>
                <a:spcPts val="300"/>
              </a:spcAft>
            </a:pPr>
            <a:r>
              <a:rPr sz="1000" b="0">
                <a:solidFill>
                  <a:srgbClr val="5B6372"/>
                </a:solidFill>
                <a:latin typeface="Arial"/>
              </a:rPr>
              <a:t>AI, machine learning and distributed computing applied to trading; about US$70bn under management</a:t>
            </a:r>
          </a:p>
        </p:txBody>
      </p:sp>
      <p:sp>
        <p:nvSpPr>
          <p:cNvPr id="35" name="Rectangle 34"/>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9" name="TextBox 38"/>
          <p:cNvSpPr txBox="1"/>
          <p:nvPr/>
        </p:nvSpPr>
        <p:spPr>
          <a:xfrm>
            <a:off x="7219188"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Jane Street  ·  2024</a:t>
            </a:r>
          </a:p>
          <a:p>
            <a:pPr algn="l">
              <a:spcAft>
                <a:spcPts val="300"/>
              </a:spcAft>
            </a:pPr>
            <a:r>
              <a:rPr sz="1000" b="0">
                <a:solidFill>
                  <a:srgbClr val="5B6372"/>
                </a:solidFill>
                <a:latin typeface="Arial"/>
              </a:rPr>
              <a:t>Quant market maker: about US$20.5bn net trading revenue; nearly a quarter of primary US ETF activity</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QUANT SUCCESS STORIES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Spotlight: Renaissance Technologies and the Medallion Fund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Founded by a mathematician</a:t>
            </a:r>
          </a:p>
          <a:p>
            <a:pPr algn="l">
              <a:spcAft>
                <a:spcPts val="300"/>
              </a:spcAft>
            </a:pPr>
            <a:r>
              <a:rPr sz="1100" b="0">
                <a:solidFill>
                  <a:srgbClr val="5B6372"/>
                </a:solidFill>
                <a:latin typeface="Arial"/>
              </a:rPr>
              <a:t>Jim Simons founds Monemetrics in 1978; renamed Renaissance Technologies in 1982</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Medallion fund, 1988</a:t>
            </a:r>
          </a:p>
          <a:p>
            <a:pPr algn="l">
              <a:spcAft>
                <a:spcPts val="300"/>
              </a:spcAft>
            </a:pPr>
            <a:r>
              <a:rPr sz="1100" b="0">
                <a:solidFill>
                  <a:srgbClr val="5B6372"/>
                </a:solidFill>
                <a:latin typeface="Arial"/>
              </a:rPr>
              <a:t>The flagship fund trades purely on mathematical models of market data</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About 66% a year before fees</a:t>
            </a:r>
          </a:p>
          <a:p>
            <a:pPr algn="l">
              <a:spcAft>
                <a:spcPts val="300"/>
              </a:spcAft>
            </a:pPr>
            <a:r>
              <a:rPr sz="1100" b="0">
                <a:solidFill>
                  <a:srgbClr val="5B6372"/>
                </a:solidFill>
                <a:latin typeface="Arial"/>
              </a:rPr>
              <a:t>Average gross return 1988-2018, about 39% after its high fees; closed to outsiders, employee-owned</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The lesson for this course</a:t>
            </a:r>
          </a:p>
          <a:p>
            <a:pPr algn="l">
              <a:spcAft>
                <a:spcPts val="300"/>
              </a:spcAft>
            </a:pPr>
            <a:r>
              <a:rPr sz="1100" b="0">
                <a:solidFill>
                  <a:srgbClr val="5B6372"/>
                </a:solidFill>
                <a:latin typeface="Arial"/>
              </a:rPr>
              <a:t>The edge came from data, rigorous testing, costs and risk control - not from one clever indicator</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QUANT SUCCESS STORIES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the Success Stories Have in Common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Hypothesis first</a:t>
            </a:r>
          </a:p>
          <a:p>
            <a:pPr algn="l">
              <a:spcAft>
                <a:spcPts val="300"/>
              </a:spcAft>
            </a:pPr>
            <a:r>
              <a:rPr sz="1050" b="0">
                <a:solidFill>
                  <a:srgbClr val="5B6372"/>
                </a:solidFill>
                <a:latin typeface="Arial"/>
              </a:rPr>
              <a:t>Each started from a testable idea about prices, not from a tool</a:t>
            </a:r>
          </a:p>
        </p:txBody>
      </p:sp>
      <p:sp>
        <p:nvSpPr>
          <p:cNvPr id="15" name="Rectangle 14"/>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2832811"/>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Data and testing</a:t>
            </a:r>
          </a:p>
          <a:p>
            <a:pPr algn="l">
              <a:spcAft>
                <a:spcPts val="300"/>
              </a:spcAft>
            </a:pPr>
            <a:r>
              <a:rPr sz="1050" b="0">
                <a:solidFill>
                  <a:srgbClr val="5B6372"/>
                </a:solidFill>
                <a:latin typeface="Arial"/>
              </a:rPr>
              <a:t>Clean data and out-of-sample tests before capital</a:t>
            </a:r>
          </a:p>
        </p:txBody>
      </p:sp>
      <p:sp>
        <p:nvSpPr>
          <p:cNvPr id="20" name="Rectangle 19"/>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754526"/>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Many small edges</a:t>
            </a:r>
          </a:p>
          <a:p>
            <a:pPr algn="l">
              <a:spcAft>
                <a:spcPts val="300"/>
              </a:spcAft>
            </a:pPr>
            <a:r>
              <a:rPr sz="1050" b="0">
                <a:solidFill>
                  <a:srgbClr val="5B6372"/>
                </a:solidFill>
                <a:latin typeface="Arial"/>
              </a:rPr>
              <a:t>Diversified, market-neutral bets rather than one big call</a:t>
            </a:r>
          </a:p>
        </p:txBody>
      </p:sp>
      <p:sp>
        <p:nvSpPr>
          <p:cNvPr id="25" name="Rectangle 24"/>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4676241"/>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Costs and risk</a:t>
            </a:r>
          </a:p>
          <a:p>
            <a:pPr algn="l">
              <a:spcAft>
                <a:spcPts val="300"/>
              </a:spcAft>
            </a:pPr>
            <a:r>
              <a:rPr sz="1050" b="0">
                <a:solidFill>
                  <a:srgbClr val="5B6372"/>
                </a:solidFill>
                <a:latin typeface="Arial"/>
              </a:rPr>
              <a:t>Execution cost, leverage and risk limits decide survival - see LTCM 1998</a:t>
            </a:r>
          </a:p>
        </p:txBody>
      </p:sp>
      <p:sp>
        <p:nvSpPr>
          <p:cNvPr id="30" name="Rectangle 29"/>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5597956"/>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Citadel Securities</a:t>
            </a:r>
          </a:p>
          <a:p>
            <a:pPr algn="l">
              <a:spcAft>
                <a:spcPts val="300"/>
              </a:spcAft>
            </a:pPr>
            <a:r>
              <a:rPr sz="1050" b="0">
                <a:solidFill>
                  <a:srgbClr val="5B6372"/>
                </a:solidFill>
                <a:latin typeface="Arial"/>
              </a:rPr>
              <a:t>Quant market maker estimated to handle about a quarter of all US equities trading</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920240"/>
            <a:ext cx="9692640" cy="365760"/>
          </a:xfrm>
          <a:prstGeom prst="rect">
            <a:avLst/>
          </a:prstGeom>
          <a:noFill/>
        </p:spPr>
        <p:txBody>
          <a:bodyPr wrap="square" anchor="t">
            <a:spAutoFit/>
          </a:bodyPr>
          <a:lstStyle/>
          <a:p>
            <a:pPr algn="l">
              <a:spcAft>
                <a:spcPts val="400"/>
              </a:spcAft>
            </a:pPr>
            <a:r>
              <a:rPr sz="1400" b="1">
                <a:solidFill>
                  <a:srgbClr val="1F6FEB"/>
                </a:solidFill>
                <a:latin typeface="Arial"/>
              </a:rPr>
              <a:t>TOPIC 1 · DEFINITION</a:t>
            </a:r>
          </a:p>
        </p:txBody>
      </p:sp>
      <p:sp>
        <p:nvSpPr>
          <p:cNvPr id="5" name="TextBox 4"/>
          <p:cNvSpPr txBox="1"/>
          <p:nvPr/>
        </p:nvSpPr>
        <p:spPr>
          <a:xfrm>
            <a:off x="1188720" y="2377440"/>
            <a:ext cx="9692640" cy="1645920"/>
          </a:xfrm>
          <a:prstGeom prst="rect">
            <a:avLst/>
          </a:prstGeom>
          <a:noFill/>
        </p:spPr>
        <p:txBody>
          <a:bodyPr wrap="square" anchor="t">
            <a:spAutoFit/>
          </a:bodyPr>
          <a:lstStyle/>
          <a:p>
            <a:pPr algn="l">
              <a:spcAft>
                <a:spcPts val="400"/>
              </a:spcAft>
            </a:pPr>
            <a:r>
              <a:rPr sz="3400" b="1">
                <a:solidFill>
                  <a:srgbClr val="161B26"/>
                </a:solidFill>
                <a:latin typeface="Arial"/>
              </a:rPr>
              <a:t>Algorithmic trading</a:t>
            </a:r>
          </a:p>
        </p:txBody>
      </p:sp>
      <p:sp>
        <p:nvSpPr>
          <p:cNvPr id="6" name="TextBox 5"/>
          <p:cNvSpPr txBox="1"/>
          <p:nvPr/>
        </p:nvSpPr>
        <p:spPr>
          <a:xfrm>
            <a:off x="1188720" y="4206240"/>
            <a:ext cx="9692640" cy="1097280"/>
          </a:xfrm>
          <a:prstGeom prst="rect">
            <a:avLst/>
          </a:prstGeom>
          <a:noFill/>
        </p:spPr>
        <p:txBody>
          <a:bodyPr wrap="square" anchor="t">
            <a:spAutoFit/>
          </a:bodyPr>
          <a:lstStyle/>
          <a:p>
            <a:pPr algn="l">
              <a:spcAft>
                <a:spcPts val="400"/>
              </a:spcAft>
            </a:pPr>
            <a:r>
              <a:rPr sz="1600" b="0">
                <a:solidFill>
                  <a:srgbClr val="5B6372"/>
                </a:solidFill>
                <a:latin typeface="Arial"/>
              </a:rPr>
              <a:t>Using computer programs that follow predefined rules on price, timing, volume or models to generate and execute orders automatically, with limited or no human intervention.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EVOLUTION OF QUANT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Evolution of Quant: From Thorp to HFT to 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12840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2663"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266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1950s-70s: portfolio theory, arbitrage and option pricing</a:t>
            </a:r>
          </a:p>
        </p:txBody>
      </p:sp>
      <p:sp>
        <p:nvSpPr>
          <p:cNvPr id="15" name="TextBox 14"/>
          <p:cNvSpPr txBox="1"/>
          <p:nvPr/>
        </p:nvSpPr>
        <p:spPr>
          <a:xfrm>
            <a:off x="2043030"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16" name="Rectangle 15"/>
          <p:cNvSpPr/>
          <p:nvPr/>
        </p:nvSpPr>
        <p:spPr>
          <a:xfrm>
            <a:off x="2335638"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335638" y="2240280"/>
            <a:ext cx="12840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621061"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62106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2463654"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1970s-80s: factor risk models and program trading</a:t>
            </a:r>
          </a:p>
        </p:txBody>
      </p:sp>
      <p:sp>
        <p:nvSpPr>
          <p:cNvPr id="21" name="TextBox 20"/>
          <p:cNvSpPr txBox="1"/>
          <p:nvPr/>
        </p:nvSpPr>
        <p:spPr>
          <a:xfrm>
            <a:off x="3601428"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22" name="Rectangle 21"/>
          <p:cNvSpPr/>
          <p:nvPr/>
        </p:nvSpPr>
        <p:spPr>
          <a:xfrm>
            <a:off x="3894036"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894036" y="2240280"/>
            <a:ext cx="12840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179459"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794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4022052"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1980s-90s: statistical arbitrage and pairs trading</a:t>
            </a:r>
          </a:p>
        </p:txBody>
      </p:sp>
      <p:sp>
        <p:nvSpPr>
          <p:cNvPr id="27" name="TextBox 26"/>
          <p:cNvSpPr txBox="1"/>
          <p:nvPr/>
        </p:nvSpPr>
        <p:spPr>
          <a:xfrm>
            <a:off x="5159826"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28" name="Rectangle 27"/>
          <p:cNvSpPr/>
          <p:nvPr/>
        </p:nvSpPr>
        <p:spPr>
          <a:xfrm>
            <a:off x="5452434"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52434" y="2240280"/>
            <a:ext cx="12840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737857"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73785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5580450"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1988 on: fully systematic signal mining (Renaissance, D.E. Shaw)</a:t>
            </a:r>
          </a:p>
        </p:txBody>
      </p:sp>
      <p:sp>
        <p:nvSpPr>
          <p:cNvPr id="33" name="TextBox 32"/>
          <p:cNvSpPr txBox="1"/>
          <p:nvPr/>
        </p:nvSpPr>
        <p:spPr>
          <a:xfrm>
            <a:off x="6718224"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34" name="Rectangle 33"/>
          <p:cNvSpPr/>
          <p:nvPr/>
        </p:nvSpPr>
        <p:spPr>
          <a:xfrm>
            <a:off x="7010832"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010832" y="2240280"/>
            <a:ext cx="12840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296255"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29625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8" name="TextBox 37"/>
          <p:cNvSpPr txBox="1"/>
          <p:nvPr/>
        </p:nvSpPr>
        <p:spPr>
          <a:xfrm>
            <a:off x="7138848"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2000s: electronic market making and HFT</a:t>
            </a:r>
          </a:p>
        </p:txBody>
      </p:sp>
      <p:sp>
        <p:nvSpPr>
          <p:cNvPr id="39" name="TextBox 38"/>
          <p:cNvSpPr txBox="1"/>
          <p:nvPr/>
        </p:nvSpPr>
        <p:spPr>
          <a:xfrm>
            <a:off x="8276622"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40" name="Rectangle 39"/>
          <p:cNvSpPr/>
          <p:nvPr/>
        </p:nvSpPr>
        <p:spPr>
          <a:xfrm>
            <a:off x="8569230"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569230" y="2240280"/>
            <a:ext cx="12840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8854653"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85465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4" name="TextBox 43"/>
          <p:cNvSpPr txBox="1"/>
          <p:nvPr/>
        </p:nvSpPr>
        <p:spPr>
          <a:xfrm>
            <a:off x="8697246"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2010s: speed race - co-location, microwave, microseconds</a:t>
            </a:r>
          </a:p>
        </p:txBody>
      </p:sp>
      <p:sp>
        <p:nvSpPr>
          <p:cNvPr id="45" name="TextBox 44"/>
          <p:cNvSpPr txBox="1"/>
          <p:nvPr/>
        </p:nvSpPr>
        <p:spPr>
          <a:xfrm>
            <a:off x="9835020"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46" name="Rectangle 45"/>
          <p:cNvSpPr/>
          <p:nvPr/>
        </p:nvSpPr>
        <p:spPr>
          <a:xfrm>
            <a:off x="10127628"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0127628" y="2240280"/>
            <a:ext cx="12840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0413051"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41305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7</a:t>
            </a:r>
          </a:p>
        </p:txBody>
      </p:sp>
      <p:sp>
        <p:nvSpPr>
          <p:cNvPr id="50" name="TextBox 49"/>
          <p:cNvSpPr txBox="1"/>
          <p:nvPr/>
        </p:nvSpPr>
        <p:spPr>
          <a:xfrm>
            <a:off x="10255644"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2020s: ML on alternative data, then LLM and agentic quant</a:t>
            </a:r>
          </a:p>
        </p:txBody>
      </p:sp>
      <p:sp>
        <p:nvSpPr>
          <p:cNvPr id="51" name="Rectangle 50"/>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77240" y="5257800"/>
            <a:ext cx="91440" cy="8229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Each era kept the last era's discipline - hypothesis, data, testing, costs, risk - and added speed or new data.</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HISTORY OF QUANT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The Evolution of Quant and Algorithmic Trading (1 of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868680" y="3954779"/>
            <a:ext cx="10451592" cy="457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9808"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1364"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1952</a:t>
            </a:r>
          </a:p>
          <a:p>
            <a:pPr algn="ctr">
              <a:spcAft>
                <a:spcPts val="100"/>
              </a:spcAft>
            </a:pPr>
            <a:r>
              <a:rPr sz="1150" b="1">
                <a:solidFill>
                  <a:srgbClr val="161B26"/>
                </a:solidFill>
                <a:latin typeface="Arial"/>
              </a:rPr>
              <a:t>Modern portfolio theory</a:t>
            </a:r>
          </a:p>
          <a:p>
            <a:pPr algn="ctr">
              <a:spcAft>
                <a:spcPts val="100"/>
              </a:spcAft>
            </a:pPr>
            <a:r>
              <a:rPr sz="950" b="0">
                <a:solidFill>
                  <a:srgbClr val="5B6372"/>
                </a:solidFill>
                <a:latin typeface="Arial"/>
              </a:rPr>
              <a:t>Markowitz's 'Portfolio Selection' measures risk as variance: diversification becomes maths</a:t>
            </a:r>
          </a:p>
        </p:txBody>
      </p:sp>
      <p:sp>
        <p:nvSpPr>
          <p:cNvPr id="14" name="Oval 13"/>
          <p:cNvSpPr/>
          <p:nvPr/>
        </p:nvSpPr>
        <p:spPr>
          <a:xfrm>
            <a:off x="2840126"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1683"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884578"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1967</a:t>
            </a:r>
          </a:p>
          <a:p>
            <a:pPr algn="ctr">
              <a:spcAft>
                <a:spcPts val="100"/>
              </a:spcAft>
            </a:pPr>
            <a:r>
              <a:rPr sz="1150" b="1">
                <a:solidFill>
                  <a:srgbClr val="161B26"/>
                </a:solidFill>
                <a:latin typeface="Arial"/>
              </a:rPr>
              <a:t>Thorp's 'Beat the Market'</a:t>
            </a:r>
          </a:p>
          <a:p>
            <a:pPr algn="ctr">
              <a:spcAft>
                <a:spcPts val="100"/>
              </a:spcAft>
            </a:pPr>
            <a:r>
              <a:rPr sz="950" b="0">
                <a:solidFill>
                  <a:srgbClr val="5B6372"/>
                </a:solidFill>
                <a:latin typeface="Arial"/>
              </a:rPr>
              <a:t>Ed Thorp applies probability to hedging warrants - an early quant trading playbook</a:t>
            </a:r>
          </a:p>
        </p:txBody>
      </p:sp>
      <p:sp>
        <p:nvSpPr>
          <p:cNvPr id="17" name="Oval 16"/>
          <p:cNvSpPr/>
          <p:nvPr/>
        </p:nvSpPr>
        <p:spPr>
          <a:xfrm>
            <a:off x="4930444"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42001"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74896"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1969</a:t>
            </a:r>
          </a:p>
          <a:p>
            <a:pPr algn="ctr">
              <a:spcAft>
                <a:spcPts val="100"/>
              </a:spcAft>
            </a:pPr>
            <a:r>
              <a:rPr sz="1150" b="1">
                <a:solidFill>
                  <a:srgbClr val="161B26"/>
                </a:solidFill>
                <a:latin typeface="Arial"/>
              </a:rPr>
              <a:t>First market-neutral quant fund</a:t>
            </a:r>
          </a:p>
          <a:p>
            <a:pPr algn="ctr">
              <a:spcAft>
                <a:spcPts val="100"/>
              </a:spcAft>
            </a:pPr>
            <a:r>
              <a:rPr sz="950" b="0">
                <a:solidFill>
                  <a:srgbClr val="5B6372"/>
                </a:solidFill>
                <a:latin typeface="Arial"/>
              </a:rPr>
              <a:t>Thorp's fund (Princeton Newport from 1974) earns about 20% a year after fees for two decades</a:t>
            </a:r>
          </a:p>
        </p:txBody>
      </p:sp>
      <p:sp>
        <p:nvSpPr>
          <p:cNvPr id="20" name="Oval 19"/>
          <p:cNvSpPr/>
          <p:nvPr/>
        </p:nvSpPr>
        <p:spPr>
          <a:xfrm>
            <a:off x="7020763" y="3858768"/>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32320" y="4096512"/>
            <a:ext cx="14630" cy="6126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65215" y="4754880"/>
            <a:ext cx="2148840" cy="1371600"/>
          </a:xfrm>
          <a:prstGeom prst="rect">
            <a:avLst/>
          </a:prstGeom>
          <a:noFill/>
        </p:spPr>
        <p:txBody>
          <a:bodyPr wrap="square" anchor="t">
            <a:spAutoFit/>
          </a:bodyPr>
          <a:lstStyle/>
          <a:p>
            <a:pPr algn="ctr">
              <a:spcAft>
                <a:spcPts val="100"/>
              </a:spcAft>
            </a:pPr>
            <a:r>
              <a:rPr sz="1500" b="1">
                <a:solidFill>
                  <a:srgbClr val="F59E0B"/>
                </a:solidFill>
                <a:latin typeface="Arial"/>
              </a:rPr>
              <a:t>1973</a:t>
            </a:r>
          </a:p>
          <a:p>
            <a:pPr algn="ctr">
              <a:spcAft>
                <a:spcPts val="100"/>
              </a:spcAft>
            </a:pPr>
            <a:r>
              <a:rPr sz="1150" b="1">
                <a:solidFill>
                  <a:srgbClr val="161B26"/>
                </a:solidFill>
                <a:latin typeface="Arial"/>
              </a:rPr>
              <a:t>Black-Scholes and the CBOE</a:t>
            </a:r>
          </a:p>
          <a:p>
            <a:pPr algn="ctr">
              <a:spcAft>
                <a:spcPts val="100"/>
              </a:spcAft>
            </a:pPr>
            <a:r>
              <a:rPr sz="950" b="0">
                <a:solidFill>
                  <a:srgbClr val="5B6372"/>
                </a:solidFill>
                <a:latin typeface="Arial"/>
              </a:rPr>
              <a:t>Option-pricing formula published as the CBOE opens (Apr 1973); CBOE adopts it by 1975</a:t>
            </a:r>
          </a:p>
        </p:txBody>
      </p:sp>
      <p:sp>
        <p:nvSpPr>
          <p:cNvPr id="23" name="Oval 22"/>
          <p:cNvSpPr/>
          <p:nvPr/>
        </p:nvSpPr>
        <p:spPr>
          <a:xfrm>
            <a:off x="9111081"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222638"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55533"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Mid-1970s</a:t>
            </a:r>
          </a:p>
          <a:p>
            <a:pPr algn="ctr">
              <a:spcAft>
                <a:spcPts val="100"/>
              </a:spcAft>
            </a:pPr>
            <a:r>
              <a:rPr sz="1150" b="1">
                <a:solidFill>
                  <a:srgbClr val="161B26"/>
                </a:solidFill>
                <a:latin typeface="Arial"/>
              </a:rPr>
              <a:t>Factor risk models</a:t>
            </a:r>
          </a:p>
          <a:p>
            <a:pPr algn="ctr">
              <a:spcAft>
                <a:spcPts val="100"/>
              </a:spcAft>
            </a:pPr>
            <a:r>
              <a:rPr sz="950" b="0">
                <a:solidFill>
                  <a:srgbClr val="5B6372"/>
                </a:solidFill>
                <a:latin typeface="Arial"/>
              </a:rPr>
              <a:t>Barr Rosenberg's Barra models portfolio risk from style, industry and size factors</a:t>
            </a:r>
          </a:p>
        </p:txBody>
      </p:sp>
      <p:sp>
        <p:nvSpPr>
          <p:cNvPr id="26" name="Oval 25"/>
          <p:cNvSpPr/>
          <p:nvPr/>
        </p:nvSpPr>
        <p:spPr>
          <a:xfrm>
            <a:off x="11201400"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312956"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91472"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1978</a:t>
            </a:r>
          </a:p>
          <a:p>
            <a:pPr algn="ctr">
              <a:spcAft>
                <a:spcPts val="100"/>
              </a:spcAft>
            </a:pPr>
            <a:r>
              <a:rPr sz="1150" b="1">
                <a:solidFill>
                  <a:srgbClr val="161B26"/>
                </a:solidFill>
                <a:latin typeface="Arial"/>
              </a:rPr>
              <a:t>Renaissance is founded</a:t>
            </a:r>
          </a:p>
          <a:p>
            <a:pPr algn="ctr">
              <a:spcAft>
                <a:spcPts val="100"/>
              </a:spcAft>
            </a:pPr>
            <a:r>
              <a:rPr sz="950" b="0">
                <a:solidFill>
                  <a:srgbClr val="5B6372"/>
                </a:solidFill>
                <a:latin typeface="Arial"/>
              </a:rPr>
              <a:t>Mathematician Jim Simons founds Monemetrics; renamed Renaissance Technologies in 1982</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HISTORY OF QUANT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The Evolution of Quant and Algorithmic Trading (2 of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868680" y="3954779"/>
            <a:ext cx="10451592" cy="457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9808"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1364"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1980s</a:t>
            </a:r>
          </a:p>
          <a:p>
            <a:pPr algn="ctr">
              <a:spcAft>
                <a:spcPts val="100"/>
              </a:spcAft>
            </a:pPr>
            <a:r>
              <a:rPr sz="1150" b="1">
                <a:solidFill>
                  <a:srgbClr val="161B26"/>
                </a:solidFill>
                <a:latin typeface="Arial"/>
              </a:rPr>
              <a:t>Statistical arbitrage</a:t>
            </a:r>
          </a:p>
          <a:p>
            <a:pPr algn="ctr">
              <a:spcAft>
                <a:spcPts val="100"/>
              </a:spcAft>
            </a:pPr>
            <a:r>
              <a:rPr sz="950" b="0">
                <a:solidFill>
                  <a:srgbClr val="5B6372"/>
                </a:solidFill>
                <a:latin typeface="Arial"/>
              </a:rPr>
              <a:t>Bamberger and Tartaglia's Morgan Stanley group trades pairs of co-moving stocks by rule</a:t>
            </a:r>
          </a:p>
        </p:txBody>
      </p:sp>
      <p:sp>
        <p:nvSpPr>
          <p:cNvPr id="14" name="Oval 13"/>
          <p:cNvSpPr/>
          <p:nvPr/>
        </p:nvSpPr>
        <p:spPr>
          <a:xfrm>
            <a:off x="2840126"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1683"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884578"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1987</a:t>
            </a:r>
          </a:p>
          <a:p>
            <a:pPr algn="ctr">
              <a:spcAft>
                <a:spcPts val="100"/>
              </a:spcAft>
            </a:pPr>
            <a:r>
              <a:rPr sz="1150" b="1">
                <a:solidFill>
                  <a:srgbClr val="161B26"/>
                </a:solidFill>
                <a:latin typeface="Arial"/>
              </a:rPr>
              <a:t>Black Monday</a:t>
            </a:r>
          </a:p>
          <a:p>
            <a:pPr algn="ctr">
              <a:spcAft>
                <a:spcPts val="100"/>
              </a:spcAft>
            </a:pPr>
            <a:r>
              <a:rPr sz="950" b="0">
                <a:solidFill>
                  <a:srgbClr val="5B6372"/>
                </a:solidFill>
                <a:latin typeface="Arial"/>
              </a:rPr>
              <a:t>Dow falls 22.6% on 19 Oct; portfolio-insurance program selling deepens the crash</a:t>
            </a:r>
          </a:p>
        </p:txBody>
      </p:sp>
      <p:sp>
        <p:nvSpPr>
          <p:cNvPr id="17" name="Oval 16"/>
          <p:cNvSpPr/>
          <p:nvPr/>
        </p:nvSpPr>
        <p:spPr>
          <a:xfrm>
            <a:off x="4930444"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42001"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74896"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1988</a:t>
            </a:r>
          </a:p>
          <a:p>
            <a:pPr algn="ctr">
              <a:spcAft>
                <a:spcPts val="100"/>
              </a:spcAft>
            </a:pPr>
            <a:r>
              <a:rPr sz="1150" b="1">
                <a:solidFill>
                  <a:srgbClr val="161B26"/>
                </a:solidFill>
                <a:latin typeface="Arial"/>
              </a:rPr>
              <a:t>Medallion and D.E. Shaw</a:t>
            </a:r>
          </a:p>
          <a:p>
            <a:pPr algn="ctr">
              <a:spcAft>
                <a:spcPts val="100"/>
              </a:spcAft>
            </a:pPr>
            <a:r>
              <a:rPr sz="950" b="0">
                <a:solidFill>
                  <a:srgbClr val="5B6372"/>
                </a:solidFill>
                <a:latin typeface="Arial"/>
              </a:rPr>
              <a:t>Renaissance launches Medallion; ex-Morgan Stanley quant David Shaw founds D.E. Shaw</a:t>
            </a:r>
          </a:p>
        </p:txBody>
      </p:sp>
      <p:sp>
        <p:nvSpPr>
          <p:cNvPr id="20" name="Oval 19"/>
          <p:cNvSpPr/>
          <p:nvPr/>
        </p:nvSpPr>
        <p:spPr>
          <a:xfrm>
            <a:off x="7020763" y="3858768"/>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32320" y="4096512"/>
            <a:ext cx="14630" cy="6126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65215" y="4754880"/>
            <a:ext cx="2148840" cy="1371600"/>
          </a:xfrm>
          <a:prstGeom prst="rect">
            <a:avLst/>
          </a:prstGeom>
          <a:noFill/>
        </p:spPr>
        <p:txBody>
          <a:bodyPr wrap="square" anchor="t">
            <a:spAutoFit/>
          </a:bodyPr>
          <a:lstStyle/>
          <a:p>
            <a:pPr algn="ctr">
              <a:spcAft>
                <a:spcPts val="100"/>
              </a:spcAft>
            </a:pPr>
            <a:r>
              <a:rPr sz="1500" b="1">
                <a:solidFill>
                  <a:srgbClr val="F59E0B"/>
                </a:solidFill>
                <a:latin typeface="Arial"/>
              </a:rPr>
              <a:t>1996</a:t>
            </a:r>
          </a:p>
          <a:p>
            <a:pPr algn="ctr">
              <a:spcAft>
                <a:spcPts val="100"/>
              </a:spcAft>
            </a:pPr>
            <a:r>
              <a:rPr sz="1150" b="1">
                <a:solidFill>
                  <a:srgbClr val="161B26"/>
                </a:solidFill>
                <a:latin typeface="Arial"/>
              </a:rPr>
              <a:t>Island ECN</a:t>
            </a:r>
          </a:p>
          <a:p>
            <a:pPr algn="ctr">
              <a:spcAft>
                <a:spcPts val="100"/>
              </a:spcAft>
            </a:pPr>
            <a:r>
              <a:rPr sz="950" b="0">
                <a:solidFill>
                  <a:srgbClr val="5B6372"/>
                </a:solidFill>
                <a:latin typeface="Arial"/>
              </a:rPr>
              <a:t>Fast electronic order book (trading from 1997) becomes a hub for early HFT firms</a:t>
            </a:r>
          </a:p>
        </p:txBody>
      </p:sp>
      <p:sp>
        <p:nvSpPr>
          <p:cNvPr id="23" name="Oval 22"/>
          <p:cNvSpPr/>
          <p:nvPr/>
        </p:nvSpPr>
        <p:spPr>
          <a:xfrm>
            <a:off x="9111081"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222638"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55533"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1998</a:t>
            </a:r>
          </a:p>
          <a:p>
            <a:pPr algn="ctr">
              <a:spcAft>
                <a:spcPts val="100"/>
              </a:spcAft>
            </a:pPr>
            <a:r>
              <a:rPr sz="1150" b="1">
                <a:solidFill>
                  <a:srgbClr val="161B26"/>
                </a:solidFill>
                <a:latin typeface="Arial"/>
              </a:rPr>
              <a:t>LTCM collapses</a:t>
            </a:r>
          </a:p>
          <a:p>
            <a:pPr algn="ctr">
              <a:spcAft>
                <a:spcPts val="100"/>
              </a:spcAft>
            </a:pPr>
            <a:r>
              <a:rPr sz="950" b="0">
                <a:solidFill>
                  <a:srgbClr val="5B6372"/>
                </a:solidFill>
                <a:latin typeface="Arial"/>
              </a:rPr>
              <a:t>Leveraged relative-value fund loses US$4.6bn; Fed-supervised US$3.65bn recapitalisation</a:t>
            </a:r>
          </a:p>
        </p:txBody>
      </p:sp>
      <p:sp>
        <p:nvSpPr>
          <p:cNvPr id="26" name="Oval 25"/>
          <p:cNvSpPr/>
          <p:nvPr/>
        </p:nvSpPr>
        <p:spPr>
          <a:xfrm>
            <a:off x="11201400"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312956"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91472"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2001</a:t>
            </a:r>
          </a:p>
          <a:p>
            <a:pPr algn="ctr">
              <a:spcAft>
                <a:spcPts val="100"/>
              </a:spcAft>
            </a:pPr>
            <a:r>
              <a:rPr sz="1150" b="1">
                <a:solidFill>
                  <a:srgbClr val="161B26"/>
                </a:solidFill>
                <a:latin typeface="Arial"/>
              </a:rPr>
              <a:t>Decimalisation</a:t>
            </a:r>
          </a:p>
          <a:p>
            <a:pPr algn="ctr">
              <a:spcAft>
                <a:spcPts val="100"/>
              </a:spcAft>
            </a:pPr>
            <a:r>
              <a:rPr sz="950" b="0">
                <a:solidFill>
                  <a:srgbClr val="5B6372"/>
                </a:solidFill>
                <a:latin typeface="Arial"/>
              </a:rPr>
              <a:t>US stocks quote in cents, not 1/16ths; spreads narrow and electronic market making grows</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HISTORY OF QUANT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The Evolution of Quant and Algorithmic Trading (3 of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868680" y="3954779"/>
            <a:ext cx="10451592" cy="457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9808"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1364"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2005</a:t>
            </a:r>
          </a:p>
          <a:p>
            <a:pPr algn="ctr">
              <a:spcAft>
                <a:spcPts val="100"/>
              </a:spcAft>
            </a:pPr>
            <a:r>
              <a:rPr sz="1150" b="1">
                <a:solidFill>
                  <a:srgbClr val="161B26"/>
                </a:solidFill>
                <a:latin typeface="Arial"/>
              </a:rPr>
              <a:t>Regulation NMS</a:t>
            </a:r>
          </a:p>
          <a:p>
            <a:pPr algn="ctr">
              <a:spcAft>
                <a:spcPts val="100"/>
              </a:spcAft>
            </a:pPr>
            <a:r>
              <a:rPr sz="950" b="0">
                <a:solidFill>
                  <a:srgbClr val="5B6372"/>
                </a:solidFill>
                <a:latin typeface="Arial"/>
              </a:rPr>
              <a:t>SEC rule (in force 2007) links venues; fragmentation rewards speed and smart order routing</a:t>
            </a:r>
          </a:p>
        </p:txBody>
      </p:sp>
      <p:sp>
        <p:nvSpPr>
          <p:cNvPr id="14" name="Oval 13"/>
          <p:cNvSpPr/>
          <p:nvPr/>
        </p:nvSpPr>
        <p:spPr>
          <a:xfrm>
            <a:off x="2840126"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1683"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884578"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2007</a:t>
            </a:r>
          </a:p>
          <a:p>
            <a:pPr algn="ctr">
              <a:spcAft>
                <a:spcPts val="100"/>
              </a:spcAft>
            </a:pPr>
            <a:r>
              <a:rPr sz="1150" b="1">
                <a:solidFill>
                  <a:srgbClr val="161B26"/>
                </a:solidFill>
                <a:latin typeface="Arial"/>
              </a:rPr>
              <a:t>The quant quake</a:t>
            </a:r>
          </a:p>
          <a:p>
            <a:pPr algn="ctr">
              <a:spcAft>
                <a:spcPts val="100"/>
              </a:spcAft>
            </a:pPr>
            <a:r>
              <a:rPr sz="950" b="0">
                <a:solidFill>
                  <a:srgbClr val="5B6372"/>
                </a:solidFill>
                <a:latin typeface="Arial"/>
              </a:rPr>
              <a:t>Week of 6 Aug: crowded quant market-neutral funds suffer sudden losses as positions unwind</a:t>
            </a:r>
          </a:p>
        </p:txBody>
      </p:sp>
      <p:sp>
        <p:nvSpPr>
          <p:cNvPr id="17" name="Oval 16"/>
          <p:cNvSpPr/>
          <p:nvPr/>
        </p:nvSpPr>
        <p:spPr>
          <a:xfrm>
            <a:off x="4930444"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42001"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74896"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2010</a:t>
            </a:r>
          </a:p>
          <a:p>
            <a:pPr algn="ctr">
              <a:spcAft>
                <a:spcPts val="100"/>
              </a:spcAft>
            </a:pPr>
            <a:r>
              <a:rPr sz="1150" b="1">
                <a:solidFill>
                  <a:srgbClr val="161B26"/>
                </a:solidFill>
                <a:latin typeface="Arial"/>
              </a:rPr>
              <a:t>Flash Crash</a:t>
            </a:r>
          </a:p>
          <a:p>
            <a:pPr algn="ctr">
              <a:spcAft>
                <a:spcPts val="100"/>
              </a:spcAft>
            </a:pPr>
            <a:r>
              <a:rPr sz="950" b="0">
                <a:solidFill>
                  <a:srgbClr val="5B6372"/>
                </a:solidFill>
                <a:latin typeface="Arial"/>
              </a:rPr>
              <a:t>6 May: the Dow drops nearly 1,000 points in minutes after a large algorithmic sell order</a:t>
            </a:r>
          </a:p>
        </p:txBody>
      </p:sp>
      <p:sp>
        <p:nvSpPr>
          <p:cNvPr id="20" name="Oval 19"/>
          <p:cNvSpPr/>
          <p:nvPr/>
        </p:nvSpPr>
        <p:spPr>
          <a:xfrm>
            <a:off x="7020763" y="3858768"/>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32320" y="4096512"/>
            <a:ext cx="14630" cy="6126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65215" y="4754880"/>
            <a:ext cx="2148840" cy="1371600"/>
          </a:xfrm>
          <a:prstGeom prst="rect">
            <a:avLst/>
          </a:prstGeom>
          <a:noFill/>
        </p:spPr>
        <p:txBody>
          <a:bodyPr wrap="square" anchor="t">
            <a:spAutoFit/>
          </a:bodyPr>
          <a:lstStyle/>
          <a:p>
            <a:pPr algn="ctr">
              <a:spcAft>
                <a:spcPts val="100"/>
              </a:spcAft>
            </a:pPr>
            <a:r>
              <a:rPr sz="1500" b="1">
                <a:solidFill>
                  <a:srgbClr val="F59E0B"/>
                </a:solidFill>
                <a:latin typeface="Arial"/>
              </a:rPr>
              <a:t>2010</a:t>
            </a:r>
          </a:p>
          <a:p>
            <a:pPr algn="ctr">
              <a:spcAft>
                <a:spcPts val="100"/>
              </a:spcAft>
            </a:pPr>
            <a:r>
              <a:rPr sz="1150" b="1">
                <a:solidFill>
                  <a:srgbClr val="161B26"/>
                </a:solidFill>
                <a:latin typeface="Arial"/>
              </a:rPr>
              <a:t>The speed race</a:t>
            </a:r>
          </a:p>
          <a:p>
            <a:pPr algn="ctr">
              <a:spcAft>
                <a:spcPts val="100"/>
              </a:spcAft>
            </a:pPr>
            <a:r>
              <a:rPr sz="950" b="0">
                <a:solidFill>
                  <a:srgbClr val="5B6372"/>
                </a:solidFill>
                <a:latin typeface="Arial"/>
              </a:rPr>
              <a:t>US$300m straight fibre New York-Chicago cuts about 3 ms; microwave links soon beat it</a:t>
            </a:r>
          </a:p>
        </p:txBody>
      </p:sp>
      <p:sp>
        <p:nvSpPr>
          <p:cNvPr id="23" name="Oval 22"/>
          <p:cNvSpPr/>
          <p:nvPr/>
        </p:nvSpPr>
        <p:spPr>
          <a:xfrm>
            <a:off x="9111081"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222638"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55533"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2012</a:t>
            </a:r>
          </a:p>
          <a:p>
            <a:pPr algn="ctr">
              <a:spcAft>
                <a:spcPts val="100"/>
              </a:spcAft>
            </a:pPr>
            <a:r>
              <a:rPr sz="1150" b="1">
                <a:solidFill>
                  <a:srgbClr val="161B26"/>
                </a:solidFill>
                <a:latin typeface="Arial"/>
              </a:rPr>
              <a:t>Knight Capital</a:t>
            </a:r>
          </a:p>
          <a:p>
            <a:pPr algn="ctr">
              <a:spcAft>
                <a:spcPts val="100"/>
              </a:spcAft>
            </a:pPr>
            <a:r>
              <a:rPr sz="950" b="0">
                <a:solidFill>
                  <a:srgbClr val="5B6372"/>
                </a:solidFill>
                <a:latin typeface="Arial"/>
              </a:rPr>
              <a:t>A faulty deployment sends millions of orders in 45 minutes; Knight loses over US$460m</a:t>
            </a:r>
          </a:p>
        </p:txBody>
      </p:sp>
      <p:sp>
        <p:nvSpPr>
          <p:cNvPr id="26" name="Oval 25"/>
          <p:cNvSpPr/>
          <p:nvPr/>
        </p:nvSpPr>
        <p:spPr>
          <a:xfrm>
            <a:off x="11201400"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312956"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91472"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2016</a:t>
            </a:r>
          </a:p>
          <a:p>
            <a:pPr algn="ctr">
              <a:spcAft>
                <a:spcPts val="100"/>
              </a:spcAft>
            </a:pPr>
            <a:r>
              <a:rPr sz="1150" b="1">
                <a:solidFill>
                  <a:srgbClr val="161B26"/>
                </a:solidFill>
                <a:latin typeface="Arial"/>
              </a:rPr>
              <a:t>IEX speed bump</a:t>
            </a:r>
          </a:p>
          <a:p>
            <a:pPr algn="ctr">
              <a:spcAft>
                <a:spcPts val="100"/>
              </a:spcAft>
            </a:pPr>
            <a:r>
              <a:rPr sz="950" b="0">
                <a:solidFill>
                  <a:srgbClr val="5B6372"/>
                </a:solidFill>
                <a:latin typeface="Arial"/>
              </a:rPr>
              <a:t>SEC approves IEX as an exchange with a 350-microsecond delay against latency arbitrage</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HISTORY OF QUANT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The Evolution of Quant and Algorithmic Trading (4 of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868680" y="3954779"/>
            <a:ext cx="10451592" cy="457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9808"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1364"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2018</a:t>
            </a:r>
          </a:p>
          <a:p>
            <a:pPr algn="ctr">
              <a:spcAft>
                <a:spcPts val="100"/>
              </a:spcAft>
            </a:pPr>
            <a:r>
              <a:rPr sz="1150" b="1">
                <a:solidFill>
                  <a:srgbClr val="161B26"/>
                </a:solidFill>
                <a:latin typeface="Arial"/>
              </a:rPr>
              <a:t>MiFID II</a:t>
            </a:r>
          </a:p>
          <a:p>
            <a:pPr algn="ctr">
              <a:spcAft>
                <a:spcPts val="100"/>
              </a:spcAft>
            </a:pPr>
            <a:r>
              <a:rPr sz="950" b="0">
                <a:solidFill>
                  <a:srgbClr val="5B6372"/>
                </a:solidFill>
                <a:latin typeface="Arial"/>
              </a:rPr>
              <a:t>EU requires algorithm testing, kill switches and records; HFT formally defined</a:t>
            </a:r>
          </a:p>
        </p:txBody>
      </p:sp>
      <p:sp>
        <p:nvSpPr>
          <p:cNvPr id="14" name="Oval 13"/>
          <p:cNvSpPr/>
          <p:nvPr/>
        </p:nvSpPr>
        <p:spPr>
          <a:xfrm>
            <a:off x="2840126"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1683"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884578"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2018</a:t>
            </a:r>
          </a:p>
          <a:p>
            <a:pPr algn="ctr">
              <a:spcAft>
                <a:spcPts val="100"/>
              </a:spcAft>
            </a:pPr>
            <a:r>
              <a:rPr sz="1150" b="1">
                <a:solidFill>
                  <a:srgbClr val="161B26"/>
                </a:solidFill>
                <a:latin typeface="Arial"/>
              </a:rPr>
              <a:t>API-first brokers</a:t>
            </a:r>
          </a:p>
          <a:p>
            <a:pPr algn="ctr">
              <a:spcAft>
                <a:spcPts val="100"/>
              </a:spcAft>
            </a:pPr>
            <a:r>
              <a:rPr sz="950" b="0">
                <a:solidFill>
                  <a:srgbClr val="5B6372"/>
                </a:solidFill>
                <a:latin typeface="Arial"/>
              </a:rPr>
              <a:t>Alpaca's commission-free trading API opens algorithmic stock trading to individuals</a:t>
            </a:r>
          </a:p>
        </p:txBody>
      </p:sp>
      <p:sp>
        <p:nvSpPr>
          <p:cNvPr id="17" name="Oval 16"/>
          <p:cNvSpPr/>
          <p:nvPr/>
        </p:nvSpPr>
        <p:spPr>
          <a:xfrm>
            <a:off x="4930444"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42001"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74896"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2020</a:t>
            </a:r>
          </a:p>
          <a:p>
            <a:pPr algn="ctr">
              <a:spcAft>
                <a:spcPts val="100"/>
              </a:spcAft>
            </a:pPr>
            <a:r>
              <a:rPr sz="1150" b="1">
                <a:solidFill>
                  <a:srgbClr val="161B26"/>
                </a:solidFill>
                <a:latin typeface="Arial"/>
              </a:rPr>
              <a:t>SGX RegCo algo guide</a:t>
            </a:r>
          </a:p>
          <a:p>
            <a:pPr algn="ctr">
              <a:spcAft>
                <a:spcPts val="100"/>
              </a:spcAft>
            </a:pPr>
            <a:r>
              <a:rPr sz="950" b="0">
                <a:solidFill>
                  <a:srgbClr val="5B6372"/>
                </a:solidFill>
                <a:latin typeface="Arial"/>
              </a:rPr>
              <a:t>Sets expectations for governance, risk controls and testing of algorithms by SGX members</a:t>
            </a:r>
          </a:p>
        </p:txBody>
      </p:sp>
      <p:sp>
        <p:nvSpPr>
          <p:cNvPr id="20" name="Oval 19"/>
          <p:cNvSpPr/>
          <p:nvPr/>
        </p:nvSpPr>
        <p:spPr>
          <a:xfrm>
            <a:off x="7020763" y="3858768"/>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32320" y="4096512"/>
            <a:ext cx="14630" cy="6126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65215" y="4754880"/>
            <a:ext cx="2148840" cy="1371600"/>
          </a:xfrm>
          <a:prstGeom prst="rect">
            <a:avLst/>
          </a:prstGeom>
          <a:noFill/>
        </p:spPr>
        <p:txBody>
          <a:bodyPr wrap="square" anchor="t">
            <a:spAutoFit/>
          </a:bodyPr>
          <a:lstStyle/>
          <a:p>
            <a:pPr algn="ctr">
              <a:spcAft>
                <a:spcPts val="100"/>
              </a:spcAft>
            </a:pPr>
            <a:r>
              <a:rPr sz="1500" b="1">
                <a:solidFill>
                  <a:srgbClr val="F59E0B"/>
                </a:solidFill>
                <a:latin typeface="Arial"/>
              </a:rPr>
              <a:t>2023</a:t>
            </a:r>
          </a:p>
          <a:p>
            <a:pPr algn="ctr">
              <a:spcAft>
                <a:spcPts val="100"/>
              </a:spcAft>
            </a:pPr>
            <a:r>
              <a:rPr sz="1150" b="1">
                <a:solidFill>
                  <a:srgbClr val="161B26"/>
                </a:solidFill>
                <a:latin typeface="Arial"/>
              </a:rPr>
              <a:t>LLM trading signals</a:t>
            </a:r>
          </a:p>
          <a:p>
            <a:pPr algn="ctr">
              <a:spcAft>
                <a:spcPts val="100"/>
              </a:spcAft>
            </a:pPr>
            <a:r>
              <a:rPr sz="950" b="0">
                <a:solidFill>
                  <a:srgbClr val="5B6372"/>
                </a:solidFill>
                <a:latin typeface="Arial"/>
              </a:rPr>
              <a:t>ChatGPT headline sentiment predicts next-day stock returns (Lopez-Lira and Tang)</a:t>
            </a:r>
          </a:p>
        </p:txBody>
      </p:sp>
      <p:sp>
        <p:nvSpPr>
          <p:cNvPr id="23" name="Oval 22"/>
          <p:cNvSpPr/>
          <p:nvPr/>
        </p:nvSpPr>
        <p:spPr>
          <a:xfrm>
            <a:off x="9111081"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222638"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55533"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2024</a:t>
            </a:r>
          </a:p>
          <a:p>
            <a:pPr algn="ctr">
              <a:spcAft>
                <a:spcPts val="100"/>
              </a:spcAft>
            </a:pPr>
            <a:r>
              <a:rPr sz="1150" b="1">
                <a:solidFill>
                  <a:srgbClr val="161B26"/>
                </a:solidFill>
                <a:latin typeface="Arial"/>
              </a:rPr>
              <a:t>Multi-agent LLM trading</a:t>
            </a:r>
          </a:p>
          <a:p>
            <a:pPr algn="ctr">
              <a:spcAft>
                <a:spcPts val="100"/>
              </a:spcAft>
            </a:pPr>
            <a:r>
              <a:rPr sz="950" b="0">
                <a:solidFill>
                  <a:srgbClr val="5B6372"/>
                </a:solidFill>
                <a:latin typeface="Arial"/>
              </a:rPr>
              <a:t>TradingAgents (Dec 2024): analyst, debate, trader and risk agents trade stocks</a:t>
            </a:r>
          </a:p>
        </p:txBody>
      </p:sp>
      <p:sp>
        <p:nvSpPr>
          <p:cNvPr id="26" name="Oval 25"/>
          <p:cNvSpPr/>
          <p:nvPr/>
        </p:nvSpPr>
        <p:spPr>
          <a:xfrm>
            <a:off x="11201400"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312956"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91472"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2026</a:t>
            </a:r>
          </a:p>
          <a:p>
            <a:pPr algn="ctr">
              <a:spcAft>
                <a:spcPts val="100"/>
              </a:spcAft>
            </a:pPr>
            <a:r>
              <a:rPr sz="1150" b="1">
                <a:solidFill>
                  <a:srgbClr val="161B26"/>
                </a:solidFill>
                <a:latin typeface="Arial"/>
              </a:rPr>
              <a:t>MAS AI Risk Management</a:t>
            </a:r>
          </a:p>
          <a:p>
            <a:pPr algn="ctr">
              <a:spcAft>
                <a:spcPts val="100"/>
              </a:spcAft>
            </a:pPr>
            <a:r>
              <a:rPr sz="950" b="0">
                <a:solidFill>
                  <a:srgbClr val="5B6372"/>
                </a:solidFill>
                <a:latin typeface="Arial"/>
              </a:rPr>
              <a:t>Guidelines issued 7 Oct 2026, effective 7 Oct 2027: AI inventories and lifecycle controls</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PARADIGM SHIFTS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Six Paradigm Shifts in Quant and Algorithmic Trading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From intuition to probability  ·  1950s-1970s</a:t>
            </a:r>
          </a:p>
          <a:p>
            <a:pPr algn="l">
              <a:spcAft>
                <a:spcPts val="300"/>
              </a:spcAft>
            </a:pPr>
            <a:r>
              <a:rPr sz="950" b="0">
                <a:solidFill>
                  <a:srgbClr val="5B6372"/>
                </a:solidFill>
                <a:latin typeface="Arial"/>
              </a:rPr>
              <a:t>Markowitz, Thorp and Black-Scholes make risk, hedging and option value mathematical</a:t>
            </a:r>
          </a:p>
        </p:txBody>
      </p:sp>
      <p:sp>
        <p:nvSpPr>
          <p:cNvPr id="15" name="Rectangle 14"/>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From stocks to factors  ·  1970s-1980s</a:t>
            </a:r>
          </a:p>
          <a:p>
            <a:pPr algn="l">
              <a:spcAft>
                <a:spcPts val="300"/>
              </a:spcAft>
            </a:pPr>
            <a:r>
              <a:rPr sz="950" b="0">
                <a:solidFill>
                  <a:srgbClr val="5B6372"/>
                </a:solidFill>
                <a:latin typeface="Arial"/>
              </a:rPr>
              <a:t>Barra factor models and program trading treat portfolios as baskets of risk exposures</a:t>
            </a:r>
          </a:p>
        </p:txBody>
      </p:sp>
      <p:sp>
        <p:nvSpPr>
          <p:cNvPr id="20" name="Rectangle 19"/>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447288"/>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From factors to statistical arbitrage  ·  1980s-2000s</a:t>
            </a:r>
          </a:p>
          <a:p>
            <a:pPr algn="l">
              <a:spcAft>
                <a:spcPts val="300"/>
              </a:spcAft>
            </a:pPr>
            <a:r>
              <a:rPr sz="950" b="0">
                <a:solidFill>
                  <a:srgbClr val="5B6372"/>
                </a:solidFill>
                <a:latin typeface="Arial"/>
              </a:rPr>
              <a:t>Morgan Stanley's pairs group, D.E. Shaw and Renaissance harvest many small market-neutral edges</a:t>
            </a:r>
          </a:p>
        </p:txBody>
      </p:sp>
      <p:sp>
        <p:nvSpPr>
          <p:cNvPr id="25" name="Rectangle 24"/>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3447288"/>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From floors to electronic speed  ·  1996-2010s</a:t>
            </a:r>
          </a:p>
          <a:p>
            <a:pPr algn="l">
              <a:spcAft>
                <a:spcPts val="300"/>
              </a:spcAft>
            </a:pPr>
            <a:r>
              <a:rPr sz="950" b="0">
                <a:solidFill>
                  <a:srgbClr val="5B6372"/>
                </a:solidFill>
                <a:latin typeface="Arial"/>
              </a:rPr>
              <a:t>ECNs, decimalisation and Reg NMS enable HFT: co-location, microwave links, microseconds</a:t>
            </a:r>
          </a:p>
        </p:txBody>
      </p:sp>
      <p:sp>
        <p:nvSpPr>
          <p:cNvPr id="30" name="Rectangle 29"/>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4983480"/>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From statistics to machine learning  ·  2000s-2010s</a:t>
            </a:r>
          </a:p>
          <a:p>
            <a:pPr algn="l">
              <a:spcAft>
                <a:spcPts val="300"/>
              </a:spcAft>
            </a:pPr>
            <a:r>
              <a:rPr sz="950" b="0">
                <a:solidFill>
                  <a:srgbClr val="5B6372"/>
                </a:solidFill>
                <a:latin typeface="Arial"/>
              </a:rPr>
              <a:t>Models learn non-linear patterns from prices, order books and alternative data</a:t>
            </a:r>
          </a:p>
        </p:txBody>
      </p:sp>
      <p:sp>
        <p:nvSpPr>
          <p:cNvPr id="35" name="Rectangle 34"/>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9" name="TextBox 38"/>
          <p:cNvSpPr txBox="1"/>
          <p:nvPr/>
        </p:nvSpPr>
        <p:spPr>
          <a:xfrm>
            <a:off x="7219188" y="4983480"/>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From writing code to directing AI  ·  2023-present</a:t>
            </a:r>
          </a:p>
          <a:p>
            <a:pPr algn="l">
              <a:spcAft>
                <a:spcPts val="300"/>
              </a:spcAft>
            </a:pPr>
            <a:r>
              <a:rPr sz="950" b="0">
                <a:solidFill>
                  <a:srgbClr val="5B6372"/>
                </a:solidFill>
                <a:latin typeface="Arial"/>
              </a:rPr>
              <a:t>AI writes and runs the code; quants own the big concepts - hypothesis, algorithm logic, testing, risk</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Why Algorithms - and What Can Go Wrong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102352" cy="4206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510235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4645152" cy="365760"/>
          </a:xfrm>
          <a:prstGeom prst="rect">
            <a:avLst/>
          </a:prstGeom>
          <a:noFill/>
        </p:spPr>
        <p:txBody>
          <a:bodyPr wrap="square" anchor="t">
            <a:spAutoFit/>
          </a:bodyPr>
          <a:lstStyle/>
          <a:p>
            <a:pPr algn="l">
              <a:spcAft>
                <a:spcPts val="400"/>
              </a:spcAft>
            </a:pPr>
            <a:r>
              <a:rPr sz="1500" b="1">
                <a:solidFill>
                  <a:srgbClr val="1F6FEB"/>
                </a:solidFill>
                <a:latin typeface="Arial"/>
              </a:rPr>
              <a:t>Benefits</a:t>
            </a:r>
          </a:p>
        </p:txBody>
      </p:sp>
      <p:sp>
        <p:nvSpPr>
          <p:cNvPr id="10" name="TextBox 9"/>
          <p:cNvSpPr txBox="1"/>
          <p:nvPr/>
        </p:nvSpPr>
        <p:spPr>
          <a:xfrm>
            <a:off x="1005840" y="2514600"/>
            <a:ext cx="4645152" cy="3291840"/>
          </a:xfrm>
          <a:prstGeom prst="rect">
            <a:avLst/>
          </a:prstGeom>
          <a:noFill/>
        </p:spPr>
        <p:txBody>
          <a:bodyPr wrap="square">
            <a:spAutoFit/>
          </a:bodyPr>
          <a:lstStyle/>
          <a:p>
            <a:pPr>
              <a:spcAft>
                <a:spcPts val="800"/>
              </a:spcAft>
            </a:pPr>
            <a:r>
              <a:rPr sz="1250">
                <a:solidFill>
                  <a:srgbClr val="161B26"/>
                </a:solidFill>
                <a:latin typeface="Arial"/>
              </a:rPr>
              <a:t>•  Speed: reacts and executes in milliseconds</a:t>
            </a:r>
          </a:p>
          <a:p>
            <a:pPr>
              <a:spcAft>
                <a:spcPts val="800"/>
              </a:spcAft>
            </a:pPr>
            <a:r>
              <a:rPr sz="1250">
                <a:solidFill>
                  <a:srgbClr val="161B26"/>
                </a:solidFill>
                <a:latin typeface="Arial"/>
              </a:rPr>
              <a:t>•  Discipline: rules remove fear, greed and fatigue</a:t>
            </a:r>
          </a:p>
          <a:p>
            <a:pPr>
              <a:spcAft>
                <a:spcPts val="800"/>
              </a:spcAft>
            </a:pPr>
            <a:r>
              <a:rPr sz="1250">
                <a:solidFill>
                  <a:srgbClr val="161B26"/>
                </a:solidFill>
                <a:latin typeface="Arial"/>
              </a:rPr>
              <a:t>•  Backtesting: test ideas on historical data first</a:t>
            </a:r>
          </a:p>
          <a:p>
            <a:pPr>
              <a:spcAft>
                <a:spcPts val="800"/>
              </a:spcAft>
            </a:pPr>
            <a:r>
              <a:rPr sz="1250">
                <a:solidFill>
                  <a:srgbClr val="161B26"/>
                </a:solidFill>
                <a:latin typeface="Arial"/>
              </a:rPr>
              <a:t>•  Lower costs: split large orders to reduce market impact</a:t>
            </a:r>
          </a:p>
          <a:p>
            <a:pPr>
              <a:spcAft>
                <a:spcPts val="800"/>
              </a:spcAft>
            </a:pPr>
            <a:r>
              <a:rPr sz="1250">
                <a:solidFill>
                  <a:srgbClr val="161B26"/>
                </a:solidFill>
                <a:latin typeface="Arial"/>
              </a:rPr>
              <a:t>•  Scale: monitors many markets and assets around the clock</a:t>
            </a:r>
          </a:p>
        </p:txBody>
      </p:sp>
      <p:sp>
        <p:nvSpPr>
          <p:cNvPr id="11" name="Rectangle 10"/>
          <p:cNvSpPr/>
          <p:nvPr/>
        </p:nvSpPr>
        <p:spPr>
          <a:xfrm>
            <a:off x="6309360" y="1828800"/>
            <a:ext cx="5102352" cy="4206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09360" y="1828800"/>
            <a:ext cx="510235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7960" y="2057400"/>
            <a:ext cx="4645152" cy="365760"/>
          </a:xfrm>
          <a:prstGeom prst="rect">
            <a:avLst/>
          </a:prstGeom>
          <a:noFill/>
        </p:spPr>
        <p:txBody>
          <a:bodyPr wrap="square" anchor="t">
            <a:spAutoFit/>
          </a:bodyPr>
          <a:lstStyle/>
          <a:p>
            <a:pPr algn="l">
              <a:spcAft>
                <a:spcPts val="400"/>
              </a:spcAft>
            </a:pPr>
            <a:r>
              <a:rPr sz="1500" b="1">
                <a:solidFill>
                  <a:srgbClr val="10B981"/>
                </a:solidFill>
                <a:latin typeface="Arial"/>
              </a:rPr>
              <a:t>Risks</a:t>
            </a:r>
          </a:p>
        </p:txBody>
      </p:sp>
      <p:sp>
        <p:nvSpPr>
          <p:cNvPr id="14" name="TextBox 13"/>
          <p:cNvSpPr txBox="1"/>
          <p:nvPr/>
        </p:nvSpPr>
        <p:spPr>
          <a:xfrm>
            <a:off x="6537960" y="2514600"/>
            <a:ext cx="4645152" cy="3291840"/>
          </a:xfrm>
          <a:prstGeom prst="rect">
            <a:avLst/>
          </a:prstGeom>
          <a:noFill/>
        </p:spPr>
        <p:txBody>
          <a:bodyPr wrap="square">
            <a:spAutoFit/>
          </a:bodyPr>
          <a:lstStyle/>
          <a:p>
            <a:pPr>
              <a:spcAft>
                <a:spcPts val="800"/>
              </a:spcAft>
            </a:pPr>
            <a:r>
              <a:rPr sz="1250">
                <a:solidFill>
                  <a:srgbClr val="161B26"/>
                </a:solidFill>
                <a:latin typeface="Arial"/>
              </a:rPr>
              <a:t>•  Technical failure: bugs and outages (Knight Capital, 2012)</a:t>
            </a:r>
          </a:p>
          <a:p>
            <a:pPr>
              <a:spcAft>
                <a:spcPts val="800"/>
              </a:spcAft>
            </a:pPr>
            <a:r>
              <a:rPr sz="1250">
                <a:solidFill>
                  <a:srgbClr val="161B26"/>
                </a:solidFill>
                <a:latin typeface="Arial"/>
              </a:rPr>
              <a:t>•  Overfitting: great backtests that fail on live data</a:t>
            </a:r>
          </a:p>
          <a:p>
            <a:pPr>
              <a:spcAft>
                <a:spcPts val="800"/>
              </a:spcAft>
            </a:pPr>
            <a:r>
              <a:rPr sz="1250">
                <a:solidFill>
                  <a:srgbClr val="161B26"/>
                </a:solidFill>
                <a:latin typeface="Arial"/>
              </a:rPr>
              <a:t>•  Black swans and regime change the model has never seen</a:t>
            </a:r>
          </a:p>
          <a:p>
            <a:pPr>
              <a:spcAft>
                <a:spcPts val="800"/>
              </a:spcAft>
            </a:pPr>
            <a:r>
              <a:rPr sz="1250">
                <a:solidFill>
                  <a:srgbClr val="161B26"/>
                </a:solidFill>
                <a:latin typeface="Arial"/>
              </a:rPr>
              <a:t>•  Feedback loops between algorithms (2010 Flash Crash)</a:t>
            </a:r>
          </a:p>
          <a:p>
            <a:pPr>
              <a:spcAft>
                <a:spcPts val="800"/>
              </a:spcAft>
            </a:pPr>
            <a:r>
              <a:rPr sz="1250">
                <a:solidFill>
                  <a:srgbClr val="161B26"/>
                </a:solidFill>
                <a:latin typeface="Arial"/>
              </a:rPr>
              <a:t>•  Set-up, data and compliance costs; no guaranteed profit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AI IN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Eras of AI in Trading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Symbolic AI  ·  1956-1980s</a:t>
            </a:r>
          </a:p>
          <a:p>
            <a:pPr algn="l">
              <a:spcAft>
                <a:spcPts val="300"/>
              </a:spcAft>
            </a:pPr>
            <a:r>
              <a:rPr sz="1000" b="0">
                <a:solidFill>
                  <a:srgbClr val="5B6372"/>
                </a:solidFill>
                <a:latin typeface="Arial"/>
              </a:rPr>
              <a:t>Hand-written rules: expert systems and rule-based program trading; brittle when markets change</a:t>
            </a:r>
          </a:p>
        </p:txBody>
      </p:sp>
      <p:sp>
        <p:nvSpPr>
          <p:cNvPr id="15" name="Rectangle 14"/>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283281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Machine learning  ·  1990s-2000s</a:t>
            </a:r>
          </a:p>
          <a:p>
            <a:pPr algn="l">
              <a:spcAft>
                <a:spcPts val="300"/>
              </a:spcAft>
            </a:pPr>
            <a:r>
              <a:rPr sz="1000" b="0">
                <a:solidFill>
                  <a:srgbClr val="5B6372"/>
                </a:solidFill>
                <a:latin typeface="Arial"/>
              </a:rPr>
              <a:t>Models learn from data: regression, tree and boosting signals; statistical arbitrage at scale</a:t>
            </a:r>
          </a:p>
        </p:txBody>
      </p:sp>
      <p:sp>
        <p:nvSpPr>
          <p:cNvPr id="20" name="Rectangle 19"/>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75452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Deep learning  ·  2012-2017</a:t>
            </a:r>
          </a:p>
          <a:p>
            <a:pPr algn="l">
              <a:spcAft>
                <a:spcPts val="300"/>
              </a:spcAft>
            </a:pPr>
            <a:r>
              <a:rPr sz="1000" b="0">
                <a:solidFill>
                  <a:srgbClr val="5B6372"/>
                </a:solidFill>
                <a:latin typeface="Arial"/>
              </a:rPr>
              <a:t>Many-layer networks on GPUs find non-linear patterns in prices, order books and alternative data</a:t>
            </a:r>
          </a:p>
        </p:txBody>
      </p:sp>
      <p:sp>
        <p:nvSpPr>
          <p:cNvPr id="25" name="Rectangle 24"/>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467624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Generative AI  ·  2017-2023</a:t>
            </a:r>
          </a:p>
          <a:p>
            <a:pPr algn="l">
              <a:spcAft>
                <a:spcPts val="300"/>
              </a:spcAft>
            </a:pPr>
            <a:r>
              <a:rPr sz="1000" b="0">
                <a:solidFill>
                  <a:srgbClr val="5B6372"/>
                </a:solidFill>
                <a:latin typeface="Arial"/>
              </a:rPr>
              <a:t>Transformers and LLMs turn news, filings and earnings calls into trading signals</a:t>
            </a:r>
          </a:p>
        </p:txBody>
      </p:sp>
      <p:sp>
        <p:nvSpPr>
          <p:cNvPr id="30" name="Rectangle 29"/>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559795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Agentic AI  ·  2024-present</a:t>
            </a:r>
          </a:p>
          <a:p>
            <a:pPr algn="l">
              <a:spcAft>
                <a:spcPts val="300"/>
              </a:spcAft>
            </a:pPr>
            <a:r>
              <a:rPr sz="1000" b="0">
                <a:solidFill>
                  <a:srgbClr val="5B6372"/>
                </a:solidFill>
                <a:latin typeface="Arial"/>
              </a:rPr>
              <a:t>LLM agents research, code, backtest and paper-trade strategies under hard risk limits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AI IN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AI Milestones and Their Trading Counterparts (1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868680" y="3954779"/>
            <a:ext cx="10451592" cy="457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9808"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1364"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1950</a:t>
            </a:r>
          </a:p>
          <a:p>
            <a:pPr algn="ctr">
              <a:spcAft>
                <a:spcPts val="100"/>
              </a:spcAft>
            </a:pPr>
            <a:r>
              <a:rPr sz="1150" b="1">
                <a:solidFill>
                  <a:srgbClr val="161B26"/>
                </a:solidFill>
                <a:latin typeface="Arial"/>
              </a:rPr>
              <a:t>Turing Test</a:t>
            </a:r>
          </a:p>
          <a:p>
            <a:pPr algn="ctr">
              <a:spcAft>
                <a:spcPts val="100"/>
              </a:spcAft>
            </a:pPr>
            <a:r>
              <a:rPr sz="950" b="0">
                <a:solidFill>
                  <a:srgbClr val="5B6372"/>
                </a:solidFill>
                <a:latin typeface="Arial"/>
              </a:rPr>
              <a:t>Turing asks if machines can think; in 1952 Markowitz turns portfolio choice into maths</a:t>
            </a:r>
          </a:p>
        </p:txBody>
      </p:sp>
      <p:sp>
        <p:nvSpPr>
          <p:cNvPr id="14" name="Oval 13"/>
          <p:cNvSpPr/>
          <p:nvPr/>
        </p:nvSpPr>
        <p:spPr>
          <a:xfrm>
            <a:off x="2491740"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03296"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36192"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1956</a:t>
            </a:r>
          </a:p>
          <a:p>
            <a:pPr algn="ctr">
              <a:spcAft>
                <a:spcPts val="100"/>
              </a:spcAft>
            </a:pPr>
            <a:r>
              <a:rPr sz="1150" b="1">
                <a:solidFill>
                  <a:srgbClr val="161B26"/>
                </a:solidFill>
                <a:latin typeface="Arial"/>
              </a:rPr>
              <a:t>'AI' is named</a:t>
            </a:r>
          </a:p>
          <a:p>
            <a:pPr algn="ctr">
              <a:spcAft>
                <a:spcPts val="100"/>
              </a:spcAft>
            </a:pPr>
            <a:r>
              <a:rPr sz="950" b="0">
                <a:solidFill>
                  <a:srgbClr val="5B6372"/>
                </a:solidFill>
                <a:latin typeface="Arial"/>
              </a:rPr>
              <a:t>AI becomes a field; Ed Thorp soon applies computers and probability to blackjack, then markets</a:t>
            </a:r>
          </a:p>
        </p:txBody>
      </p:sp>
      <p:sp>
        <p:nvSpPr>
          <p:cNvPr id="17" name="Oval 16"/>
          <p:cNvSpPr/>
          <p:nvPr/>
        </p:nvSpPr>
        <p:spPr>
          <a:xfrm>
            <a:off x="4233672"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45228"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78124"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1980s</a:t>
            </a:r>
          </a:p>
          <a:p>
            <a:pPr algn="ctr">
              <a:spcAft>
                <a:spcPts val="100"/>
              </a:spcAft>
            </a:pPr>
            <a:r>
              <a:rPr sz="1150" b="1">
                <a:solidFill>
                  <a:srgbClr val="161B26"/>
                </a:solidFill>
                <a:latin typeface="Arial"/>
              </a:rPr>
              <a:t>Expert systems</a:t>
            </a:r>
          </a:p>
          <a:p>
            <a:pPr algn="ctr">
              <a:spcAft>
                <a:spcPts val="100"/>
              </a:spcAft>
            </a:pPr>
            <a:r>
              <a:rPr sz="950" b="0">
                <a:solidFill>
                  <a:srgbClr val="5B6372"/>
                </a:solidFill>
                <a:latin typeface="Arial"/>
              </a:rPr>
              <a:t>Hand-written if-then rules - the same logic as the rule-based program trading of the 1980s</a:t>
            </a:r>
          </a:p>
        </p:txBody>
      </p:sp>
      <p:sp>
        <p:nvSpPr>
          <p:cNvPr id="20" name="Oval 19"/>
          <p:cNvSpPr/>
          <p:nvPr/>
        </p:nvSpPr>
        <p:spPr>
          <a:xfrm>
            <a:off x="5975604" y="3858768"/>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7160" y="4096512"/>
            <a:ext cx="14630" cy="6126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0056" y="4754880"/>
            <a:ext cx="2148840" cy="1371600"/>
          </a:xfrm>
          <a:prstGeom prst="rect">
            <a:avLst/>
          </a:prstGeom>
          <a:noFill/>
        </p:spPr>
        <p:txBody>
          <a:bodyPr wrap="square" anchor="t">
            <a:spAutoFit/>
          </a:bodyPr>
          <a:lstStyle/>
          <a:p>
            <a:pPr algn="ctr">
              <a:spcAft>
                <a:spcPts val="100"/>
              </a:spcAft>
            </a:pPr>
            <a:r>
              <a:rPr sz="1500" b="1">
                <a:solidFill>
                  <a:srgbClr val="F59E0B"/>
                </a:solidFill>
                <a:latin typeface="Arial"/>
              </a:rPr>
              <a:t>1986</a:t>
            </a:r>
          </a:p>
          <a:p>
            <a:pPr algn="ctr">
              <a:spcAft>
                <a:spcPts val="100"/>
              </a:spcAft>
            </a:pPr>
            <a:r>
              <a:rPr sz="1150" b="1">
                <a:solidFill>
                  <a:srgbClr val="161B26"/>
                </a:solidFill>
                <a:latin typeface="Arial"/>
              </a:rPr>
              <a:t>Backpropagation</a:t>
            </a:r>
          </a:p>
          <a:p>
            <a:pPr algn="ctr">
              <a:spcAft>
                <a:spcPts val="100"/>
              </a:spcAft>
            </a:pPr>
            <a:r>
              <a:rPr sz="950" b="0">
                <a:solidFill>
                  <a:srgbClr val="5B6372"/>
                </a:solidFill>
                <a:latin typeface="Arial"/>
              </a:rPr>
              <a:t>Multi-layer neural networks become trainable - the ancestor of today's price-prediction nets</a:t>
            </a:r>
          </a:p>
        </p:txBody>
      </p:sp>
      <p:sp>
        <p:nvSpPr>
          <p:cNvPr id="23" name="Oval 22"/>
          <p:cNvSpPr/>
          <p:nvPr/>
        </p:nvSpPr>
        <p:spPr>
          <a:xfrm>
            <a:off x="7717536"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829092"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1988"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1988</a:t>
            </a:r>
          </a:p>
          <a:p>
            <a:pPr algn="ctr">
              <a:spcAft>
                <a:spcPts val="100"/>
              </a:spcAft>
            </a:pPr>
            <a:r>
              <a:rPr sz="1150" b="1">
                <a:solidFill>
                  <a:srgbClr val="161B26"/>
                </a:solidFill>
                <a:latin typeface="Arial"/>
              </a:rPr>
              <a:t>Models trade markets</a:t>
            </a:r>
          </a:p>
          <a:p>
            <a:pPr algn="ctr">
              <a:spcAft>
                <a:spcPts val="100"/>
              </a:spcAft>
            </a:pPr>
            <a:r>
              <a:rPr sz="950" b="0">
                <a:solidFill>
                  <a:srgbClr val="5B6372"/>
                </a:solidFill>
                <a:latin typeface="Arial"/>
              </a:rPr>
              <a:t>Renaissance's Medallion fund launches, trading purely on mathematical models of market data</a:t>
            </a:r>
          </a:p>
        </p:txBody>
      </p:sp>
      <p:sp>
        <p:nvSpPr>
          <p:cNvPr id="26" name="Oval 25"/>
          <p:cNvSpPr/>
          <p:nvPr/>
        </p:nvSpPr>
        <p:spPr>
          <a:xfrm>
            <a:off x="9459468"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571024"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03920"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1997</a:t>
            </a:r>
          </a:p>
          <a:p>
            <a:pPr algn="ctr">
              <a:spcAft>
                <a:spcPts val="100"/>
              </a:spcAft>
            </a:pPr>
            <a:r>
              <a:rPr sz="1150" b="1">
                <a:solidFill>
                  <a:srgbClr val="161B26"/>
                </a:solidFill>
                <a:latin typeface="Arial"/>
              </a:rPr>
              <a:t>Deep Blue</a:t>
            </a:r>
          </a:p>
          <a:p>
            <a:pPr algn="ctr">
              <a:spcAft>
                <a:spcPts val="100"/>
              </a:spcAft>
            </a:pPr>
            <a:r>
              <a:rPr sz="950" b="0">
                <a:solidFill>
                  <a:srgbClr val="5B6372"/>
                </a:solidFill>
                <a:latin typeface="Arial"/>
              </a:rPr>
              <a:t>IBM beats Kasparov at chess; computer-driven quant firms such as D.E. Shaw are already trading</a:t>
            </a:r>
          </a:p>
        </p:txBody>
      </p:sp>
      <p:sp>
        <p:nvSpPr>
          <p:cNvPr id="29" name="Oval 28"/>
          <p:cNvSpPr/>
          <p:nvPr/>
        </p:nvSpPr>
        <p:spPr>
          <a:xfrm>
            <a:off x="11201400"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312956"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491472"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2012</a:t>
            </a:r>
          </a:p>
          <a:p>
            <a:pPr algn="ctr">
              <a:spcAft>
                <a:spcPts val="100"/>
              </a:spcAft>
            </a:pPr>
            <a:r>
              <a:rPr sz="1150" b="1">
                <a:solidFill>
                  <a:srgbClr val="161B26"/>
                </a:solidFill>
                <a:latin typeface="Arial"/>
              </a:rPr>
              <a:t>Deep learning</a:t>
            </a:r>
          </a:p>
          <a:p>
            <a:pPr algn="ctr">
              <a:spcAft>
                <a:spcPts val="100"/>
              </a:spcAft>
            </a:pPr>
            <a:r>
              <a:rPr sz="950" b="0">
                <a:solidFill>
                  <a:srgbClr val="5B6372"/>
                </a:solidFill>
                <a:latin typeface="Arial"/>
              </a:rPr>
              <a:t>GPU-trained deep networks win ImageNet; deep learning becomes a new tool for market data</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AI IN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AI Milestones and Their Trading Counterparts (2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868680" y="3954779"/>
            <a:ext cx="10451592" cy="457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9808"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1364"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2016</a:t>
            </a:r>
          </a:p>
          <a:p>
            <a:pPr algn="ctr">
              <a:spcAft>
                <a:spcPts val="100"/>
              </a:spcAft>
            </a:pPr>
            <a:r>
              <a:rPr sz="1150" b="1">
                <a:solidFill>
                  <a:srgbClr val="161B26"/>
                </a:solidFill>
                <a:latin typeface="Arial"/>
              </a:rPr>
              <a:t>AlphaGo</a:t>
            </a:r>
          </a:p>
          <a:p>
            <a:pPr algn="ctr">
              <a:spcAft>
                <a:spcPts val="100"/>
              </a:spcAft>
            </a:pPr>
            <a:r>
              <a:rPr sz="950" b="0">
                <a:solidFill>
                  <a:srgbClr val="5B6372"/>
                </a:solidFill>
                <a:latin typeface="Arial"/>
              </a:rPr>
              <a:t>Deep reinforcement learning wins at Go; RL is researched for order execution and portfolios</a:t>
            </a:r>
          </a:p>
        </p:txBody>
      </p:sp>
      <p:sp>
        <p:nvSpPr>
          <p:cNvPr id="14" name="Oval 13"/>
          <p:cNvSpPr/>
          <p:nvPr/>
        </p:nvSpPr>
        <p:spPr>
          <a:xfrm>
            <a:off x="2491740"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03296"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36192"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2017</a:t>
            </a:r>
          </a:p>
          <a:p>
            <a:pPr algn="ctr">
              <a:spcAft>
                <a:spcPts val="100"/>
              </a:spcAft>
            </a:pPr>
            <a:r>
              <a:rPr sz="1150" b="1">
                <a:solidFill>
                  <a:srgbClr val="161B26"/>
                </a:solidFill>
                <a:latin typeface="Arial"/>
              </a:rPr>
              <a:t>Transformer</a:t>
            </a:r>
          </a:p>
          <a:p>
            <a:pPr algn="ctr">
              <a:spcAft>
                <a:spcPts val="100"/>
              </a:spcAft>
            </a:pPr>
            <a:r>
              <a:rPr sz="950" b="0">
                <a:solidFill>
                  <a:srgbClr val="5B6372"/>
                </a:solidFill>
                <a:latin typeface="Arial"/>
              </a:rPr>
              <a:t>The architecture behind every LLM - later used to read news and filings for trading signals</a:t>
            </a:r>
          </a:p>
        </p:txBody>
      </p:sp>
      <p:sp>
        <p:nvSpPr>
          <p:cNvPr id="17" name="Oval 16"/>
          <p:cNvSpPr/>
          <p:nvPr/>
        </p:nvSpPr>
        <p:spPr>
          <a:xfrm>
            <a:off x="4233672"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45228"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78124"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2023</a:t>
            </a:r>
          </a:p>
          <a:p>
            <a:pPr algn="ctr">
              <a:spcAft>
                <a:spcPts val="100"/>
              </a:spcAft>
            </a:pPr>
            <a:r>
              <a:rPr sz="1150" b="1">
                <a:solidFill>
                  <a:srgbClr val="161B26"/>
                </a:solidFill>
                <a:latin typeface="Arial"/>
              </a:rPr>
              <a:t>LLMs meet markets</a:t>
            </a:r>
          </a:p>
          <a:p>
            <a:pPr algn="ctr">
              <a:spcAft>
                <a:spcPts val="100"/>
              </a:spcAft>
            </a:pPr>
            <a:r>
              <a:rPr sz="950" b="0">
                <a:solidFill>
                  <a:srgbClr val="5B6372"/>
                </a:solidFill>
                <a:latin typeface="Arial"/>
              </a:rPr>
              <a:t>BloombergGPT (50bn parameters); ChatGPT headline sentiment predicts next-day stock returns</a:t>
            </a:r>
          </a:p>
        </p:txBody>
      </p:sp>
      <p:sp>
        <p:nvSpPr>
          <p:cNvPr id="20" name="Oval 19"/>
          <p:cNvSpPr/>
          <p:nvPr/>
        </p:nvSpPr>
        <p:spPr>
          <a:xfrm>
            <a:off x="5975604" y="3858768"/>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7160" y="4096512"/>
            <a:ext cx="14630" cy="6126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0056" y="4754880"/>
            <a:ext cx="2148840" cy="1371600"/>
          </a:xfrm>
          <a:prstGeom prst="rect">
            <a:avLst/>
          </a:prstGeom>
          <a:noFill/>
        </p:spPr>
        <p:txBody>
          <a:bodyPr wrap="square" anchor="t">
            <a:spAutoFit/>
          </a:bodyPr>
          <a:lstStyle/>
          <a:p>
            <a:pPr algn="ctr">
              <a:spcAft>
                <a:spcPts val="100"/>
              </a:spcAft>
            </a:pPr>
            <a:r>
              <a:rPr sz="1500" b="1">
                <a:solidFill>
                  <a:srgbClr val="F59E0B"/>
                </a:solidFill>
                <a:latin typeface="Arial"/>
              </a:rPr>
              <a:t>2024</a:t>
            </a:r>
          </a:p>
          <a:p>
            <a:pPr algn="ctr">
              <a:spcAft>
                <a:spcPts val="100"/>
              </a:spcAft>
            </a:pPr>
            <a:r>
              <a:rPr sz="1150" b="1">
                <a:solidFill>
                  <a:srgbClr val="161B26"/>
                </a:solidFill>
                <a:latin typeface="Arial"/>
              </a:rPr>
              <a:t>Multi-agent trading</a:t>
            </a:r>
          </a:p>
          <a:p>
            <a:pPr algn="ctr">
              <a:spcAft>
                <a:spcPts val="100"/>
              </a:spcAft>
            </a:pPr>
            <a:r>
              <a:rPr sz="950" b="0">
                <a:solidFill>
                  <a:srgbClr val="5B6372"/>
                </a:solidFill>
                <a:latin typeface="Arial"/>
              </a:rPr>
              <a:t>TradingAgents models a trading firm: analyst, bull/bear debate, trader and risk agents</a:t>
            </a:r>
          </a:p>
        </p:txBody>
      </p:sp>
      <p:sp>
        <p:nvSpPr>
          <p:cNvPr id="23" name="Oval 22"/>
          <p:cNvSpPr/>
          <p:nvPr/>
        </p:nvSpPr>
        <p:spPr>
          <a:xfrm>
            <a:off x="7717536"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829092"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1988"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2025</a:t>
            </a:r>
          </a:p>
          <a:p>
            <a:pPr algn="ctr">
              <a:spcAft>
                <a:spcPts val="100"/>
              </a:spcAft>
            </a:pPr>
            <a:r>
              <a:rPr sz="1150" b="1">
                <a:solidFill>
                  <a:srgbClr val="161B26"/>
                </a:solidFill>
                <a:latin typeface="Arial"/>
              </a:rPr>
              <a:t>Agentic quant research</a:t>
            </a:r>
          </a:p>
          <a:p>
            <a:pPr algn="ctr">
              <a:spcAft>
                <a:spcPts val="100"/>
              </a:spcAft>
            </a:pPr>
            <a:r>
              <a:rPr sz="950" b="0">
                <a:solidFill>
                  <a:srgbClr val="5B6372"/>
                </a:solidFill>
                <a:latin typeface="Arial"/>
              </a:rPr>
              <a:t>LLM agents mine formulaic alphas and write backtests (e.g. Alpha-GPT, AlphaAgent)</a:t>
            </a:r>
          </a:p>
        </p:txBody>
      </p:sp>
      <p:sp>
        <p:nvSpPr>
          <p:cNvPr id="26" name="Oval 25"/>
          <p:cNvSpPr/>
          <p:nvPr/>
        </p:nvSpPr>
        <p:spPr>
          <a:xfrm>
            <a:off x="9459468"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571024"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03920"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2026</a:t>
            </a:r>
          </a:p>
          <a:p>
            <a:pPr algn="ctr">
              <a:spcAft>
                <a:spcPts val="100"/>
              </a:spcAft>
            </a:pPr>
            <a:r>
              <a:rPr sz="1150" b="1">
                <a:solidFill>
                  <a:srgbClr val="161B26"/>
                </a:solidFill>
                <a:latin typeface="Arial"/>
              </a:rPr>
              <a:t>Always-on AI agents</a:t>
            </a:r>
          </a:p>
          <a:p>
            <a:pPr algn="ctr">
              <a:spcAft>
                <a:spcPts val="100"/>
              </a:spcAft>
            </a:pPr>
            <a:r>
              <a:rPr sz="950" b="0">
                <a:solidFill>
                  <a:srgbClr val="5B6372"/>
                </a:solidFill>
                <a:latin typeface="Arial"/>
              </a:rPr>
              <a:t>OpenClaw, Hermes Agent and OpenAI Dots stand by 24/7: agentic AI that keeps working</a:t>
            </a:r>
          </a:p>
        </p:txBody>
      </p:sp>
      <p:sp>
        <p:nvSpPr>
          <p:cNvPr id="29" name="Oval 28"/>
          <p:cNvSpPr/>
          <p:nvPr/>
        </p:nvSpPr>
        <p:spPr>
          <a:xfrm>
            <a:off x="11201400"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312956"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491472"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2026</a:t>
            </a:r>
          </a:p>
          <a:p>
            <a:pPr algn="ctr">
              <a:spcAft>
                <a:spcPts val="100"/>
              </a:spcAft>
            </a:pPr>
            <a:r>
              <a:rPr sz="1150" b="1">
                <a:solidFill>
                  <a:srgbClr val="161B26"/>
                </a:solidFill>
                <a:latin typeface="Arial"/>
              </a:rPr>
              <a:t>Governed AI</a:t>
            </a:r>
          </a:p>
          <a:p>
            <a:pPr algn="ctr">
              <a:spcAft>
                <a:spcPts val="100"/>
              </a:spcAft>
            </a:pPr>
            <a:r>
              <a:rPr sz="950" b="0">
                <a:solidFill>
                  <a:srgbClr val="5B6372"/>
                </a:solidFill>
                <a:latin typeface="Arial"/>
              </a:rPr>
              <a:t>MAS AI Risk Management Guidelines (7 Oct 2026) set lifecycle controls for AI in finance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K9 · ML TO LLM</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Paradigm Shift: Machine-Learning Quant versus LLM-Era Quant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F6FEB"/>
                </a:solidFill>
                <a:latin typeface="Arial"/>
              </a:rPr>
              <a:t>K1  K9</a:t>
            </a: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Machine-learning quant</a:t>
            </a:r>
          </a:p>
        </p:txBody>
      </p:sp>
      <p:sp>
        <p:nvSpPr>
          <p:cNvPr id="12" name="Rectangle 11"/>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LLM-era quant</a:t>
            </a:r>
          </a:p>
        </p:txBody>
      </p:sp>
      <p:sp>
        <p:nvSpPr>
          <p:cNvPr id="14" name="Rectangle 13"/>
          <p:cNvSpPr/>
          <p:nvPr/>
        </p:nvSpPr>
        <p:spPr>
          <a:xfrm>
            <a:off x="777240" y="2286000"/>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Main data</a:t>
            </a:r>
          </a:p>
        </p:txBody>
      </p:sp>
      <p:sp>
        <p:nvSpPr>
          <p:cNvPr id="16" name="TextBox 15"/>
          <p:cNvSpPr txBox="1"/>
          <p:nvPr/>
        </p:nvSpPr>
        <p:spPr>
          <a:xfrm>
            <a:off x="3017520" y="2286000"/>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Structured: prices, volumes, fundamentals</a:t>
            </a:r>
          </a:p>
        </p:txBody>
      </p:sp>
      <p:sp>
        <p:nvSpPr>
          <p:cNvPr id="17" name="TextBox 16"/>
          <p:cNvSpPr txBox="1"/>
          <p:nvPr/>
        </p:nvSpPr>
        <p:spPr>
          <a:xfrm>
            <a:off x="7260336" y="2286000"/>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Adds unstructured text: news, filings, earnings calls, research</a:t>
            </a:r>
          </a:p>
        </p:txBody>
      </p:sp>
      <p:sp>
        <p:nvSpPr>
          <p:cNvPr id="18" name="TextBox 17"/>
          <p:cNvSpPr txBox="1"/>
          <p:nvPr/>
        </p:nvSpPr>
        <p:spPr>
          <a:xfrm>
            <a:off x="886968" y="2783205"/>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Features</a:t>
            </a:r>
          </a:p>
        </p:txBody>
      </p:sp>
      <p:sp>
        <p:nvSpPr>
          <p:cNvPr id="19" name="TextBox 18"/>
          <p:cNvSpPr txBox="1"/>
          <p:nvPr/>
        </p:nvSpPr>
        <p:spPr>
          <a:xfrm>
            <a:off x="3017520" y="2783205"/>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Hand-engineered by the quant (lags, RSI, factors)</a:t>
            </a:r>
          </a:p>
        </p:txBody>
      </p:sp>
      <p:sp>
        <p:nvSpPr>
          <p:cNvPr id="20" name="TextBox 19"/>
          <p:cNvSpPr txBox="1"/>
          <p:nvPr/>
        </p:nvSpPr>
        <p:spPr>
          <a:xfrm>
            <a:off x="7260336" y="2783205"/>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Text read directly; LLM scores sentiment and events</a:t>
            </a:r>
          </a:p>
        </p:txBody>
      </p:sp>
      <p:sp>
        <p:nvSpPr>
          <p:cNvPr id="21" name="Rectangle 20"/>
          <p:cNvSpPr/>
          <p:nvPr/>
        </p:nvSpPr>
        <p:spPr>
          <a:xfrm>
            <a:off x="777240" y="3280410"/>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280410"/>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Model building</a:t>
            </a:r>
          </a:p>
        </p:txBody>
      </p:sp>
      <p:sp>
        <p:nvSpPr>
          <p:cNvPr id="23" name="TextBox 22"/>
          <p:cNvSpPr txBox="1"/>
          <p:nvPr/>
        </p:nvSpPr>
        <p:spPr>
          <a:xfrm>
            <a:off x="3017520" y="3280410"/>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Fit regressions, trees, boosting on labelled data</a:t>
            </a:r>
          </a:p>
        </p:txBody>
      </p:sp>
      <p:sp>
        <p:nvSpPr>
          <p:cNvPr id="24" name="TextBox 23"/>
          <p:cNvSpPr txBox="1"/>
          <p:nvPr/>
        </p:nvSpPr>
        <p:spPr>
          <a:xfrm>
            <a:off x="7260336" y="3280410"/>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Prompt or fine-tune pretrained LLMs; agents propose alphas</a:t>
            </a:r>
          </a:p>
        </p:txBody>
      </p:sp>
      <p:sp>
        <p:nvSpPr>
          <p:cNvPr id="25" name="TextBox 24"/>
          <p:cNvSpPr txBox="1"/>
          <p:nvPr/>
        </p:nvSpPr>
        <p:spPr>
          <a:xfrm>
            <a:off x="886968" y="3777614"/>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Who writes the code</a:t>
            </a:r>
          </a:p>
        </p:txBody>
      </p:sp>
      <p:sp>
        <p:nvSpPr>
          <p:cNvPr id="26" name="TextBox 25"/>
          <p:cNvSpPr txBox="1"/>
          <p:nvPr/>
        </p:nvSpPr>
        <p:spPr>
          <a:xfrm>
            <a:off x="3017520" y="3777614"/>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The quant, line by line</a:t>
            </a:r>
          </a:p>
        </p:txBody>
      </p:sp>
      <p:sp>
        <p:nvSpPr>
          <p:cNvPr id="27" name="TextBox 26"/>
          <p:cNvSpPr txBox="1"/>
          <p:nvPr/>
        </p:nvSpPr>
        <p:spPr>
          <a:xfrm>
            <a:off x="7260336" y="3777614"/>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AI writes it; the quant directs and reviews</a:t>
            </a:r>
          </a:p>
        </p:txBody>
      </p:sp>
      <p:sp>
        <p:nvSpPr>
          <p:cNvPr id="28" name="Rectangle 27"/>
          <p:cNvSpPr/>
          <p:nvPr/>
        </p:nvSpPr>
        <p:spPr>
          <a:xfrm>
            <a:off x="777240" y="4274820"/>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274820"/>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Research workflow</a:t>
            </a:r>
          </a:p>
        </p:txBody>
      </p:sp>
      <p:sp>
        <p:nvSpPr>
          <p:cNvPr id="30" name="TextBox 29"/>
          <p:cNvSpPr txBox="1"/>
          <p:nvPr/>
        </p:nvSpPr>
        <p:spPr>
          <a:xfrm>
            <a:off x="3017520" y="4274820"/>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The quant writes every line of code</a:t>
            </a:r>
          </a:p>
        </p:txBody>
      </p:sp>
      <p:sp>
        <p:nvSpPr>
          <p:cNvPr id="31" name="TextBox 30"/>
          <p:cNvSpPr txBox="1"/>
          <p:nvPr/>
        </p:nvSpPr>
        <p:spPr>
          <a:xfrm>
            <a:off x="7260336" y="4274820"/>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Coding agents draft code and backtests; the quant reviews</a:t>
            </a:r>
          </a:p>
        </p:txBody>
      </p:sp>
      <p:sp>
        <p:nvSpPr>
          <p:cNvPr id="32" name="TextBox 31"/>
          <p:cNvSpPr txBox="1"/>
          <p:nvPr/>
        </p:nvSpPr>
        <p:spPr>
          <a:xfrm>
            <a:off x="886968" y="4772025"/>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Alpha decay</a:t>
            </a:r>
          </a:p>
        </p:txBody>
      </p:sp>
      <p:sp>
        <p:nvSpPr>
          <p:cNvPr id="33" name="TextBox 32"/>
          <p:cNvSpPr txBox="1"/>
          <p:nvPr/>
        </p:nvSpPr>
        <p:spPr>
          <a:xfrm>
            <a:off x="3017520" y="4772025"/>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Signals fade as more funds trade them</a:t>
            </a:r>
          </a:p>
        </p:txBody>
      </p:sp>
      <p:sp>
        <p:nvSpPr>
          <p:cNvPr id="34" name="TextBox 33"/>
          <p:cNvSpPr txBox="1"/>
          <p:nvPr/>
        </p:nvSpPr>
        <p:spPr>
          <a:xfrm>
            <a:off x="7260336" y="4772025"/>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LLM signals fade too as LLM adoption rises</a:t>
            </a:r>
          </a:p>
        </p:txBody>
      </p:sp>
      <p:sp>
        <p:nvSpPr>
          <p:cNvPr id="35" name="Rectangle 34"/>
          <p:cNvSpPr/>
          <p:nvPr/>
        </p:nvSpPr>
        <p:spPr>
          <a:xfrm>
            <a:off x="777240" y="5269229"/>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6968" y="5269229"/>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New risks</a:t>
            </a:r>
          </a:p>
        </p:txBody>
      </p:sp>
      <p:sp>
        <p:nvSpPr>
          <p:cNvPr id="37" name="TextBox 36"/>
          <p:cNvSpPr txBox="1"/>
          <p:nvPr/>
        </p:nvSpPr>
        <p:spPr>
          <a:xfrm>
            <a:off x="3017520" y="5269229"/>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Overfitting; look-ahead in features</a:t>
            </a:r>
          </a:p>
        </p:txBody>
      </p:sp>
      <p:sp>
        <p:nvSpPr>
          <p:cNvPr id="38" name="TextBox 37"/>
          <p:cNvSpPr txBox="1"/>
          <p:nvPr/>
        </p:nvSpPr>
        <p:spPr>
          <a:xfrm>
            <a:off x="7260336" y="5269229"/>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LLM training-data look-ahead and 'distraction'; homogeneous factors</a:t>
            </a:r>
          </a:p>
        </p:txBody>
      </p:sp>
      <p:sp>
        <p:nvSpPr>
          <p:cNvPr id="39" name="TextBox 38"/>
          <p:cNvSpPr txBox="1"/>
          <p:nvPr/>
        </p:nvSpPr>
        <p:spPr>
          <a:xfrm>
            <a:off x="886968" y="5766434"/>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Human role</a:t>
            </a:r>
          </a:p>
        </p:txBody>
      </p:sp>
      <p:sp>
        <p:nvSpPr>
          <p:cNvPr id="40" name="TextBox 39"/>
          <p:cNvSpPr txBox="1"/>
          <p:nvPr/>
        </p:nvSpPr>
        <p:spPr>
          <a:xfrm>
            <a:off x="3017520" y="5766434"/>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Model builder</a:t>
            </a:r>
          </a:p>
        </p:txBody>
      </p:sp>
      <p:sp>
        <p:nvSpPr>
          <p:cNvPr id="41" name="TextBox 40"/>
          <p:cNvSpPr txBox="1"/>
          <p:nvPr/>
        </p:nvSpPr>
        <p:spPr>
          <a:xfrm>
            <a:off x="7260336" y="5766434"/>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Supervisor: hypothesis, testing, risk sign-off</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K9 · ML TO LLM</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Impact of LLMs on Quant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F6FEB"/>
                </a:solidFill>
                <a:latin typeface="Arial"/>
              </a:rPr>
              <a:t>K1  K9</a:t>
            </a:r>
          </a:p>
        </p:txBody>
      </p:sp>
      <p:sp>
        <p:nvSpPr>
          <p:cNvPr id="10" name="Rectangle 9"/>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Text becomes a signal</a:t>
            </a:r>
          </a:p>
          <a:p>
            <a:pPr algn="l">
              <a:spcAft>
                <a:spcPts val="300"/>
              </a:spcAft>
            </a:pPr>
            <a:r>
              <a:rPr sz="950" b="0">
                <a:solidFill>
                  <a:srgbClr val="5B6372"/>
                </a:solidFill>
                <a:latin typeface="Arial"/>
              </a:rPr>
              <a:t>ChatGPT headline scores predict next-day returns, strongest for small stocks and bad news (Lopez-Lira and Tang)</a:t>
            </a:r>
          </a:p>
        </p:txBody>
      </p:sp>
      <p:sp>
        <p:nvSpPr>
          <p:cNvPr id="15" name="Rectangle 14"/>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Finance-specific LLMs</a:t>
            </a:r>
          </a:p>
          <a:p>
            <a:pPr algn="l">
              <a:spcAft>
                <a:spcPts val="300"/>
              </a:spcAft>
            </a:pPr>
            <a:r>
              <a:rPr sz="950" b="0">
                <a:solidFill>
                  <a:srgbClr val="5B6372"/>
                </a:solidFill>
                <a:latin typeface="Arial"/>
              </a:rPr>
              <a:t>BloombergGPT (2023): 50bn parameters trained with 363bn tokens of Bloomberg financial data</a:t>
            </a:r>
          </a:p>
        </p:txBody>
      </p:sp>
      <p:sp>
        <p:nvSpPr>
          <p:cNvPr id="20" name="Rectangle 19"/>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447288"/>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Automated alpha mining</a:t>
            </a:r>
          </a:p>
          <a:p>
            <a:pPr algn="l">
              <a:spcAft>
                <a:spcPts val="300"/>
              </a:spcAft>
            </a:pPr>
            <a:r>
              <a:rPr sz="950" b="0">
                <a:solidFill>
                  <a:srgbClr val="5B6372"/>
                </a:solidFill>
                <a:latin typeface="Arial"/>
              </a:rPr>
              <a:t>Alpha-GPT turns ideas into formulaic alphas; AlphaAgent targets alpha decay and crowding</a:t>
            </a:r>
          </a:p>
        </p:txBody>
      </p:sp>
      <p:sp>
        <p:nvSpPr>
          <p:cNvPr id="25" name="Rectangle 24"/>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3447288"/>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Backtests need new controls</a:t>
            </a:r>
          </a:p>
          <a:p>
            <a:pPr algn="l">
              <a:spcAft>
                <a:spcPts val="300"/>
              </a:spcAft>
            </a:pPr>
            <a:r>
              <a:rPr sz="950" b="0">
                <a:solidFill>
                  <a:srgbClr val="5B6372"/>
                </a:solidFill>
                <a:latin typeface="Arial"/>
              </a:rPr>
              <a:t>LLMs may 'know' in-sample history: test after the knowledge cutoff and anonymise firms (Glasserman and Lin)</a:t>
            </a:r>
          </a:p>
        </p:txBody>
      </p:sp>
      <p:sp>
        <p:nvSpPr>
          <p:cNvPr id="30" name="Rectangle 29"/>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4983480"/>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Faster crowding</a:t>
            </a:r>
          </a:p>
          <a:p>
            <a:pPr algn="l">
              <a:spcAft>
                <a:spcPts val="300"/>
              </a:spcAft>
            </a:pPr>
            <a:r>
              <a:rPr sz="950" b="0">
                <a:solidFill>
                  <a:srgbClr val="5B6372"/>
                </a:solidFill>
                <a:latin typeface="Arial"/>
              </a:rPr>
              <a:t>Strategy returns decline as LLM adoption rises - prices become more efficient (Lopez-Lira and Tang)</a:t>
            </a:r>
          </a:p>
        </p:txBody>
      </p:sp>
      <p:sp>
        <p:nvSpPr>
          <p:cNvPr id="35" name="Rectangle 34"/>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9" name="TextBox 38"/>
          <p:cNvSpPr txBox="1"/>
          <p:nvPr/>
        </p:nvSpPr>
        <p:spPr>
          <a:xfrm>
            <a:off x="7219188" y="4983480"/>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Agents still need limits</a:t>
            </a:r>
          </a:p>
          <a:p>
            <a:pPr algn="l">
              <a:spcAft>
                <a:spcPts val="300"/>
              </a:spcAft>
            </a:pPr>
            <a:r>
              <a:rPr sz="950" b="0">
                <a:solidFill>
                  <a:srgbClr val="5B6372"/>
                </a:solidFill>
                <a:latin typeface="Arial"/>
              </a:rPr>
              <a:t>Agents propose trades; hard-coded risk checks and humans approve them</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AGENTIC AI</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Agentic AI versus AI Agents in Trading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5180076"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5180076"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4741164" cy="548640"/>
          </a:xfrm>
          <a:prstGeom prst="rect">
            <a:avLst/>
          </a:prstGeom>
          <a:noFill/>
        </p:spPr>
        <p:txBody>
          <a:bodyPr wrap="square" anchor="t">
            <a:spAutoFit/>
          </a:bodyPr>
          <a:lstStyle/>
          <a:p>
            <a:pPr algn="l">
              <a:spcAft>
                <a:spcPts val="400"/>
              </a:spcAft>
            </a:pPr>
            <a:r>
              <a:rPr sz="1600" b="1">
                <a:solidFill>
                  <a:srgbClr val="1F6FEB"/>
                </a:solidFill>
                <a:latin typeface="Arial"/>
              </a:rPr>
              <a:t>Agentic AI - the capability</a:t>
            </a:r>
          </a:p>
        </p:txBody>
      </p:sp>
      <p:sp>
        <p:nvSpPr>
          <p:cNvPr id="10" name="TextBox 9"/>
          <p:cNvSpPr txBox="1"/>
          <p:nvPr/>
        </p:nvSpPr>
        <p:spPr>
          <a:xfrm>
            <a:off x="996696" y="2926080"/>
            <a:ext cx="4741164" cy="2377440"/>
          </a:xfrm>
          <a:prstGeom prst="rect">
            <a:avLst/>
          </a:prstGeom>
          <a:noFill/>
        </p:spPr>
        <p:txBody>
          <a:bodyPr wrap="square" anchor="t">
            <a:spAutoFit/>
          </a:bodyPr>
          <a:lstStyle/>
          <a:p>
            <a:pPr algn="l">
              <a:spcAft>
                <a:spcPts val="400"/>
              </a:spcAft>
            </a:pPr>
            <a:r>
              <a:rPr sz="1200" b="0">
                <a:solidFill>
                  <a:srgbClr val="161B26"/>
                </a:solidFill>
                <a:latin typeface="Arial"/>
              </a:rPr>
              <a:t>The capability of AI to plan and act: it calls tools, uses skills and memory, and follows instructions to complete multi-step work when it is asked.
Trading example: On request, an LLM fetches a stock's bars and news through tools, checks its memory of past trades and proposes an order within its instructions</a:t>
            </a:r>
          </a:p>
        </p:txBody>
      </p:sp>
      <p:sp>
        <p:nvSpPr>
          <p:cNvPr id="11" name="Rectangle 10"/>
          <p:cNvSpPr/>
          <p:nvPr/>
        </p:nvSpPr>
        <p:spPr>
          <a:xfrm>
            <a:off x="6231636" y="1965960"/>
            <a:ext cx="5180076"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965960"/>
            <a:ext cx="5180076"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51092" y="2331720"/>
            <a:ext cx="4741164" cy="548640"/>
          </a:xfrm>
          <a:prstGeom prst="rect">
            <a:avLst/>
          </a:prstGeom>
          <a:noFill/>
        </p:spPr>
        <p:txBody>
          <a:bodyPr wrap="square" anchor="t">
            <a:spAutoFit/>
          </a:bodyPr>
          <a:lstStyle/>
          <a:p>
            <a:pPr algn="l">
              <a:spcAft>
                <a:spcPts val="400"/>
              </a:spcAft>
            </a:pPr>
            <a:r>
              <a:rPr sz="1600" b="1">
                <a:solidFill>
                  <a:srgbClr val="10B981"/>
                </a:solidFill>
                <a:latin typeface="Arial"/>
              </a:rPr>
              <a:t>AI Agent - always on, 24/7</a:t>
            </a:r>
          </a:p>
        </p:txBody>
      </p:sp>
      <p:sp>
        <p:nvSpPr>
          <p:cNvPr id="14" name="TextBox 13"/>
          <p:cNvSpPr txBox="1"/>
          <p:nvPr/>
        </p:nvSpPr>
        <p:spPr>
          <a:xfrm>
            <a:off x="6451092" y="2926080"/>
            <a:ext cx="4741164" cy="2377440"/>
          </a:xfrm>
          <a:prstGeom prst="rect">
            <a:avLst/>
          </a:prstGeom>
          <a:noFill/>
        </p:spPr>
        <p:txBody>
          <a:bodyPr wrap="square" anchor="t">
            <a:spAutoFit/>
          </a:bodyPr>
          <a:lstStyle/>
          <a:p>
            <a:pPr algn="l">
              <a:spcAft>
                <a:spcPts val="400"/>
              </a:spcAft>
            </a:pPr>
            <a:r>
              <a:rPr sz="1200" b="0">
                <a:solidFill>
                  <a:srgbClr val="161B26"/>
                </a:solidFill>
                <a:latin typeface="Arial"/>
              </a:rPr>
              <a:t>A special class of agentic AI that stands by 24/7 and works all the time: always on, woken by schedules, events and messages, with its own long-term memory.
Examples: OpenClaw, Hermes Agent, OpenAI Dots.
Trading example: A round-the-clock trading agent that watches prices and news overnight and proposes paper trades within risk limits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AGENTIC AI</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AI Agents vs Agentic AI - Side by Side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AI Agents</a:t>
            </a:r>
          </a:p>
        </p:txBody>
      </p:sp>
      <p:sp>
        <p:nvSpPr>
          <p:cNvPr id="12" name="Rectangle 11"/>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Agentic AI</a:t>
            </a:r>
          </a:p>
        </p:txBody>
      </p:sp>
      <p:sp>
        <p:nvSpPr>
          <p:cNvPr id="14" name="Rectangle 13"/>
          <p:cNvSpPr/>
          <p:nvPr/>
        </p:nvSpPr>
        <p:spPr>
          <a:xfrm>
            <a:off x="777240" y="2286000"/>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What it is</a:t>
            </a:r>
          </a:p>
        </p:txBody>
      </p:sp>
      <p:sp>
        <p:nvSpPr>
          <p:cNvPr id="16" name="TextBox 15"/>
          <p:cNvSpPr txBox="1"/>
          <p:nvPr/>
        </p:nvSpPr>
        <p:spPr>
          <a:xfrm>
            <a:off x="3017520" y="2286000"/>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A special class of agentic AI that is always on</a:t>
            </a:r>
          </a:p>
        </p:txBody>
      </p:sp>
      <p:sp>
        <p:nvSpPr>
          <p:cNvPr id="17" name="TextBox 16"/>
          <p:cNvSpPr txBox="1"/>
          <p:nvPr/>
        </p:nvSpPr>
        <p:spPr>
          <a:xfrm>
            <a:off x="7260336" y="2286000"/>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Capability to plan and act with tools, skills, memory</a:t>
            </a:r>
          </a:p>
        </p:txBody>
      </p:sp>
      <p:sp>
        <p:nvSpPr>
          <p:cNvPr id="18" name="TextBox 17"/>
          <p:cNvSpPr txBox="1"/>
          <p:nvPr/>
        </p:nvSpPr>
        <p:spPr>
          <a:xfrm>
            <a:off x="886968" y="2783205"/>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Runtime</a:t>
            </a:r>
          </a:p>
        </p:txBody>
      </p:sp>
      <p:sp>
        <p:nvSpPr>
          <p:cNvPr id="19" name="TextBox 18"/>
          <p:cNvSpPr txBox="1"/>
          <p:nvPr/>
        </p:nvSpPr>
        <p:spPr>
          <a:xfrm>
            <a:off x="3017520" y="2783205"/>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Persistent: stands by 24/7 on a server or PC</a:t>
            </a:r>
          </a:p>
        </p:txBody>
      </p:sp>
      <p:sp>
        <p:nvSpPr>
          <p:cNvPr id="20" name="TextBox 19"/>
          <p:cNvSpPr txBox="1"/>
          <p:nvPr/>
        </p:nvSpPr>
        <p:spPr>
          <a:xfrm>
            <a:off x="7260336" y="2783205"/>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Runs when invoked: a chat, workflow or pipeline</a:t>
            </a:r>
          </a:p>
        </p:txBody>
      </p:sp>
      <p:sp>
        <p:nvSpPr>
          <p:cNvPr id="21" name="Rectangle 20"/>
          <p:cNvSpPr/>
          <p:nvPr/>
        </p:nvSpPr>
        <p:spPr>
          <a:xfrm>
            <a:off x="777240" y="3280410"/>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280410"/>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Trigger</a:t>
            </a:r>
          </a:p>
        </p:txBody>
      </p:sp>
      <p:sp>
        <p:nvSpPr>
          <p:cNvPr id="23" name="TextBox 22"/>
          <p:cNvSpPr txBox="1"/>
          <p:nvPr/>
        </p:nvSpPr>
        <p:spPr>
          <a:xfrm>
            <a:off x="3017520" y="3280410"/>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Schedules, events, messages - unprompted</a:t>
            </a:r>
          </a:p>
        </p:txBody>
      </p:sp>
      <p:sp>
        <p:nvSpPr>
          <p:cNvPr id="24" name="TextBox 23"/>
          <p:cNvSpPr txBox="1"/>
          <p:nvPr/>
        </p:nvSpPr>
        <p:spPr>
          <a:xfrm>
            <a:off x="7260336" y="3280410"/>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A user prompt or a pipeline step</a:t>
            </a:r>
          </a:p>
        </p:txBody>
      </p:sp>
      <p:sp>
        <p:nvSpPr>
          <p:cNvPr id="25" name="TextBox 24"/>
          <p:cNvSpPr txBox="1"/>
          <p:nvPr/>
        </p:nvSpPr>
        <p:spPr>
          <a:xfrm>
            <a:off x="886968" y="3777614"/>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Memory</a:t>
            </a:r>
          </a:p>
        </p:txBody>
      </p:sp>
      <p:sp>
        <p:nvSpPr>
          <p:cNvPr id="26" name="TextBox 25"/>
          <p:cNvSpPr txBox="1"/>
          <p:nvPr/>
        </p:nvSpPr>
        <p:spPr>
          <a:xfrm>
            <a:off x="3017520" y="3777614"/>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Long-term memory across days and tasks</a:t>
            </a:r>
          </a:p>
        </p:txBody>
      </p:sp>
      <p:sp>
        <p:nvSpPr>
          <p:cNvPr id="27" name="TextBox 26"/>
          <p:cNvSpPr txBox="1"/>
          <p:nvPr/>
        </p:nvSpPr>
        <p:spPr>
          <a:xfrm>
            <a:off x="7260336" y="3777614"/>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Session or task memory; can use long-term memory</a:t>
            </a:r>
          </a:p>
        </p:txBody>
      </p:sp>
      <p:sp>
        <p:nvSpPr>
          <p:cNvPr id="28" name="Rectangle 27"/>
          <p:cNvSpPr/>
          <p:nvPr/>
        </p:nvSpPr>
        <p:spPr>
          <a:xfrm>
            <a:off x="777240" y="4274820"/>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274820"/>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Building blocks</a:t>
            </a:r>
          </a:p>
        </p:txBody>
      </p:sp>
      <p:sp>
        <p:nvSpPr>
          <p:cNvPr id="30" name="TextBox 29"/>
          <p:cNvSpPr txBox="1"/>
          <p:nvPr/>
        </p:nvSpPr>
        <p:spPr>
          <a:xfrm>
            <a:off x="3017520" y="4274820"/>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Agentic AI + always-on runtime and scheduler</a:t>
            </a:r>
          </a:p>
        </p:txBody>
      </p:sp>
      <p:sp>
        <p:nvSpPr>
          <p:cNvPr id="31" name="TextBox 30"/>
          <p:cNvSpPr txBox="1"/>
          <p:nvPr/>
        </p:nvSpPr>
        <p:spPr>
          <a:xfrm>
            <a:off x="7260336" y="4274820"/>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LLM + tools + skills + memory + instructions</a:t>
            </a:r>
          </a:p>
        </p:txBody>
      </p:sp>
      <p:sp>
        <p:nvSpPr>
          <p:cNvPr id="32" name="TextBox 31"/>
          <p:cNvSpPr txBox="1"/>
          <p:nvPr/>
        </p:nvSpPr>
        <p:spPr>
          <a:xfrm>
            <a:off x="886968" y="4772025"/>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Examples</a:t>
            </a:r>
          </a:p>
        </p:txBody>
      </p:sp>
      <p:sp>
        <p:nvSpPr>
          <p:cNvPr id="33" name="TextBox 32"/>
          <p:cNvSpPr txBox="1"/>
          <p:nvPr/>
        </p:nvSpPr>
        <p:spPr>
          <a:xfrm>
            <a:off x="3017520" y="4772025"/>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OpenClaw, Hermes Agent, OpenAI Dots</a:t>
            </a:r>
          </a:p>
        </p:txBody>
      </p:sp>
      <p:sp>
        <p:nvSpPr>
          <p:cNvPr id="34" name="TextBox 33"/>
          <p:cNvSpPr txBox="1"/>
          <p:nvPr/>
        </p:nvSpPr>
        <p:spPr>
          <a:xfrm>
            <a:off x="7260336" y="4772025"/>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Claude Code, ChatGPT with tools, TradingAgents</a:t>
            </a:r>
          </a:p>
        </p:txBody>
      </p:sp>
      <p:sp>
        <p:nvSpPr>
          <p:cNvPr id="35" name="Rectangle 34"/>
          <p:cNvSpPr/>
          <p:nvPr/>
        </p:nvSpPr>
        <p:spPr>
          <a:xfrm>
            <a:off x="777240" y="5269229"/>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6968" y="5269229"/>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Trading example</a:t>
            </a:r>
          </a:p>
        </p:txBody>
      </p:sp>
      <p:sp>
        <p:nvSpPr>
          <p:cNvPr id="37" name="TextBox 36"/>
          <p:cNvSpPr txBox="1"/>
          <p:nvPr/>
        </p:nvSpPr>
        <p:spPr>
          <a:xfrm>
            <a:off x="3017520" y="5269229"/>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24/7 market and news monitor proposing trades</a:t>
            </a:r>
          </a:p>
        </p:txBody>
      </p:sp>
      <p:sp>
        <p:nvSpPr>
          <p:cNvPr id="38" name="TextBox 37"/>
          <p:cNvSpPr txBox="1"/>
          <p:nvPr/>
        </p:nvSpPr>
        <p:spPr>
          <a:xfrm>
            <a:off x="7260336" y="5269229"/>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On-demand multi-agent analysis before a trade</a:t>
            </a:r>
          </a:p>
        </p:txBody>
      </p:sp>
      <p:sp>
        <p:nvSpPr>
          <p:cNvPr id="39" name="TextBox 38"/>
          <p:cNvSpPr txBox="1"/>
          <p:nvPr/>
        </p:nvSpPr>
        <p:spPr>
          <a:xfrm>
            <a:off x="886968" y="5766434"/>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Main risks</a:t>
            </a:r>
          </a:p>
        </p:txBody>
      </p:sp>
      <p:sp>
        <p:nvSpPr>
          <p:cNvPr id="40" name="TextBox 39"/>
          <p:cNvSpPr txBox="1"/>
          <p:nvPr/>
        </p:nvSpPr>
        <p:spPr>
          <a:xfrm>
            <a:off x="3017520" y="5766434"/>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Acting unsupervised overnight; runaway loops</a:t>
            </a:r>
          </a:p>
        </p:txBody>
      </p:sp>
      <p:sp>
        <p:nvSpPr>
          <p:cNvPr id="41" name="TextBox 40"/>
          <p:cNvSpPr txBox="1"/>
          <p:nvPr/>
        </p:nvSpPr>
        <p:spPr>
          <a:xfrm>
            <a:off x="7260336" y="5766434"/>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Hallucination; prompt injection; tool misuse</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AGENTIC AI</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From Chatbot to Always-On AI Agent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24528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647063"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4706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2196846" cy="1371600"/>
          </a:xfrm>
          <a:prstGeom prst="rect">
            <a:avLst/>
          </a:prstGeom>
          <a:noFill/>
        </p:spPr>
        <p:txBody>
          <a:bodyPr wrap="square" anchor="t">
            <a:spAutoFit/>
          </a:bodyPr>
          <a:lstStyle/>
          <a:p>
            <a:pPr algn="ctr">
              <a:spcAft>
                <a:spcPts val="400"/>
              </a:spcAft>
            </a:pPr>
            <a:r>
              <a:rPr sz="1200" b="0">
                <a:solidFill>
                  <a:srgbClr val="161B26"/>
                </a:solidFill>
                <a:latin typeface="Arial"/>
              </a:rPr>
              <a:t>1 · Chatbot: Answers one prompt at a time; no tools, no actions</a:t>
            </a:r>
          </a:p>
        </p:txBody>
      </p:sp>
      <p:sp>
        <p:nvSpPr>
          <p:cNvPr id="15" name="TextBox 14"/>
          <p:cNvSpPr txBox="1"/>
          <p:nvPr/>
        </p:nvSpPr>
        <p:spPr>
          <a:xfrm>
            <a:off x="3211830"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16" name="Rectangle 15"/>
          <p:cNvSpPr/>
          <p:nvPr/>
        </p:nvSpPr>
        <p:spPr>
          <a:xfrm>
            <a:off x="3504438"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504438" y="2240280"/>
            <a:ext cx="24528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374261"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7426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3632454" y="3483864"/>
            <a:ext cx="2196846" cy="1371600"/>
          </a:xfrm>
          <a:prstGeom prst="rect">
            <a:avLst/>
          </a:prstGeom>
          <a:noFill/>
        </p:spPr>
        <p:txBody>
          <a:bodyPr wrap="square" anchor="t">
            <a:spAutoFit/>
          </a:bodyPr>
          <a:lstStyle/>
          <a:p>
            <a:pPr algn="ctr">
              <a:spcAft>
                <a:spcPts val="400"/>
              </a:spcAft>
            </a:pPr>
            <a:r>
              <a:rPr sz="1200" b="0">
                <a:solidFill>
                  <a:srgbClr val="161B26"/>
                </a:solidFill>
                <a:latin typeface="Arial"/>
              </a:rPr>
              <a:t>2 · Agentic AI: Plans and calls tools, skills, memory and instructions when asked</a:t>
            </a:r>
          </a:p>
        </p:txBody>
      </p:sp>
      <p:sp>
        <p:nvSpPr>
          <p:cNvPr id="21" name="TextBox 20"/>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22" name="Rectangle 21"/>
          <p:cNvSpPr/>
          <p:nvPr/>
        </p:nvSpPr>
        <p:spPr>
          <a:xfrm>
            <a:off x="6231636"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240280"/>
            <a:ext cx="24528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101459"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014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6359652" y="3483864"/>
            <a:ext cx="2196846" cy="1371600"/>
          </a:xfrm>
          <a:prstGeom prst="rect">
            <a:avLst/>
          </a:prstGeom>
          <a:noFill/>
        </p:spPr>
        <p:txBody>
          <a:bodyPr wrap="square" anchor="t">
            <a:spAutoFit/>
          </a:bodyPr>
          <a:lstStyle/>
          <a:p>
            <a:pPr algn="ctr">
              <a:spcAft>
                <a:spcPts val="400"/>
              </a:spcAft>
            </a:pPr>
            <a:r>
              <a:rPr sz="1200" b="0">
                <a:solidFill>
                  <a:srgbClr val="161B26"/>
                </a:solidFill>
                <a:latin typeface="Arial"/>
              </a:rPr>
              <a:t>3 · Multi-agent agentic system: Specialist agents coordinate: analysts, debate, trader, risk manager</a:t>
            </a:r>
          </a:p>
        </p:txBody>
      </p:sp>
      <p:sp>
        <p:nvSpPr>
          <p:cNvPr id="27" name="TextBox 26"/>
          <p:cNvSpPr txBox="1"/>
          <p:nvPr/>
        </p:nvSpPr>
        <p:spPr>
          <a:xfrm>
            <a:off x="8666226"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28" name="Rectangle 27"/>
          <p:cNvSpPr/>
          <p:nvPr/>
        </p:nvSpPr>
        <p:spPr>
          <a:xfrm>
            <a:off x="8958834"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58834" y="2240280"/>
            <a:ext cx="24528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828657"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2865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9086850" y="3483864"/>
            <a:ext cx="2196846" cy="1371600"/>
          </a:xfrm>
          <a:prstGeom prst="rect">
            <a:avLst/>
          </a:prstGeom>
          <a:noFill/>
        </p:spPr>
        <p:txBody>
          <a:bodyPr wrap="square" anchor="t">
            <a:spAutoFit/>
          </a:bodyPr>
          <a:lstStyle/>
          <a:p>
            <a:pPr algn="ctr">
              <a:spcAft>
                <a:spcPts val="400"/>
              </a:spcAft>
            </a:pPr>
            <a:r>
              <a:rPr sz="1200" b="0">
                <a:solidFill>
                  <a:srgbClr val="161B26"/>
                </a:solidFill>
                <a:latin typeface="Arial"/>
              </a:rPr>
              <a:t>4 · AI agent (always on): Stands by 24/7, wakes on schedules and events, works continuously within limits</a:t>
            </a:r>
          </a:p>
        </p:txBody>
      </p:sp>
      <p:sp>
        <p:nvSpPr>
          <p:cNvPr id="33" name="Rectangle 32"/>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77240" y="5257800"/>
            <a:ext cx="91440" cy="8229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An AI agent is agentic AI that never switches off - so its limits, kill switch and monitoring matter most.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MULTI-AGENT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Roles in a Multi-Agent Trading System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Fundamental Analyst</a:t>
            </a:r>
          </a:p>
          <a:p>
            <a:pPr algn="l">
              <a:spcAft>
                <a:spcPts val="300"/>
              </a:spcAft>
            </a:pPr>
            <a:r>
              <a:rPr sz="1000" b="0">
                <a:solidFill>
                  <a:srgbClr val="5B6372"/>
                </a:solidFill>
                <a:latin typeface="Arial"/>
              </a:rPr>
              <a:t>Reads filings, earnings and balance sheets to judge intrinsic value</a:t>
            </a:r>
          </a:p>
        </p:txBody>
      </p:sp>
      <p:sp>
        <p:nvSpPr>
          <p:cNvPr id="15" name="Rectangle 14"/>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Technical Analyst</a:t>
            </a:r>
          </a:p>
          <a:p>
            <a:pPr algn="l">
              <a:spcAft>
                <a:spcPts val="300"/>
              </a:spcAft>
            </a:pPr>
            <a:r>
              <a:rPr sz="1000" b="0">
                <a:solidFill>
                  <a:srgbClr val="5B6372"/>
                </a:solidFill>
                <a:latin typeface="Arial"/>
              </a:rPr>
              <a:t>Reads price, volume and indicators such as MACD and RSI</a:t>
            </a:r>
          </a:p>
        </p:txBody>
      </p:sp>
      <p:sp>
        <p:nvSpPr>
          <p:cNvPr id="20" name="Rectangle 19"/>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063240"/>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Sentiment Analyst</a:t>
            </a:r>
          </a:p>
          <a:p>
            <a:pPr algn="l">
              <a:spcAft>
                <a:spcPts val="300"/>
              </a:spcAft>
            </a:pPr>
            <a:r>
              <a:rPr sz="1000" b="0">
                <a:solidFill>
                  <a:srgbClr val="5B6372"/>
                </a:solidFill>
                <a:latin typeface="Arial"/>
              </a:rPr>
              <a:t>Gauges mood from social media, analyst ratings and options flow</a:t>
            </a:r>
          </a:p>
        </p:txBody>
      </p:sp>
      <p:sp>
        <p:nvSpPr>
          <p:cNvPr id="25" name="Rectangle 24"/>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3063240"/>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News Analyst</a:t>
            </a:r>
          </a:p>
          <a:p>
            <a:pPr algn="l">
              <a:spcAft>
                <a:spcPts val="300"/>
              </a:spcAft>
            </a:pPr>
            <a:r>
              <a:rPr sz="1000" b="0">
                <a:solidFill>
                  <a:srgbClr val="5B6372"/>
                </a:solidFill>
                <a:latin typeface="Arial"/>
              </a:rPr>
              <a:t>Tracks news wires, press releases and macro events</a:t>
            </a:r>
          </a:p>
        </p:txBody>
      </p:sp>
      <p:sp>
        <p:nvSpPr>
          <p:cNvPr id="30" name="Rectangle 29"/>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4215384"/>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Bull / Bear Researchers</a:t>
            </a:r>
          </a:p>
          <a:p>
            <a:pPr algn="l">
              <a:spcAft>
                <a:spcPts val="300"/>
              </a:spcAft>
            </a:pPr>
            <a:r>
              <a:rPr sz="1000" b="0">
                <a:solidFill>
                  <a:srgbClr val="5B6372"/>
                </a:solidFill>
                <a:latin typeface="Arial"/>
              </a:rPr>
              <a:t>Argue for and against the trade so weak ideas are challenged</a:t>
            </a:r>
          </a:p>
        </p:txBody>
      </p:sp>
      <p:sp>
        <p:nvSpPr>
          <p:cNvPr id="35" name="Rectangle 34"/>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87668"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9" name="TextBox 38"/>
          <p:cNvSpPr txBox="1"/>
          <p:nvPr/>
        </p:nvSpPr>
        <p:spPr>
          <a:xfrm>
            <a:off x="7219188" y="4215384"/>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Trader</a:t>
            </a:r>
          </a:p>
          <a:p>
            <a:pPr algn="l">
              <a:spcAft>
                <a:spcPts val="300"/>
              </a:spcAft>
            </a:pPr>
            <a:r>
              <a:rPr sz="1000" b="0">
                <a:solidFill>
                  <a:srgbClr val="5B6372"/>
                </a:solidFill>
                <a:latin typeface="Arial"/>
              </a:rPr>
              <a:t>Combines the reports into a buy, sell or hold call with timing and size</a:t>
            </a:r>
          </a:p>
        </p:txBody>
      </p:sp>
      <p:sp>
        <p:nvSpPr>
          <p:cNvPr id="40" name="Rectangle 39"/>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4" name="TextBox 43"/>
          <p:cNvSpPr txBox="1"/>
          <p:nvPr/>
        </p:nvSpPr>
        <p:spPr>
          <a:xfrm>
            <a:off x="1764792" y="5367528"/>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Risk Manager</a:t>
            </a:r>
          </a:p>
          <a:p>
            <a:pPr algn="l">
              <a:spcAft>
                <a:spcPts val="300"/>
              </a:spcAft>
            </a:pPr>
            <a:r>
              <a:rPr sz="1000" b="0">
                <a:solidFill>
                  <a:srgbClr val="5B6372"/>
                </a:solidFill>
                <a:latin typeface="Arial"/>
              </a:rPr>
              <a:t>Checks volatility, liquidity, exposure and drawdown limits</a:t>
            </a:r>
          </a:p>
        </p:txBody>
      </p:sp>
      <p:sp>
        <p:nvSpPr>
          <p:cNvPr id="45" name="Rectangle 44"/>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6487668"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87668"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49" name="TextBox 48"/>
          <p:cNvSpPr txBox="1"/>
          <p:nvPr/>
        </p:nvSpPr>
        <p:spPr>
          <a:xfrm>
            <a:off x="7219188" y="5367528"/>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Portfolio Manager</a:t>
            </a:r>
          </a:p>
          <a:p>
            <a:pPr algn="l">
              <a:spcAft>
                <a:spcPts val="300"/>
              </a:spcAft>
            </a:pPr>
            <a:r>
              <a:rPr sz="1000" b="0">
                <a:solidFill>
                  <a:srgbClr val="5B6372"/>
                </a:solidFill>
                <a:latin typeface="Arial"/>
              </a:rPr>
              <a:t>Approves or rejects the proposal and fits it into the whole portfolio</a:t>
            </a:r>
          </a:p>
        </p:txBody>
      </p:sp>
      <p:sp>
        <p:nvSpPr>
          <p:cNvPr id="50" name="TextBox 4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51" name="TextBox 5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2" name="TextBox 5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MULTI-AGENT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Stock-Trading Agent Frameworks (1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731520"/>
          </a:xfrm>
          <a:prstGeom prst="rect">
            <a:avLst/>
          </a:prstGeom>
          <a:noFill/>
        </p:spPr>
        <p:txBody>
          <a:bodyPr wrap="square" anchor="ctr">
            <a:spAutoFit/>
          </a:bodyPr>
          <a:lstStyle/>
          <a:p>
            <a:pPr algn="l">
              <a:spcAft>
                <a:spcPts val="300"/>
              </a:spcAft>
            </a:pPr>
            <a:r>
              <a:rPr sz="1350" b="1">
                <a:solidFill>
                  <a:srgbClr val="161B26"/>
                </a:solidFill>
                <a:latin typeface="Arial"/>
              </a:rPr>
              <a:t>TradingAgents (Xiao et al., 2024)</a:t>
            </a:r>
          </a:p>
          <a:p>
            <a:pPr algn="l">
              <a:spcAft>
                <a:spcPts val="300"/>
              </a:spcAft>
            </a:pPr>
            <a:r>
              <a:rPr sz="950" b="0">
                <a:solidFill>
                  <a:srgbClr val="5B6372"/>
                </a:solidFill>
                <a:latin typeface="Arial"/>
              </a:rPr>
              <a:t>Simulated stock-trading firm: fundamental, sentiment, news and technical analysts, bull/bear debate, trader, risk team</a:t>
            </a:r>
          </a:p>
        </p:txBody>
      </p:sp>
      <p:sp>
        <p:nvSpPr>
          <p:cNvPr id="15" name="Rectangle 14"/>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3063240"/>
            <a:ext cx="9427464" cy="731520"/>
          </a:xfrm>
          <a:prstGeom prst="rect">
            <a:avLst/>
          </a:prstGeom>
          <a:noFill/>
        </p:spPr>
        <p:txBody>
          <a:bodyPr wrap="square" anchor="ctr">
            <a:spAutoFit/>
          </a:bodyPr>
          <a:lstStyle/>
          <a:p>
            <a:pPr algn="l">
              <a:spcAft>
                <a:spcPts val="300"/>
              </a:spcAft>
            </a:pPr>
            <a:r>
              <a:rPr sz="1350" b="1">
                <a:solidFill>
                  <a:srgbClr val="161B26"/>
                </a:solidFill>
                <a:latin typeface="Arial"/>
              </a:rPr>
              <a:t>FinMem (Yu et al., 2023)</a:t>
            </a:r>
          </a:p>
          <a:p>
            <a:pPr algn="l">
              <a:spcAft>
                <a:spcPts val="300"/>
              </a:spcAft>
            </a:pPr>
            <a:r>
              <a:rPr sz="950" b="0">
                <a:solidFill>
                  <a:srgbClr val="5B6372"/>
                </a:solidFill>
                <a:latin typeface="Arial"/>
              </a:rPr>
              <a:t>LLM trading agent with profiling and layered memory making Buy / Sell / Hold decisions on individual stocks</a:t>
            </a:r>
          </a:p>
        </p:txBody>
      </p:sp>
      <p:sp>
        <p:nvSpPr>
          <p:cNvPr id="20" name="Rectangle 19"/>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9427464" cy="731520"/>
          </a:xfrm>
          <a:prstGeom prst="rect">
            <a:avLst/>
          </a:prstGeom>
          <a:noFill/>
        </p:spPr>
        <p:txBody>
          <a:bodyPr wrap="square" anchor="ctr">
            <a:spAutoFit/>
          </a:bodyPr>
          <a:lstStyle/>
          <a:p>
            <a:pPr algn="l">
              <a:spcAft>
                <a:spcPts val="300"/>
              </a:spcAft>
            </a:pPr>
            <a:r>
              <a:rPr sz="1350" b="1">
                <a:solidFill>
                  <a:srgbClr val="161B26"/>
                </a:solidFill>
                <a:latin typeface="Arial"/>
              </a:rPr>
              <a:t>FinAgent (Zhang et al., 2024)</a:t>
            </a:r>
          </a:p>
          <a:p>
            <a:pPr algn="l">
              <a:spcAft>
                <a:spcPts val="300"/>
              </a:spcAft>
            </a:pPr>
            <a:r>
              <a:rPr sz="950" b="0">
                <a:solidFill>
                  <a:srgbClr val="5B6372"/>
                </a:solidFill>
                <a:latin typeface="Arial"/>
              </a:rPr>
              <a:t>Multimodal agent reading prices, news and chart images, with dual-level reflection; tested on stocks and crypto</a:t>
            </a:r>
          </a:p>
        </p:txBody>
      </p:sp>
      <p:sp>
        <p:nvSpPr>
          <p:cNvPr id="25" name="Rectangle 24"/>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5367528"/>
            <a:ext cx="9427464" cy="731520"/>
          </a:xfrm>
          <a:prstGeom prst="rect">
            <a:avLst/>
          </a:prstGeom>
          <a:noFill/>
        </p:spPr>
        <p:txBody>
          <a:bodyPr wrap="square" anchor="ctr">
            <a:spAutoFit/>
          </a:bodyPr>
          <a:lstStyle/>
          <a:p>
            <a:pPr algn="l">
              <a:spcAft>
                <a:spcPts val="300"/>
              </a:spcAft>
            </a:pPr>
            <a:r>
              <a:rPr sz="1350" b="1">
                <a:solidFill>
                  <a:srgbClr val="161B26"/>
                </a:solidFill>
                <a:latin typeface="Arial"/>
              </a:rPr>
              <a:t>StockAgent (2024)</a:t>
            </a:r>
          </a:p>
          <a:p>
            <a:pPr algn="l">
              <a:spcAft>
                <a:spcPts val="300"/>
              </a:spcAft>
            </a:pPr>
            <a:r>
              <a:rPr sz="950" b="0">
                <a:solidFill>
                  <a:srgbClr val="5B6372"/>
                </a:solidFill>
                <a:latin typeface="Arial"/>
              </a:rPr>
              <a:t>LLM investor agents trade a simulated stock market under macro, policy and event shocks; avoids test-set leakage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MULTI-AGENT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Stock-Trading Agent Frameworks (2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1115568"/>
          </a:xfrm>
          <a:prstGeom prst="rect">
            <a:avLst/>
          </a:prstGeom>
          <a:noFill/>
        </p:spPr>
        <p:txBody>
          <a:bodyPr wrap="square" anchor="ctr">
            <a:spAutoFit/>
          </a:bodyPr>
          <a:lstStyle/>
          <a:p>
            <a:pPr algn="l">
              <a:spcAft>
                <a:spcPts val="300"/>
              </a:spcAft>
            </a:pPr>
            <a:r>
              <a:rPr sz="1350" b="1">
                <a:solidFill>
                  <a:srgbClr val="161B26"/>
                </a:solidFill>
                <a:latin typeface="Arial"/>
              </a:rPr>
              <a:t>QuantAgent (2025)</a:t>
            </a:r>
          </a:p>
          <a:p>
            <a:pPr algn="l">
              <a:spcAft>
                <a:spcPts val="300"/>
              </a:spcAft>
            </a:pPr>
            <a:r>
              <a:rPr sz="950" b="0">
                <a:solidFill>
                  <a:srgbClr val="5B6372"/>
                </a:solidFill>
                <a:latin typeface="Arial"/>
              </a:rPr>
              <a:t>Price-driven multi-agent system for high-frequency trading: Indicator, Pattern, Trend and Risk agents</a:t>
            </a:r>
          </a:p>
        </p:txBody>
      </p:sp>
      <p:sp>
        <p:nvSpPr>
          <p:cNvPr id="15" name="Rectangle 14"/>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3447288"/>
            <a:ext cx="9427464" cy="1115568"/>
          </a:xfrm>
          <a:prstGeom prst="rect">
            <a:avLst/>
          </a:prstGeom>
          <a:noFill/>
        </p:spPr>
        <p:txBody>
          <a:bodyPr wrap="square" anchor="ctr">
            <a:spAutoFit/>
          </a:bodyPr>
          <a:lstStyle/>
          <a:p>
            <a:pPr algn="l">
              <a:spcAft>
                <a:spcPts val="300"/>
              </a:spcAft>
            </a:pPr>
            <a:r>
              <a:rPr sz="1350" b="1">
                <a:solidFill>
                  <a:srgbClr val="161B26"/>
                </a:solidFill>
                <a:latin typeface="Arial"/>
              </a:rPr>
              <a:t>AI Hedge Fund (open source)</a:t>
            </a:r>
          </a:p>
          <a:p>
            <a:pPr algn="l">
              <a:spcAft>
                <a:spcPts val="300"/>
              </a:spcAft>
            </a:pPr>
            <a:r>
              <a:rPr sz="950" b="0">
                <a:solidFill>
                  <a:srgbClr val="5B6372"/>
                </a:solidFill>
                <a:latin typeface="Arial"/>
              </a:rPr>
              <a:t>Investor-persona agents (e.g. Warren Buffett), a risk manager and a portfolio manager decide trades for chosen tickers</a:t>
            </a:r>
          </a:p>
        </p:txBody>
      </p:sp>
      <p:sp>
        <p:nvSpPr>
          <p:cNvPr id="20" name="Rectangle 19"/>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983480"/>
            <a:ext cx="9427464" cy="1115568"/>
          </a:xfrm>
          <a:prstGeom prst="rect">
            <a:avLst/>
          </a:prstGeom>
          <a:noFill/>
        </p:spPr>
        <p:txBody>
          <a:bodyPr wrap="square" anchor="ctr">
            <a:spAutoFit/>
          </a:bodyPr>
          <a:lstStyle/>
          <a:p>
            <a:pPr algn="l">
              <a:spcAft>
                <a:spcPts val="300"/>
              </a:spcAft>
            </a:pPr>
            <a:r>
              <a:rPr sz="1350" b="1">
                <a:solidFill>
                  <a:srgbClr val="161B26"/>
                </a:solidFill>
                <a:latin typeface="Arial"/>
              </a:rPr>
              <a:t>Agentic Trading Lab (Open-Finance-Lab)</a:t>
            </a:r>
          </a:p>
          <a:p>
            <a:pPr algn="l">
              <a:spcAft>
                <a:spcPts val="300"/>
              </a:spcAft>
            </a:pPr>
            <a:r>
              <a:rPr sz="950" b="0">
                <a:solidFill>
                  <a:srgbClr val="5B6372"/>
                </a:solidFill>
                <a:latin typeface="Arial"/>
              </a:rPr>
              <a:t>Agent-run stock portfolios with backtests and paper trading through the Alpaca API</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GOVERNANCE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Risks and Controls for AI Agents in Trading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What goes wrong</a:t>
            </a:r>
          </a:p>
        </p:txBody>
      </p:sp>
      <p:sp>
        <p:nvSpPr>
          <p:cNvPr id="12" name="Rectangle 11"/>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Control</a:t>
            </a:r>
          </a:p>
        </p:txBody>
      </p:sp>
      <p:sp>
        <p:nvSpPr>
          <p:cNvPr id="14" name="Rectangle 13"/>
          <p:cNvSpPr/>
          <p:nvPr/>
        </p:nvSpPr>
        <p:spPr>
          <a:xfrm>
            <a:off x="777240" y="2286000"/>
            <a:ext cx="10634472" cy="6355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Hallucination</a:t>
            </a:r>
          </a:p>
        </p:txBody>
      </p:sp>
      <p:sp>
        <p:nvSpPr>
          <p:cNvPr id="16" name="TextBox 15"/>
          <p:cNvSpPr txBox="1"/>
          <p:nvPr/>
        </p:nvSpPr>
        <p:spPr>
          <a:xfrm>
            <a:off x="3017520" y="228600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An LLM states a wrong earnings figure or invents a signal with confidence</a:t>
            </a:r>
          </a:p>
        </p:txBody>
      </p:sp>
      <p:sp>
        <p:nvSpPr>
          <p:cNvPr id="17" name="TextBox 16"/>
          <p:cNvSpPr txBox="1"/>
          <p:nvPr/>
        </p:nvSpPr>
        <p:spPr>
          <a:xfrm>
            <a:off x="7260336" y="228600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Ground answers in tool or RAG data, log the reasoning, review unusual calls</a:t>
            </a:r>
          </a:p>
        </p:txBody>
      </p:sp>
      <p:sp>
        <p:nvSpPr>
          <p:cNvPr id="18" name="TextBox 17"/>
          <p:cNvSpPr txBox="1"/>
          <p:nvPr/>
        </p:nvSpPr>
        <p:spPr>
          <a:xfrm>
            <a:off x="886968" y="294894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Prompt injection</a:t>
            </a:r>
          </a:p>
        </p:txBody>
      </p:sp>
      <p:sp>
        <p:nvSpPr>
          <p:cNvPr id="19" name="TextBox 18"/>
          <p:cNvSpPr txBox="1"/>
          <p:nvPr/>
        </p:nvSpPr>
        <p:spPr>
          <a:xfrm>
            <a:off x="3017520" y="294894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Malicious text in news, web pages or files hijacks the agent's instructions</a:t>
            </a:r>
          </a:p>
        </p:txBody>
      </p:sp>
      <p:sp>
        <p:nvSpPr>
          <p:cNvPr id="20" name="TextBox 19"/>
          <p:cNvSpPr txBox="1"/>
          <p:nvPr/>
        </p:nvSpPr>
        <p:spPr>
          <a:xfrm>
            <a:off x="7260336" y="294894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Input and output guardrails, least-privilege API keys, no secrets in prompts</a:t>
            </a:r>
          </a:p>
        </p:txBody>
      </p:sp>
      <p:sp>
        <p:nvSpPr>
          <p:cNvPr id="21" name="Rectangle 20"/>
          <p:cNvSpPr/>
          <p:nvPr/>
        </p:nvSpPr>
        <p:spPr>
          <a:xfrm>
            <a:off x="777240" y="3611880"/>
            <a:ext cx="10634472" cy="6355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61188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Overtrading and runaway loops</a:t>
            </a:r>
          </a:p>
        </p:txBody>
      </p:sp>
      <p:sp>
        <p:nvSpPr>
          <p:cNvPr id="23" name="TextBox 22"/>
          <p:cNvSpPr txBox="1"/>
          <p:nvPr/>
        </p:nvSpPr>
        <p:spPr>
          <a:xfrm>
            <a:off x="3017520" y="361188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Agents trade too often or amplify each other, compounding losses</a:t>
            </a:r>
          </a:p>
        </p:txBody>
      </p:sp>
      <p:sp>
        <p:nvSpPr>
          <p:cNvPr id="24" name="TextBox 23"/>
          <p:cNvSpPr txBox="1"/>
          <p:nvPr/>
        </p:nvSpPr>
        <p:spPr>
          <a:xfrm>
            <a:off x="7260336" y="361188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Order and position caps, daily-loss circuit breaker, kill switch</a:t>
            </a:r>
          </a:p>
        </p:txBody>
      </p:sp>
      <p:sp>
        <p:nvSpPr>
          <p:cNvPr id="25" name="TextBox 24"/>
          <p:cNvSpPr txBox="1"/>
          <p:nvPr/>
        </p:nvSpPr>
        <p:spPr>
          <a:xfrm>
            <a:off x="886968" y="427482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Model and backtest risk</a:t>
            </a:r>
          </a:p>
        </p:txBody>
      </p:sp>
      <p:sp>
        <p:nvSpPr>
          <p:cNvPr id="26" name="TextBox 25"/>
          <p:cNvSpPr txBox="1"/>
          <p:nvPr/>
        </p:nvSpPr>
        <p:spPr>
          <a:xfrm>
            <a:off x="3017520" y="427482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Overfitting, look-ahead bias and regime change: strong backtests, weak live results</a:t>
            </a:r>
          </a:p>
        </p:txBody>
      </p:sp>
      <p:sp>
        <p:nvSpPr>
          <p:cNvPr id="27" name="TextBox 26"/>
          <p:cNvSpPr txBox="1"/>
          <p:nvPr/>
        </p:nvSpPr>
        <p:spPr>
          <a:xfrm>
            <a:off x="7260336" y="427482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Walk-forward tests, paper trade first, monitor drift and costs</a:t>
            </a:r>
          </a:p>
        </p:txBody>
      </p:sp>
      <p:sp>
        <p:nvSpPr>
          <p:cNvPr id="28" name="Rectangle 27"/>
          <p:cNvSpPr/>
          <p:nvPr/>
        </p:nvSpPr>
        <p:spPr>
          <a:xfrm>
            <a:off x="777240" y="4937760"/>
            <a:ext cx="10634472" cy="6355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93776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Accountability</a:t>
            </a:r>
          </a:p>
        </p:txBody>
      </p:sp>
      <p:sp>
        <p:nvSpPr>
          <p:cNvPr id="30" name="TextBox 29"/>
          <p:cNvSpPr txBox="1"/>
          <p:nvPr/>
        </p:nvSpPr>
        <p:spPr>
          <a:xfrm>
            <a:off x="3017520" y="493776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Unclear who answers for an autonomous agent's trade or a vendor's AI</a:t>
            </a:r>
          </a:p>
        </p:txBody>
      </p:sp>
      <p:sp>
        <p:nvSpPr>
          <p:cNvPr id="31" name="TextBox 30"/>
          <p:cNvSpPr txBox="1"/>
          <p:nvPr/>
        </p:nvSpPr>
        <p:spPr>
          <a:xfrm>
            <a:off x="7260336" y="493776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The firm stays accountable: human sign-off, audit trails, clear owners</a:t>
            </a:r>
          </a:p>
        </p:txBody>
      </p:sp>
      <p:sp>
        <p:nvSpPr>
          <p:cNvPr id="32" name="TextBox 31"/>
          <p:cNvSpPr txBox="1"/>
          <p:nvPr/>
        </p:nvSpPr>
        <p:spPr>
          <a:xfrm>
            <a:off x="886968" y="560070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Regulation (MAS)</a:t>
            </a:r>
          </a:p>
        </p:txBody>
      </p:sp>
      <p:sp>
        <p:nvSpPr>
          <p:cNvPr id="33" name="TextBox 32"/>
          <p:cNvSpPr txBox="1"/>
          <p:nvPr/>
        </p:nvSpPr>
        <p:spPr>
          <a:xfrm>
            <a:off x="3017520" y="560070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FEAT principles (2018) and MAS AI Risk Management Guidelines (issued Oct 2026)</a:t>
            </a:r>
          </a:p>
        </p:txBody>
      </p:sp>
      <p:sp>
        <p:nvSpPr>
          <p:cNvPr id="34" name="TextBox 33"/>
          <p:cNvSpPr txBox="1"/>
          <p:nvPr/>
        </p:nvSpPr>
        <p:spPr>
          <a:xfrm>
            <a:off x="7260336" y="560070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Board oversight, AI inventory, materiality assessment and lifecycle controls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K9</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Forms of Data within Financial Services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K9</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Market data</a:t>
            </a:r>
          </a:p>
          <a:p>
            <a:pPr algn="l">
              <a:spcAft>
                <a:spcPts val="300"/>
              </a:spcAft>
            </a:pPr>
            <a:r>
              <a:rPr sz="1150" b="0">
                <a:solidFill>
                  <a:srgbClr val="5B6372"/>
                </a:solidFill>
                <a:latin typeface="Arial"/>
              </a:rPr>
              <a:t>OHLCV bars, quotes, trades, order-book depth — Alpaca serves bars, quotes, trades, news.</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Reference &amp; corporate actions</a:t>
            </a:r>
          </a:p>
          <a:p>
            <a:pPr algn="l">
              <a:spcAft>
                <a:spcPts val="300"/>
              </a:spcAft>
            </a:pPr>
            <a:r>
              <a:rPr sz="1150" b="0">
                <a:solidFill>
                  <a:srgbClr val="5B6372"/>
                </a:solidFill>
                <a:latin typeface="Arial"/>
              </a:rPr>
              <a:t>Symbols, calendars, splits, dividends — unadjusted splits fake a crash.</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Fundamental &amp; macro</a:t>
            </a:r>
          </a:p>
          <a:p>
            <a:pPr algn="l">
              <a:spcAft>
                <a:spcPts val="300"/>
              </a:spcAft>
            </a:pPr>
            <a:r>
              <a:rPr sz="1150" b="0">
                <a:solidFill>
                  <a:srgbClr val="5B6372"/>
                </a:solidFill>
                <a:latin typeface="Arial"/>
              </a:rPr>
              <a:t>Statements, ratios, earnings; rates, inflation, central-bank decisions.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Alternative data</a:t>
            </a:r>
          </a:p>
          <a:p>
            <a:pPr algn="l">
              <a:spcAft>
                <a:spcPts val="300"/>
              </a:spcAft>
            </a:pPr>
            <a:r>
              <a:rPr sz="1150" b="0">
                <a:solidFill>
                  <a:srgbClr val="5B6372"/>
                </a:solidFill>
                <a:latin typeface="Arial"/>
              </a:rPr>
              <a:t>News and social sentiment, web traffic, satellite, card spend, ESG.</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K9</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Unstructured Data in Practice — Headlines and Sentiment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K9</a:t>
            </a:r>
          </a:p>
        </p:txBody>
      </p:sp>
      <p:pic>
        <p:nvPicPr>
          <p:cNvPr id="10" name="Picture 9" descr="sim_news_sentiment.png"/>
          <p:cNvPicPr>
            <a:picLocks noChangeAspect="1"/>
          </p:cNvPicPr>
          <p:nvPr/>
        </p:nvPicPr>
        <p:blipFill>
          <a:blip r:embed="rId2"/>
          <a:stretch>
            <a:fillRect/>
          </a:stretch>
        </p:blipFill>
        <p:spPr>
          <a:xfrm>
            <a:off x="2281608" y="2057400"/>
            <a:ext cx="7628479" cy="3520440"/>
          </a:xfrm>
          <a:prstGeom prst="rect">
            <a:avLst/>
          </a:prstGeom>
        </p:spPr>
      </p:pic>
      <p:sp>
        <p:nvSpPr>
          <p:cNvPr id="11" name="Rectangle 10"/>
          <p:cNvSpPr/>
          <p:nvPr/>
        </p:nvSpPr>
        <p:spPr>
          <a:xfrm>
            <a:off x="2270635" y="2046427"/>
            <a:ext cx="7650424" cy="354238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572414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5724144"/>
            <a:ext cx="9144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572414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Data &gt; News &amp; sentiment: headlines (unstructured text) are scored by a lexicon model and stored as one sentiment number per symbol per day - structured data a strategy can use.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A6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Big Data in Trading — the Four Vs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A6</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Volume</a:t>
            </a:r>
          </a:p>
          <a:p>
            <a:pPr algn="l">
              <a:spcAft>
                <a:spcPts val="300"/>
              </a:spcAft>
            </a:pPr>
            <a:r>
              <a:rPr sz="1150" b="0">
                <a:solidFill>
                  <a:srgbClr val="5B6372"/>
                </a:solidFill>
                <a:latin typeface="Arial"/>
              </a:rPr>
              <a:t>Tick data runs to billions of rows per year for one exchange.</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Velocity</a:t>
            </a:r>
          </a:p>
          <a:p>
            <a:pPr algn="l">
              <a:spcAft>
                <a:spcPts val="300"/>
              </a:spcAft>
            </a:pPr>
            <a:r>
              <a:rPr sz="1150" b="0">
                <a:solidFill>
                  <a:srgbClr val="5B6372"/>
                </a:solidFill>
                <a:latin typeface="Arial"/>
              </a:rPr>
              <a:t>Streaming quotes and news arrive in milliseconds.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Variety</a:t>
            </a:r>
          </a:p>
          <a:p>
            <a:pPr algn="l">
              <a:spcAft>
                <a:spcPts val="300"/>
              </a:spcAft>
            </a:pPr>
            <a:r>
              <a:rPr sz="1150" b="0">
                <a:solidFill>
                  <a:srgbClr val="5B6372"/>
                </a:solidFill>
                <a:latin typeface="Arial"/>
              </a:rPr>
              <a:t>Prices, text, images, transcripts — structured and unstructured.</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Veracity</a:t>
            </a:r>
          </a:p>
          <a:p>
            <a:pPr algn="l">
              <a:spcAft>
                <a:spcPts val="300"/>
              </a:spcAft>
            </a:pPr>
            <a:r>
              <a:rPr sz="1150" b="0">
                <a:solidFill>
                  <a:srgbClr val="5B6372"/>
                </a:solidFill>
                <a:latin typeface="Arial"/>
              </a:rPr>
              <a:t>Bad ticks, survivorship, restatements — verify before you trust.</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A6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Big Data Applications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A6</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Execution analytics</a:t>
            </a:r>
          </a:p>
          <a:p>
            <a:pPr algn="l">
              <a:spcAft>
                <a:spcPts val="300"/>
              </a:spcAft>
            </a:pPr>
            <a:r>
              <a:rPr sz="1150" b="0">
                <a:solidFill>
                  <a:srgbClr val="5B6372"/>
                </a:solidFill>
                <a:latin typeface="Arial"/>
              </a:rPr>
              <a:t>Tick and quote data to measure and cut slippage.</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Sentiment and event trading</a:t>
            </a:r>
          </a:p>
          <a:p>
            <a:pPr algn="l">
              <a:spcAft>
                <a:spcPts val="300"/>
              </a:spcAft>
            </a:pPr>
            <a:r>
              <a:rPr sz="1150" b="0">
                <a:solidFill>
                  <a:srgbClr val="5B6372"/>
                </a:solidFill>
                <a:latin typeface="Arial"/>
              </a:rPr>
              <a:t>News and social text scored by NLP and LLMs.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Regime detection</a:t>
            </a:r>
          </a:p>
          <a:p>
            <a:pPr algn="l">
              <a:spcAft>
                <a:spcPts val="300"/>
              </a:spcAft>
            </a:pPr>
            <a:r>
              <a:rPr sz="1150" b="0">
                <a:solidFill>
                  <a:srgbClr val="5B6372"/>
                </a:solidFill>
                <a:latin typeface="Arial"/>
              </a:rPr>
              <a:t>Cross-asset returns clustered into market states.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Surveillance and risk</a:t>
            </a:r>
          </a:p>
          <a:p>
            <a:pPr algn="l">
              <a:spcAft>
                <a:spcPts val="300"/>
              </a:spcAft>
            </a:pPr>
            <a:r>
              <a:rPr sz="1150" b="0">
                <a:solidFill>
                  <a:srgbClr val="5B6372"/>
                </a:solidFill>
                <a:latin typeface="Arial"/>
              </a:rPr>
              <a:t>Order and trade data scanned for market abuse; intraday risk.</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Data Analytics and Modelling Use Cases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Signal generation</a:t>
            </a:r>
          </a:p>
          <a:p>
            <a:pPr algn="l">
              <a:spcAft>
                <a:spcPts val="300"/>
              </a:spcAft>
            </a:pPr>
            <a:r>
              <a:rPr sz="1150" b="0">
                <a:solidFill>
                  <a:srgbClr val="5B6372"/>
                </a:solidFill>
                <a:latin typeface="Arial"/>
              </a:rPr>
              <a:t>Find repeatable return — judged by out-of-sample, net Sharpe.</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Execution</a:t>
            </a:r>
          </a:p>
          <a:p>
            <a:pPr algn="l">
              <a:spcAft>
                <a:spcPts val="300"/>
              </a:spcAft>
            </a:pPr>
            <a:r>
              <a:rPr sz="1150" b="0">
                <a:solidFill>
                  <a:srgbClr val="5B6372"/>
                </a:solidFill>
                <a:latin typeface="Arial"/>
              </a:rPr>
              <a:t>VWAP / TWAP / shortfall — judged by slippage in basis points.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Risk forecasting &amp; sizing</a:t>
            </a:r>
          </a:p>
          <a:p>
            <a:pPr algn="l">
              <a:spcAft>
                <a:spcPts val="300"/>
              </a:spcAft>
            </a:pPr>
            <a:r>
              <a:rPr sz="1150" b="0">
                <a:solidFill>
                  <a:srgbClr val="5B6372"/>
                </a:solidFill>
                <a:latin typeface="Arial"/>
              </a:rPr>
              <a:t>Volatility and VaR models — judged by limit breaches.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Research at scale</a:t>
            </a:r>
          </a:p>
          <a:p>
            <a:pPr algn="l">
              <a:spcAft>
                <a:spcPts val="300"/>
              </a:spcAft>
            </a:pPr>
            <a:r>
              <a:rPr sz="1150" b="0">
                <a:solidFill>
                  <a:srgbClr val="5B6372"/>
                </a:solidFill>
                <a:latin typeface="Arial"/>
              </a:rPr>
              <a:t>LLMs read filings and news — judged by accuracy and hours saved.</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A1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Makes a Hypothesis Testable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A1</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Instrument and universe</a:t>
            </a:r>
          </a:p>
          <a:p>
            <a:pPr algn="l">
              <a:spcAft>
                <a:spcPts val="300"/>
              </a:spcAft>
            </a:pPr>
            <a:r>
              <a:rPr sz="1150" b="0">
                <a:solidFill>
                  <a:srgbClr val="5B6372"/>
                </a:solidFill>
                <a:latin typeface="Arial"/>
              </a:rPr>
              <a:t>e.g. SPY, daily bars, 2018 – 2025.</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Signal and holding period</a:t>
            </a:r>
          </a:p>
          <a:p>
            <a:pPr algn="l">
              <a:spcAft>
                <a:spcPts val="300"/>
              </a:spcAft>
            </a:pPr>
            <a:r>
              <a:rPr sz="1150" b="0">
                <a:solidFill>
                  <a:srgbClr val="5B6372"/>
                </a:solidFill>
                <a:latin typeface="Arial"/>
              </a:rPr>
              <a:t>e.g. three down closes in a row; hold 5 days.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Expected effect and benchmark</a:t>
            </a:r>
          </a:p>
          <a:p>
            <a:pPr algn="l">
              <a:spcAft>
                <a:spcPts val="300"/>
              </a:spcAft>
            </a:pPr>
            <a:r>
              <a:rPr sz="1150" b="0">
                <a:solidFill>
                  <a:srgbClr val="5B6372"/>
                </a:solidFill>
                <a:latin typeface="Arial"/>
              </a:rPr>
              <a:t>Forward return exceeds the unconditional 5-day return.</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Written BEFORE the test</a:t>
            </a:r>
          </a:p>
          <a:p>
            <a:pPr algn="l">
              <a:spcAft>
                <a:spcPts val="300"/>
              </a:spcAft>
            </a:pPr>
            <a:r>
              <a:rPr sz="1150" b="0">
                <a:solidFill>
                  <a:srgbClr val="5B6372"/>
                </a:solidFill>
                <a:latin typeface="Arial"/>
              </a:rPr>
              <a:t>H0, H1 and the significance level chosen first.</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A1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 Testable Hypothesis in Practice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A1</a:t>
            </a:r>
          </a:p>
        </p:txBody>
      </p:sp>
      <p:pic>
        <p:nvPicPr>
          <p:cNvPr id="10" name="Picture 9" descr="sim_hypothesis_test.png"/>
          <p:cNvPicPr>
            <a:picLocks noChangeAspect="1"/>
          </p:cNvPicPr>
          <p:nvPr/>
        </p:nvPicPr>
        <p:blipFill>
          <a:blip r:embed="rId2"/>
          <a:stretch>
            <a:fillRect/>
          </a:stretch>
        </p:blipFill>
        <p:spPr>
          <a:xfrm>
            <a:off x="2116919" y="2057400"/>
            <a:ext cx="7957856" cy="3520440"/>
          </a:xfrm>
          <a:prstGeom prst="rect">
            <a:avLst/>
          </a:prstGeom>
        </p:spPr>
      </p:pic>
      <p:sp>
        <p:nvSpPr>
          <p:cNvPr id="11" name="Rectangle 10"/>
          <p:cNvSpPr/>
          <p:nvPr/>
        </p:nvSpPr>
        <p:spPr>
          <a:xfrm>
            <a:off x="2105946" y="2046427"/>
            <a:ext cx="7979802" cy="354238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572414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5724144"/>
            <a:ext cx="9144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572414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Research &gt; Hypothesis test: H1 and H0 are written before the result, then tested with a Welch t-test, a bootstrap confidence interval and a minimum edge (Lab 4).</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A1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Machine Learning Implementation Steps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A1</a:t>
            </a:r>
          </a:p>
        </p:txBody>
      </p:sp>
      <p:sp>
        <p:nvSpPr>
          <p:cNvPr id="10" name="Rectangle 9"/>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92530"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9253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Frame the problem and hypothesis</a:t>
            </a:r>
          </a:p>
        </p:txBody>
      </p:sp>
      <p:sp>
        <p:nvSpPr>
          <p:cNvPr id="15" name="TextBox 14"/>
          <p:cNvSpPr txBox="1"/>
          <p:nvPr/>
        </p:nvSpPr>
        <p:spPr>
          <a:xfrm>
            <a:off x="2302764"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16" name="Rectangle 15"/>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595372"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010662"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106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2723388"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Collect and clean the data</a:t>
            </a:r>
          </a:p>
        </p:txBody>
      </p:sp>
      <p:sp>
        <p:nvSpPr>
          <p:cNvPr id="21" name="TextBox 20"/>
          <p:cNvSpPr txBox="1"/>
          <p:nvPr/>
        </p:nvSpPr>
        <p:spPr>
          <a:xfrm>
            <a:off x="4120896"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22" name="Rectangle 21"/>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13504"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828794"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28794"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4541520"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Define target and features</a:t>
            </a:r>
          </a:p>
        </p:txBody>
      </p:sp>
      <p:sp>
        <p:nvSpPr>
          <p:cNvPr id="27" name="TextBox 26"/>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28" name="Rectangle 27"/>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1636"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646926"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4692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6359652"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Split by time; train and validate</a:t>
            </a:r>
          </a:p>
        </p:txBody>
      </p:sp>
      <p:sp>
        <p:nvSpPr>
          <p:cNvPr id="33" name="TextBox 32"/>
          <p:cNvSpPr txBox="1"/>
          <p:nvPr/>
        </p:nvSpPr>
        <p:spPr>
          <a:xfrm>
            <a:off x="7757160"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34" name="Rectangle 33"/>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49768"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465058"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650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8" name="TextBox 37"/>
          <p:cNvSpPr txBox="1"/>
          <p:nvPr/>
        </p:nvSpPr>
        <p:spPr>
          <a:xfrm>
            <a:off x="8177784"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Test out of sample</a:t>
            </a:r>
          </a:p>
        </p:txBody>
      </p:sp>
      <p:sp>
        <p:nvSpPr>
          <p:cNvPr id="39" name="TextBox 38"/>
          <p:cNvSpPr txBox="1"/>
          <p:nvPr/>
        </p:nvSpPr>
        <p:spPr>
          <a:xfrm>
            <a:off x="9575292"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40" name="Rectangle 39"/>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867900"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0283190"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28319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4" name="TextBox 43"/>
          <p:cNvSpPr txBox="1"/>
          <p:nvPr/>
        </p:nvSpPr>
        <p:spPr>
          <a:xfrm>
            <a:off x="999591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Paper trade, then review</a:t>
            </a:r>
          </a:p>
        </p:txBody>
      </p:sp>
      <p:sp>
        <p:nvSpPr>
          <p:cNvPr id="45" name="Rectangle 44"/>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77240" y="5257800"/>
            <a:ext cx="91440" cy="8229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A model that skips the out-of-sample test and the paper trade has not been tested.</a:t>
            </a:r>
          </a:p>
        </p:txBody>
      </p:sp>
      <p:sp>
        <p:nvSpPr>
          <p:cNvPr id="48" name="TextBox 4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49" name="TextBox 4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0" name="TextBox 4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Pipeline Skeleton, Configuration and the Alpaca Paper Account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K5</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01</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Create the pipeline package and its config.yaml (universe, strategy parameters, risk limits, costs, secret names), build a validating configuration loader and a market-clock module, and run `python -m pipeline check` against the Alpaca paper account or the offline simulator.</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Set up Python and your AI coding assistant</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Store Alpaca PAPER keys outside the code</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Write the pipeline configuration</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configuration loader with safety validation</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Add the market clock for US and Singapore time</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+3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The pipeline skeleton: config.yaml, risk limits and a verified Alpaca paper account (or simulator).</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Data-Validation Stage: Cross-Check Pipeline Bars against TradingView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A3  K5  K9</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02</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Read daily bars for SGX:D05 and NASDAQ:AAPL from the TradingView Data Window, record them, and build a validation stage that compares TradingView with the pipeline's raw and dividend-adjusted bars and writes a validation report.</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Add the data-check panel to SGX:D05</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Repeat for NASDAQ:AAPL and switch the adjustment</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Record what TradingView shows</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validation stage</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Run the validation stage</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+3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data-validation report reconciling pipeline bars with TradingView for SGX:D05 and AAPL.</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02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02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02_validation.png"/>
          <p:cNvPicPr>
            <a:picLocks noChangeAspect="1"/>
          </p:cNvPicPr>
          <p:nvPr/>
        </p:nvPicPr>
        <p:blipFill>
          <a:blip r:embed="rId2"/>
          <a:stretch>
            <a:fillRect/>
          </a:stretch>
        </p:blipFill>
        <p:spPr>
          <a:xfrm>
            <a:off x="778611" y="1828800"/>
            <a:ext cx="10634472" cy="3517681"/>
          </a:xfrm>
          <a:prstGeom prst="rect">
            <a:avLst/>
          </a:prstGeom>
        </p:spPr>
      </p:pic>
      <p:sp>
        <p:nvSpPr>
          <p:cNvPr id="8" name="Rectangle 7"/>
          <p:cNvSpPr/>
          <p:nvPr/>
        </p:nvSpPr>
        <p:spPr>
          <a:xfrm>
            <a:off x="767638" y="1817827"/>
            <a:ext cx="10656417" cy="3539626"/>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492785"/>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492785"/>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492785"/>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Lab02-tradingview-charts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Ingestion Stage: Multi-Timeframe Bars, Headlines and Data Quality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0B981"/>
                </a:solidFill>
                <a:latin typeface="Arial"/>
              </a:rPr>
              <a:t>A6  K9</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03</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Build `python -m pipeline ingest` to fetch and cache daily, weekly, monthly and hourly bars for the universe, run automated data-quality checks, ingest headlines as unstructured data, and describe the forms of data and the 3 Vs of big data.</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Understand how bars are requested</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cache and load_bars()</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Add automated data-quality checks</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Ingest an unstructured source: news headlines</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ingest run with the report</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+3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An ingestion stage caching multi-timeframe bars and headlines with automated data-quality checks.</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03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03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03_market_data.png"/>
          <p:cNvPicPr>
            <a:picLocks noChangeAspect="1"/>
          </p:cNvPicPr>
          <p:nvPr/>
        </p:nvPicPr>
        <p:blipFill>
          <a:blip r:embed="rId2"/>
          <a:stretch>
            <a:fillRect/>
          </a:stretch>
        </p:blipFill>
        <p:spPr>
          <a:xfrm>
            <a:off x="3102867" y="1828800"/>
            <a:ext cx="5985960" cy="3794760"/>
          </a:xfrm>
          <a:prstGeom prst="rect">
            <a:avLst/>
          </a:prstGeom>
        </p:spPr>
      </p:pic>
      <p:sp>
        <p:nvSpPr>
          <p:cNvPr id="8" name="Rectangle 7"/>
          <p:cNvSpPr/>
          <p:nvPr/>
        </p:nvSpPr>
        <p:spPr>
          <a:xfrm>
            <a:off x="3091894" y="1817827"/>
            <a:ext cx="6007905" cy="381670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6986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6986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6986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Lab03-alpaca-market-data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5B6372"/>
                </a:solidFill>
                <a:latin typeface="Arial"/>
              </a:rPr>
              <a:t>1 hour  ·  see you at 13:30</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Hypothesis Stage: from a Written Card to an Automated Statistical Test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A1  A6  K1</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04</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Write a falsifiable hypothesis card in YAML (H1, H0, signal known at the close, outcome, test, decision rule, big-data use case) and build `python -m pipeline hypothesis` to test it with a Welch t-test, a bootstrap confidence interval and a robustness grid.</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Read the hypothesis card</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Write a card for your own idea</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test engine</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Add the robustness grid, chart and result file</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Run the test on the desk's card</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+3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hypothesis card and an automated statistical test of the SPY dip-after-streak hypothesis.</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15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04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04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04_hypothesis.png"/>
          <p:cNvPicPr>
            <a:picLocks noChangeAspect="1"/>
          </p:cNvPicPr>
          <p:nvPr/>
        </p:nvPicPr>
        <p:blipFill>
          <a:blip r:embed="rId2"/>
          <a:stretch>
            <a:fillRect/>
          </a:stretch>
        </p:blipFill>
        <p:spPr>
          <a:xfrm>
            <a:off x="2265950" y="1828800"/>
            <a:ext cx="7659793" cy="3794760"/>
          </a:xfrm>
          <a:prstGeom prst="rect">
            <a:avLst/>
          </a:prstGeom>
        </p:spPr>
      </p:pic>
      <p:sp>
        <p:nvSpPr>
          <p:cNvPr id="8" name="Rectangle 7"/>
          <p:cNvSpPr/>
          <p:nvPr/>
        </p:nvSpPr>
        <p:spPr>
          <a:xfrm>
            <a:off x="2254978" y="1817827"/>
            <a:ext cx="7681738" cy="381670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6986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6986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6986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Lab04-trading-hypothesis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WHAT YOU COVERED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Topic 1 Recap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91472" y="475488"/>
            <a:ext cx="1920240"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491472"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91472" y="475488"/>
            <a:ext cx="1920240" cy="310896"/>
          </a:xfrm>
          <a:prstGeom prst="rect">
            <a:avLst/>
          </a:prstGeom>
          <a:noFill/>
        </p:spPr>
        <p:txBody>
          <a:bodyPr wrap="square" anchor="ctr">
            <a:spAutoFit/>
          </a:bodyPr>
          <a:lstStyle/>
          <a:p>
            <a:pPr algn="ctr">
              <a:spcAft>
                <a:spcPts val="400"/>
              </a:spcAft>
            </a:pPr>
            <a:r>
              <a:rPr sz="1100" b="1">
                <a:solidFill>
                  <a:srgbClr val="1F6FEB"/>
                </a:solidFill>
                <a:latin typeface="Arial"/>
              </a:rPr>
              <a:t>A1  A6  K1  K9</a:t>
            </a:r>
          </a:p>
        </p:txBody>
      </p:sp>
      <p:sp>
        <p:nvSpPr>
          <p:cNvPr id="10" name="Rectangle 9"/>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A1</a:t>
            </a:r>
          </a:p>
          <a:p>
            <a:pPr algn="l">
              <a:spcAft>
                <a:spcPts val="300"/>
              </a:spcAft>
            </a:pPr>
            <a:r>
              <a:rPr sz="1000" b="0">
                <a:solidFill>
                  <a:srgbClr val="5B6372"/>
                </a:solidFill>
                <a:latin typeface="Arial"/>
              </a:rPr>
              <a:t>Develop hypotheses for implementing data analytics and computational modelling activities</a:t>
            </a:r>
          </a:p>
        </p:txBody>
      </p:sp>
      <p:sp>
        <p:nvSpPr>
          <p:cNvPr id="15" name="Rectangle 14"/>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3063240"/>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A6</a:t>
            </a:r>
          </a:p>
          <a:p>
            <a:pPr algn="l">
              <a:spcAft>
                <a:spcPts val="300"/>
              </a:spcAft>
            </a:pPr>
            <a:r>
              <a:rPr sz="1000" b="0">
                <a:solidFill>
                  <a:srgbClr val="5B6372"/>
                </a:solidFill>
                <a:latin typeface="Arial"/>
              </a:rPr>
              <a:t>Identify possible big data applications</a:t>
            </a:r>
          </a:p>
        </p:txBody>
      </p:sp>
      <p:sp>
        <p:nvSpPr>
          <p:cNvPr id="20" name="Rectangle 19"/>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K1</a:t>
            </a:r>
          </a:p>
          <a:p>
            <a:pPr algn="l">
              <a:spcAft>
                <a:spcPts val="300"/>
              </a:spcAft>
            </a:pPr>
            <a:r>
              <a:rPr sz="1000" b="0">
                <a:solidFill>
                  <a:srgbClr val="5B6372"/>
                </a:solidFill>
                <a:latin typeface="Arial"/>
              </a:rPr>
              <a:t>Data analytics and modelling business use cases</a:t>
            </a:r>
          </a:p>
        </p:txBody>
      </p:sp>
      <p:sp>
        <p:nvSpPr>
          <p:cNvPr id="25" name="Rectangle 24"/>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5367528"/>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K9</a:t>
            </a:r>
          </a:p>
          <a:p>
            <a:pPr algn="l">
              <a:spcAft>
                <a:spcPts val="300"/>
              </a:spcAft>
            </a:pPr>
            <a:r>
              <a:rPr sz="1000" b="0">
                <a:solidFill>
                  <a:srgbClr val="5B6372"/>
                </a:solidFill>
                <a:latin typeface="Arial"/>
              </a:rPr>
              <a:t>Forms of data within financial services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874519"/>
            <a:ext cx="8778240" cy="457200"/>
          </a:xfrm>
          <a:prstGeom prst="rect">
            <a:avLst/>
          </a:prstGeom>
          <a:noFill/>
        </p:spPr>
        <p:txBody>
          <a:bodyPr wrap="square" anchor="t">
            <a:spAutoFit/>
          </a:bodyPr>
          <a:lstStyle/>
          <a:p>
            <a:pPr algn="l">
              <a:spcAft>
                <a:spcPts val="400"/>
              </a:spcAft>
            </a:pPr>
            <a:r>
              <a:rPr sz="1600" b="1">
                <a:solidFill>
                  <a:srgbClr val="10B981"/>
                </a:solidFill>
                <a:latin typeface="Arial"/>
              </a:rPr>
              <a:t>TOPIC 2</a:t>
            </a:r>
          </a:p>
        </p:txBody>
      </p:sp>
      <p:sp>
        <p:nvSpPr>
          <p:cNvPr id="5" name="TextBox 4"/>
          <p:cNvSpPr txBox="1"/>
          <p:nvPr/>
        </p:nvSpPr>
        <p:spPr>
          <a:xfrm>
            <a:off x="1188720" y="2331720"/>
            <a:ext cx="9509760" cy="914400"/>
          </a:xfrm>
          <a:prstGeom prst="rect">
            <a:avLst/>
          </a:prstGeom>
          <a:noFill/>
        </p:spPr>
        <p:txBody>
          <a:bodyPr wrap="square" anchor="t">
            <a:spAutoFit/>
          </a:bodyPr>
          <a:lstStyle/>
          <a:p>
            <a:pPr algn="l">
              <a:spcAft>
                <a:spcPts val="400"/>
              </a:spcAft>
            </a:pPr>
            <a:r>
              <a:rPr sz="4000" b="1">
                <a:solidFill>
                  <a:srgbClr val="161B26"/>
                </a:solidFill>
                <a:latin typeface="Arial"/>
              </a:rPr>
              <a:t>Indicators, Strategies and Metrics</a:t>
            </a:r>
          </a:p>
        </p:txBody>
      </p:sp>
      <p:sp>
        <p:nvSpPr>
          <p:cNvPr id="6" name="Rectangle 5"/>
          <p:cNvSpPr/>
          <p:nvPr/>
        </p:nvSpPr>
        <p:spPr>
          <a:xfrm>
            <a:off x="1188720" y="3429000"/>
            <a:ext cx="9509760"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88720" y="3429000"/>
            <a:ext cx="82296" cy="1234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81328" y="3429000"/>
            <a:ext cx="9052560" cy="1234440"/>
          </a:xfrm>
          <a:prstGeom prst="rect">
            <a:avLst/>
          </a:prstGeom>
          <a:noFill/>
        </p:spPr>
        <p:txBody>
          <a:bodyPr wrap="square" anchor="ctr">
            <a:spAutoFit/>
          </a:bodyPr>
          <a:lstStyle/>
          <a:p>
            <a:pPr algn="l">
              <a:spcAft>
                <a:spcPts val="400"/>
              </a:spcAft>
            </a:pPr>
            <a:r>
              <a:rPr sz="1050" b="1">
                <a:solidFill>
                  <a:srgbClr val="10B981"/>
                </a:solidFill>
                <a:latin typeface="Arial"/>
              </a:rPr>
              <a:t>LEARNING OUTCOME</a:t>
            </a:r>
          </a:p>
          <a:p>
            <a:pPr algn="l">
              <a:spcAft>
                <a:spcPts val="400"/>
              </a:spcAft>
            </a:pPr>
            <a:r>
              <a:rPr sz="1350" b="0">
                <a:solidFill>
                  <a:srgbClr val="161B26"/>
                </a:solidFill>
                <a:latin typeface="Arial"/>
              </a:rPr>
              <a:t>Identify appropriate statistical algorithms and data models to test trading hypotheses, and use appropriate analytics platforms, analytical tools and statistical methods given specific analytics and reporting requirements.</a:t>
            </a:r>
          </a:p>
        </p:txBody>
      </p:sp>
      <p:sp>
        <p:nvSpPr>
          <p:cNvPr id="9" name="TextBox 8"/>
          <p:cNvSpPr txBox="1"/>
          <p:nvPr/>
        </p:nvSpPr>
        <p:spPr>
          <a:xfrm>
            <a:off x="1188720" y="4892040"/>
            <a:ext cx="9509760" cy="457200"/>
          </a:xfrm>
          <a:prstGeom prst="rect">
            <a:avLst/>
          </a:prstGeom>
          <a:noFill/>
        </p:spPr>
        <p:txBody>
          <a:bodyPr wrap="square" anchor="t">
            <a:spAutoFit/>
          </a:bodyPr>
          <a:lstStyle/>
          <a:p>
            <a:pPr algn="l">
              <a:spcAft>
                <a:spcPts val="400"/>
              </a:spcAft>
            </a:pPr>
            <a:r>
              <a:rPr sz="1150" b="0">
                <a:solidFill>
                  <a:srgbClr val="5B6372"/>
                </a:solidFill>
                <a:latin typeface="Arial"/>
              </a:rPr>
              <a:t>Abilities A2, A3  ·  Knowledge K3, K5, K7   ·   Day 1   ·   Labs 5–9   ·   Assessed by PP Task 2 and WA Q3, Q5, Q7</a:t>
            </a:r>
          </a:p>
        </p:txBody>
      </p:sp>
      <p:sp>
        <p:nvSpPr>
          <p:cNvPr id="10" name="TextBox 9"/>
          <p:cNvSpPr txBox="1"/>
          <p:nvPr/>
        </p:nvSpPr>
        <p:spPr>
          <a:xfrm>
            <a:off x="9692640" y="914400"/>
            <a:ext cx="2011680" cy="2011680"/>
          </a:xfrm>
          <a:prstGeom prst="rect">
            <a:avLst/>
          </a:prstGeom>
          <a:noFill/>
        </p:spPr>
        <p:txBody>
          <a:bodyPr wrap="square" anchor="t">
            <a:spAutoFit/>
          </a:bodyPr>
          <a:lstStyle/>
          <a:p>
            <a:pPr algn="r">
              <a:spcAft>
                <a:spcPts val="400"/>
              </a:spcAft>
            </a:pPr>
            <a:r>
              <a:rPr sz="9600" b="1">
                <a:solidFill>
                  <a:srgbClr val="F5F8FC"/>
                </a:solidFill>
                <a:latin typeface="Arial"/>
              </a:rPr>
              <a:t>02</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Trend and Momentum Indicators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SMA / EMA</a:t>
            </a:r>
          </a:p>
          <a:p>
            <a:pPr algn="l">
              <a:spcAft>
                <a:spcPts val="300"/>
              </a:spcAft>
            </a:pPr>
            <a:r>
              <a:rPr sz="1150" b="0">
                <a:solidFill>
                  <a:srgbClr val="5B6372"/>
                </a:solidFill>
                <a:latin typeface="Arial"/>
              </a:rPr>
              <a:t>Average close over n bars; EMA weights recent bars by 2/(n+1).</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MACD</a:t>
            </a:r>
          </a:p>
          <a:p>
            <a:pPr algn="l">
              <a:spcAft>
                <a:spcPts val="300"/>
              </a:spcAft>
            </a:pPr>
            <a:r>
              <a:rPr sz="1150" b="0">
                <a:solidFill>
                  <a:srgbClr val="5B6372"/>
                </a:solidFill>
                <a:latin typeface="Arial"/>
              </a:rPr>
              <a:t>EMA12 − EMA26 with a 9-EMA signal line; crosses flag momentum.</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RSI (14)</a:t>
            </a:r>
          </a:p>
          <a:p>
            <a:pPr algn="l">
              <a:spcAft>
                <a:spcPts val="300"/>
              </a:spcAft>
            </a:pPr>
            <a:r>
              <a:rPr sz="1150" b="0">
                <a:solidFill>
                  <a:srgbClr val="5B6372"/>
                </a:solidFill>
                <a:latin typeface="Arial"/>
              </a:rPr>
              <a:t>100 − 100/(1+RS); above 70 overbought, below 30 oversold.</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Donchian channel</a:t>
            </a:r>
          </a:p>
          <a:p>
            <a:pPr algn="l">
              <a:spcAft>
                <a:spcPts val="300"/>
              </a:spcAft>
            </a:pPr>
            <a:r>
              <a:rPr sz="1150" b="0">
                <a:solidFill>
                  <a:srgbClr val="5B6372"/>
                </a:solidFill>
                <a:latin typeface="Arial"/>
              </a:rPr>
              <a:t>Highest high / lowest low of n bars — the breakout level.</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Indicator: Moving Averages (SMA and EMA)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ind_sma_ema.png"/>
          <p:cNvPicPr>
            <a:picLocks noChangeAspect="1"/>
          </p:cNvPicPr>
          <p:nvPr/>
        </p:nvPicPr>
        <p:blipFill>
          <a:blip r:embed="rId2"/>
          <a:stretch>
            <a:fillRect/>
          </a:stretch>
        </p:blipFill>
        <p:spPr>
          <a:xfrm>
            <a:off x="777240" y="2395728"/>
            <a:ext cx="6172200" cy="3209544"/>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The average closing price over the last n bars - a smoothed line that shows the trend. The EMA weights recent bars more, so it turns sooner.</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SMA(n) = (C1 + C2 + ... + Cn) / n.  EMA(t) = a x C(t) + (1 - a) x EMA(t-1), with a = 2 / (n + 1).</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Price above a rising average = uptrend. The 50 / 200-day pair is the classic trend filter; EMA 20 tracks the short-term trend.</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Every average lags: the longer n, the smoother - and the later each signal. In sideways markets price whipsaws across it.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Indicator: MACD (Moving Average Convergence Divergence)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ind_macd.png"/>
          <p:cNvPicPr>
            <a:picLocks noChangeAspect="1"/>
          </p:cNvPicPr>
          <p:nvPr/>
        </p:nvPicPr>
        <p:blipFill>
          <a:blip r:embed="rId2"/>
          <a:stretch>
            <a:fillRect/>
          </a:stretch>
        </p:blipFill>
        <p:spPr>
          <a:xfrm>
            <a:off x="777240" y="2239164"/>
            <a:ext cx="6172200" cy="352267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A momentum-of-trend gauge: the gap between a fast and a slow EMA, with a signal line and a histogram that show whether momentum is growing.</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MACD = EMA12(C) - EMA26(C).  Signal = EMA9(MACD).  Histogram = MACD - Signal.</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MACD crossing above its signal line = momentum turning up; MACD above zero = the 12-day trend is above the 26-day trend.</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A shrinking histogram warns that a move is losing strength before price turns - but it is built from EMAs, so it lags and whipsaws in ranges.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Indicator: RSI (Relative Strength Index)</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ind_rsi.png"/>
          <p:cNvPicPr>
            <a:picLocks noChangeAspect="1"/>
          </p:cNvPicPr>
          <p:nvPr/>
        </p:nvPicPr>
        <p:blipFill>
          <a:blip r:embed="rId2"/>
          <a:stretch>
            <a:fillRect/>
          </a:stretch>
        </p:blipFill>
        <p:spPr>
          <a:xfrm>
            <a:off x="777240" y="2239164"/>
            <a:ext cx="6172200" cy="352267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An oscillator from 0 to 100 that compares the size of recent gains with recent losses - how stretched the latest move is.</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RS = average gain / average loss over n bars (Wilder smoothing, n = 14).  RSI = 100 - 100 / (1 + RS).</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Above 70 = overbought, below 30 = oversold. Short look-backs such as RSI(2) are used for mean-reversion entries.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In a strong trend RSI can stay above 70 for weeks: overbought is not a sell signal by itself. Test the thresholds - they are conventions.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RSI(N): the Number Is the Look-back Period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RSI(2) - short look-back</a:t>
            </a:r>
          </a:p>
        </p:txBody>
      </p:sp>
      <p:sp>
        <p:nvSpPr>
          <p:cNvPr id="12" name="Rectangle 11"/>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RSI(14) - Wilder's standard (1978)</a:t>
            </a:r>
          </a:p>
        </p:txBody>
      </p:sp>
      <p:sp>
        <p:nvSpPr>
          <p:cNvPr id="14" name="Rectangle 13"/>
          <p:cNvSpPr/>
          <p:nvPr/>
        </p:nvSpPr>
        <p:spPr>
          <a:xfrm>
            <a:off x="777240" y="2286000"/>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Look-back</a:t>
            </a:r>
          </a:p>
        </p:txBody>
      </p:sp>
      <p:sp>
        <p:nvSpPr>
          <p:cNvPr id="16" name="TextBox 15"/>
          <p:cNvSpPr txBox="1"/>
          <p:nvPr/>
        </p:nvSpPr>
        <p:spPr>
          <a:xfrm>
            <a:off x="3017520" y="2286000"/>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The last 2 bars (days on a daily chart)</a:t>
            </a:r>
          </a:p>
        </p:txBody>
      </p:sp>
      <p:sp>
        <p:nvSpPr>
          <p:cNvPr id="17" name="TextBox 16"/>
          <p:cNvSpPr txBox="1"/>
          <p:nvPr/>
        </p:nvSpPr>
        <p:spPr>
          <a:xfrm>
            <a:off x="7260336" y="2286000"/>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The last 14 bars - about 3 trading weeks</a:t>
            </a:r>
          </a:p>
        </p:txBody>
      </p:sp>
      <p:sp>
        <p:nvSpPr>
          <p:cNvPr id="18" name="TextBox 17"/>
          <p:cNvSpPr txBox="1"/>
          <p:nvPr/>
        </p:nvSpPr>
        <p:spPr>
          <a:xfrm>
            <a:off x="886968" y="2854234"/>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Reacts to</a:t>
            </a:r>
          </a:p>
        </p:txBody>
      </p:sp>
      <p:sp>
        <p:nvSpPr>
          <p:cNvPr id="19" name="TextBox 18"/>
          <p:cNvSpPr txBox="1"/>
          <p:nvPr/>
        </p:nvSpPr>
        <p:spPr>
          <a:xfrm>
            <a:off x="3017520" y="2854234"/>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1-2 day moves: fast and jumpy</a:t>
            </a:r>
          </a:p>
        </p:txBody>
      </p:sp>
      <p:sp>
        <p:nvSpPr>
          <p:cNvPr id="20" name="TextBox 19"/>
          <p:cNvSpPr txBox="1"/>
          <p:nvPr/>
        </p:nvSpPr>
        <p:spPr>
          <a:xfrm>
            <a:off x="7260336" y="2854234"/>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Sustained moves: smooth and slower</a:t>
            </a:r>
          </a:p>
        </p:txBody>
      </p:sp>
      <p:sp>
        <p:nvSpPr>
          <p:cNvPr id="21" name="Rectangle 20"/>
          <p:cNvSpPr/>
          <p:nvPr/>
        </p:nvSpPr>
        <p:spPr>
          <a:xfrm>
            <a:off x="777240" y="3422468"/>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422468"/>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How often extreme</a:t>
            </a:r>
          </a:p>
        </p:txBody>
      </p:sp>
      <p:sp>
        <p:nvSpPr>
          <p:cNvPr id="23" name="TextBox 22"/>
          <p:cNvSpPr txBox="1"/>
          <p:nvPr/>
        </p:nvSpPr>
        <p:spPr>
          <a:xfrm>
            <a:off x="3017520" y="3422468"/>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Often: SPY RSI(2) &lt; 10 on 9.6% of days</a:t>
            </a:r>
          </a:p>
        </p:txBody>
      </p:sp>
      <p:sp>
        <p:nvSpPr>
          <p:cNvPr id="24" name="TextBox 23"/>
          <p:cNvSpPr txBox="1"/>
          <p:nvPr/>
        </p:nvSpPr>
        <p:spPr>
          <a:xfrm>
            <a:off x="7260336" y="3422468"/>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Rarely: SPY RSI(14) &lt; 30 on 1.7% of days</a:t>
            </a:r>
          </a:p>
        </p:txBody>
      </p:sp>
      <p:sp>
        <p:nvSpPr>
          <p:cNvPr id="25" name="TextBox 24"/>
          <p:cNvSpPr txBox="1"/>
          <p:nvPr/>
        </p:nvSpPr>
        <p:spPr>
          <a:xfrm>
            <a:off x="886968" y="3990702"/>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Typical levels</a:t>
            </a:r>
          </a:p>
        </p:txBody>
      </p:sp>
      <p:sp>
        <p:nvSpPr>
          <p:cNvPr id="26" name="TextBox 25"/>
          <p:cNvSpPr txBox="1"/>
          <p:nvPr/>
        </p:nvSpPr>
        <p:spPr>
          <a:xfrm>
            <a:off x="3017520" y="3990702"/>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Buy below 10, exit above 70 (simulator default)</a:t>
            </a:r>
          </a:p>
        </p:txBody>
      </p:sp>
      <p:sp>
        <p:nvSpPr>
          <p:cNvPr id="27" name="TextBox 26"/>
          <p:cNvSpPr txBox="1"/>
          <p:nvPr/>
        </p:nvSpPr>
        <p:spPr>
          <a:xfrm>
            <a:off x="7260336" y="3990702"/>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Buy below 30, sell above 70</a:t>
            </a:r>
          </a:p>
        </p:txBody>
      </p:sp>
      <p:sp>
        <p:nvSpPr>
          <p:cNvPr id="28" name="Rectangle 27"/>
          <p:cNvSpPr/>
          <p:nvPr/>
        </p:nvSpPr>
        <p:spPr>
          <a:xfrm>
            <a:off x="777240" y="4558937"/>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558937"/>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SPY, 10 Oct 2025 (-2.7% after a -0.3% day)</a:t>
            </a:r>
          </a:p>
        </p:txBody>
      </p:sp>
      <p:sp>
        <p:nvSpPr>
          <p:cNvPr id="30" name="TextBox 29"/>
          <p:cNvSpPr txBox="1"/>
          <p:nvPr/>
        </p:nvSpPr>
        <p:spPr>
          <a:xfrm>
            <a:off x="3017520" y="4558937"/>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5.8 - deeply oversold: the RSI(2) rule buys</a:t>
            </a:r>
          </a:p>
        </p:txBody>
      </p:sp>
      <p:sp>
        <p:nvSpPr>
          <p:cNvPr id="31" name="TextBox 30"/>
          <p:cNvSpPr txBox="1"/>
          <p:nvPr/>
        </p:nvSpPr>
        <p:spPr>
          <a:xfrm>
            <a:off x="7260336" y="4558937"/>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42.5 - neutral: no signal</a:t>
            </a:r>
          </a:p>
        </p:txBody>
      </p:sp>
      <p:sp>
        <p:nvSpPr>
          <p:cNvPr id="32" name="TextBox 31"/>
          <p:cNvSpPr txBox="1"/>
          <p:nvPr/>
        </p:nvSpPr>
        <p:spPr>
          <a:xfrm>
            <a:off x="886968" y="5127171"/>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Next trading day, 13 Oct</a:t>
            </a:r>
          </a:p>
        </p:txBody>
      </p:sp>
      <p:sp>
        <p:nvSpPr>
          <p:cNvPr id="33" name="TextBox 32"/>
          <p:cNvSpPr txBox="1"/>
          <p:nvPr/>
        </p:nvSpPr>
        <p:spPr>
          <a:xfrm>
            <a:off x="3017520" y="5127171"/>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SPY +1.5% - the bounce is captured</a:t>
            </a:r>
          </a:p>
        </p:txBody>
      </p:sp>
      <p:sp>
        <p:nvSpPr>
          <p:cNvPr id="34" name="TextBox 33"/>
          <p:cNvSpPr txBox="1"/>
          <p:nvPr/>
        </p:nvSpPr>
        <p:spPr>
          <a:xfrm>
            <a:off x="7260336" y="5127171"/>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No trade</a:t>
            </a:r>
          </a:p>
        </p:txBody>
      </p:sp>
      <p:sp>
        <p:nvSpPr>
          <p:cNvPr id="35" name="Rectangle 34"/>
          <p:cNvSpPr/>
          <p:nvPr/>
        </p:nvSpPr>
        <p:spPr>
          <a:xfrm>
            <a:off x="777240" y="5695405"/>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6968" y="5695405"/>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Simulator strategy</a:t>
            </a:r>
          </a:p>
        </p:txBody>
      </p:sp>
      <p:sp>
        <p:nvSpPr>
          <p:cNvPr id="37" name="TextBox 36"/>
          <p:cNvSpPr txBox="1"/>
          <p:nvPr/>
        </p:nvSpPr>
        <p:spPr>
          <a:xfrm>
            <a:off x="3017520" y="5695405"/>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RSI(2) mean reversion (Connors style)</a:t>
            </a:r>
          </a:p>
        </p:txBody>
      </p:sp>
      <p:sp>
        <p:nvSpPr>
          <p:cNvPr id="38" name="TextBox 37"/>
          <p:cNvSpPr txBox="1"/>
          <p:nvPr/>
        </p:nvSpPr>
        <p:spPr>
          <a:xfrm>
            <a:off x="7260336" y="5695405"/>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RSI oversold / overbought</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Number in Brackets Is Always the Look-back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RSI(N) formula</a:t>
            </a:r>
          </a:p>
          <a:p>
            <a:pPr algn="l">
              <a:spcAft>
                <a:spcPts val="300"/>
              </a:spcAft>
            </a:pPr>
            <a:r>
              <a:rPr sz="1100" b="0">
                <a:solidFill>
                  <a:srgbClr val="5B6372"/>
                </a:solidFill>
                <a:latin typeface="Arial"/>
              </a:rPr>
              <a:t>RS = average gain / average loss over the last N bars; RSI = 100 - 100 / (1 + RS). Mostly up days: near 100. Mostly down: near 0. Equal: 50.</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SMA(50) and EMA(20)</a:t>
            </a:r>
          </a:p>
          <a:p>
            <a:pPr algn="l">
              <a:spcAft>
                <a:spcPts val="300"/>
              </a:spcAft>
            </a:pPr>
            <a:r>
              <a:rPr sz="1100" b="0">
                <a:solidFill>
                  <a:srgbClr val="5B6372"/>
                </a:solidFill>
                <a:latin typeface="Arial"/>
              </a:rPr>
              <a:t>SMA(50): average of the last 50 closes. EMA(20): exponential average over about 20 bars, weighting recent bars more.</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Bollinger(20, 2) and ATR(14)</a:t>
            </a:r>
          </a:p>
          <a:p>
            <a:pPr algn="l">
              <a:spcAft>
                <a:spcPts val="300"/>
              </a:spcAft>
            </a:pPr>
            <a:r>
              <a:rPr sz="1100" b="0">
                <a:solidFill>
                  <a:srgbClr val="5B6372"/>
                </a:solidFill>
                <a:latin typeface="Arial"/>
              </a:rPr>
              <a:t>Bollinger: 20-day average with bands 2 standard deviations away. ATR(14): average true range over 14 bars.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Where to change N</a:t>
            </a:r>
          </a:p>
          <a:p>
            <a:pPr algn="l">
              <a:spcAft>
                <a:spcPts val="300"/>
              </a:spcAft>
            </a:pPr>
            <a:r>
              <a:rPr sz="1100" b="0">
                <a:solidFill>
                  <a:srgbClr val="5B6372"/>
                </a:solidFill>
                <a:latin typeface="Arial"/>
              </a:rPr>
              <a:t>TradingView: the indicator's Settings &gt; Inputs &gt; Length. Simulator: the strategy's parameter (e.g. RSI length n) before you backtest.</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Indicator: Donchian Channel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ind_donchian.png"/>
          <p:cNvPicPr>
            <a:picLocks noChangeAspect="1"/>
          </p:cNvPicPr>
          <p:nvPr/>
        </p:nvPicPr>
        <p:blipFill>
          <a:blip r:embed="rId2"/>
          <a:stretch>
            <a:fillRect/>
          </a:stretch>
        </p:blipFill>
        <p:spPr>
          <a:xfrm>
            <a:off x="777240" y="2394160"/>
            <a:ext cx="6172200" cy="3212678"/>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A channel drawn through the highest high and the lowest low of the last n bars - the levels a breakout must clear.</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Upper(n) = max(High, last n bars).  Lower(n) = min(Low, last n bars).  Classic n = 20 (the Turtle traders used 20 and 55).</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A close above the prior upper band = upside breakout; exit on a break of a shorter (e.g. 10-day) low.</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Breakout systems win rarely but big. Compare today's close with the channel up to YESTERDAY - including today's high is look-ahead.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Volatility and Volume Indicators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Bollinger Bands</a:t>
            </a:r>
          </a:p>
          <a:p>
            <a:pPr algn="l">
              <a:spcAft>
                <a:spcPts val="300"/>
              </a:spcAft>
            </a:pPr>
            <a:r>
              <a:rPr sz="1150" b="0">
                <a:solidFill>
                  <a:srgbClr val="5B6372"/>
                </a:solidFill>
                <a:latin typeface="Arial"/>
              </a:rPr>
              <a:t>SMA20 ± 2 standard deviations; width tracks volatility.</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ATR (14)</a:t>
            </a:r>
          </a:p>
          <a:p>
            <a:pPr algn="l">
              <a:spcAft>
                <a:spcPts val="300"/>
              </a:spcAft>
            </a:pPr>
            <a:r>
              <a:rPr sz="1150" b="0">
                <a:solidFill>
                  <a:srgbClr val="5B6372"/>
                </a:solidFill>
                <a:latin typeface="Arial"/>
              </a:rPr>
              <a:t>Average true range — position sizing and volatility stops.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VWAP</a:t>
            </a:r>
          </a:p>
          <a:p>
            <a:pPr algn="l">
              <a:spcAft>
                <a:spcPts val="300"/>
              </a:spcAft>
            </a:pPr>
            <a:r>
              <a:rPr sz="1150" b="0">
                <a:solidFill>
                  <a:srgbClr val="5B6372"/>
                </a:solidFill>
                <a:latin typeface="Arial"/>
              </a:rPr>
              <a:t>Volume-weighted average price — the execution benchmark.</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OBV</a:t>
            </a:r>
          </a:p>
          <a:p>
            <a:pPr algn="l">
              <a:spcAft>
                <a:spcPts val="300"/>
              </a:spcAft>
            </a:pPr>
            <a:r>
              <a:rPr sz="1150" b="0">
                <a:solidFill>
                  <a:srgbClr val="5B6372"/>
                </a:solidFill>
                <a:latin typeface="Arial"/>
              </a:rPr>
              <a:t>Adds volume on up days, subtracts on down days.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Indicator: Bollinger Bands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ind_bollinger.png"/>
          <p:cNvPicPr>
            <a:picLocks noChangeAspect="1"/>
          </p:cNvPicPr>
          <p:nvPr/>
        </p:nvPicPr>
        <p:blipFill>
          <a:blip r:embed="rId2"/>
          <a:stretch>
            <a:fillRect/>
          </a:stretch>
        </p:blipFill>
        <p:spPr>
          <a:xfrm>
            <a:off x="777240" y="2237444"/>
            <a:ext cx="6172200" cy="352611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A moving average with bands set a number of standard deviations above and below it, so the bands widen and narrow with volatility.</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Middle = SMA20(C).  Upper / Lower = Middle +/- 2 x StDev20(C).  %B = (C - Lower) / (Upper - Lower).</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Mean reversion: buy a close below the lower band, exit at the middle. A 'squeeze' (narrow bands) often comes before a big move.</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Returns are not normal: closes fall outside the bands far more often than the 5% a normal curve implies. In a trend, 'oversold' keeps falling.</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Indicator: ATR (Average True Range)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ind_atr.png"/>
          <p:cNvPicPr>
            <a:picLocks noChangeAspect="1"/>
          </p:cNvPicPr>
          <p:nvPr/>
        </p:nvPicPr>
        <p:blipFill>
          <a:blip r:embed="rId2"/>
          <a:stretch>
            <a:fillRect/>
          </a:stretch>
        </p:blipFill>
        <p:spPr>
          <a:xfrm>
            <a:off x="777240" y="2242594"/>
            <a:ext cx="6172200" cy="351581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The average size of a day's price range, including overnight gaps - a volatility ruler in price units.</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TR = max(H - L, |H - previous C|, |L - previous C|).  ATR = average of TR over n bars (Wilder smoothing, n = 14).</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Set stops at 2-3 x ATR and size positions as risk budget / (k x ATR), so every trade carries similar risk.</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ATR says how far, not which way. Compare instruments with ATR as a % of price, since ATR rises with the price level.</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Indicator: VWAP (Volume-Weighted Average Price)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ind_vwap.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The average price paid during the session, weighted by the volume traded at each price. It resets at every session open.</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Typical price P = (H + L + C) / 3.  VWAP = sum(P x Volume) / sum(Volume), summed from the session open.</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The execution benchmark: buying below VWAP is a good fill. Intraday traders read price above VWAP as buyers in control.</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Institutions judge execution algorithms against VWAP. It needs intraday data - on daily bars it is only an approximation.</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Indicator: OBV (On-Balance Volume)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ind_obv.png"/>
          <p:cNvPicPr>
            <a:picLocks noChangeAspect="1"/>
          </p:cNvPicPr>
          <p:nvPr/>
        </p:nvPicPr>
        <p:blipFill>
          <a:blip r:embed="rId2"/>
          <a:stretch>
            <a:fillRect/>
          </a:stretch>
        </p:blipFill>
        <p:spPr>
          <a:xfrm>
            <a:off x="777240" y="2239164"/>
            <a:ext cx="6172200" cy="352267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A running total of volume that adds a day's volume when the close rises and subtracts it when the close falls.</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OBV(t) = OBV(t-1) + Volume(t) if C(t) &gt; C(t-1); - Volume(t) if C(t) &lt; C(t-1); unchanged if equal.</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A rising OBV confirms an up-trend; OBV making new highs before price is read as accumulation. Read the slope, not the level.</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Volume shows the conviction behind a move. An OBV that falls while price rises (divergence) is a warning, not a signal on its own.</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A2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Matching the Method to the Hypothesis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A2</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'Does the signal beat the benchmark?'</a:t>
            </a:r>
          </a:p>
          <a:p>
            <a:pPr algn="l">
              <a:spcAft>
                <a:spcPts val="300"/>
              </a:spcAft>
            </a:pPr>
            <a:r>
              <a:rPr sz="1150" b="0">
                <a:solidFill>
                  <a:srgbClr val="5B6372"/>
                </a:solidFill>
                <a:latin typeface="Arial"/>
              </a:rPr>
              <a:t>Backtest + t-test or bootstrap on returns.</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'Will tomorrow be up?'</a:t>
            </a:r>
          </a:p>
          <a:p>
            <a:pPr algn="l">
              <a:spcAft>
                <a:spcPts val="300"/>
              </a:spcAft>
            </a:pPr>
            <a:r>
              <a:rPr sz="1150" b="0">
                <a:solidFill>
                  <a:srgbClr val="5B6372"/>
                </a:solidFill>
                <a:latin typeface="Arial"/>
              </a:rPr>
              <a:t>Classifier: logistic regression, random forest, XGBoost.</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'What state is the market in?'</a:t>
            </a:r>
          </a:p>
          <a:p>
            <a:pPr algn="l">
              <a:spcAft>
                <a:spcPts val="300"/>
              </a:spcAft>
            </a:pPr>
            <a:r>
              <a:rPr sz="1150" b="0">
                <a:solidFill>
                  <a:srgbClr val="5B6372"/>
                </a:solidFill>
                <a:latin typeface="Arial"/>
              </a:rPr>
              <a:t>Clustering: K-means on return and volatility features.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'Which parameters?'</a:t>
            </a:r>
          </a:p>
          <a:p>
            <a:pPr algn="l">
              <a:spcAft>
                <a:spcPts val="300"/>
              </a:spcAft>
            </a:pPr>
            <a:r>
              <a:rPr sz="1150" b="0">
                <a:solidFill>
                  <a:srgbClr val="5B6372"/>
                </a:solidFill>
                <a:latin typeface="Arial"/>
              </a:rPr>
              <a:t>Grid search in-sample, confirm out-of-sample.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Coding Languages for Algorithms and Signals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K7</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Pine Script v6</a:t>
            </a:r>
          </a:p>
          <a:p>
            <a:pPr algn="l">
              <a:spcAft>
                <a:spcPts val="300"/>
              </a:spcAft>
            </a:pPr>
            <a:r>
              <a:rPr sz="1150" b="0">
                <a:solidFill>
                  <a:srgbClr val="5B6372"/>
                </a:solidFill>
                <a:latin typeface="Arial"/>
              </a:rPr>
              <a:t>//@version=6 · ta.ema · ta.crossover · strategy.entry.</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Python</a:t>
            </a:r>
          </a:p>
          <a:p>
            <a:pPr algn="l">
              <a:spcAft>
                <a:spcPts val="300"/>
              </a:spcAft>
            </a:pPr>
            <a:r>
              <a:rPr sz="1150" b="0">
                <a:solidFill>
                  <a:srgbClr val="5B6372"/>
                </a:solidFill>
                <a:latin typeface="Arial"/>
              </a:rPr>
              <a:t>Signals as pandas Series of +1 / 0 / −1 aligned to bars.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C++ / Java</a:t>
            </a:r>
          </a:p>
          <a:p>
            <a:pPr algn="l">
              <a:spcAft>
                <a:spcPts val="300"/>
              </a:spcAft>
            </a:pPr>
            <a:r>
              <a:rPr sz="1150" b="0">
                <a:solidFill>
                  <a:srgbClr val="5B6372"/>
                </a:solidFill>
                <a:latin typeface="Arial"/>
              </a:rPr>
              <a:t>Low-latency execution engines and exchange gateways.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 SQL, MQL</a:t>
            </a:r>
          </a:p>
          <a:p>
            <a:pPr algn="l">
              <a:spcAft>
                <a:spcPts val="300"/>
              </a:spcAft>
            </a:pPr>
            <a:r>
              <a:rPr sz="1150" b="0">
                <a:solidFill>
                  <a:srgbClr val="5B6372"/>
                </a:solidFill>
                <a:latin typeface="Arial"/>
              </a:rPr>
              <a:t>Statistics, data stores, MetaTrader expert advisors.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Order Types and Time in Force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K7</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Market and limit</a:t>
            </a:r>
          </a:p>
          <a:p>
            <a:pPr algn="l">
              <a:spcAft>
                <a:spcPts val="300"/>
              </a:spcAft>
            </a:pPr>
            <a:r>
              <a:rPr sz="1150" b="0">
                <a:solidFill>
                  <a:srgbClr val="5B6372"/>
                </a:solidFill>
                <a:latin typeface="Arial"/>
              </a:rPr>
              <a:t>Certainty of fill versus control of price.</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Stop, stop-limit, trailing stop</a:t>
            </a:r>
          </a:p>
          <a:p>
            <a:pPr algn="l">
              <a:spcAft>
                <a:spcPts val="300"/>
              </a:spcAft>
            </a:pPr>
            <a:r>
              <a:rPr sz="1150" b="0">
                <a:solidFill>
                  <a:srgbClr val="5B6372"/>
                </a:solidFill>
                <a:latin typeface="Arial"/>
              </a:rPr>
              <a:t>Trigger on a price; protect or enter on breaks.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Bracket / OCO / OTO</a:t>
            </a:r>
          </a:p>
          <a:p>
            <a:pPr algn="l">
              <a:spcAft>
                <a:spcPts val="300"/>
              </a:spcAft>
            </a:pPr>
            <a:r>
              <a:rPr sz="1150" b="0">
                <a:solidFill>
                  <a:srgbClr val="5B6372"/>
                </a:solidFill>
                <a:latin typeface="Arial"/>
              </a:rPr>
              <a:t>Entry with attached take-profit and stop-loss.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day · gtc · opg · cls · ioc · fok</a:t>
            </a:r>
          </a:p>
          <a:p>
            <a:pPr algn="l">
              <a:spcAft>
                <a:spcPts val="300"/>
              </a:spcAft>
            </a:pPr>
            <a:r>
              <a:rPr sz="1150" b="0">
                <a:solidFill>
                  <a:srgbClr val="5B6372"/>
                </a:solidFill>
                <a:latin typeface="Arial"/>
              </a:rPr>
              <a:t>How long an order stays working.</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Performance and Risk Metrics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Return</a:t>
            </a:r>
          </a:p>
          <a:p>
            <a:pPr algn="l">
              <a:spcAft>
                <a:spcPts val="300"/>
              </a:spcAft>
            </a:pPr>
            <a:r>
              <a:rPr sz="1150" b="0">
                <a:solidFill>
                  <a:srgbClr val="5B6372"/>
                </a:solidFill>
                <a:latin typeface="Arial"/>
              </a:rPr>
              <a:t>Total return · CAGR = (end/start)^(1/years) − 1.</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Risk</a:t>
            </a:r>
          </a:p>
          <a:p>
            <a:pPr algn="l">
              <a:spcAft>
                <a:spcPts val="300"/>
              </a:spcAft>
            </a:pPr>
            <a:r>
              <a:rPr sz="1150" b="0">
                <a:solidFill>
                  <a:srgbClr val="5B6372"/>
                </a:solidFill>
                <a:latin typeface="Arial"/>
              </a:rPr>
              <a:t>Volatility = σ(daily) × √252 · maximum drawdown.</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Risk-adjusted</a:t>
            </a:r>
          </a:p>
          <a:p>
            <a:pPr algn="l">
              <a:spcAft>
                <a:spcPts val="300"/>
              </a:spcAft>
            </a:pPr>
            <a:r>
              <a:rPr sz="1150" b="0">
                <a:solidFill>
                  <a:srgbClr val="5B6372"/>
                </a:solidFill>
                <a:latin typeface="Arial"/>
              </a:rPr>
              <a:t>Sharpe · Sortino · Calmar = CAGR / |MaxDD|.</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Trade quality</a:t>
            </a:r>
          </a:p>
          <a:p>
            <a:pPr algn="l">
              <a:spcAft>
                <a:spcPts val="300"/>
              </a:spcAft>
            </a:pPr>
            <a:r>
              <a:rPr sz="1150" b="0">
                <a:solidFill>
                  <a:srgbClr val="5B6372"/>
                </a:solidFill>
                <a:latin typeface="Arial"/>
              </a:rPr>
              <a:t>Win rate · profit factor · expectancy · turnover · exposure.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METRIC</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Metric: Sharpe Ratio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metric_sharpe.png"/>
          <p:cNvPicPr>
            <a:picLocks noChangeAspect="1"/>
          </p:cNvPicPr>
          <p:nvPr/>
        </p:nvPicPr>
        <p:blipFill>
          <a:blip r:embed="rId2"/>
          <a:stretch>
            <a:fillRect/>
          </a:stretch>
        </p:blipFill>
        <p:spPr>
          <a:xfrm>
            <a:off x="777240" y="2245599"/>
            <a:ext cx="6172200" cy="350980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Return earned per unit of risk taken: the average excess return divided by its volatility, annualised.</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Sharpe = (mean daily return - daily risk-free rate) / std of daily returns x sqrt(252).</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Below 0.5 weak, about 1 good, above 2 rare for a daily strategy - check for errors. Always compare with buy-and-hold over the same period.</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Volatility counts as risk whether it is up or down, and a short or costless backtest inflates it - 2020 returned 18% but at 33% volatility, a Sharpe of only 0.67.</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METRIC</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Metric: Maximum Drawdown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metric_drawdown.png"/>
          <p:cNvPicPr>
            <a:picLocks noChangeAspect="1"/>
          </p:cNvPicPr>
          <p:nvPr/>
        </p:nvPicPr>
        <p:blipFill>
          <a:blip r:embed="rId2"/>
          <a:stretch>
            <a:fillRect/>
          </a:stretch>
        </p:blipFill>
        <p:spPr>
          <a:xfrm>
            <a:off x="777240" y="2242594"/>
            <a:ext cx="6172200" cy="351581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The largest fall of the equity curve from a previous peak to a later low - the worst loss an investor would have lived through before a new high.</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Drawdown(t) = equity(t) / running peak(t) - 1.  Max drawdown = the most negative drawdown over the period.</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A -20% drawdown needs +25% to recover; -50% needs +100%. Compare with buy-and-hold and with the loss the investor can tolerate.</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One path-dependent number: it does not say how long recovery took, and a short backtest may simply miss a bad period. SPY 2018-2025: -33.7% in five weeks of 2020.</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CLASSIFICATION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Classification of Trading Algorithms by Purpose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Purpose</a:t>
            </a:r>
          </a:p>
        </p:txBody>
      </p:sp>
      <p:sp>
        <p:nvSpPr>
          <p:cNvPr id="12" name="Rectangle 11"/>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Examples</a:t>
            </a:r>
          </a:p>
        </p:txBody>
      </p:sp>
      <p:sp>
        <p:nvSpPr>
          <p:cNvPr id="14" name="Rectangle 13"/>
          <p:cNvSpPr/>
          <p:nvPr/>
        </p:nvSpPr>
        <p:spPr>
          <a:xfrm>
            <a:off x="777240" y="2286000"/>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Execution algorithms</a:t>
            </a:r>
          </a:p>
        </p:txBody>
      </p:sp>
      <p:sp>
        <p:nvSpPr>
          <p:cNvPr id="16" name="TextBox 15"/>
          <p:cNvSpPr txBox="1"/>
          <p:nvPr/>
        </p:nvSpPr>
        <p:spPr>
          <a:xfrm>
            <a:off x="3017520" y="2286000"/>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Work a large order at low cost and market impact</a:t>
            </a:r>
          </a:p>
        </p:txBody>
      </p:sp>
      <p:sp>
        <p:nvSpPr>
          <p:cNvPr id="17" name="TextBox 16"/>
          <p:cNvSpPr txBox="1"/>
          <p:nvPr/>
        </p:nvSpPr>
        <p:spPr>
          <a:xfrm>
            <a:off x="7260336" y="2286000"/>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VWAP, TWAP, POV, implementation shortfall, iceberg, smart order routing</a:t>
            </a:r>
          </a:p>
        </p:txBody>
      </p:sp>
      <p:sp>
        <p:nvSpPr>
          <p:cNvPr id="18" name="TextBox 17"/>
          <p:cNvSpPr txBox="1"/>
          <p:nvPr/>
        </p:nvSpPr>
        <p:spPr>
          <a:xfrm>
            <a:off x="886968" y="2854234"/>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Market making</a:t>
            </a:r>
          </a:p>
        </p:txBody>
      </p:sp>
      <p:sp>
        <p:nvSpPr>
          <p:cNvPr id="19" name="TextBox 18"/>
          <p:cNvSpPr txBox="1"/>
          <p:nvPr/>
        </p:nvSpPr>
        <p:spPr>
          <a:xfrm>
            <a:off x="3017520" y="2854234"/>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Quote bids and offers, earn the spread, manage inventory</a:t>
            </a:r>
          </a:p>
        </p:txBody>
      </p:sp>
      <p:sp>
        <p:nvSpPr>
          <p:cNvPr id="20" name="TextBox 19"/>
          <p:cNvSpPr txBox="1"/>
          <p:nvPr/>
        </p:nvSpPr>
        <p:spPr>
          <a:xfrm>
            <a:off x="7260336" y="2854234"/>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Passive market making with resting limit orders</a:t>
            </a:r>
          </a:p>
        </p:txBody>
      </p:sp>
      <p:sp>
        <p:nvSpPr>
          <p:cNvPr id="21" name="Rectangle 20"/>
          <p:cNvSpPr/>
          <p:nvPr/>
        </p:nvSpPr>
        <p:spPr>
          <a:xfrm>
            <a:off x="777240" y="3422468"/>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422468"/>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Arbitrage</a:t>
            </a:r>
          </a:p>
        </p:txBody>
      </p:sp>
      <p:sp>
        <p:nvSpPr>
          <p:cNvPr id="23" name="TextBox 22"/>
          <p:cNvSpPr txBox="1"/>
          <p:nvPr/>
        </p:nvSpPr>
        <p:spPr>
          <a:xfrm>
            <a:off x="3017520" y="3422468"/>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Capture mispricing between related products or markets</a:t>
            </a:r>
          </a:p>
        </p:txBody>
      </p:sp>
      <p:sp>
        <p:nvSpPr>
          <p:cNvPr id="24" name="TextBox 23"/>
          <p:cNvSpPr txBox="1"/>
          <p:nvPr/>
        </p:nvSpPr>
        <p:spPr>
          <a:xfrm>
            <a:off x="7260336" y="3422468"/>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ETF versus its basket, index futures versus stocks</a:t>
            </a:r>
          </a:p>
        </p:txBody>
      </p:sp>
      <p:sp>
        <p:nvSpPr>
          <p:cNvPr id="25" name="TextBox 24"/>
          <p:cNvSpPr txBox="1"/>
          <p:nvPr/>
        </p:nvSpPr>
        <p:spPr>
          <a:xfrm>
            <a:off x="886968" y="3990702"/>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Directional / alpha</a:t>
            </a:r>
          </a:p>
        </p:txBody>
      </p:sp>
      <p:sp>
        <p:nvSpPr>
          <p:cNvPr id="26" name="TextBox 25"/>
          <p:cNvSpPr txBox="1"/>
          <p:nvPr/>
        </p:nvSpPr>
        <p:spPr>
          <a:xfrm>
            <a:off x="3017520" y="3990702"/>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Take a view on the direction of price</a:t>
            </a:r>
          </a:p>
        </p:txBody>
      </p:sp>
      <p:sp>
        <p:nvSpPr>
          <p:cNvPr id="27" name="TextBox 26"/>
          <p:cNvSpPr txBox="1"/>
          <p:nvPr/>
        </p:nvSpPr>
        <p:spPr>
          <a:xfrm>
            <a:off x="7260336" y="3990702"/>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Trend following, momentum, breakout, mean reversion, news</a:t>
            </a:r>
          </a:p>
        </p:txBody>
      </p:sp>
      <p:sp>
        <p:nvSpPr>
          <p:cNvPr id="28" name="Rectangle 27"/>
          <p:cNvSpPr/>
          <p:nvPr/>
        </p:nvSpPr>
        <p:spPr>
          <a:xfrm>
            <a:off x="777240" y="4558937"/>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558937"/>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Statistical arbitrage and pairs</a:t>
            </a:r>
          </a:p>
        </p:txBody>
      </p:sp>
      <p:sp>
        <p:nvSpPr>
          <p:cNvPr id="30" name="TextBox 29"/>
          <p:cNvSpPr txBox="1"/>
          <p:nvPr/>
        </p:nvSpPr>
        <p:spPr>
          <a:xfrm>
            <a:off x="3017520" y="4558937"/>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Hedged: long one asset, short a related one; trade the spread</a:t>
            </a:r>
          </a:p>
        </p:txBody>
      </p:sp>
      <p:sp>
        <p:nvSpPr>
          <p:cNvPr id="31" name="TextBox 30"/>
          <p:cNvSpPr txBox="1"/>
          <p:nvPr/>
        </p:nvSpPr>
        <p:spPr>
          <a:xfrm>
            <a:off x="7260336" y="4558937"/>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Pairs trading, cointegration, market-neutral baskets</a:t>
            </a:r>
          </a:p>
        </p:txBody>
      </p:sp>
      <p:sp>
        <p:nvSpPr>
          <p:cNvPr id="32" name="TextBox 31"/>
          <p:cNvSpPr txBox="1"/>
          <p:nvPr/>
        </p:nvSpPr>
        <p:spPr>
          <a:xfrm>
            <a:off x="886968" y="5127171"/>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Factor and portfolio</a:t>
            </a:r>
          </a:p>
        </p:txBody>
      </p:sp>
      <p:sp>
        <p:nvSpPr>
          <p:cNvPr id="33" name="TextBox 32"/>
          <p:cNvSpPr txBox="1"/>
          <p:nvPr/>
        </p:nvSpPr>
        <p:spPr>
          <a:xfrm>
            <a:off x="3017520" y="5127171"/>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Build and rebalance portfolios from return drivers and risk</a:t>
            </a:r>
          </a:p>
        </p:txBody>
      </p:sp>
      <p:sp>
        <p:nvSpPr>
          <p:cNvPr id="34" name="TextBox 33"/>
          <p:cNvSpPr txBox="1"/>
          <p:nvPr/>
        </p:nvSpPr>
        <p:spPr>
          <a:xfrm>
            <a:off x="7260336" y="5127171"/>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Value, momentum, size factors; mean-variance optimisation</a:t>
            </a:r>
          </a:p>
        </p:txBody>
      </p:sp>
      <p:sp>
        <p:nvSpPr>
          <p:cNvPr id="35" name="Rectangle 34"/>
          <p:cNvSpPr/>
          <p:nvPr/>
        </p:nvSpPr>
        <p:spPr>
          <a:xfrm>
            <a:off x="777240" y="5695405"/>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6968" y="5695405"/>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Hedging and risk</a:t>
            </a:r>
          </a:p>
        </p:txBody>
      </p:sp>
      <p:sp>
        <p:nvSpPr>
          <p:cNvPr id="37" name="TextBox 36"/>
          <p:cNvSpPr txBox="1"/>
          <p:nvPr/>
        </p:nvSpPr>
        <p:spPr>
          <a:xfrm>
            <a:off x="3017520" y="5695405"/>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Offset unwanted exposure and enforce limits</a:t>
            </a:r>
          </a:p>
        </p:txBody>
      </p:sp>
      <p:sp>
        <p:nvSpPr>
          <p:cNvPr id="38" name="TextBox 37"/>
          <p:cNvSpPr txBox="1"/>
          <p:nvPr/>
        </p:nvSpPr>
        <p:spPr>
          <a:xfrm>
            <a:off x="7260336" y="5695405"/>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Delta hedging, beta hedging, pairs hedge, kill switch</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CLASSIFICATION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SEC Classification of High-Frequency Strategies (2010)</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450" b="1">
                <a:solidFill>
                  <a:srgbClr val="161B26"/>
                </a:solidFill>
                <a:latin typeface="Arial"/>
              </a:rPr>
              <a:t>Passive market making</a:t>
            </a:r>
          </a:p>
          <a:p>
            <a:pPr algn="l">
              <a:spcAft>
                <a:spcPts val="300"/>
              </a:spcAft>
            </a:pPr>
            <a:r>
              <a:rPr sz="1050" b="0">
                <a:solidFill>
                  <a:srgbClr val="5B6372"/>
                </a:solidFill>
                <a:latin typeface="Arial"/>
              </a:rPr>
              <a:t>Submits non-marketable resting bids and offers that provide liquidity at specified prices</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450" b="1">
                <a:solidFill>
                  <a:srgbClr val="161B26"/>
                </a:solidFill>
                <a:latin typeface="Arial"/>
              </a:rPr>
              <a:t>Arbitrage</a:t>
            </a:r>
          </a:p>
          <a:p>
            <a:pPr algn="l">
              <a:spcAft>
                <a:spcPts val="300"/>
              </a:spcAft>
            </a:pPr>
            <a:r>
              <a:rPr sz="1050" b="0">
                <a:solidFill>
                  <a:srgbClr val="5B6372"/>
                </a:solidFill>
                <a:latin typeface="Arial"/>
              </a:rPr>
              <a:t>Captures pricing inefficiencies between related products or markets, e.g. an ETF and its basket</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450" b="1">
                <a:solidFill>
                  <a:srgbClr val="161B26"/>
                </a:solidFill>
                <a:latin typeface="Arial"/>
              </a:rPr>
              <a:t>Structural</a:t>
            </a:r>
          </a:p>
          <a:p>
            <a:pPr algn="l">
              <a:spcAft>
                <a:spcPts val="300"/>
              </a:spcAft>
            </a:pPr>
            <a:r>
              <a:rPr sz="1050" b="0">
                <a:solidFill>
                  <a:srgbClr val="5B6372"/>
                </a:solidFill>
                <a:latin typeface="Arial"/>
              </a:rPr>
              <a:t>Exploits structural vulnerabilities in the market or its participants, e.g. stale quotes via faster data</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450" b="1">
                <a:solidFill>
                  <a:srgbClr val="161B26"/>
                </a:solidFill>
                <a:latin typeface="Arial"/>
              </a:rPr>
              <a:t>Directional</a:t>
            </a:r>
          </a:p>
          <a:p>
            <a:pPr algn="l">
              <a:spcAft>
                <a:spcPts val="300"/>
              </a:spcAft>
            </a:pPr>
            <a:r>
              <a:rPr sz="1050" b="0">
                <a:solidFill>
                  <a:srgbClr val="5B6372"/>
                </a:solidFill>
                <a:latin typeface="Arial"/>
              </a:rPr>
              <a:t>Takes a short-term position anticipating an intraday price move in a particular direction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CLASSIFICATION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Classification by Holding Period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Horizon</a:t>
            </a:r>
          </a:p>
        </p:txBody>
      </p:sp>
      <p:sp>
        <p:nvSpPr>
          <p:cNvPr id="12" name="Rectangle 11"/>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Typical algorithms</a:t>
            </a:r>
          </a:p>
        </p:txBody>
      </p:sp>
      <p:sp>
        <p:nvSpPr>
          <p:cNvPr id="14" name="Rectangle 13"/>
          <p:cNvSpPr/>
          <p:nvPr/>
        </p:nvSpPr>
        <p:spPr>
          <a:xfrm>
            <a:off x="777240" y="2286000"/>
            <a:ext cx="10634472" cy="9669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High-frequency</a:t>
            </a:r>
          </a:p>
        </p:txBody>
      </p:sp>
      <p:sp>
        <p:nvSpPr>
          <p:cNvPr id="16" name="TextBox 15"/>
          <p:cNvSpPr txBox="1"/>
          <p:nvPr/>
        </p:nvSpPr>
        <p:spPr>
          <a:xfrm>
            <a:off x="3017520" y="2286000"/>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Microseconds to seconds</a:t>
            </a:r>
          </a:p>
        </p:txBody>
      </p:sp>
      <p:sp>
        <p:nvSpPr>
          <p:cNvPr id="17" name="TextBox 16"/>
          <p:cNvSpPr txBox="1"/>
          <p:nvPr/>
        </p:nvSpPr>
        <p:spPr>
          <a:xfrm>
            <a:off x="7260336" y="2286000"/>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Market making, ETF and latency arbitrage</a:t>
            </a:r>
          </a:p>
        </p:txBody>
      </p:sp>
      <p:sp>
        <p:nvSpPr>
          <p:cNvPr id="18" name="TextBox 17"/>
          <p:cNvSpPr txBox="1"/>
          <p:nvPr/>
        </p:nvSpPr>
        <p:spPr>
          <a:xfrm>
            <a:off x="886968" y="3280410"/>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Intraday</a:t>
            </a:r>
          </a:p>
        </p:txBody>
      </p:sp>
      <p:sp>
        <p:nvSpPr>
          <p:cNvPr id="19" name="TextBox 18"/>
          <p:cNvSpPr txBox="1"/>
          <p:nvPr/>
        </p:nvSpPr>
        <p:spPr>
          <a:xfrm>
            <a:off x="3017520" y="3280410"/>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Minutes to hours</a:t>
            </a:r>
          </a:p>
        </p:txBody>
      </p:sp>
      <p:sp>
        <p:nvSpPr>
          <p:cNvPr id="20" name="TextBox 19"/>
          <p:cNvSpPr txBox="1"/>
          <p:nvPr/>
        </p:nvSpPr>
        <p:spPr>
          <a:xfrm>
            <a:off x="7260336" y="3280410"/>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VWAP / TWAP execution, intraday momentum</a:t>
            </a:r>
          </a:p>
        </p:txBody>
      </p:sp>
      <p:sp>
        <p:nvSpPr>
          <p:cNvPr id="21" name="Rectangle 20"/>
          <p:cNvSpPr/>
          <p:nvPr/>
        </p:nvSpPr>
        <p:spPr>
          <a:xfrm>
            <a:off x="777240" y="4274820"/>
            <a:ext cx="10634472" cy="9669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4274820"/>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Swing</a:t>
            </a:r>
          </a:p>
        </p:txBody>
      </p:sp>
      <p:sp>
        <p:nvSpPr>
          <p:cNvPr id="23" name="TextBox 22"/>
          <p:cNvSpPr txBox="1"/>
          <p:nvPr/>
        </p:nvSpPr>
        <p:spPr>
          <a:xfrm>
            <a:off x="3017520" y="4274820"/>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Days to weeks</a:t>
            </a:r>
          </a:p>
        </p:txBody>
      </p:sp>
      <p:sp>
        <p:nvSpPr>
          <p:cNvPr id="24" name="TextBox 23"/>
          <p:cNvSpPr txBox="1"/>
          <p:nvPr/>
        </p:nvSpPr>
        <p:spPr>
          <a:xfrm>
            <a:off x="7260336" y="4274820"/>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Mean reversion, pairs trading</a:t>
            </a:r>
          </a:p>
        </p:txBody>
      </p:sp>
      <p:sp>
        <p:nvSpPr>
          <p:cNvPr id="25" name="TextBox 24"/>
          <p:cNvSpPr txBox="1"/>
          <p:nvPr/>
        </p:nvSpPr>
        <p:spPr>
          <a:xfrm>
            <a:off x="886968" y="5269229"/>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Position</a:t>
            </a:r>
          </a:p>
        </p:txBody>
      </p:sp>
      <p:sp>
        <p:nvSpPr>
          <p:cNvPr id="26" name="TextBox 25"/>
          <p:cNvSpPr txBox="1"/>
          <p:nvPr/>
        </p:nvSpPr>
        <p:spPr>
          <a:xfrm>
            <a:off x="3017520" y="5269229"/>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Weeks to months</a:t>
            </a:r>
          </a:p>
        </p:txBody>
      </p:sp>
      <p:sp>
        <p:nvSpPr>
          <p:cNvPr id="27" name="TextBox 26"/>
          <p:cNvSpPr txBox="1"/>
          <p:nvPr/>
        </p:nvSpPr>
        <p:spPr>
          <a:xfrm>
            <a:off x="7260336" y="5269229"/>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Trend following, factor portfolios</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CLASSIFICATION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Classification by Model Type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Rule-based</a:t>
            </a:r>
          </a:p>
          <a:p>
            <a:pPr algn="l">
              <a:spcAft>
                <a:spcPts val="300"/>
              </a:spcAft>
            </a:pPr>
            <a:r>
              <a:rPr sz="1050" b="0">
                <a:solidFill>
                  <a:srgbClr val="5B6372"/>
                </a:solidFill>
                <a:latin typeface="Arial"/>
              </a:rPr>
              <a:t>Fixed if-then rules on indicators, e.g. a moving-average crossover</a:t>
            </a:r>
          </a:p>
        </p:txBody>
      </p:sp>
      <p:sp>
        <p:nvSpPr>
          <p:cNvPr id="15" name="Rectangle 14"/>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2832811"/>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Statistical</a:t>
            </a:r>
          </a:p>
          <a:p>
            <a:pPr algn="l">
              <a:spcAft>
                <a:spcPts val="300"/>
              </a:spcAft>
            </a:pPr>
            <a:r>
              <a:rPr sz="1050" b="0">
                <a:solidFill>
                  <a:srgbClr val="5B6372"/>
                </a:solidFill>
                <a:latin typeface="Arial"/>
              </a:rPr>
              <a:t>Econometric tests and models: cointegration, regression, t-tests</a:t>
            </a:r>
          </a:p>
        </p:txBody>
      </p:sp>
      <p:sp>
        <p:nvSpPr>
          <p:cNvPr id="20" name="Rectangle 19"/>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754526"/>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Machine learning</a:t>
            </a:r>
          </a:p>
          <a:p>
            <a:pPr algn="l">
              <a:spcAft>
                <a:spcPts val="300"/>
              </a:spcAft>
            </a:pPr>
            <a:r>
              <a:rPr sz="1050" b="0">
                <a:solidFill>
                  <a:srgbClr val="5B6372"/>
                </a:solidFill>
                <a:latin typeface="Arial"/>
              </a:rPr>
              <a:t>Models learn from labelled data: logistic regression, random forest, XGBoost</a:t>
            </a:r>
          </a:p>
        </p:txBody>
      </p:sp>
      <p:sp>
        <p:nvSpPr>
          <p:cNvPr id="25" name="Rectangle 24"/>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4676241"/>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Reinforcement learning</a:t>
            </a:r>
          </a:p>
          <a:p>
            <a:pPr algn="l">
              <a:spcAft>
                <a:spcPts val="300"/>
              </a:spcAft>
            </a:pPr>
            <a:r>
              <a:rPr sz="1050" b="0">
                <a:solidFill>
                  <a:srgbClr val="5B6372"/>
                </a:solidFill>
                <a:latin typeface="Arial"/>
              </a:rPr>
              <a:t>Learns a policy from rewards, e.g. order-execution research</a:t>
            </a:r>
          </a:p>
        </p:txBody>
      </p:sp>
      <p:sp>
        <p:nvSpPr>
          <p:cNvPr id="30" name="Rectangle 29"/>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5597956"/>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LLM and agentic</a:t>
            </a:r>
          </a:p>
          <a:p>
            <a:pPr algn="l">
              <a:spcAft>
                <a:spcPts val="300"/>
              </a:spcAft>
            </a:pPr>
            <a:r>
              <a:rPr sz="1050" b="0">
                <a:solidFill>
                  <a:srgbClr val="5B6372"/>
                </a:solidFill>
                <a:latin typeface="Arial"/>
              </a:rPr>
              <a:t>Language models read text and agents plan, code and act under limits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Long and Short Positions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Long</a:t>
            </a:r>
          </a:p>
        </p:txBody>
      </p:sp>
      <p:sp>
        <p:nvSpPr>
          <p:cNvPr id="12" name="Rectangle 11"/>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Short</a:t>
            </a:r>
          </a:p>
        </p:txBody>
      </p:sp>
      <p:sp>
        <p:nvSpPr>
          <p:cNvPr id="14" name="Rectangle 13"/>
          <p:cNvSpPr/>
          <p:nvPr/>
        </p:nvSpPr>
        <p:spPr>
          <a:xfrm>
            <a:off x="777240" y="2286000"/>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What you hold</a:t>
            </a:r>
          </a:p>
        </p:txBody>
      </p:sp>
      <p:sp>
        <p:nvSpPr>
          <p:cNvPr id="16" name="TextBox 15"/>
          <p:cNvSpPr txBox="1"/>
          <p:nvPr/>
        </p:nvSpPr>
        <p:spPr>
          <a:xfrm>
            <a:off x="3017520" y="2286000"/>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Shares you own</a:t>
            </a:r>
          </a:p>
        </p:txBody>
      </p:sp>
      <p:sp>
        <p:nvSpPr>
          <p:cNvPr id="17" name="TextBox 16"/>
          <p:cNvSpPr txBox="1"/>
          <p:nvPr/>
        </p:nvSpPr>
        <p:spPr>
          <a:xfrm>
            <a:off x="7260336" y="2286000"/>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Shares you borrowed and sold - you owe them back</a:t>
            </a:r>
          </a:p>
        </p:txBody>
      </p:sp>
      <p:sp>
        <p:nvSpPr>
          <p:cNvPr id="18" name="TextBox 17"/>
          <p:cNvSpPr txBox="1"/>
          <p:nvPr/>
        </p:nvSpPr>
        <p:spPr>
          <a:xfrm>
            <a:off x="886968" y="2854234"/>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Opening trade</a:t>
            </a:r>
          </a:p>
        </p:txBody>
      </p:sp>
      <p:sp>
        <p:nvSpPr>
          <p:cNvPr id="19" name="TextBox 18"/>
          <p:cNvSpPr txBox="1"/>
          <p:nvPr/>
        </p:nvSpPr>
        <p:spPr>
          <a:xfrm>
            <a:off x="3017520" y="2854234"/>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Buy</a:t>
            </a:r>
          </a:p>
        </p:txBody>
      </p:sp>
      <p:sp>
        <p:nvSpPr>
          <p:cNvPr id="20" name="TextBox 19"/>
          <p:cNvSpPr txBox="1"/>
          <p:nvPr/>
        </p:nvSpPr>
        <p:spPr>
          <a:xfrm>
            <a:off x="7260336" y="2854234"/>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Sell (the borrowed shares)</a:t>
            </a:r>
          </a:p>
        </p:txBody>
      </p:sp>
      <p:sp>
        <p:nvSpPr>
          <p:cNvPr id="21" name="Rectangle 20"/>
          <p:cNvSpPr/>
          <p:nvPr/>
        </p:nvSpPr>
        <p:spPr>
          <a:xfrm>
            <a:off x="777240" y="3422468"/>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422468"/>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Closing trade</a:t>
            </a:r>
          </a:p>
        </p:txBody>
      </p:sp>
      <p:sp>
        <p:nvSpPr>
          <p:cNvPr id="23" name="TextBox 22"/>
          <p:cNvSpPr txBox="1"/>
          <p:nvPr/>
        </p:nvSpPr>
        <p:spPr>
          <a:xfrm>
            <a:off x="3017520" y="3422468"/>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Sell</a:t>
            </a:r>
          </a:p>
        </p:txBody>
      </p:sp>
      <p:sp>
        <p:nvSpPr>
          <p:cNvPr id="24" name="TextBox 23"/>
          <p:cNvSpPr txBox="1"/>
          <p:nvPr/>
        </p:nvSpPr>
        <p:spPr>
          <a:xfrm>
            <a:off x="7260336" y="3422468"/>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Buy back ('buy to cover') and return the shares</a:t>
            </a:r>
          </a:p>
        </p:txBody>
      </p:sp>
      <p:sp>
        <p:nvSpPr>
          <p:cNvPr id="25" name="TextBox 24"/>
          <p:cNvSpPr txBox="1"/>
          <p:nvPr/>
        </p:nvSpPr>
        <p:spPr>
          <a:xfrm>
            <a:off x="886968" y="3990702"/>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You profit when</a:t>
            </a:r>
          </a:p>
        </p:txBody>
      </p:sp>
      <p:sp>
        <p:nvSpPr>
          <p:cNvPr id="26" name="TextBox 25"/>
          <p:cNvSpPr txBox="1"/>
          <p:nvPr/>
        </p:nvSpPr>
        <p:spPr>
          <a:xfrm>
            <a:off x="3017520" y="3990702"/>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The price rises</a:t>
            </a:r>
          </a:p>
        </p:txBody>
      </p:sp>
      <p:sp>
        <p:nvSpPr>
          <p:cNvPr id="27" name="TextBox 26"/>
          <p:cNvSpPr txBox="1"/>
          <p:nvPr/>
        </p:nvSpPr>
        <p:spPr>
          <a:xfrm>
            <a:off x="7260336" y="3990702"/>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The price falls</a:t>
            </a:r>
          </a:p>
        </p:txBody>
      </p:sp>
      <p:sp>
        <p:nvSpPr>
          <p:cNvPr id="28" name="Rectangle 27"/>
          <p:cNvSpPr/>
          <p:nvPr/>
        </p:nvSpPr>
        <p:spPr>
          <a:xfrm>
            <a:off x="777240" y="4558937"/>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558937"/>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Example</a:t>
            </a:r>
          </a:p>
        </p:txBody>
      </p:sp>
      <p:sp>
        <p:nvSpPr>
          <p:cNvPr id="30" name="TextBox 29"/>
          <p:cNvSpPr txBox="1"/>
          <p:nvPr/>
        </p:nvSpPr>
        <p:spPr>
          <a:xfrm>
            <a:off x="3017520" y="4558937"/>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Buy SPY at $500, sell at $550: +$50</a:t>
            </a:r>
          </a:p>
        </p:txBody>
      </p:sp>
      <p:sp>
        <p:nvSpPr>
          <p:cNvPr id="31" name="TextBox 30"/>
          <p:cNvSpPr txBox="1"/>
          <p:nvPr/>
        </p:nvSpPr>
        <p:spPr>
          <a:xfrm>
            <a:off x="7260336" y="4558937"/>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Sell SPY at $500, buy back at $450: +$50</a:t>
            </a:r>
          </a:p>
        </p:txBody>
      </p:sp>
      <p:sp>
        <p:nvSpPr>
          <p:cNvPr id="32" name="TextBox 31"/>
          <p:cNvSpPr txBox="1"/>
          <p:nvPr/>
        </p:nvSpPr>
        <p:spPr>
          <a:xfrm>
            <a:off x="886968" y="5127171"/>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Maximum loss</a:t>
            </a:r>
          </a:p>
        </p:txBody>
      </p:sp>
      <p:sp>
        <p:nvSpPr>
          <p:cNvPr id="33" name="TextBox 32"/>
          <p:cNvSpPr txBox="1"/>
          <p:nvPr/>
        </p:nvSpPr>
        <p:spPr>
          <a:xfrm>
            <a:off x="3017520" y="5127171"/>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What you paid - a price cannot go below $0</a:t>
            </a:r>
          </a:p>
        </p:txBody>
      </p:sp>
      <p:sp>
        <p:nvSpPr>
          <p:cNvPr id="34" name="TextBox 33"/>
          <p:cNvSpPr txBox="1"/>
          <p:nvPr/>
        </p:nvSpPr>
        <p:spPr>
          <a:xfrm>
            <a:off x="7260336" y="5127171"/>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Unlimited - a price can keep rising</a:t>
            </a:r>
          </a:p>
        </p:txBody>
      </p:sp>
      <p:sp>
        <p:nvSpPr>
          <p:cNvPr id="35" name="Rectangle 34"/>
          <p:cNvSpPr/>
          <p:nvPr/>
        </p:nvSpPr>
        <p:spPr>
          <a:xfrm>
            <a:off x="777240" y="5695405"/>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6968" y="5695405"/>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Extra requirements</a:t>
            </a:r>
          </a:p>
        </p:txBody>
      </p:sp>
      <p:sp>
        <p:nvSpPr>
          <p:cNvPr id="37" name="TextBox 36"/>
          <p:cNvSpPr txBox="1"/>
          <p:nvPr/>
        </p:nvSpPr>
        <p:spPr>
          <a:xfrm>
            <a:off x="3017520" y="5695405"/>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Only the cash to pay for the shares</a:t>
            </a:r>
          </a:p>
        </p:txBody>
      </p:sp>
      <p:sp>
        <p:nvSpPr>
          <p:cNvPr id="38" name="TextBox 37"/>
          <p:cNvSpPr txBox="1"/>
          <p:nvPr/>
        </p:nvSpPr>
        <p:spPr>
          <a:xfrm>
            <a:off x="7260336" y="5695405"/>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A margin account (Alpaca: $2,000+ equity); borrow fees on hard-to-borrow stocks (Alpaca: $0 on easy-to-borrow)</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Long and Short in Practice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'Long = buy, short = sell' is shorthand</a:t>
            </a:r>
          </a:p>
          <a:p>
            <a:pPr algn="l">
              <a:spcAft>
                <a:spcPts val="300"/>
              </a:spcAft>
            </a:pPr>
            <a:r>
              <a:rPr sz="1100" b="0">
                <a:solidFill>
                  <a:srgbClr val="5B6372"/>
                </a:solidFill>
                <a:latin typeface="Arial"/>
              </a:rPr>
              <a:t>Opening a long is a buy; opening a short is a sell. Selling shares you already own only closes the long - you go flat, not short.</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Pine Script (TradingView)</a:t>
            </a:r>
          </a:p>
          <a:p>
            <a:pPr algn="l">
              <a:spcAft>
                <a:spcPts val="300"/>
              </a:spcAft>
            </a:pPr>
            <a:r>
              <a:rPr sz="1100" b="0">
                <a:solidFill>
                  <a:srgbClr val="5B6372"/>
                </a:solidFill>
                <a:latin typeface="Arial"/>
              </a:rPr>
              <a:t>strategy.entry("Long", strategy.long) opens a buy; strategy.close("Long") sells back to flat; strategy.short opens a short.</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Trading Simulator</a:t>
            </a:r>
          </a:p>
          <a:p>
            <a:pPr algn="l">
              <a:spcAft>
                <a:spcPts val="300"/>
              </a:spcAft>
            </a:pPr>
            <a:r>
              <a:rPr sz="1100" b="0">
                <a:solidFill>
                  <a:srgbClr val="5B6372"/>
                </a:solidFill>
                <a:latin typeface="Arial"/>
              </a:rPr>
              <a:t>Most strategies are long-only: buy, then sell back to cash. 'RSI oversold / overbought' has an allow_short option that goes short above RSI 70.</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Pairs trading (Lab 14)</a:t>
            </a:r>
          </a:p>
          <a:p>
            <a:pPr algn="l">
              <a:spcAft>
                <a:spcPts val="300"/>
              </a:spcAft>
            </a:pPr>
            <a:r>
              <a:rPr sz="1100" b="0">
                <a:solidFill>
                  <a:srgbClr val="5B6372"/>
                </a:solidFill>
                <a:latin typeface="Arial"/>
              </a:rPr>
              <a:t>Long the cheap stock and short the rich one at the same time: the trade profits from the gap closing, whichever way the market moves.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Strategy Families at a Glance (1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Trend following</a:t>
            </a:r>
          </a:p>
          <a:p>
            <a:pPr algn="l">
              <a:spcAft>
                <a:spcPts val="300"/>
              </a:spcAft>
            </a:pPr>
            <a:r>
              <a:rPr sz="1000" b="0">
                <a:solidFill>
                  <a:srgbClr val="5B6372"/>
                </a:solidFill>
                <a:latin typeface="Arial"/>
              </a:rPr>
              <a:t>Rides sustained moves in the direction of the trend; cuts losers quickly  -  e.g. Buy when the 50-day moving average crosses above the 200-day</a:t>
            </a:r>
          </a:p>
        </p:txBody>
      </p:sp>
      <p:sp>
        <p:nvSpPr>
          <p:cNvPr id="15" name="Rectangle 14"/>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3063240"/>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Mean reversion</a:t>
            </a:r>
          </a:p>
          <a:p>
            <a:pPr algn="l">
              <a:spcAft>
                <a:spcPts val="300"/>
              </a:spcAft>
            </a:pPr>
            <a:r>
              <a:rPr sz="1000" b="0">
                <a:solidFill>
                  <a:srgbClr val="5B6372"/>
                </a:solidFill>
                <a:latin typeface="Arial"/>
              </a:rPr>
              <a:t>Bets that prices stretched far from their average will snap back  -  e.g. Buy when price closes below the lower Bollinger Band (20-day, 2 std dev)</a:t>
            </a:r>
          </a:p>
        </p:txBody>
      </p:sp>
      <p:sp>
        <p:nvSpPr>
          <p:cNvPr id="20" name="Rectangle 19"/>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Momentum and breakout</a:t>
            </a:r>
          </a:p>
          <a:p>
            <a:pPr algn="l">
              <a:spcAft>
                <a:spcPts val="300"/>
              </a:spcAft>
            </a:pPr>
            <a:r>
              <a:rPr sz="1000" b="0">
                <a:solidFill>
                  <a:srgbClr val="5B6372"/>
                </a:solidFill>
                <a:latin typeface="Arial"/>
              </a:rPr>
              <a:t>Buys recent winners or prices breaking out of a range, expecting them to keep going  -  e.g. Buy on a close above the 20-day high (Donchian channel breakout)</a:t>
            </a:r>
          </a:p>
        </p:txBody>
      </p:sp>
      <p:sp>
        <p:nvSpPr>
          <p:cNvPr id="25" name="Rectangle 24"/>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5367528"/>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Statistical / pairs arbitrage</a:t>
            </a:r>
          </a:p>
          <a:p>
            <a:pPr algn="l">
              <a:spcAft>
                <a:spcPts val="300"/>
              </a:spcAft>
            </a:pPr>
            <a:r>
              <a:rPr sz="1000" b="0">
                <a:solidFill>
                  <a:srgbClr val="5B6372"/>
                </a:solidFill>
                <a:latin typeface="Arial"/>
              </a:rPr>
              <a:t>Trades the spread between two related assets when it drifts from its normal level  -  e.g. Short the rich leg, buy the cheap leg when the spread z-score exceeds 2</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Strategy Families at a Glance (2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Execution algorithms</a:t>
            </a:r>
          </a:p>
          <a:p>
            <a:pPr algn="l">
              <a:spcAft>
                <a:spcPts val="300"/>
              </a:spcAft>
            </a:pPr>
            <a:r>
              <a:rPr sz="1000" b="0">
                <a:solidFill>
                  <a:srgbClr val="5B6372"/>
                </a:solidFill>
                <a:latin typeface="Arial"/>
              </a:rPr>
              <a:t>Split a large order to minimise cost and market impact: VWAP, TWAP, POV, implementation shortfall  -  e.g. POV: trade 10% of market volume until the order is filled</a:t>
            </a:r>
          </a:p>
        </p:txBody>
      </p:sp>
      <p:sp>
        <p:nvSpPr>
          <p:cNvPr id="15" name="Rectangle 14"/>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3063240"/>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Market making</a:t>
            </a:r>
          </a:p>
          <a:p>
            <a:pPr algn="l">
              <a:spcAft>
                <a:spcPts val="300"/>
              </a:spcAft>
            </a:pPr>
            <a:r>
              <a:rPr sz="1000" b="0">
                <a:solidFill>
                  <a:srgbClr val="5B6372"/>
                </a:solidFill>
                <a:latin typeface="Arial"/>
              </a:rPr>
              <a:t>Continuously quotes buy and sell prices, earning the spread while managing inventory  -  e.g. Quote bid and ask around mid-price; skew quotes as inventory builds</a:t>
            </a:r>
          </a:p>
        </p:txBody>
      </p:sp>
      <p:sp>
        <p:nvSpPr>
          <p:cNvPr id="20" name="Rectangle 19"/>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Index rebalancing / event-driven</a:t>
            </a:r>
          </a:p>
          <a:p>
            <a:pPr algn="l">
              <a:spcAft>
                <a:spcPts val="300"/>
              </a:spcAft>
            </a:pPr>
            <a:r>
              <a:rPr sz="1000" b="0">
                <a:solidFill>
                  <a:srgbClr val="5B6372"/>
                </a:solidFill>
                <a:latin typeface="Arial"/>
              </a:rPr>
              <a:t>Trades predictable flows around index changes, earnings and corporate events  -  e.g. Position ahead of announced index inclusions on the rebalance date</a:t>
            </a:r>
          </a:p>
        </p:txBody>
      </p:sp>
      <p:sp>
        <p:nvSpPr>
          <p:cNvPr id="25" name="Rectangle 24"/>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5367528"/>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Sentiment / NLP</a:t>
            </a:r>
          </a:p>
          <a:p>
            <a:pPr algn="l">
              <a:spcAft>
                <a:spcPts val="300"/>
              </a:spcAft>
            </a:pPr>
            <a:r>
              <a:rPr sz="1000" b="0">
                <a:solidFill>
                  <a:srgbClr val="5B6372"/>
                </a:solidFill>
                <a:latin typeface="Arial"/>
              </a:rPr>
              <a:t>Turns news, filings and social media text into trading signals using NLP or LLMs  -  e.g. Go long when the average FinBERT headline sentiment is strongly positive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STRATEGY FAMILIES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Strategy Family: Trend Following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3361944"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3361944"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2923032" cy="548640"/>
          </a:xfrm>
          <a:prstGeom prst="rect">
            <a:avLst/>
          </a:prstGeom>
          <a:noFill/>
        </p:spPr>
        <p:txBody>
          <a:bodyPr wrap="square" anchor="t">
            <a:spAutoFit/>
          </a:bodyPr>
          <a:lstStyle/>
          <a:p>
            <a:pPr algn="l">
              <a:spcAft>
                <a:spcPts val="400"/>
              </a:spcAft>
            </a:pPr>
            <a:r>
              <a:rPr sz="1600" b="1">
                <a:solidFill>
                  <a:srgbClr val="1F6FEB"/>
                </a:solidFill>
                <a:latin typeface="Arial"/>
              </a:rPr>
              <a:t>The idea</a:t>
            </a:r>
          </a:p>
        </p:txBody>
      </p:sp>
      <p:sp>
        <p:nvSpPr>
          <p:cNvPr id="10" name="TextBox 9"/>
          <p:cNvSpPr txBox="1"/>
          <p:nvPr/>
        </p:nvSpPr>
        <p:spPr>
          <a:xfrm>
            <a:off x="996696"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Prices that have started to move tend to keep moving. Buy when a fast average is above a slow one (or price is above its 200-day average); exit when the trend turns.</a:t>
            </a:r>
          </a:p>
        </p:txBody>
      </p:sp>
      <p:sp>
        <p:nvSpPr>
          <p:cNvPr id="11" name="Rectangle 10"/>
          <p:cNvSpPr/>
          <p:nvPr/>
        </p:nvSpPr>
        <p:spPr>
          <a:xfrm>
            <a:off x="4413504" y="1965960"/>
            <a:ext cx="3361944"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13504" y="1965960"/>
            <a:ext cx="3361944"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2960" y="2331720"/>
            <a:ext cx="2923032" cy="548640"/>
          </a:xfrm>
          <a:prstGeom prst="rect">
            <a:avLst/>
          </a:prstGeom>
          <a:noFill/>
        </p:spPr>
        <p:txBody>
          <a:bodyPr wrap="square" anchor="t">
            <a:spAutoFit/>
          </a:bodyPr>
          <a:lstStyle/>
          <a:p>
            <a:pPr algn="l">
              <a:spcAft>
                <a:spcPts val="400"/>
              </a:spcAft>
            </a:pPr>
            <a:r>
              <a:rPr sz="1600" b="1">
                <a:solidFill>
                  <a:srgbClr val="10B981"/>
                </a:solidFill>
                <a:latin typeface="Arial"/>
              </a:rPr>
              <a:t>When it works</a:t>
            </a:r>
          </a:p>
        </p:txBody>
      </p:sp>
      <p:sp>
        <p:nvSpPr>
          <p:cNvPr id="14" name="TextBox 13"/>
          <p:cNvSpPr txBox="1"/>
          <p:nvPr/>
        </p:nvSpPr>
        <p:spPr>
          <a:xfrm>
            <a:off x="4632960"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Long, persistent moves - bull or bear markets, macro trends lasting months. A few big winners pay for many small losses.</a:t>
            </a:r>
          </a:p>
        </p:txBody>
      </p:sp>
      <p:sp>
        <p:nvSpPr>
          <p:cNvPr id="15" name="Rectangle 14"/>
          <p:cNvSpPr/>
          <p:nvPr/>
        </p:nvSpPr>
        <p:spPr>
          <a:xfrm>
            <a:off x="8049768" y="1965960"/>
            <a:ext cx="3361944" cy="3566160"/>
          </a:xfrm>
          <a:prstGeom prst="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9768" y="1965960"/>
            <a:ext cx="3361944"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9224" y="2331720"/>
            <a:ext cx="2923032" cy="548640"/>
          </a:xfrm>
          <a:prstGeom prst="rect">
            <a:avLst/>
          </a:prstGeom>
          <a:noFill/>
        </p:spPr>
        <p:txBody>
          <a:bodyPr wrap="square" anchor="t">
            <a:spAutoFit/>
          </a:bodyPr>
          <a:lstStyle/>
          <a:p>
            <a:pPr algn="l">
              <a:spcAft>
                <a:spcPts val="400"/>
              </a:spcAft>
            </a:pPr>
            <a:r>
              <a:rPr sz="1600" b="1">
                <a:solidFill>
                  <a:srgbClr val="7C3AED"/>
                </a:solidFill>
                <a:latin typeface="Arial"/>
              </a:rPr>
              <a:t>When it will not work</a:t>
            </a:r>
          </a:p>
        </p:txBody>
      </p:sp>
      <p:sp>
        <p:nvSpPr>
          <p:cNvPr id="18" name="TextBox 17"/>
          <p:cNvSpPr txBox="1"/>
          <p:nvPr/>
        </p:nvSpPr>
        <p:spPr>
          <a:xfrm>
            <a:off x="8269224"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Sideways, choppy markets: price crosses the averages again and again (whipsaws), every crossing costs money, and signals arrive late at turns.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
        <p:nvSpPr>
          <p:cNvPr id="22" name="Rectangle 21"/>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25" name="Rectangle 24"/>
          <p:cNvSpPr/>
          <p:nvPr/>
        </p:nvSpPr>
        <p:spPr>
          <a:xfrm>
            <a:off x="777240" y="5669280"/>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669280"/>
            <a:ext cx="91440" cy="548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 y="5669280"/>
            <a:ext cx="10058400" cy="548640"/>
          </a:xfrm>
          <a:prstGeom prst="rect">
            <a:avLst/>
          </a:prstGeom>
          <a:noFill/>
        </p:spPr>
        <p:txBody>
          <a:bodyPr wrap="square" anchor="ctr">
            <a:spAutoFit/>
          </a:bodyPr>
          <a:lstStyle/>
          <a:p>
            <a:pPr algn="l">
              <a:spcAft>
                <a:spcPts val="400"/>
              </a:spcAft>
            </a:pPr>
            <a:r>
              <a:rPr sz="1300" b="1">
                <a:solidFill>
                  <a:srgbClr val="161B26"/>
                </a:solidFill>
                <a:latin typeface="Arial"/>
              </a:rPr>
              <a:t>Lab 7: EMA 20/50 on SPY</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STRATEGY FAMILIES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Strategy Family: Mean Reversion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3361944"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3361944"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2923032" cy="548640"/>
          </a:xfrm>
          <a:prstGeom prst="rect">
            <a:avLst/>
          </a:prstGeom>
          <a:noFill/>
        </p:spPr>
        <p:txBody>
          <a:bodyPr wrap="square" anchor="t">
            <a:spAutoFit/>
          </a:bodyPr>
          <a:lstStyle/>
          <a:p>
            <a:pPr algn="l">
              <a:spcAft>
                <a:spcPts val="400"/>
              </a:spcAft>
            </a:pPr>
            <a:r>
              <a:rPr sz="1600" b="1">
                <a:solidFill>
                  <a:srgbClr val="1F6FEB"/>
                </a:solidFill>
                <a:latin typeface="Arial"/>
              </a:rPr>
              <a:t>The idea</a:t>
            </a:r>
          </a:p>
        </p:txBody>
      </p:sp>
      <p:sp>
        <p:nvSpPr>
          <p:cNvPr id="10" name="TextBox 9"/>
          <p:cNvSpPr txBox="1"/>
          <p:nvPr/>
        </p:nvSpPr>
        <p:spPr>
          <a:xfrm>
            <a:off x="996696"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Like a rubber band, short-term over-reactions snap back. Buy when price is stretched below its normal range (lower Bollinger Band, RSI(2) below 10) and sell when it returns to the average.</a:t>
            </a:r>
          </a:p>
        </p:txBody>
      </p:sp>
      <p:sp>
        <p:nvSpPr>
          <p:cNvPr id="11" name="Rectangle 10"/>
          <p:cNvSpPr/>
          <p:nvPr/>
        </p:nvSpPr>
        <p:spPr>
          <a:xfrm>
            <a:off x="4413504" y="1965960"/>
            <a:ext cx="3361944"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13504" y="1965960"/>
            <a:ext cx="3361944"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2960" y="2331720"/>
            <a:ext cx="2923032" cy="548640"/>
          </a:xfrm>
          <a:prstGeom prst="rect">
            <a:avLst/>
          </a:prstGeom>
          <a:noFill/>
        </p:spPr>
        <p:txBody>
          <a:bodyPr wrap="square" anchor="t">
            <a:spAutoFit/>
          </a:bodyPr>
          <a:lstStyle/>
          <a:p>
            <a:pPr algn="l">
              <a:spcAft>
                <a:spcPts val="400"/>
              </a:spcAft>
            </a:pPr>
            <a:r>
              <a:rPr sz="1600" b="1">
                <a:solidFill>
                  <a:srgbClr val="10B981"/>
                </a:solidFill>
                <a:latin typeface="Arial"/>
              </a:rPr>
              <a:t>When it works</a:t>
            </a:r>
          </a:p>
        </p:txBody>
      </p:sp>
      <p:sp>
        <p:nvSpPr>
          <p:cNvPr id="14" name="TextBox 13"/>
          <p:cNvSpPr txBox="1"/>
          <p:nvPr/>
        </p:nvSpPr>
        <p:spPr>
          <a:xfrm>
            <a:off x="4632960"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Range-bound, liquid markets and stable large stocks, where extremes tend to snap back within days.</a:t>
            </a:r>
          </a:p>
        </p:txBody>
      </p:sp>
      <p:sp>
        <p:nvSpPr>
          <p:cNvPr id="15" name="Rectangle 14"/>
          <p:cNvSpPr/>
          <p:nvPr/>
        </p:nvSpPr>
        <p:spPr>
          <a:xfrm>
            <a:off x="8049768" y="1965960"/>
            <a:ext cx="3361944" cy="3566160"/>
          </a:xfrm>
          <a:prstGeom prst="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9768" y="1965960"/>
            <a:ext cx="3361944"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9224" y="2331720"/>
            <a:ext cx="2923032" cy="548640"/>
          </a:xfrm>
          <a:prstGeom prst="rect">
            <a:avLst/>
          </a:prstGeom>
          <a:noFill/>
        </p:spPr>
        <p:txBody>
          <a:bodyPr wrap="square" anchor="t">
            <a:spAutoFit/>
          </a:bodyPr>
          <a:lstStyle/>
          <a:p>
            <a:pPr algn="l">
              <a:spcAft>
                <a:spcPts val="400"/>
              </a:spcAft>
            </a:pPr>
            <a:r>
              <a:rPr sz="1600" b="1">
                <a:solidFill>
                  <a:srgbClr val="7C3AED"/>
                </a:solidFill>
                <a:latin typeface="Arial"/>
              </a:rPr>
              <a:t>When it will not work</a:t>
            </a:r>
          </a:p>
        </p:txBody>
      </p:sp>
      <p:sp>
        <p:nvSpPr>
          <p:cNvPr id="18" name="TextBox 17"/>
          <p:cNvSpPr txBox="1"/>
          <p:nvPr/>
        </p:nvSpPr>
        <p:spPr>
          <a:xfrm>
            <a:off x="8269224"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A real trend or a news shock: 'cheap' keeps getting cheaper. A high win rate hides rare large losses - as in March 2020.</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
        <p:nvSpPr>
          <p:cNvPr id="22" name="Rectangle 21"/>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25" name="Rectangle 24"/>
          <p:cNvSpPr/>
          <p:nvPr/>
        </p:nvSpPr>
        <p:spPr>
          <a:xfrm>
            <a:off x="777240" y="5669280"/>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669280"/>
            <a:ext cx="91440" cy="548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 y="5669280"/>
            <a:ext cx="10058400" cy="548640"/>
          </a:xfrm>
          <a:prstGeom prst="rect">
            <a:avLst/>
          </a:prstGeom>
          <a:noFill/>
        </p:spPr>
        <p:txBody>
          <a:bodyPr wrap="square" anchor="ctr">
            <a:spAutoFit/>
          </a:bodyPr>
          <a:lstStyle/>
          <a:p>
            <a:pPr algn="l">
              <a:spcAft>
                <a:spcPts val="400"/>
              </a:spcAft>
            </a:pPr>
            <a:r>
              <a:rPr sz="1300" b="1">
                <a:solidFill>
                  <a:srgbClr val="161B26"/>
                </a:solidFill>
                <a:latin typeface="Arial"/>
              </a:rPr>
              <a:t>Lab 7: Bollinger 20 / k = 2.0 and 1.5 on KO</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STRATEGY FAMILIES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Mean Reversion Rules in the Simulator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Buy when 'too low'</a:t>
            </a:r>
          </a:p>
        </p:txBody>
      </p:sp>
      <p:sp>
        <p:nvSpPr>
          <p:cNvPr id="12" name="Rectangle 11"/>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Exit</a:t>
            </a:r>
          </a:p>
        </p:txBody>
      </p:sp>
      <p:sp>
        <p:nvSpPr>
          <p:cNvPr id="14" name="Rectangle 13"/>
          <p:cNvSpPr/>
          <p:nvPr/>
        </p:nvSpPr>
        <p:spPr>
          <a:xfrm>
            <a:off x="777240" y="2286000"/>
            <a:ext cx="10634472" cy="9669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Bollinger Band mean reversion</a:t>
            </a:r>
          </a:p>
        </p:txBody>
      </p:sp>
      <p:sp>
        <p:nvSpPr>
          <p:cNvPr id="16" name="TextBox 15"/>
          <p:cNvSpPr txBox="1"/>
          <p:nvPr/>
        </p:nvSpPr>
        <p:spPr>
          <a:xfrm>
            <a:off x="3017520" y="2286000"/>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Close below the lower band (20-day mean - 2 standard deviations)</a:t>
            </a:r>
          </a:p>
        </p:txBody>
      </p:sp>
      <p:sp>
        <p:nvSpPr>
          <p:cNvPr id="17" name="TextBox 16"/>
          <p:cNvSpPr txBox="1"/>
          <p:nvPr/>
        </p:nvSpPr>
        <p:spPr>
          <a:xfrm>
            <a:off x="7260336" y="2286000"/>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Price returns to the middle band (the 20-day mean)</a:t>
            </a:r>
          </a:p>
        </p:txBody>
      </p:sp>
      <p:sp>
        <p:nvSpPr>
          <p:cNvPr id="18" name="TextBox 17"/>
          <p:cNvSpPr txBox="1"/>
          <p:nvPr/>
        </p:nvSpPr>
        <p:spPr>
          <a:xfrm>
            <a:off x="886968" y="3280410"/>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RSI oversold / overbought</a:t>
            </a:r>
          </a:p>
        </p:txBody>
      </p:sp>
      <p:sp>
        <p:nvSpPr>
          <p:cNvPr id="19" name="TextBox 18"/>
          <p:cNvSpPr txBox="1"/>
          <p:nvPr/>
        </p:nvSpPr>
        <p:spPr>
          <a:xfrm>
            <a:off x="3017520" y="3280410"/>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RSI(14) below 30 - oversold</a:t>
            </a:r>
          </a:p>
        </p:txBody>
      </p:sp>
      <p:sp>
        <p:nvSpPr>
          <p:cNvPr id="20" name="TextBox 19"/>
          <p:cNvSpPr txBox="1"/>
          <p:nvPr/>
        </p:nvSpPr>
        <p:spPr>
          <a:xfrm>
            <a:off x="7260336" y="3280410"/>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RSI(14) above 70 - overbought</a:t>
            </a:r>
          </a:p>
        </p:txBody>
      </p:sp>
      <p:sp>
        <p:nvSpPr>
          <p:cNvPr id="21" name="Rectangle 20"/>
          <p:cNvSpPr/>
          <p:nvPr/>
        </p:nvSpPr>
        <p:spPr>
          <a:xfrm>
            <a:off x="777240" y="4274820"/>
            <a:ext cx="10634472" cy="9669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4274820"/>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RSI(2) mean reversion</a:t>
            </a:r>
          </a:p>
        </p:txBody>
      </p:sp>
      <p:sp>
        <p:nvSpPr>
          <p:cNvPr id="23" name="TextBox 22"/>
          <p:cNvSpPr txBox="1"/>
          <p:nvPr/>
        </p:nvSpPr>
        <p:spPr>
          <a:xfrm>
            <a:off x="3017520" y="4274820"/>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RSI(2) below 10 - a sharp 1-2 day drop</a:t>
            </a:r>
          </a:p>
        </p:txBody>
      </p:sp>
      <p:sp>
        <p:nvSpPr>
          <p:cNvPr id="24" name="TextBox 23"/>
          <p:cNvSpPr txBox="1"/>
          <p:nvPr/>
        </p:nvSpPr>
        <p:spPr>
          <a:xfrm>
            <a:off x="7260336" y="4274820"/>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RSI(2) above 70 - the bounce</a:t>
            </a:r>
          </a:p>
        </p:txBody>
      </p:sp>
      <p:sp>
        <p:nvSpPr>
          <p:cNvPr id="25" name="TextBox 24"/>
          <p:cNvSpPr txBox="1"/>
          <p:nvPr/>
        </p:nvSpPr>
        <p:spPr>
          <a:xfrm>
            <a:off x="886968" y="5269229"/>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Dip buy after a losing streak</a:t>
            </a:r>
          </a:p>
        </p:txBody>
      </p:sp>
      <p:sp>
        <p:nvSpPr>
          <p:cNvPr id="26" name="TextBox 25"/>
          <p:cNvSpPr txBox="1"/>
          <p:nvPr/>
        </p:nvSpPr>
        <p:spPr>
          <a:xfrm>
            <a:off x="3017520" y="5269229"/>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3 or more down closes in a row (the Lab 4 hypothesis)</a:t>
            </a:r>
          </a:p>
        </p:txBody>
      </p:sp>
      <p:sp>
        <p:nvSpPr>
          <p:cNvPr id="27" name="TextBox 26"/>
          <p:cNvSpPr txBox="1"/>
          <p:nvPr/>
        </p:nvSpPr>
        <p:spPr>
          <a:xfrm>
            <a:off x="7260336" y="5269229"/>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After the holding horizon, e.g. the next day</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STRATEGY FAMILIES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Mean Reversion versus Trend Following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Mean reversion</a:t>
            </a:r>
          </a:p>
        </p:txBody>
      </p:sp>
      <p:sp>
        <p:nvSpPr>
          <p:cNvPr id="12" name="Rectangle 11"/>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Trend following / momentum</a:t>
            </a:r>
          </a:p>
        </p:txBody>
      </p:sp>
      <p:sp>
        <p:nvSpPr>
          <p:cNvPr id="14" name="Rectangle 13"/>
          <p:cNvSpPr/>
          <p:nvPr/>
        </p:nvSpPr>
        <p:spPr>
          <a:xfrm>
            <a:off x="777240" y="2286000"/>
            <a:ext cx="10634472" cy="6355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Belief</a:t>
            </a:r>
          </a:p>
        </p:txBody>
      </p:sp>
      <p:sp>
        <p:nvSpPr>
          <p:cNvPr id="16" name="TextBox 15"/>
          <p:cNvSpPr txBox="1"/>
          <p:nvPr/>
        </p:nvSpPr>
        <p:spPr>
          <a:xfrm>
            <a:off x="3017520" y="228600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Extremes snap back to the average</a:t>
            </a:r>
          </a:p>
        </p:txBody>
      </p:sp>
      <p:sp>
        <p:nvSpPr>
          <p:cNvPr id="17" name="TextBox 16"/>
          <p:cNvSpPr txBox="1"/>
          <p:nvPr/>
        </p:nvSpPr>
        <p:spPr>
          <a:xfrm>
            <a:off x="7260336" y="228600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What is moving keeps moving</a:t>
            </a:r>
          </a:p>
        </p:txBody>
      </p:sp>
      <p:sp>
        <p:nvSpPr>
          <p:cNvPr id="18" name="TextBox 17"/>
          <p:cNvSpPr txBox="1"/>
          <p:nvPr/>
        </p:nvSpPr>
        <p:spPr>
          <a:xfrm>
            <a:off x="886968" y="294894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After a big drop</a:t>
            </a:r>
          </a:p>
        </p:txBody>
      </p:sp>
      <p:sp>
        <p:nvSpPr>
          <p:cNvPr id="19" name="TextBox 18"/>
          <p:cNvSpPr txBox="1"/>
          <p:nvPr/>
        </p:nvSpPr>
        <p:spPr>
          <a:xfrm>
            <a:off x="3017520" y="294894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Buy</a:t>
            </a:r>
          </a:p>
        </p:txBody>
      </p:sp>
      <p:sp>
        <p:nvSpPr>
          <p:cNvPr id="20" name="TextBox 19"/>
          <p:cNvSpPr txBox="1"/>
          <p:nvPr/>
        </p:nvSpPr>
        <p:spPr>
          <a:xfrm>
            <a:off x="7260336" y="294894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Sell or stay out</a:t>
            </a:r>
          </a:p>
        </p:txBody>
      </p:sp>
      <p:sp>
        <p:nvSpPr>
          <p:cNvPr id="21" name="Rectangle 20"/>
          <p:cNvSpPr/>
          <p:nvPr/>
        </p:nvSpPr>
        <p:spPr>
          <a:xfrm>
            <a:off x="777240" y="3611880"/>
            <a:ext cx="10634472" cy="6355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61188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Works best in</a:t>
            </a:r>
          </a:p>
        </p:txBody>
      </p:sp>
      <p:sp>
        <p:nvSpPr>
          <p:cNvPr id="23" name="TextBox 22"/>
          <p:cNvSpPr txBox="1"/>
          <p:nvPr/>
        </p:nvSpPr>
        <p:spPr>
          <a:xfrm>
            <a:off x="3017520" y="361188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Range-bound, sideways markets</a:t>
            </a:r>
          </a:p>
        </p:txBody>
      </p:sp>
      <p:sp>
        <p:nvSpPr>
          <p:cNvPr id="24" name="TextBox 23"/>
          <p:cNvSpPr txBox="1"/>
          <p:nvPr/>
        </p:nvSpPr>
        <p:spPr>
          <a:xfrm>
            <a:off x="7260336" y="361188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Strongly trending markets</a:t>
            </a:r>
          </a:p>
        </p:txBody>
      </p:sp>
      <p:sp>
        <p:nvSpPr>
          <p:cNvPr id="25" name="TextBox 24"/>
          <p:cNvSpPr txBox="1"/>
          <p:nvPr/>
        </p:nvSpPr>
        <p:spPr>
          <a:xfrm>
            <a:off x="886968" y="427482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Typical horizon</a:t>
            </a:r>
          </a:p>
        </p:txBody>
      </p:sp>
      <p:sp>
        <p:nvSpPr>
          <p:cNvPr id="26" name="TextBox 25"/>
          <p:cNvSpPr txBox="1"/>
          <p:nvPr/>
        </p:nvSpPr>
        <p:spPr>
          <a:xfrm>
            <a:off x="3017520" y="427482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Short: days</a:t>
            </a:r>
          </a:p>
        </p:txBody>
      </p:sp>
      <p:sp>
        <p:nvSpPr>
          <p:cNvPr id="27" name="TextBox 26"/>
          <p:cNvSpPr txBox="1"/>
          <p:nvPr/>
        </p:nvSpPr>
        <p:spPr>
          <a:xfrm>
            <a:off x="7260336" y="427482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Longer: weeks to months</a:t>
            </a:r>
          </a:p>
        </p:txBody>
      </p:sp>
      <p:sp>
        <p:nvSpPr>
          <p:cNvPr id="28" name="Rectangle 27"/>
          <p:cNvSpPr/>
          <p:nvPr/>
        </p:nvSpPr>
        <p:spPr>
          <a:xfrm>
            <a:off x="777240" y="4937760"/>
            <a:ext cx="10634472" cy="6355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93776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Win rate</a:t>
            </a:r>
          </a:p>
        </p:txBody>
      </p:sp>
      <p:sp>
        <p:nvSpPr>
          <p:cNvPr id="30" name="TextBox 29"/>
          <p:cNvSpPr txBox="1"/>
          <p:nvPr/>
        </p:nvSpPr>
        <p:spPr>
          <a:xfrm>
            <a:off x="3017520" y="493776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High - many small wins</a:t>
            </a:r>
          </a:p>
        </p:txBody>
      </p:sp>
      <p:sp>
        <p:nvSpPr>
          <p:cNvPr id="31" name="TextBox 30"/>
          <p:cNvSpPr txBox="1"/>
          <p:nvPr/>
        </p:nvSpPr>
        <p:spPr>
          <a:xfrm>
            <a:off x="7260336" y="493776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Low - few but large wins</a:t>
            </a:r>
          </a:p>
        </p:txBody>
      </p:sp>
      <p:sp>
        <p:nvSpPr>
          <p:cNvPr id="32" name="TextBox 31"/>
          <p:cNvSpPr txBox="1"/>
          <p:nvPr/>
        </p:nvSpPr>
        <p:spPr>
          <a:xfrm>
            <a:off x="886968" y="560070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Main danger</a:t>
            </a:r>
          </a:p>
        </p:txBody>
      </p:sp>
      <p:sp>
        <p:nvSpPr>
          <p:cNvPr id="33" name="TextBox 32"/>
          <p:cNvSpPr txBox="1"/>
          <p:nvPr/>
        </p:nvSpPr>
        <p:spPr>
          <a:xfrm>
            <a:off x="3017520" y="560070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A rare big loss when the dip becomes a crash</a:t>
            </a:r>
          </a:p>
        </p:txBody>
      </p:sp>
      <p:sp>
        <p:nvSpPr>
          <p:cNvPr id="34" name="TextBox 33"/>
          <p:cNvSpPr txBox="1"/>
          <p:nvPr/>
        </p:nvSpPr>
        <p:spPr>
          <a:xfrm>
            <a:off x="7260336" y="560070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Many small losses in choppy markets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STRATEGY FAMILIES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Mean Reversion: the Main Risk and Three Safeguards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2452878"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2452878"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2013966" cy="548640"/>
          </a:xfrm>
          <a:prstGeom prst="rect">
            <a:avLst/>
          </a:prstGeom>
          <a:noFill/>
        </p:spPr>
        <p:txBody>
          <a:bodyPr wrap="square" anchor="t">
            <a:spAutoFit/>
          </a:bodyPr>
          <a:lstStyle/>
          <a:p>
            <a:pPr algn="l">
              <a:spcAft>
                <a:spcPts val="400"/>
              </a:spcAft>
            </a:pPr>
            <a:r>
              <a:rPr sz="1600" b="1">
                <a:solidFill>
                  <a:srgbClr val="1F6FEB"/>
                </a:solidFill>
                <a:latin typeface="Arial"/>
              </a:rPr>
              <a:t>The risk</a:t>
            </a:r>
          </a:p>
        </p:txBody>
      </p:sp>
      <p:sp>
        <p:nvSpPr>
          <p:cNvPr id="10" name="TextBox 9"/>
          <p:cNvSpPr txBox="1"/>
          <p:nvPr/>
        </p:nvSpPr>
        <p:spPr>
          <a:xfrm>
            <a:off x="996696" y="2926080"/>
            <a:ext cx="2013966" cy="2377440"/>
          </a:xfrm>
          <a:prstGeom prst="rect">
            <a:avLst/>
          </a:prstGeom>
          <a:noFill/>
        </p:spPr>
        <p:txBody>
          <a:bodyPr wrap="square" anchor="t">
            <a:spAutoFit/>
          </a:bodyPr>
          <a:lstStyle/>
          <a:p>
            <a:pPr algn="l">
              <a:spcAft>
                <a:spcPts val="400"/>
              </a:spcAft>
            </a:pPr>
            <a:r>
              <a:rPr sz="1200" b="0">
                <a:solidFill>
                  <a:srgbClr val="161B26"/>
                </a:solidFill>
                <a:latin typeface="Arial"/>
              </a:rPr>
              <a:t>The rule assumes the average holds. After a real change - a crash, bad news, a broken business - price does not come back: buying the dip becomes catching a falling knife.</a:t>
            </a:r>
          </a:p>
        </p:txBody>
      </p:sp>
      <p:sp>
        <p:nvSpPr>
          <p:cNvPr id="11" name="Rectangle 10"/>
          <p:cNvSpPr/>
          <p:nvPr/>
        </p:nvSpPr>
        <p:spPr>
          <a:xfrm>
            <a:off x="3504438" y="1965960"/>
            <a:ext cx="2452878"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504438" y="1965960"/>
            <a:ext cx="2452878"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23894" y="2331720"/>
            <a:ext cx="2013966" cy="548640"/>
          </a:xfrm>
          <a:prstGeom prst="rect">
            <a:avLst/>
          </a:prstGeom>
          <a:noFill/>
        </p:spPr>
        <p:txBody>
          <a:bodyPr wrap="square" anchor="t">
            <a:spAutoFit/>
          </a:bodyPr>
          <a:lstStyle/>
          <a:p>
            <a:pPr algn="l">
              <a:spcAft>
                <a:spcPts val="400"/>
              </a:spcAft>
            </a:pPr>
            <a:r>
              <a:rPr sz="1600" b="1">
                <a:solidFill>
                  <a:srgbClr val="10B981"/>
                </a:solidFill>
                <a:latin typeface="Arial"/>
              </a:rPr>
              <a:t>1  Stop-loss or time limit</a:t>
            </a:r>
          </a:p>
        </p:txBody>
      </p:sp>
      <p:sp>
        <p:nvSpPr>
          <p:cNvPr id="14" name="TextBox 13"/>
          <p:cNvSpPr txBox="1"/>
          <p:nvPr/>
        </p:nvSpPr>
        <p:spPr>
          <a:xfrm>
            <a:off x="3723894" y="2926080"/>
            <a:ext cx="2013966" cy="2377440"/>
          </a:xfrm>
          <a:prstGeom prst="rect">
            <a:avLst/>
          </a:prstGeom>
          <a:noFill/>
        </p:spPr>
        <p:txBody>
          <a:bodyPr wrap="square" anchor="t">
            <a:spAutoFit/>
          </a:bodyPr>
          <a:lstStyle/>
          <a:p>
            <a:pPr algn="l">
              <a:spcAft>
                <a:spcPts val="400"/>
              </a:spcAft>
            </a:pPr>
            <a:r>
              <a:rPr sz="1200" b="0">
                <a:solidFill>
                  <a:srgbClr val="161B26"/>
                </a:solidFill>
                <a:latin typeface="Arial"/>
              </a:rPr>
              <a:t>Cap the rare big loss: exit at a fixed loss, or after n days if the bounce has not come.</a:t>
            </a:r>
          </a:p>
        </p:txBody>
      </p:sp>
      <p:sp>
        <p:nvSpPr>
          <p:cNvPr id="15" name="Rectangle 14"/>
          <p:cNvSpPr/>
          <p:nvPr/>
        </p:nvSpPr>
        <p:spPr>
          <a:xfrm>
            <a:off x="6231636" y="1965960"/>
            <a:ext cx="2452878" cy="3566160"/>
          </a:xfrm>
          <a:prstGeom prst="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965960"/>
            <a:ext cx="2452878"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51092" y="2331720"/>
            <a:ext cx="2013966" cy="548640"/>
          </a:xfrm>
          <a:prstGeom prst="rect">
            <a:avLst/>
          </a:prstGeom>
          <a:noFill/>
        </p:spPr>
        <p:txBody>
          <a:bodyPr wrap="square" anchor="t">
            <a:spAutoFit/>
          </a:bodyPr>
          <a:lstStyle/>
          <a:p>
            <a:pPr algn="l">
              <a:spcAft>
                <a:spcPts val="400"/>
              </a:spcAft>
            </a:pPr>
            <a:r>
              <a:rPr sz="1600" b="1">
                <a:solidFill>
                  <a:srgbClr val="7C3AED"/>
                </a:solidFill>
                <a:latin typeface="Arial"/>
              </a:rPr>
              <a:t>2  Trend filter</a:t>
            </a:r>
          </a:p>
        </p:txBody>
      </p:sp>
      <p:sp>
        <p:nvSpPr>
          <p:cNvPr id="18" name="TextBox 17"/>
          <p:cNvSpPr txBox="1"/>
          <p:nvPr/>
        </p:nvSpPr>
        <p:spPr>
          <a:xfrm>
            <a:off x="6451092" y="2926080"/>
            <a:ext cx="2013966" cy="2377440"/>
          </a:xfrm>
          <a:prstGeom prst="rect">
            <a:avLst/>
          </a:prstGeom>
          <a:noFill/>
        </p:spPr>
        <p:txBody>
          <a:bodyPr wrap="square" anchor="t">
            <a:spAutoFit/>
          </a:bodyPr>
          <a:lstStyle/>
          <a:p>
            <a:pPr algn="l">
              <a:spcAft>
                <a:spcPts val="400"/>
              </a:spcAft>
            </a:pPr>
            <a:r>
              <a:rPr sz="1200" b="0">
                <a:solidFill>
                  <a:srgbClr val="161B26"/>
                </a:solidFill>
                <a:latin typeface="Arial"/>
              </a:rPr>
              <a:t>Only buy dips while price is above its 200-day SMA, so you are not buying into a bear market.</a:t>
            </a:r>
          </a:p>
        </p:txBody>
      </p:sp>
      <p:sp>
        <p:nvSpPr>
          <p:cNvPr id="19" name="Rectangle 18"/>
          <p:cNvSpPr/>
          <p:nvPr/>
        </p:nvSpPr>
        <p:spPr>
          <a:xfrm>
            <a:off x="8958834" y="1965960"/>
            <a:ext cx="2452878" cy="3566160"/>
          </a:xfrm>
          <a:prstGeom prst="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958834" y="1965960"/>
            <a:ext cx="2452878"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78290" y="2331720"/>
            <a:ext cx="2013966" cy="548640"/>
          </a:xfrm>
          <a:prstGeom prst="rect">
            <a:avLst/>
          </a:prstGeom>
          <a:noFill/>
        </p:spPr>
        <p:txBody>
          <a:bodyPr wrap="square" anchor="t">
            <a:spAutoFit/>
          </a:bodyPr>
          <a:lstStyle/>
          <a:p>
            <a:pPr algn="l">
              <a:spcAft>
                <a:spcPts val="400"/>
              </a:spcAft>
            </a:pPr>
            <a:r>
              <a:rPr sz="1600" b="1">
                <a:solidFill>
                  <a:srgbClr val="F59E0B"/>
                </a:solidFill>
                <a:latin typeface="Arial"/>
              </a:rPr>
              <a:t>3  Stable markets</a:t>
            </a:r>
          </a:p>
        </p:txBody>
      </p:sp>
      <p:sp>
        <p:nvSpPr>
          <p:cNvPr id="22" name="TextBox 21"/>
          <p:cNvSpPr txBox="1"/>
          <p:nvPr/>
        </p:nvSpPr>
        <p:spPr>
          <a:xfrm>
            <a:off x="9178290" y="2926080"/>
            <a:ext cx="2013966" cy="2377440"/>
          </a:xfrm>
          <a:prstGeom prst="rect">
            <a:avLst/>
          </a:prstGeom>
          <a:noFill/>
        </p:spPr>
        <p:txBody>
          <a:bodyPr wrap="square" anchor="t">
            <a:spAutoFit/>
          </a:bodyPr>
          <a:lstStyle/>
          <a:p>
            <a:pPr algn="l">
              <a:spcAft>
                <a:spcPts val="400"/>
              </a:spcAft>
            </a:pPr>
            <a:r>
              <a:rPr sz="1200" b="0">
                <a:solidFill>
                  <a:srgbClr val="161B26"/>
                </a:solidFill>
                <a:latin typeface="Arial"/>
              </a:rPr>
              <a:t>Liquid, defensive stocks such as KO, and pairs trading (Lab 14: the spread between two linked stocks) revert more reliably.</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
        <p:nvSpPr>
          <p:cNvPr id="26" name="Rectangle 25"/>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29" name="Rectangle 28"/>
          <p:cNvSpPr/>
          <p:nvPr/>
        </p:nvSpPr>
        <p:spPr>
          <a:xfrm>
            <a:off x="777240" y="5669280"/>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7240" y="5669280"/>
            <a:ext cx="91440" cy="548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97280" y="5669280"/>
            <a:ext cx="10058400" cy="548640"/>
          </a:xfrm>
          <a:prstGeom prst="rect">
            <a:avLst/>
          </a:prstGeom>
          <a:noFill/>
        </p:spPr>
        <p:txBody>
          <a:bodyPr wrap="square" anchor="ctr">
            <a:spAutoFit/>
          </a:bodyPr>
          <a:lstStyle/>
          <a:p>
            <a:pPr algn="l">
              <a:spcAft>
                <a:spcPts val="400"/>
              </a:spcAft>
            </a:pPr>
            <a:r>
              <a:rPr sz="1300" b="1">
                <a:solidFill>
                  <a:srgbClr val="161B26"/>
                </a:solidFill>
                <a:latin typeface="Arial"/>
              </a:rPr>
              <a:t>Lab 7: Bollinger on KO - high win rate, but losses larger than wins: many small wins, rare big losses.</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STRATEGY FAMILIES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Strategy Family: Momentum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3361944"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3361944"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2923032" cy="548640"/>
          </a:xfrm>
          <a:prstGeom prst="rect">
            <a:avLst/>
          </a:prstGeom>
          <a:noFill/>
        </p:spPr>
        <p:txBody>
          <a:bodyPr wrap="square" anchor="t">
            <a:spAutoFit/>
          </a:bodyPr>
          <a:lstStyle/>
          <a:p>
            <a:pPr algn="l">
              <a:spcAft>
                <a:spcPts val="400"/>
              </a:spcAft>
            </a:pPr>
            <a:r>
              <a:rPr sz="1600" b="1">
                <a:solidFill>
                  <a:srgbClr val="1F6FEB"/>
                </a:solidFill>
                <a:latin typeface="Arial"/>
              </a:rPr>
              <a:t>The idea</a:t>
            </a:r>
          </a:p>
        </p:txBody>
      </p:sp>
      <p:sp>
        <p:nvSpPr>
          <p:cNvPr id="10" name="TextBox 9"/>
          <p:cNvSpPr txBox="1"/>
          <p:nvPr/>
        </p:nvSpPr>
        <p:spPr>
          <a:xfrm>
            <a:off x="996696"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Winners keep winning for months. Buy what has risen over the last 6-12 months (time-series) or what has risen most among its peers (cross-sectional).</a:t>
            </a:r>
          </a:p>
        </p:txBody>
      </p:sp>
      <p:sp>
        <p:nvSpPr>
          <p:cNvPr id="11" name="Rectangle 10"/>
          <p:cNvSpPr/>
          <p:nvPr/>
        </p:nvSpPr>
        <p:spPr>
          <a:xfrm>
            <a:off x="4413504" y="1965960"/>
            <a:ext cx="3361944"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13504" y="1965960"/>
            <a:ext cx="3361944"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2960" y="2331720"/>
            <a:ext cx="2923032" cy="548640"/>
          </a:xfrm>
          <a:prstGeom prst="rect">
            <a:avLst/>
          </a:prstGeom>
          <a:noFill/>
        </p:spPr>
        <p:txBody>
          <a:bodyPr wrap="square" anchor="t">
            <a:spAutoFit/>
          </a:bodyPr>
          <a:lstStyle/>
          <a:p>
            <a:pPr algn="l">
              <a:spcAft>
                <a:spcPts val="400"/>
              </a:spcAft>
            </a:pPr>
            <a:r>
              <a:rPr sz="1600" b="1">
                <a:solidFill>
                  <a:srgbClr val="10B981"/>
                </a:solidFill>
                <a:latin typeface="Arial"/>
              </a:rPr>
              <a:t>When it works</a:t>
            </a:r>
          </a:p>
        </p:txBody>
      </p:sp>
      <p:sp>
        <p:nvSpPr>
          <p:cNvPr id="14" name="TextBox 13"/>
          <p:cNvSpPr txBox="1"/>
          <p:nvPr/>
        </p:nvSpPr>
        <p:spPr>
          <a:xfrm>
            <a:off x="4632960"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Persistent market or sector themes, spread across many assets and rebalanced regularly.</a:t>
            </a:r>
          </a:p>
        </p:txBody>
      </p:sp>
      <p:sp>
        <p:nvSpPr>
          <p:cNvPr id="15" name="Rectangle 14"/>
          <p:cNvSpPr/>
          <p:nvPr/>
        </p:nvSpPr>
        <p:spPr>
          <a:xfrm>
            <a:off x="8049768" y="1965960"/>
            <a:ext cx="3361944" cy="3566160"/>
          </a:xfrm>
          <a:prstGeom prst="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9768" y="1965960"/>
            <a:ext cx="3361944"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9224" y="2331720"/>
            <a:ext cx="2923032" cy="548640"/>
          </a:xfrm>
          <a:prstGeom prst="rect">
            <a:avLst/>
          </a:prstGeom>
          <a:noFill/>
        </p:spPr>
        <p:txBody>
          <a:bodyPr wrap="square" anchor="t">
            <a:spAutoFit/>
          </a:bodyPr>
          <a:lstStyle/>
          <a:p>
            <a:pPr algn="l">
              <a:spcAft>
                <a:spcPts val="400"/>
              </a:spcAft>
            </a:pPr>
            <a:r>
              <a:rPr sz="1600" b="1">
                <a:solidFill>
                  <a:srgbClr val="7C3AED"/>
                </a:solidFill>
                <a:latin typeface="Arial"/>
              </a:rPr>
              <a:t>When it will not work</a:t>
            </a:r>
          </a:p>
        </p:txBody>
      </p:sp>
      <p:sp>
        <p:nvSpPr>
          <p:cNvPr id="18" name="TextBox 17"/>
          <p:cNvSpPr txBox="1"/>
          <p:nvPr/>
        </p:nvSpPr>
        <p:spPr>
          <a:xfrm>
            <a:off x="8269224"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Sharp reversals - 'momentum crashes' such as the 2009 rebound, when last year's losers rally hardest - and choppy markets that churn the portfolio.</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
        <p:nvSpPr>
          <p:cNvPr id="22" name="Rectangle 21"/>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25" name="Rectangle 24"/>
          <p:cNvSpPr/>
          <p:nvPr/>
        </p:nvSpPr>
        <p:spPr>
          <a:xfrm>
            <a:off x="777240" y="5669280"/>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669280"/>
            <a:ext cx="91440" cy="548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 y="5669280"/>
            <a:ext cx="10058400" cy="548640"/>
          </a:xfrm>
          <a:prstGeom prst="rect">
            <a:avLst/>
          </a:prstGeom>
          <a:noFill/>
        </p:spPr>
        <p:txBody>
          <a:bodyPr wrap="square" anchor="ctr">
            <a:spAutoFit/>
          </a:bodyPr>
          <a:lstStyle/>
          <a:p>
            <a:pPr algn="l">
              <a:spcAft>
                <a:spcPts val="400"/>
              </a:spcAft>
            </a:pPr>
            <a:r>
              <a:rPr sz="1300" b="1">
                <a:solidFill>
                  <a:srgbClr val="161B26"/>
                </a:solidFill>
                <a:latin typeface="Arial"/>
              </a:rPr>
              <a:t>Lab 7: 126-day time-series momentum on QQQ</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STRATEGY FAMILIES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Strategy Family: Breakout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3361944"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3361944"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2923032" cy="548640"/>
          </a:xfrm>
          <a:prstGeom prst="rect">
            <a:avLst/>
          </a:prstGeom>
          <a:noFill/>
        </p:spPr>
        <p:txBody>
          <a:bodyPr wrap="square" anchor="t">
            <a:spAutoFit/>
          </a:bodyPr>
          <a:lstStyle/>
          <a:p>
            <a:pPr algn="l">
              <a:spcAft>
                <a:spcPts val="400"/>
              </a:spcAft>
            </a:pPr>
            <a:r>
              <a:rPr sz="1600" b="1">
                <a:solidFill>
                  <a:srgbClr val="1F6FEB"/>
                </a:solidFill>
                <a:latin typeface="Arial"/>
              </a:rPr>
              <a:t>The idea</a:t>
            </a:r>
          </a:p>
        </p:txBody>
      </p:sp>
      <p:sp>
        <p:nvSpPr>
          <p:cNvPr id="10" name="TextBox 9"/>
          <p:cNvSpPr txBox="1"/>
          <p:nvPr/>
        </p:nvSpPr>
        <p:spPr>
          <a:xfrm>
            <a:off x="996696"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A close above the recent range (for example the 20-day high, the Donchian channel) signals the start of a new move: buy the breakout, exit on a shorter low.</a:t>
            </a:r>
          </a:p>
        </p:txBody>
      </p:sp>
      <p:sp>
        <p:nvSpPr>
          <p:cNvPr id="11" name="Rectangle 10"/>
          <p:cNvSpPr/>
          <p:nvPr/>
        </p:nvSpPr>
        <p:spPr>
          <a:xfrm>
            <a:off x="4413504" y="1965960"/>
            <a:ext cx="3361944"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13504" y="1965960"/>
            <a:ext cx="3361944"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2960" y="2331720"/>
            <a:ext cx="2923032" cy="548640"/>
          </a:xfrm>
          <a:prstGeom prst="rect">
            <a:avLst/>
          </a:prstGeom>
          <a:noFill/>
        </p:spPr>
        <p:txBody>
          <a:bodyPr wrap="square" anchor="t">
            <a:spAutoFit/>
          </a:bodyPr>
          <a:lstStyle/>
          <a:p>
            <a:pPr algn="l">
              <a:spcAft>
                <a:spcPts val="400"/>
              </a:spcAft>
            </a:pPr>
            <a:r>
              <a:rPr sz="1600" b="1">
                <a:solidFill>
                  <a:srgbClr val="10B981"/>
                </a:solidFill>
                <a:latin typeface="Arial"/>
              </a:rPr>
              <a:t>When it works</a:t>
            </a:r>
          </a:p>
        </p:txBody>
      </p:sp>
      <p:sp>
        <p:nvSpPr>
          <p:cNvPr id="14" name="TextBox 13"/>
          <p:cNvSpPr txBox="1"/>
          <p:nvPr/>
        </p:nvSpPr>
        <p:spPr>
          <a:xfrm>
            <a:off x="4632960"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Volatility expanding after a quiet period and a new trend starting - indices and commodities in strong regimes.</a:t>
            </a:r>
          </a:p>
        </p:txBody>
      </p:sp>
      <p:sp>
        <p:nvSpPr>
          <p:cNvPr id="15" name="Rectangle 14"/>
          <p:cNvSpPr/>
          <p:nvPr/>
        </p:nvSpPr>
        <p:spPr>
          <a:xfrm>
            <a:off x="8049768" y="1965960"/>
            <a:ext cx="3361944" cy="3566160"/>
          </a:xfrm>
          <a:prstGeom prst="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9768" y="1965960"/>
            <a:ext cx="3361944"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9224" y="2331720"/>
            <a:ext cx="2923032" cy="548640"/>
          </a:xfrm>
          <a:prstGeom prst="rect">
            <a:avLst/>
          </a:prstGeom>
          <a:noFill/>
        </p:spPr>
        <p:txBody>
          <a:bodyPr wrap="square" anchor="t">
            <a:spAutoFit/>
          </a:bodyPr>
          <a:lstStyle/>
          <a:p>
            <a:pPr algn="l">
              <a:spcAft>
                <a:spcPts val="400"/>
              </a:spcAft>
            </a:pPr>
            <a:r>
              <a:rPr sz="1600" b="1">
                <a:solidFill>
                  <a:srgbClr val="7C3AED"/>
                </a:solidFill>
                <a:latin typeface="Arial"/>
              </a:rPr>
              <a:t>When it will not work</a:t>
            </a:r>
          </a:p>
        </p:txBody>
      </p:sp>
      <p:sp>
        <p:nvSpPr>
          <p:cNvPr id="18" name="TextBox 17"/>
          <p:cNvSpPr txBox="1"/>
          <p:nvPr/>
        </p:nvSpPr>
        <p:spPr>
          <a:xfrm>
            <a:off x="8269224"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False breakouts in a range: price pokes above the high and falls back. A low win rate, so exits must be disciplined and costs kept low.</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
        <p:nvSpPr>
          <p:cNvPr id="22" name="Rectangle 21"/>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25" name="Rectangle 24"/>
          <p:cNvSpPr/>
          <p:nvPr/>
        </p:nvSpPr>
        <p:spPr>
          <a:xfrm>
            <a:off x="777240" y="5669280"/>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669280"/>
            <a:ext cx="91440" cy="548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 y="5669280"/>
            <a:ext cx="10058400" cy="548640"/>
          </a:xfrm>
          <a:prstGeom prst="rect">
            <a:avLst/>
          </a:prstGeom>
          <a:noFill/>
        </p:spPr>
        <p:txBody>
          <a:bodyPr wrap="square" anchor="ctr">
            <a:spAutoFit/>
          </a:bodyPr>
          <a:lstStyle/>
          <a:p>
            <a:pPr algn="l">
              <a:spcAft>
                <a:spcPts val="400"/>
              </a:spcAft>
            </a:pPr>
            <a:r>
              <a:rPr sz="1300" b="1">
                <a:solidFill>
                  <a:srgbClr val="161B26"/>
                </a:solidFill>
                <a:latin typeface="Arial"/>
              </a:rPr>
              <a:t>Lab 7: Donchian 20 / 10 on QQQ</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920240"/>
            <a:ext cx="9692640" cy="365760"/>
          </a:xfrm>
          <a:prstGeom prst="rect">
            <a:avLst/>
          </a:prstGeom>
          <a:noFill/>
        </p:spPr>
        <p:txBody>
          <a:bodyPr wrap="square" anchor="t">
            <a:spAutoFit/>
          </a:bodyPr>
          <a:lstStyle/>
          <a:p>
            <a:pPr algn="l">
              <a:spcAft>
                <a:spcPts val="400"/>
              </a:spcAft>
            </a:pPr>
            <a:r>
              <a:rPr sz="1400" b="1">
                <a:solidFill>
                  <a:srgbClr val="10B981"/>
                </a:solidFill>
                <a:latin typeface="Arial"/>
              </a:rPr>
              <a:t>TOPIC 2 · HOW THE ALGORITHMS WORK</a:t>
            </a:r>
          </a:p>
        </p:txBody>
      </p:sp>
      <p:sp>
        <p:nvSpPr>
          <p:cNvPr id="5" name="TextBox 4"/>
          <p:cNvSpPr txBox="1"/>
          <p:nvPr/>
        </p:nvSpPr>
        <p:spPr>
          <a:xfrm>
            <a:off x="1188720" y="2377440"/>
            <a:ext cx="9692640" cy="1645920"/>
          </a:xfrm>
          <a:prstGeom prst="rect">
            <a:avLst/>
          </a:prstGeom>
          <a:noFill/>
        </p:spPr>
        <p:txBody>
          <a:bodyPr wrap="square" anchor="t">
            <a:spAutoFit/>
          </a:bodyPr>
          <a:lstStyle/>
          <a:p>
            <a:pPr algn="l">
              <a:spcAft>
                <a:spcPts val="400"/>
              </a:spcAft>
            </a:pPr>
            <a:r>
              <a:rPr sz="3400" b="1">
                <a:solidFill>
                  <a:srgbClr val="161B26"/>
                </a:solidFill>
                <a:latin typeface="Arial"/>
              </a:rPr>
              <a:t>Concepts over code</a:t>
            </a:r>
          </a:p>
        </p:txBody>
      </p:sp>
      <p:sp>
        <p:nvSpPr>
          <p:cNvPr id="6" name="TextBox 5"/>
          <p:cNvSpPr txBox="1"/>
          <p:nvPr/>
        </p:nvSpPr>
        <p:spPr>
          <a:xfrm>
            <a:off x="1188720" y="4206240"/>
            <a:ext cx="9692640" cy="1097280"/>
          </a:xfrm>
          <a:prstGeom prst="rect">
            <a:avLst/>
          </a:prstGeom>
          <a:noFill/>
        </p:spPr>
        <p:txBody>
          <a:bodyPr wrap="square" anchor="t">
            <a:spAutoFit/>
          </a:bodyPr>
          <a:lstStyle/>
          <a:p>
            <a:pPr algn="l">
              <a:spcAft>
                <a:spcPts val="400"/>
              </a:spcAft>
            </a:pPr>
            <a:r>
              <a:rPr sz="1600" b="0">
                <a:solidFill>
                  <a:srgbClr val="5B6372"/>
                </a:solidFill>
                <a:latin typeface="Arial"/>
              </a:rPr>
              <a:t>Every algorithm below is coded for you - by the simulator or an AI assistant. Learn what it does, when it works and what can go wrong; let AI handle the syntax.</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Algorithm: Moving-Average Crossover (Trend Following)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algo_ma_crossover.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Two moving averages of the close: a fast one reacts quickly, a slow one shows the trend.</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Fast crosses ABOVE slow (golden cross): buy. Fast crosses BELOW (death cross): sell or go flat.</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Markets trend for months - it rides the move and cuts losers when the trend turns.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Whipsaws in sideways markets; signals lag; trade on the next bar, not the crossing bar.</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Bollinger Band Mean Reversion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algo_bollinger.png"/>
          <p:cNvPicPr>
            <a:picLocks noChangeAspect="1"/>
          </p:cNvPicPr>
          <p:nvPr/>
        </p:nvPicPr>
        <p:blipFill>
          <a:blip r:embed="rId2"/>
          <a:stretch>
            <a:fillRect/>
          </a:stretch>
        </p:blipFill>
        <p:spPr>
          <a:xfrm>
            <a:off x="777240" y="2394160"/>
            <a:ext cx="6172200" cy="3212678"/>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Bands = 20-day mean +/- 2 standard deviations. A close outside the band is 'stretched'.</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Close below the lower band: buy. Exit when the price returns to the middle band (the mean).</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Range-bound markets where over-reactions snap back, e.g. a defensive stock such as KO.</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Strong trends keep 'stretching' - add a stop-loss or a trend filter; many small wins, rare big losses.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RSI and MACD Momentum Oscillators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algo_rsi_macd.png"/>
          <p:cNvPicPr>
            <a:picLocks noChangeAspect="1"/>
          </p:cNvPicPr>
          <p:nvPr/>
        </p:nvPicPr>
        <p:blipFill>
          <a:blip r:embed="rId2"/>
          <a:stretch>
            <a:fillRect/>
          </a:stretch>
        </p:blipFill>
        <p:spPr>
          <a:xfrm>
            <a:off x="777240" y="2012079"/>
            <a:ext cx="6172200" cy="397684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RSI = 100 - 100/(1+RS), RS = average gain / average loss over 14 bars. MACD = EMA12 - EMA26.</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RSI &lt; 30 oversold / &gt; 70 overbought. MACD crossing above its 9-EMA signal line = momentum buy.</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As filters or confirmation for a trend or mean-reversion rule, not as stand-alone predictors.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Oscillators can stay overbought in strong trends; RSI and MACD are highly correlated with price.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Cross-Sectional Momentum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algo_momentum.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Rank a universe by past return (e.g. 12 months, skipping the last month) each month.</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Hold the top-ranked assets, avoid or short the bottom-ranked; rebalance monthly.</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Information spreads slowly and winners keep winning for several months.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Sharp 'momentum crashes' when markets reverse; turnover costs at every rebalance.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Donchian Channel Breakout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algo_breakout.png"/>
          <p:cNvPicPr>
            <a:picLocks noChangeAspect="1"/>
          </p:cNvPicPr>
          <p:nvPr/>
        </p:nvPicPr>
        <p:blipFill>
          <a:blip r:embed="rId2"/>
          <a:stretch>
            <a:fillRect/>
          </a:stretch>
        </p:blipFill>
        <p:spPr>
          <a:xfrm>
            <a:off x="777240" y="2395728"/>
            <a:ext cx="6172200" cy="3209544"/>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Track the highest high and lowest low of the last n bars (n = 20 here).</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Close above the 20-day high: buy the breakout. Exit below the 20-day low (or a trailing stop).</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New trends start with a break of a range - the rule used by the 1980s 'Turtle Traders'.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False breakouts in choppy markets; the channel must use PREVIOUS bars only (no look-ahead).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VWAP and TWAP Execution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algo_vwap_twap.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Split a large parent order into child orders through the day to reduce market impact.</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TWAP: equal slices per time interval. VWAP: slices proportional to the typical volume curve.</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Working client or fund orders too large to trade at once; benchmarked to the day's VWAP.</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VWAP relies on a volume forecast; both are predictable to other traders - add randomisation.</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Market Making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algo_market_making.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Quote a bid below and an ask above the mid price at the same time.</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Earn the spread when both sides fill; skew quotes down when long, up when short, to cut inventory.</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Liquid markets with steady two-way flow - the business of quant market makers.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Adverse selection by better-informed traders; inventory risk in fast moves; needs low latency.</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K5 · PLATFORMS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TradingView versus Alpaca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K5</a:t>
            </a: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TradingView</a:t>
            </a:r>
          </a:p>
        </p:txBody>
      </p:sp>
      <p:sp>
        <p:nvSpPr>
          <p:cNvPr id="12" name="Rectangle 11"/>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Alpaca</a:t>
            </a:r>
          </a:p>
        </p:txBody>
      </p:sp>
      <p:sp>
        <p:nvSpPr>
          <p:cNvPr id="14" name="Rectangle 13"/>
          <p:cNvSpPr/>
          <p:nvPr/>
        </p:nvSpPr>
        <p:spPr>
          <a:xfrm>
            <a:off x="777240" y="2286000"/>
            <a:ext cx="10634472" cy="4145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What it is</a:t>
            </a:r>
          </a:p>
        </p:txBody>
      </p:sp>
      <p:sp>
        <p:nvSpPr>
          <p:cNvPr id="16" name="TextBox 15"/>
          <p:cNvSpPr txBox="1"/>
          <p:nvPr/>
        </p:nvSpPr>
        <p:spPr>
          <a:xfrm>
            <a:off x="3017520" y="2286000"/>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Charting and strategy-design platform</a:t>
            </a:r>
          </a:p>
        </p:txBody>
      </p:sp>
      <p:sp>
        <p:nvSpPr>
          <p:cNvPr id="17" name="TextBox 16"/>
          <p:cNvSpPr txBox="1"/>
          <p:nvPr/>
        </p:nvSpPr>
        <p:spPr>
          <a:xfrm>
            <a:off x="7260336" y="2286000"/>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API-first US broker for automated trading</a:t>
            </a:r>
          </a:p>
        </p:txBody>
      </p:sp>
      <p:sp>
        <p:nvSpPr>
          <p:cNvPr id="18" name="TextBox 17"/>
          <p:cNvSpPr txBox="1"/>
          <p:nvPr/>
        </p:nvSpPr>
        <p:spPr>
          <a:xfrm>
            <a:off x="886968" y="2727960"/>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Markets</a:t>
            </a:r>
          </a:p>
        </p:txBody>
      </p:sp>
      <p:sp>
        <p:nvSpPr>
          <p:cNvPr id="19" name="TextBox 18"/>
          <p:cNvSpPr txBox="1"/>
          <p:nvPr/>
        </p:nvSpPr>
        <p:spPr>
          <a:xfrm>
            <a:off x="3017520" y="2727960"/>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Global charts incl. SGX, US, FX, crypto</a:t>
            </a:r>
          </a:p>
        </p:txBody>
      </p:sp>
      <p:sp>
        <p:nvSpPr>
          <p:cNvPr id="20" name="TextBox 19"/>
          <p:cNvSpPr txBox="1"/>
          <p:nvPr/>
        </p:nvSpPr>
        <p:spPr>
          <a:xfrm>
            <a:off x="7260336" y="2727960"/>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US stocks and ETFs, options, crypto</a:t>
            </a:r>
          </a:p>
        </p:txBody>
      </p:sp>
      <p:sp>
        <p:nvSpPr>
          <p:cNvPr id="21" name="Rectangle 20"/>
          <p:cNvSpPr/>
          <p:nvPr/>
        </p:nvSpPr>
        <p:spPr>
          <a:xfrm>
            <a:off x="777240" y="3169920"/>
            <a:ext cx="10634472" cy="4145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169920"/>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Strategy design</a:t>
            </a:r>
          </a:p>
        </p:txBody>
      </p:sp>
      <p:sp>
        <p:nvSpPr>
          <p:cNvPr id="23" name="TextBox 22"/>
          <p:cNvSpPr txBox="1"/>
          <p:nvPr/>
        </p:nvSpPr>
        <p:spPr>
          <a:xfrm>
            <a:off x="3017520" y="3169920"/>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Pine Script v6 indicators and strategies</a:t>
            </a:r>
          </a:p>
        </p:txBody>
      </p:sp>
      <p:sp>
        <p:nvSpPr>
          <p:cNvPr id="24" name="TextBox 23"/>
          <p:cNvSpPr txBox="1"/>
          <p:nvPr/>
        </p:nvSpPr>
        <p:spPr>
          <a:xfrm>
            <a:off x="7260336" y="3169920"/>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Write it yourself in Python (alpaca-py)</a:t>
            </a:r>
          </a:p>
        </p:txBody>
      </p:sp>
      <p:sp>
        <p:nvSpPr>
          <p:cNvPr id="25" name="TextBox 24"/>
          <p:cNvSpPr txBox="1"/>
          <p:nvPr/>
        </p:nvSpPr>
        <p:spPr>
          <a:xfrm>
            <a:off x="886968" y="3611879"/>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Backtesting</a:t>
            </a:r>
          </a:p>
        </p:txBody>
      </p:sp>
      <p:sp>
        <p:nvSpPr>
          <p:cNvPr id="26" name="TextBox 25"/>
          <p:cNvSpPr txBox="1"/>
          <p:nvPr/>
        </p:nvSpPr>
        <p:spPr>
          <a:xfrm>
            <a:off x="3017520" y="3611879"/>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Strategy Tester (simplified costs and fills)</a:t>
            </a:r>
          </a:p>
        </p:txBody>
      </p:sp>
      <p:sp>
        <p:nvSpPr>
          <p:cNvPr id="27" name="TextBox 26"/>
          <p:cNvSpPr txBox="1"/>
          <p:nvPr/>
        </p:nvSpPr>
        <p:spPr>
          <a:xfrm>
            <a:off x="7260336" y="3611879"/>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None built in - you build a cost-aware backtest</a:t>
            </a:r>
          </a:p>
        </p:txBody>
      </p:sp>
      <p:sp>
        <p:nvSpPr>
          <p:cNvPr id="28" name="Rectangle 27"/>
          <p:cNvSpPr/>
          <p:nvPr/>
        </p:nvSpPr>
        <p:spPr>
          <a:xfrm>
            <a:off x="777240" y="4053840"/>
            <a:ext cx="10634472" cy="4145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053840"/>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Paper trading</a:t>
            </a:r>
          </a:p>
        </p:txBody>
      </p:sp>
      <p:sp>
        <p:nvSpPr>
          <p:cNvPr id="30" name="TextBox 29"/>
          <p:cNvSpPr txBox="1"/>
          <p:nvPr/>
        </p:nvSpPr>
        <p:spPr>
          <a:xfrm>
            <a:off x="3017520" y="4053840"/>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Built-in Paper Trading account from the chart</a:t>
            </a:r>
          </a:p>
        </p:txBody>
      </p:sp>
      <p:sp>
        <p:nvSpPr>
          <p:cNvPr id="31" name="TextBox 30"/>
          <p:cNvSpPr txBox="1"/>
          <p:nvPr/>
        </p:nvSpPr>
        <p:spPr>
          <a:xfrm>
            <a:off x="7260336" y="4053840"/>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Paper account mirroring the live API</a:t>
            </a:r>
          </a:p>
        </p:txBody>
      </p:sp>
      <p:sp>
        <p:nvSpPr>
          <p:cNvPr id="32" name="TextBox 31"/>
          <p:cNvSpPr txBox="1"/>
          <p:nvPr/>
        </p:nvSpPr>
        <p:spPr>
          <a:xfrm>
            <a:off x="886968" y="4495799"/>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Automation</a:t>
            </a:r>
          </a:p>
        </p:txBody>
      </p:sp>
      <p:sp>
        <p:nvSpPr>
          <p:cNvPr id="33" name="TextBox 32"/>
          <p:cNvSpPr txBox="1"/>
          <p:nvPr/>
        </p:nvSpPr>
        <p:spPr>
          <a:xfrm>
            <a:off x="3017520" y="4495799"/>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Alerts; webhooks on paid plans</a:t>
            </a:r>
          </a:p>
        </p:txBody>
      </p:sp>
      <p:sp>
        <p:nvSpPr>
          <p:cNvPr id="34" name="TextBox 33"/>
          <p:cNvSpPr txBox="1"/>
          <p:nvPr/>
        </p:nvSpPr>
        <p:spPr>
          <a:xfrm>
            <a:off x="7260336" y="4495799"/>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Trading API: orders, positions, clock; 24/5 trading</a:t>
            </a:r>
          </a:p>
        </p:txBody>
      </p:sp>
      <p:sp>
        <p:nvSpPr>
          <p:cNvPr id="35" name="Rectangle 34"/>
          <p:cNvSpPr/>
          <p:nvPr/>
        </p:nvSpPr>
        <p:spPr>
          <a:xfrm>
            <a:off x="777240" y="4937759"/>
            <a:ext cx="10634472" cy="4145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6968" y="4937759"/>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Data</a:t>
            </a:r>
          </a:p>
        </p:txBody>
      </p:sp>
      <p:sp>
        <p:nvSpPr>
          <p:cNvPr id="37" name="TextBox 36"/>
          <p:cNvSpPr txBox="1"/>
          <p:nvPr/>
        </p:nvSpPr>
        <p:spPr>
          <a:xfrm>
            <a:off x="3017520" y="4937759"/>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Charts and Data Window</a:t>
            </a:r>
          </a:p>
        </p:txBody>
      </p:sp>
      <p:sp>
        <p:nvSpPr>
          <p:cNvPr id="38" name="TextBox 37"/>
          <p:cNvSpPr txBox="1"/>
          <p:nvPr/>
        </p:nvSpPr>
        <p:spPr>
          <a:xfrm>
            <a:off x="7260336" y="4937759"/>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Market Data API: bars, quotes, trades, news (IEX free)</a:t>
            </a:r>
          </a:p>
        </p:txBody>
      </p:sp>
      <p:sp>
        <p:nvSpPr>
          <p:cNvPr id="39" name="TextBox 38"/>
          <p:cNvSpPr txBox="1"/>
          <p:nvPr/>
        </p:nvSpPr>
        <p:spPr>
          <a:xfrm>
            <a:off x="886968" y="5379720"/>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Machine learning</a:t>
            </a:r>
          </a:p>
        </p:txBody>
      </p:sp>
      <p:sp>
        <p:nvSpPr>
          <p:cNvPr id="40" name="TextBox 39"/>
          <p:cNvSpPr txBox="1"/>
          <p:nvPr/>
        </p:nvSpPr>
        <p:spPr>
          <a:xfrm>
            <a:off x="3017520" y="5379720"/>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Not supported</a:t>
            </a:r>
          </a:p>
        </p:txBody>
      </p:sp>
      <p:sp>
        <p:nvSpPr>
          <p:cNvPr id="41" name="TextBox 40"/>
          <p:cNvSpPr txBox="1"/>
          <p:nvPr/>
        </p:nvSpPr>
        <p:spPr>
          <a:xfrm>
            <a:off x="7260336" y="5379720"/>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Any Python library (scikit-learn, XGBoost)</a:t>
            </a:r>
          </a:p>
        </p:txBody>
      </p:sp>
      <p:sp>
        <p:nvSpPr>
          <p:cNvPr id="42" name="Rectangle 41"/>
          <p:cNvSpPr/>
          <p:nvPr/>
        </p:nvSpPr>
        <p:spPr>
          <a:xfrm>
            <a:off x="777240" y="5821680"/>
            <a:ext cx="10634472" cy="4145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86968" y="5821680"/>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Best used for</a:t>
            </a:r>
          </a:p>
        </p:txBody>
      </p:sp>
      <p:sp>
        <p:nvSpPr>
          <p:cNvPr id="44" name="TextBox 43"/>
          <p:cNvSpPr txBox="1"/>
          <p:nvPr/>
        </p:nvSpPr>
        <p:spPr>
          <a:xfrm>
            <a:off x="3017520" y="5821680"/>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Designing, visualising and first-testing a rule</a:t>
            </a:r>
          </a:p>
        </p:txBody>
      </p:sp>
      <p:sp>
        <p:nvSpPr>
          <p:cNvPr id="45" name="TextBox 44"/>
          <p:cNvSpPr txBox="1"/>
          <p:nvPr/>
        </p:nvSpPr>
        <p:spPr>
          <a:xfrm>
            <a:off x="7260336" y="5821680"/>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Executing and forward-testing it automatically</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K5 · PAPER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Paper Trading on TradingView,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K5</a:t>
            </a:r>
          </a:p>
        </p:txBody>
      </p:sp>
      <p:sp>
        <p:nvSpPr>
          <p:cNvPr id="10" name="TextBox 9"/>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Full step-by-step guide: Learner Guide, 'Platform Guides'.</a:t>
            </a:r>
          </a:p>
        </p:txBody>
      </p:sp>
      <p:sp>
        <p:nvSpPr>
          <p:cNvPr id="11" name="Rectangle 10"/>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9253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9253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5" name="TextBox 14"/>
          <p:cNvSpPr txBox="1"/>
          <p:nvPr/>
        </p:nvSpPr>
        <p:spPr>
          <a:xfrm>
            <a:off x="90525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Supercharts &gt; Trade &gt; Paper Trading &gt; Connect</a:t>
            </a:r>
          </a:p>
        </p:txBody>
      </p:sp>
      <p:sp>
        <p:nvSpPr>
          <p:cNvPr id="16" name="TextBox 15"/>
          <p:cNvSpPr txBox="1"/>
          <p:nvPr/>
        </p:nvSpPr>
        <p:spPr>
          <a:xfrm>
            <a:off x="23027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7" name="Rectangle 16"/>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595372"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010662"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106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1" name="TextBox 20"/>
          <p:cNvSpPr txBox="1"/>
          <p:nvPr/>
        </p:nvSpPr>
        <p:spPr>
          <a:xfrm>
            <a:off x="2723388"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Set starting capital and commission</a:t>
            </a:r>
          </a:p>
        </p:txBody>
      </p:sp>
      <p:sp>
        <p:nvSpPr>
          <p:cNvPr id="22" name="TextBox 21"/>
          <p:cNvSpPr txBox="1"/>
          <p:nvPr/>
        </p:nvSpPr>
        <p:spPr>
          <a:xfrm>
            <a:off x="412089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3" name="Rectangle 22"/>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413504"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828794"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28794"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7" name="TextBox 26"/>
          <p:cNvSpPr txBox="1"/>
          <p:nvPr/>
        </p:nvSpPr>
        <p:spPr>
          <a:xfrm>
            <a:off x="4541520"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Order ticket: side, quantity, Market / Limit / Stop</a:t>
            </a:r>
          </a:p>
        </p:txBody>
      </p:sp>
      <p:sp>
        <p:nvSpPr>
          <p:cNvPr id="28" name="TextBox 27"/>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9" name="Rectangle 28"/>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31636"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646926"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4692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3" name="TextBox 32"/>
          <p:cNvSpPr txBox="1"/>
          <p:nvPr/>
        </p:nvSpPr>
        <p:spPr>
          <a:xfrm>
            <a:off x="6359652"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Add stop loss and take profit; place order</a:t>
            </a:r>
          </a:p>
        </p:txBody>
      </p:sp>
      <p:sp>
        <p:nvSpPr>
          <p:cNvPr id="34" name="TextBox 33"/>
          <p:cNvSpPr txBox="1"/>
          <p:nvPr/>
        </p:nvSpPr>
        <p:spPr>
          <a:xfrm>
            <a:off x="775716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5" name="Rectangle 34"/>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49768"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465058"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650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9" name="TextBox 38"/>
          <p:cNvSpPr txBox="1"/>
          <p:nvPr/>
        </p:nvSpPr>
        <p:spPr>
          <a:xfrm>
            <a:off x="8177784"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Track Positions, Orders, Account History</a:t>
            </a:r>
          </a:p>
        </p:txBody>
      </p:sp>
      <p:sp>
        <p:nvSpPr>
          <p:cNvPr id="40" name="TextBox 39"/>
          <p:cNvSpPr txBox="1"/>
          <p:nvPr/>
        </p:nvSpPr>
        <p:spPr>
          <a:xfrm>
            <a:off x="9575292"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41" name="Rectangle 40"/>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86790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028319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28319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5" name="TextBox 44"/>
          <p:cNvSpPr txBox="1"/>
          <p:nvPr/>
        </p:nvSpPr>
        <p:spPr>
          <a:xfrm>
            <a:off x="999591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Close the position; reset when done</a:t>
            </a:r>
          </a:p>
        </p:txBody>
      </p:sp>
      <p:sp>
        <p:nvSpPr>
          <p:cNvPr id="46" name="Rectangle 45"/>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Paper fills use TradingView's prices but cannot show your own market impact - compare them with the backtest's assumed costs.</a:t>
            </a:r>
          </a:p>
        </p:txBody>
      </p:sp>
      <p:sp>
        <p:nvSpPr>
          <p:cNvPr id="49" name="TextBox 4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50" name="TextBox 4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1" name="TextBox 5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K5 · PAPER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Paper Trading on Alpaca, Step by Step - Manual and Automated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K5</a:t>
            </a:r>
          </a:p>
        </p:txBody>
      </p:sp>
      <p:sp>
        <p:nvSpPr>
          <p:cNvPr id="10" name="TextBox 9"/>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Full step-by-step guide: Learner Guide, 'Platform Guides'.</a:t>
            </a:r>
          </a:p>
        </p:txBody>
      </p:sp>
      <p:sp>
        <p:nvSpPr>
          <p:cNvPr id="11" name="Rectangle 10"/>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9253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9253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5" name="TextBox 14"/>
          <p:cNvSpPr txBox="1"/>
          <p:nvPr/>
        </p:nvSpPr>
        <p:spPr>
          <a:xfrm>
            <a:off x="90525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Dashboard: Paper account &gt; search SPY &gt; Buy</a:t>
            </a:r>
          </a:p>
        </p:txBody>
      </p:sp>
      <p:sp>
        <p:nvSpPr>
          <p:cNvPr id="16" name="TextBox 15"/>
          <p:cNvSpPr txBox="1"/>
          <p:nvPr/>
        </p:nvSpPr>
        <p:spPr>
          <a:xfrm>
            <a:off x="23027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7" name="Rectangle 16"/>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595372"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010662"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106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1" name="TextBox 20"/>
          <p:cNvSpPr txBox="1"/>
          <p:nvPr/>
        </p:nvSpPr>
        <p:spPr>
          <a:xfrm>
            <a:off x="2723388"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Watch Orders: new &gt; accepted &gt; filled</a:t>
            </a:r>
          </a:p>
        </p:txBody>
      </p:sp>
      <p:sp>
        <p:nvSpPr>
          <p:cNvPr id="22" name="TextBox 21"/>
          <p:cNvSpPr txBox="1"/>
          <p:nvPr/>
        </p:nvSpPr>
        <p:spPr>
          <a:xfrm>
            <a:off x="412089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3" name="Rectangle 22"/>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413504"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828794"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28794"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7" name="TextBox 26"/>
          <p:cNvSpPr txBox="1"/>
          <p:nvPr/>
        </p:nvSpPr>
        <p:spPr>
          <a:xfrm>
            <a:off x="4541520"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Outside US hours: extended-hours LIMIT orders</a:t>
            </a:r>
          </a:p>
        </p:txBody>
      </p:sp>
      <p:sp>
        <p:nvSpPr>
          <p:cNvPr id="28" name="TextBox 27"/>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9" name="Rectangle 28"/>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31636"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646926"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4692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3" name="TextBox 32"/>
          <p:cNvSpPr txBox="1"/>
          <p:nvPr/>
        </p:nvSpPr>
        <p:spPr>
          <a:xfrm>
            <a:off x="6359652"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python -m pipeline execute (order manager)</a:t>
            </a:r>
          </a:p>
        </p:txBody>
      </p:sp>
      <p:sp>
        <p:nvSpPr>
          <p:cNvPr id="34" name="TextBox 33"/>
          <p:cNvSpPr txBox="1"/>
          <p:nvPr/>
        </p:nvSpPr>
        <p:spPr>
          <a:xfrm>
            <a:off x="775716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5" name="Rectangle 34"/>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49768"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465058"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650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9" name="TextBox 38"/>
          <p:cNvSpPr txBox="1"/>
          <p:nvPr/>
        </p:nvSpPr>
        <p:spPr>
          <a:xfrm>
            <a:off x="8177784"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python -m pipeline run --loop --live-paper</a:t>
            </a:r>
          </a:p>
        </p:txBody>
      </p:sp>
      <p:sp>
        <p:nvSpPr>
          <p:cNvPr id="40" name="TextBox 39"/>
          <p:cNvSpPr txBox="1"/>
          <p:nvPr/>
        </p:nvSpPr>
        <p:spPr>
          <a:xfrm>
            <a:off x="9575292"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41" name="Rectangle 40"/>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86790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028319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28319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5" name="TextBox 44"/>
          <p:cNvSpPr txBox="1"/>
          <p:nvPr/>
        </p:nvSpPr>
        <p:spPr>
          <a:xfrm>
            <a:off x="999591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Check dashboard; kill switch to stop</a:t>
            </a:r>
          </a:p>
        </p:txBody>
      </p:sp>
      <p:sp>
        <p:nvSpPr>
          <p:cNvPr id="46" name="Rectangle 45"/>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From Singapore the US regular session is 21:30-04:00 (22:30-05:00 in northern winter); class-time orders use Alpaca's 24/5 extended-hours limit orders.</a:t>
            </a:r>
          </a:p>
        </p:txBody>
      </p:sp>
      <p:sp>
        <p:nvSpPr>
          <p:cNvPr id="49" name="TextBox 4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50" name="TextBox 4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1" name="TextBox 5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Order Lifecycle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K7</a:t>
            </a:r>
          </a:p>
        </p:txBody>
      </p:sp>
      <p:sp>
        <p:nvSpPr>
          <p:cNvPr id="10" name="TextBox 9"/>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A program must read the status — never assume a fill.</a:t>
            </a:r>
          </a:p>
        </p:txBody>
      </p:sp>
      <p:sp>
        <p:nvSpPr>
          <p:cNvPr id="11" name="Rectangle 10"/>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374343"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5" name="TextBox 14"/>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new</a:t>
            </a:r>
          </a:p>
        </p:txBody>
      </p:sp>
      <p:sp>
        <p:nvSpPr>
          <p:cNvPr id="16" name="TextBox 15"/>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7" name="Rectangle 16"/>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58998"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556101"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1" name="TextBox 20"/>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accepted</a:t>
            </a:r>
          </a:p>
        </p:txBody>
      </p:sp>
      <p:sp>
        <p:nvSpPr>
          <p:cNvPr id="22" name="TextBox 21"/>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3" name="Rectangle 22"/>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140756"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737859"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7" name="TextBox 26"/>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partially filled</a:t>
            </a:r>
          </a:p>
        </p:txBody>
      </p:sp>
      <p:sp>
        <p:nvSpPr>
          <p:cNvPr id="28" name="TextBox 27"/>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9" name="Rectangle 28"/>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22514"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919617"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3" name="TextBox 32"/>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filled</a:t>
            </a:r>
          </a:p>
        </p:txBody>
      </p:sp>
      <p:sp>
        <p:nvSpPr>
          <p:cNvPr id="34" name="TextBox 33"/>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5" name="Rectangle 34"/>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04272"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101375"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9" name="TextBox 38"/>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cancelled / expired / rejected</a:t>
            </a:r>
          </a:p>
        </p:txBody>
      </p:sp>
      <p:sp>
        <p:nvSpPr>
          <p:cNvPr id="40" name="Rectangle 39"/>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Bracket orders protect a position even if your program stops running.</a:t>
            </a:r>
          </a:p>
        </p:txBody>
      </p:sp>
      <p:sp>
        <p:nvSpPr>
          <p:cNvPr id="43" name="TextBox 4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44" name="TextBox 4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5" name="TextBox 4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A3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From Idea to Tested Rule on TradingView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A3</a:t>
            </a:r>
          </a:p>
        </p:txBody>
      </p:sp>
      <p:sp>
        <p:nvSpPr>
          <p:cNvPr id="10" name="Rectangle 9"/>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9253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9253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Chart the instrument and timeframe</a:t>
            </a:r>
          </a:p>
        </p:txBody>
      </p:sp>
      <p:sp>
        <p:nvSpPr>
          <p:cNvPr id="15" name="TextBox 14"/>
          <p:cNvSpPr txBox="1"/>
          <p:nvPr/>
        </p:nvSpPr>
        <p:spPr>
          <a:xfrm>
            <a:off x="23027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6" name="Rectangle 15"/>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595372"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010662"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106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2723388"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Add indicators (Pine)</a:t>
            </a:r>
          </a:p>
        </p:txBody>
      </p:sp>
      <p:sp>
        <p:nvSpPr>
          <p:cNvPr id="21" name="TextBox 20"/>
          <p:cNvSpPr txBox="1"/>
          <p:nvPr/>
        </p:nvSpPr>
        <p:spPr>
          <a:xfrm>
            <a:off x="412089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2" name="Rectangle 21"/>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13504"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828794"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28794"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4541520"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Write the strategy() script</a:t>
            </a:r>
          </a:p>
        </p:txBody>
      </p:sp>
      <p:sp>
        <p:nvSpPr>
          <p:cNvPr id="27" name="TextBox 26"/>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8" name="Rectangle 27"/>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1636"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646926"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4692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6359652"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Set commission and slippage</a:t>
            </a:r>
          </a:p>
        </p:txBody>
      </p:sp>
      <p:sp>
        <p:nvSpPr>
          <p:cNvPr id="33" name="TextBox 32"/>
          <p:cNvSpPr txBox="1"/>
          <p:nvPr/>
        </p:nvSpPr>
        <p:spPr>
          <a:xfrm>
            <a:off x="775716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4" name="Rectangle 33"/>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49768"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465058"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650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8" name="TextBox 37"/>
          <p:cNvSpPr txBox="1"/>
          <p:nvPr/>
        </p:nvSpPr>
        <p:spPr>
          <a:xfrm>
            <a:off x="8177784"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Read the Strategy Tester</a:t>
            </a:r>
          </a:p>
        </p:txBody>
      </p:sp>
      <p:sp>
        <p:nvSpPr>
          <p:cNvPr id="39" name="TextBox 38"/>
          <p:cNvSpPr txBox="1"/>
          <p:nvPr/>
        </p:nvSpPr>
        <p:spPr>
          <a:xfrm>
            <a:off x="9575292"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40" name="Rectangle 39"/>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86790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028319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28319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4" name="TextBox 43"/>
          <p:cNvSpPr txBox="1"/>
          <p:nvPr/>
        </p:nvSpPr>
        <p:spPr>
          <a:xfrm>
            <a:off x="999591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Compare with buy-and-hold</a:t>
            </a:r>
          </a:p>
        </p:txBody>
      </p:sp>
      <p:sp>
        <p:nvSpPr>
          <p:cNvPr id="45" name="Rectangle 44"/>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The Strategy Tester is a first filter; the full test with costs runs in Python.</a:t>
            </a:r>
          </a:p>
        </p:txBody>
      </p:sp>
      <p:sp>
        <p:nvSpPr>
          <p:cNvPr id="48" name="TextBox 4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49" name="TextBox 4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0" name="TextBox 4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Indicator Stage: Pine Script v6 Indicators and their Python Twins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A3  K3  K7</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05</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Add the desk's Pine Script v6 indicators to a TradingView chart, build pipeline/indicators.py with twins of ta.ema, ta.sma, ta.rsi, ta.bb, ta.atr, ta.macd, ta.crossover and ta.crossunder, and cross-check the values against the TradingView Data Window.</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Add the trend and bands indicator</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Add the RSI pane</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Record the TradingView values</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Pine twins</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cross-check run</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+3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Pine Script v6 indicators on TradingView and their Python twins, cross-checked value by value.</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25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05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05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05_pine_preview.png"/>
          <p:cNvPicPr>
            <a:picLocks noChangeAspect="1"/>
          </p:cNvPicPr>
          <p:nvPr/>
        </p:nvPicPr>
        <p:blipFill>
          <a:blip r:embed="rId2"/>
          <a:stretch>
            <a:fillRect/>
          </a:stretch>
        </p:blipFill>
        <p:spPr>
          <a:xfrm>
            <a:off x="2870033" y="1828800"/>
            <a:ext cx="6451628" cy="3794760"/>
          </a:xfrm>
          <a:prstGeom prst="rect">
            <a:avLst/>
          </a:prstGeom>
        </p:spPr>
      </p:pic>
      <p:sp>
        <p:nvSpPr>
          <p:cNvPr id="8" name="Rectangle 7"/>
          <p:cNvSpPr/>
          <p:nvPr/>
        </p:nvSpPr>
        <p:spPr>
          <a:xfrm>
            <a:off x="2859060" y="1817827"/>
            <a:ext cx="6473574" cy="381670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6986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6986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6986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Lab05-pine-indicators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05 · TRADINGVIEW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05 — The Exported Strategy in TradingView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v_lab05_pine_strategy.png"/>
          <p:cNvPicPr>
            <a:picLocks noChangeAspect="1"/>
          </p:cNvPicPr>
          <p:nvPr/>
        </p:nvPicPr>
        <p:blipFill>
          <a:blip r:embed="rId2"/>
          <a:stretch>
            <a:fillRect/>
          </a:stretch>
        </p:blipFill>
        <p:spPr>
          <a:xfrm>
            <a:off x="1636368" y="1645920"/>
            <a:ext cx="8918958" cy="4114800"/>
          </a:xfrm>
          <a:prstGeom prst="rect">
            <a:avLst/>
          </a:prstGeom>
        </p:spPr>
      </p:pic>
      <p:sp>
        <p:nvSpPr>
          <p:cNvPr id="8" name="Rectangle 7"/>
          <p:cNvSpPr/>
          <p:nvPr/>
        </p:nvSpPr>
        <p:spPr>
          <a:xfrm>
            <a:off x="1625395" y="1634947"/>
            <a:ext cx="8940904"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The EMA crossover exported from the simulator as Pine Script v6, pasted into TradingView's Pine Editor and added to the SPY chart: the Strategy Tester reports PnL, drawdown and profitable trades to compare with the simulator's backtest.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Strategy Prototype: TradingView Strategy Tester, Paper Trading from the Chart and Pipeline Reconciliation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91472" y="475488"/>
            <a:ext cx="1920240"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491472"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91472" y="475488"/>
            <a:ext cx="1920240" cy="310896"/>
          </a:xfrm>
          <a:prstGeom prst="rect">
            <a:avLst/>
          </a:prstGeom>
          <a:noFill/>
        </p:spPr>
        <p:txBody>
          <a:bodyPr wrap="square" anchor="ctr">
            <a:spAutoFit/>
          </a:bodyPr>
          <a:lstStyle/>
          <a:p>
            <a:pPr algn="ctr">
              <a:spcAft>
                <a:spcPts val="400"/>
              </a:spcAft>
            </a:pPr>
            <a:r>
              <a:rPr sz="1100" b="1">
                <a:solidFill>
                  <a:srgbClr val="10B981"/>
                </a:solidFill>
                <a:latin typeface="Arial"/>
              </a:rPr>
              <a:t>A2  A3  K3  K7</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06</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Configure a Pine Script v6 strategy with costs, read the Strategy Tester, build `python -m pipeline reconcile` to check the Pine settings and reproduce the results, and place and manage paper trades from the chart with TradingView Paper Trading (and optionally an Alpaca paper account).</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Read the strategy code</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Run it in the Strategy Tester and record the results</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reconciliation stage</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Reconcile TradingView with the pipeline</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Explain the differences</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+5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Pine MA-crossover strategy with costs, reconciled with the pipeline and paper-traded from the chart.</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30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06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06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06_crosscheck.png"/>
          <p:cNvPicPr>
            <a:picLocks noChangeAspect="1"/>
          </p:cNvPicPr>
          <p:nvPr/>
        </p:nvPicPr>
        <p:blipFill>
          <a:blip r:embed="rId2"/>
          <a:stretch>
            <a:fillRect/>
          </a:stretch>
        </p:blipFill>
        <p:spPr>
          <a:xfrm>
            <a:off x="2918027" y="1828800"/>
            <a:ext cx="6355640" cy="3794760"/>
          </a:xfrm>
          <a:prstGeom prst="rect">
            <a:avLst/>
          </a:prstGeom>
        </p:spPr>
      </p:pic>
      <p:sp>
        <p:nvSpPr>
          <p:cNvPr id="8" name="Rectangle 7"/>
          <p:cNvSpPr/>
          <p:nvPr/>
        </p:nvSpPr>
        <p:spPr>
          <a:xfrm>
            <a:off x="2907054" y="1817827"/>
            <a:ext cx="6377586" cy="381670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6986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6986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6986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Lab06-pine-strategy-tester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06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Lab 06 — The SMA 50/200 Backtest in the Simulator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im_lab06_backtest.png"/>
          <p:cNvPicPr>
            <a:picLocks noChangeAspect="1"/>
          </p:cNvPicPr>
          <p:nvPr/>
        </p:nvPicPr>
        <p:blipFill>
          <a:blip r:embed="rId2"/>
          <a:stretch>
            <a:fillRect/>
          </a:stretch>
        </p:blipFill>
        <p:spPr>
          <a:xfrm>
            <a:off x="1811038" y="1645920"/>
            <a:ext cx="8569618" cy="4114800"/>
          </a:xfrm>
          <a:prstGeom prst="rect">
            <a:avLst/>
          </a:prstGeom>
        </p:spPr>
      </p:pic>
      <p:sp>
        <p:nvSpPr>
          <p:cNvPr id="8" name="Rectangle 7"/>
          <p:cNvSpPr/>
          <p:nvPr/>
        </p:nvSpPr>
        <p:spPr>
          <a:xfrm>
            <a:off x="1800065" y="1634947"/>
            <a:ext cx="8591564"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Backtest: SMA crossover 50/200 on SPY with Alpaca commission-free costs and next-bar-open fills - return, CAGR, Sharpe, drawdown and trades beside buy-and-hold, ready to reconcile with TradingView's Strategy Tester.</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5B6372"/>
                </a:solidFill>
                <a:latin typeface="Arial"/>
              </a:rPr>
              <a:t>15 minutes  ·  see you at 15:40</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Signal Stage: a Library of Trend, Mean-Reversion, Momentum and Breakout Signals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A2  K3  K7</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07</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Build pipeline/signals.py with trend, mean-reversion, momentum and breakout signals that return target positions with next-bar alignment, a registry, an automated look-ahead test and a universe target file for the execution stage.</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Agree the signal contract</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trend signals</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mean-reversion, momentum and breakout signals</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Add the registry, next-bar alignment and the look-ahead test</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signals command</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+3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signal library (trend, mean reversion, momentum, breakout) with next-bar alignment and look-ahead tests.</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25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07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07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07_signals.png"/>
          <p:cNvPicPr>
            <a:picLocks noChangeAspect="1"/>
          </p:cNvPicPr>
          <p:nvPr/>
        </p:nvPicPr>
        <p:blipFill>
          <a:blip r:embed="rId2"/>
          <a:stretch>
            <a:fillRect/>
          </a:stretch>
        </p:blipFill>
        <p:spPr>
          <a:xfrm>
            <a:off x="3635598" y="1828800"/>
            <a:ext cx="4920497" cy="3794760"/>
          </a:xfrm>
          <a:prstGeom prst="rect">
            <a:avLst/>
          </a:prstGeom>
        </p:spPr>
      </p:pic>
      <p:sp>
        <p:nvSpPr>
          <p:cNvPr id="8" name="Rectangle 7"/>
          <p:cNvSpPr/>
          <p:nvPr/>
        </p:nvSpPr>
        <p:spPr>
          <a:xfrm>
            <a:off x="3624625" y="1817827"/>
            <a:ext cx="4942443" cy="381670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6986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6986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6986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Lab07-technical-indicators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07 · TRADINGVIEW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Lab 07 — Mean Reversion in TradingView, with Paper Trading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v_lab07_bb_paper_trading.png"/>
          <p:cNvPicPr>
            <a:picLocks noChangeAspect="1"/>
          </p:cNvPicPr>
          <p:nvPr/>
        </p:nvPicPr>
        <p:blipFill>
          <a:blip r:embed="rId2"/>
          <a:stretch>
            <a:fillRect/>
          </a:stretch>
        </p:blipFill>
        <p:spPr>
          <a:xfrm>
            <a:off x="1939173" y="1645920"/>
            <a:ext cx="8313347" cy="4114800"/>
          </a:xfrm>
          <a:prstGeom prst="rect">
            <a:avLst/>
          </a:prstGeom>
        </p:spPr>
      </p:pic>
      <p:sp>
        <p:nvSpPr>
          <p:cNvPr id="8" name="Rectangle 7"/>
          <p:cNvSpPr/>
          <p:nvPr/>
        </p:nvSpPr>
        <p:spPr>
          <a:xfrm>
            <a:off x="1928200" y="1634947"/>
            <a:ext cx="8335293"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Bollinger Bands mean reversion (20, 2) on SPY with TradingView Paper Trading's order panel open. It lost 7.87% since 1993 though 59% of trades won: buying dips in a trending index hurts, so the lab runs it on KO.</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Execution Stage: an Order Manager that Trades the Paper Account in Any Session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0B981"/>
                </a:solidFill>
                <a:latin typeface="Arial"/>
              </a:rPr>
              <a:t>A3  K5</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08</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Build pipeline/execution.py: a session-aware, idempotent order manager that sizes orders from target weights, sends market, extended-hours limit, GTC-queued or bracket PAPER orders, polls their lifecycle, cancels protective legs before exits, and falls back safely when an order is rejected.</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Learn the order rules for each session</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planning logic: target vs actual</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session-aware, idempotent order submission</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Add polling, protective-order handling and safe fallbacks</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Run the order manager in the current session</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+5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An order manager that turns target positions into paper orders in regular or extended hours.</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30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08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08 — The Paper Order Ticket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im_lab08_order_ticket.png"/>
          <p:cNvPicPr>
            <a:picLocks noChangeAspect="1"/>
          </p:cNvPicPr>
          <p:nvPr/>
        </p:nvPicPr>
        <p:blipFill>
          <a:blip r:embed="rId2"/>
          <a:stretch>
            <a:fillRect/>
          </a:stretch>
        </p:blipFill>
        <p:spPr>
          <a:xfrm>
            <a:off x="1813685" y="1645920"/>
            <a:ext cx="8564324" cy="4114800"/>
          </a:xfrm>
          <a:prstGeom prst="rect">
            <a:avLst/>
          </a:prstGeom>
        </p:spPr>
      </p:pic>
      <p:sp>
        <p:nvSpPr>
          <p:cNvPr id="8" name="Rectangle 7"/>
          <p:cNvSpPr/>
          <p:nvPr/>
        </p:nvSpPr>
        <p:spPr>
          <a:xfrm>
            <a:off x="1802712" y="1634947"/>
            <a:ext cx="8586269"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Paper Trading &gt; Order ticket: buy 10 SPY, time in force day, default paper account. For Step 1 set Type = market and Session (sim) = regular; the banner shows the live session (here REGULAR, so all order types are accepted).</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08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08 — Risk Checks Passed, Order Filled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im_lab08_order_accepted.png"/>
          <p:cNvPicPr>
            <a:picLocks noChangeAspect="1"/>
          </p:cNvPicPr>
          <p:nvPr/>
        </p:nvPicPr>
        <p:blipFill>
          <a:blip r:embed="rId2"/>
          <a:stretch>
            <a:fillRect/>
          </a:stretch>
        </p:blipFill>
        <p:spPr>
          <a:xfrm>
            <a:off x="1805275" y="1645920"/>
            <a:ext cx="8581144" cy="4114800"/>
          </a:xfrm>
          <a:prstGeom prst="rect">
            <a:avLst/>
          </a:prstGeom>
        </p:spPr>
      </p:pic>
      <p:sp>
        <p:nvSpPr>
          <p:cNvPr id="8" name="Rectangle 7"/>
          <p:cNvSpPr/>
          <p:nvPr/>
        </p:nvSpPr>
        <p:spPr>
          <a:xfrm>
            <a:off x="1794302" y="1634947"/>
            <a:ext cx="8603090"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After Send paper order: ACCEPTED, all checks passed - BUY 10 SPY MARKET DAY -&gt; filled. Every manual order passes the same pre-trade checks as the bots: kill switch, duplicate, session, allow list, long only, daily loss, max order quantity and value, max position.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Evaluation Stage: Performance and Risk Metrics with a Benchmark Table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0B981"/>
                </a:solidFill>
                <a:latin typeface="Arial"/>
              </a:rPr>
              <a:t>A3  K3</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09</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Build `python -m pipeline evaluate` to compute total return, CAGR, volatility, Sharpe, Sortino, maximum drawdown, Calmar, win rate, profit factor, exposure, turnover, alpha and beta for every signal against a buy-and-hold benchmark, and interpret the ranking.</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Read the metric formulas</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evaluation stage</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Run the evaluation</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Check one metric by hand</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Interpret trade and market metrics</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+2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An evaluation stage producing the metrics and benchmark table for every strategy.</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25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09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09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09_metrics.png"/>
          <p:cNvPicPr>
            <a:picLocks noChangeAspect="1"/>
          </p:cNvPicPr>
          <p:nvPr/>
        </p:nvPicPr>
        <p:blipFill>
          <a:blip r:embed="rId2"/>
          <a:stretch>
            <a:fillRect/>
          </a:stretch>
        </p:blipFill>
        <p:spPr>
          <a:xfrm>
            <a:off x="2918027" y="1828800"/>
            <a:ext cx="6355640" cy="3794760"/>
          </a:xfrm>
          <a:prstGeom prst="rect">
            <a:avLst/>
          </a:prstGeom>
        </p:spPr>
      </p:pic>
      <p:sp>
        <p:nvSpPr>
          <p:cNvPr id="8" name="Rectangle 7"/>
          <p:cNvSpPr/>
          <p:nvPr/>
        </p:nvSpPr>
        <p:spPr>
          <a:xfrm>
            <a:off x="2907054" y="1817827"/>
            <a:ext cx="6377586" cy="381670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6986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6986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6986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Lab09-performance-metrics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09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09 — Strategy versus Benchmark in Analytics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im_lab09_analytics.png"/>
          <p:cNvPicPr>
            <a:picLocks noChangeAspect="1"/>
          </p:cNvPicPr>
          <p:nvPr/>
        </p:nvPicPr>
        <p:blipFill>
          <a:blip r:embed="rId2"/>
          <a:stretch>
            <a:fillRect/>
          </a:stretch>
        </p:blipFill>
        <p:spPr>
          <a:xfrm>
            <a:off x="1898523" y="1645920"/>
            <a:ext cx="8394647" cy="4114800"/>
          </a:xfrm>
          <a:prstGeom prst="rect">
            <a:avLst/>
          </a:prstGeom>
        </p:spPr>
      </p:pic>
      <p:sp>
        <p:nvSpPr>
          <p:cNvPr id="8" name="Rectangle 7"/>
          <p:cNvSpPr/>
          <p:nvPr/>
        </p:nvSpPr>
        <p:spPr>
          <a:xfrm>
            <a:off x="1887551" y="1634947"/>
            <a:ext cx="8416592"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Analytics for Lab 6's SMA 50/200 backtest against SPY buy-and-hold: 79.71% versus 187.26% total return, Sharpe 0.55 versus 0.78. In Lab 9 choose the EMA 10/30 backtest; hover any metric for its definition.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WHAT YOU COVERED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Topic 2 Recap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07424" y="475488"/>
            <a:ext cx="2304288"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107424"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07424" y="475488"/>
            <a:ext cx="2304288" cy="310896"/>
          </a:xfrm>
          <a:prstGeom prst="rect">
            <a:avLst/>
          </a:prstGeom>
          <a:noFill/>
        </p:spPr>
        <p:txBody>
          <a:bodyPr wrap="square" anchor="ctr">
            <a:spAutoFit/>
          </a:bodyPr>
          <a:lstStyle/>
          <a:p>
            <a:pPr algn="ctr">
              <a:spcAft>
                <a:spcPts val="400"/>
              </a:spcAft>
            </a:pPr>
            <a:r>
              <a:rPr sz="1100" b="1">
                <a:solidFill>
                  <a:srgbClr val="10B981"/>
                </a:solidFill>
                <a:latin typeface="Arial"/>
              </a:rPr>
              <a:t>A2  A3  K3  K5  K7</a:t>
            </a:r>
          </a:p>
        </p:txBody>
      </p:sp>
      <p:sp>
        <p:nvSpPr>
          <p:cNvPr id="10" name="Rectangle 9"/>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A2</a:t>
            </a:r>
          </a:p>
          <a:p>
            <a:pPr algn="l">
              <a:spcAft>
                <a:spcPts val="300"/>
              </a:spcAft>
            </a:pPr>
            <a:r>
              <a:rPr sz="1000" b="0">
                <a:solidFill>
                  <a:srgbClr val="5B6372"/>
                </a:solidFill>
                <a:latin typeface="Arial"/>
              </a:rPr>
              <a:t>Identify appropriate statistical algorithms and data models to test hypotheses and/or theories</a:t>
            </a:r>
          </a:p>
        </p:txBody>
      </p:sp>
      <p:sp>
        <p:nvSpPr>
          <p:cNvPr id="15" name="Rectangle 14"/>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283281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A3</a:t>
            </a:r>
          </a:p>
          <a:p>
            <a:pPr algn="l">
              <a:spcAft>
                <a:spcPts val="300"/>
              </a:spcAft>
            </a:pPr>
            <a:r>
              <a:rPr sz="1000" b="0">
                <a:solidFill>
                  <a:srgbClr val="5B6372"/>
                </a:solidFill>
                <a:latin typeface="Arial"/>
              </a:rPr>
              <a:t>Use appropriate analytics platforms, analytical tools, statistical methods and analytical approaches given specific analytics and reporting requirements</a:t>
            </a:r>
          </a:p>
        </p:txBody>
      </p:sp>
      <p:sp>
        <p:nvSpPr>
          <p:cNvPr id="20" name="Rectangle 19"/>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75452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K3</a:t>
            </a:r>
          </a:p>
          <a:p>
            <a:pPr algn="l">
              <a:spcAft>
                <a:spcPts val="300"/>
              </a:spcAft>
            </a:pPr>
            <a:r>
              <a:rPr sz="1000" b="0">
                <a:solidFill>
                  <a:srgbClr val="5B6372"/>
                </a:solidFill>
                <a:latin typeface="Arial"/>
              </a:rPr>
              <a:t>Range and application of various statistical methods and algorithms</a:t>
            </a:r>
          </a:p>
        </p:txBody>
      </p:sp>
      <p:sp>
        <p:nvSpPr>
          <p:cNvPr id="25" name="Rectangle 24"/>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467624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K5</a:t>
            </a:r>
          </a:p>
          <a:p>
            <a:pPr algn="l">
              <a:spcAft>
                <a:spcPts val="300"/>
              </a:spcAft>
            </a:pPr>
            <a:r>
              <a:rPr sz="1000" b="0">
                <a:solidFill>
                  <a:srgbClr val="5B6372"/>
                </a:solidFill>
                <a:latin typeface="Arial"/>
              </a:rPr>
              <a:t>Usage of analytics platforms and tools</a:t>
            </a:r>
          </a:p>
        </p:txBody>
      </p:sp>
      <p:sp>
        <p:nvSpPr>
          <p:cNvPr id="30" name="Rectangle 29"/>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559795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K7</a:t>
            </a:r>
          </a:p>
          <a:p>
            <a:pPr algn="l">
              <a:spcAft>
                <a:spcPts val="300"/>
              </a:spcAft>
            </a:pPr>
            <a:r>
              <a:rPr sz="1000" b="0">
                <a:solidFill>
                  <a:srgbClr val="5B6372"/>
                </a:solidFill>
                <a:latin typeface="Arial"/>
              </a:rPr>
              <a:t>Coding languages for programming of algorithms and signals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End of Day 1</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5B6372"/>
                </a:solidFill>
                <a:latin typeface="Arial"/>
              </a:rPr>
              <a:t>See you at 09:00 tomorrow</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874519"/>
            <a:ext cx="8778240" cy="457200"/>
          </a:xfrm>
          <a:prstGeom prst="rect">
            <a:avLst/>
          </a:prstGeom>
          <a:noFill/>
        </p:spPr>
        <p:txBody>
          <a:bodyPr wrap="square" anchor="t">
            <a:spAutoFit/>
          </a:bodyPr>
          <a:lstStyle/>
          <a:p>
            <a:pPr algn="l">
              <a:spcAft>
                <a:spcPts val="400"/>
              </a:spcAft>
            </a:pPr>
            <a:r>
              <a:rPr sz="1600" b="1">
                <a:solidFill>
                  <a:srgbClr val="7C3AED"/>
                </a:solidFill>
                <a:latin typeface="Arial"/>
              </a:rPr>
              <a:t>TOPIC 3</a:t>
            </a:r>
          </a:p>
        </p:txBody>
      </p:sp>
      <p:sp>
        <p:nvSpPr>
          <p:cNvPr id="5" name="TextBox 4"/>
          <p:cNvSpPr txBox="1"/>
          <p:nvPr/>
        </p:nvSpPr>
        <p:spPr>
          <a:xfrm>
            <a:off x="1188720" y="2331720"/>
            <a:ext cx="9509760" cy="914400"/>
          </a:xfrm>
          <a:prstGeom prst="rect">
            <a:avLst/>
          </a:prstGeom>
          <a:noFill/>
        </p:spPr>
        <p:txBody>
          <a:bodyPr wrap="square" anchor="t">
            <a:spAutoFit/>
          </a:bodyPr>
          <a:lstStyle/>
          <a:p>
            <a:pPr algn="l">
              <a:spcAft>
                <a:spcPts val="400"/>
              </a:spcAft>
            </a:pPr>
            <a:r>
              <a:rPr sz="4000" b="1">
                <a:solidFill>
                  <a:srgbClr val="161B26"/>
                </a:solidFill>
                <a:latin typeface="Arial"/>
              </a:rPr>
              <a:t>ML Models and A/B Testing</a:t>
            </a:r>
          </a:p>
        </p:txBody>
      </p:sp>
      <p:sp>
        <p:nvSpPr>
          <p:cNvPr id="6" name="Rectangle 5"/>
          <p:cNvSpPr/>
          <p:nvPr/>
        </p:nvSpPr>
        <p:spPr>
          <a:xfrm>
            <a:off x="1188720" y="3429000"/>
            <a:ext cx="9509760"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88720" y="3429000"/>
            <a:ext cx="82296" cy="1234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81328" y="3429000"/>
            <a:ext cx="9052560" cy="1234440"/>
          </a:xfrm>
          <a:prstGeom prst="rect">
            <a:avLst/>
          </a:prstGeom>
          <a:noFill/>
        </p:spPr>
        <p:txBody>
          <a:bodyPr wrap="square" anchor="ctr">
            <a:spAutoFit/>
          </a:bodyPr>
          <a:lstStyle/>
          <a:p>
            <a:pPr algn="l">
              <a:spcAft>
                <a:spcPts val="400"/>
              </a:spcAft>
            </a:pPr>
            <a:r>
              <a:rPr sz="1050" b="1">
                <a:solidFill>
                  <a:srgbClr val="7C3AED"/>
                </a:solidFill>
                <a:latin typeface="Arial"/>
              </a:rPr>
              <a:t>LEARNING OUTCOME</a:t>
            </a:r>
          </a:p>
          <a:p>
            <a:pPr algn="l">
              <a:spcAft>
                <a:spcPts val="400"/>
              </a:spcAft>
            </a:pPr>
            <a:r>
              <a:rPr sz="1350" b="0">
                <a:solidFill>
                  <a:srgbClr val="161B26"/>
                </a:solidFill>
                <a:latin typeface="Arial"/>
              </a:rPr>
              <a:t>Conduct statistical modelling of market data with machine learning models to derive patterns and solutions, and perform A/B testing of trading strategies based on different hypotheses.</a:t>
            </a:r>
          </a:p>
        </p:txBody>
      </p:sp>
      <p:sp>
        <p:nvSpPr>
          <p:cNvPr id="9" name="TextBox 8"/>
          <p:cNvSpPr txBox="1"/>
          <p:nvPr/>
        </p:nvSpPr>
        <p:spPr>
          <a:xfrm>
            <a:off x="1188720" y="4892040"/>
            <a:ext cx="9509760" cy="457200"/>
          </a:xfrm>
          <a:prstGeom prst="rect">
            <a:avLst/>
          </a:prstGeom>
          <a:noFill/>
        </p:spPr>
        <p:txBody>
          <a:bodyPr wrap="square" anchor="t">
            <a:spAutoFit/>
          </a:bodyPr>
          <a:lstStyle/>
          <a:p>
            <a:pPr algn="l">
              <a:spcAft>
                <a:spcPts val="400"/>
              </a:spcAft>
            </a:pPr>
            <a:r>
              <a:rPr sz="1150" b="0">
                <a:solidFill>
                  <a:srgbClr val="5B6372"/>
                </a:solidFill>
                <a:latin typeface="Arial"/>
              </a:rPr>
              <a:t>Abilities A4, A5  ·  Knowledge K2, K4, K6   ·   Day 2   ·   Labs 10–14   ·   Assessed by PP Task 3 and WA Q2, Q4, Q6</a:t>
            </a:r>
          </a:p>
        </p:txBody>
      </p:sp>
      <p:sp>
        <p:nvSpPr>
          <p:cNvPr id="10" name="TextBox 9"/>
          <p:cNvSpPr txBox="1"/>
          <p:nvPr/>
        </p:nvSpPr>
        <p:spPr>
          <a:xfrm>
            <a:off x="9692640" y="914400"/>
            <a:ext cx="2011680" cy="2011680"/>
          </a:xfrm>
          <a:prstGeom prst="rect">
            <a:avLst/>
          </a:prstGeom>
          <a:noFill/>
        </p:spPr>
        <p:txBody>
          <a:bodyPr wrap="square" anchor="t">
            <a:spAutoFit/>
          </a:bodyPr>
          <a:lstStyle/>
          <a:p>
            <a:pPr algn="r">
              <a:spcAft>
                <a:spcPts val="400"/>
              </a:spcAft>
            </a:pPr>
            <a:r>
              <a:rPr sz="9600" b="1">
                <a:solidFill>
                  <a:srgbClr val="F5F8FC"/>
                </a:solidFill>
                <a:latin typeface="Arial"/>
              </a:rPr>
              <a:t>03</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Types of Statistical Analyses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K2</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Descriptive</a:t>
            </a:r>
          </a:p>
          <a:p>
            <a:pPr algn="l">
              <a:spcAft>
                <a:spcPts val="300"/>
              </a:spcAft>
            </a:pPr>
            <a:r>
              <a:rPr sz="1150" b="0">
                <a:solidFill>
                  <a:srgbClr val="5B6372"/>
                </a:solidFill>
                <a:latin typeface="Arial"/>
              </a:rPr>
              <a:t>What happened — mean return, volatility, skew, correlation.</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Inferential</a:t>
            </a:r>
          </a:p>
          <a:p>
            <a:pPr algn="l">
              <a:spcAft>
                <a:spcPts val="300"/>
              </a:spcAft>
            </a:pPr>
            <a:r>
              <a:rPr sz="1150" b="0">
                <a:solidFill>
                  <a:srgbClr val="5B6372"/>
                </a:solidFill>
                <a:latin typeface="Arial"/>
              </a:rPr>
              <a:t>Is it real? — t-test, bootstrap, confidence intervals.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Predictive</a:t>
            </a:r>
          </a:p>
          <a:p>
            <a:pPr algn="l">
              <a:spcAft>
                <a:spcPts val="300"/>
              </a:spcAft>
            </a:pPr>
            <a:r>
              <a:rPr sz="1150" b="0">
                <a:solidFill>
                  <a:srgbClr val="5B6372"/>
                </a:solidFill>
                <a:latin typeface="Arial"/>
              </a:rPr>
              <a:t>What next? — regression, classification.</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Prescriptive</a:t>
            </a:r>
          </a:p>
          <a:p>
            <a:pPr algn="l">
              <a:spcAft>
                <a:spcPts val="300"/>
              </a:spcAft>
            </a:pPr>
            <a:r>
              <a:rPr sz="1150" b="0">
                <a:solidFill>
                  <a:srgbClr val="5B6372"/>
                </a:solidFill>
                <a:latin typeface="Arial"/>
              </a:rPr>
              <a:t>What to do? — optimisation, position sizing.</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Families of Learning Algorithms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K2</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Supervised</a:t>
            </a:r>
          </a:p>
          <a:p>
            <a:pPr algn="l">
              <a:spcAft>
                <a:spcPts val="300"/>
              </a:spcAft>
            </a:pPr>
            <a:r>
              <a:rPr sz="1150" b="0">
                <a:solidFill>
                  <a:srgbClr val="5B6372"/>
                </a:solidFill>
                <a:latin typeface="Arial"/>
              </a:rPr>
              <a:t>Features → known target: up/down, next return.</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Unsupervised</a:t>
            </a:r>
          </a:p>
          <a:p>
            <a:pPr algn="l">
              <a:spcAft>
                <a:spcPts val="300"/>
              </a:spcAft>
            </a:pPr>
            <a:r>
              <a:rPr sz="1150" b="0">
                <a:solidFill>
                  <a:srgbClr val="5B6372"/>
                </a:solidFill>
                <a:latin typeface="Arial"/>
              </a:rPr>
              <a:t>Structure without a target: regimes, PCA factors.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Reinforcement</a:t>
            </a:r>
          </a:p>
          <a:p>
            <a:pPr algn="l">
              <a:spcAft>
                <a:spcPts val="300"/>
              </a:spcAft>
            </a:pPr>
            <a:r>
              <a:rPr sz="1150" b="0">
                <a:solidFill>
                  <a:srgbClr val="5B6372"/>
                </a:solidFill>
                <a:latin typeface="Arial"/>
              </a:rPr>
              <a:t>Learn a policy from rewards — execution research.</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Search &amp; simulation</a:t>
            </a:r>
          </a:p>
          <a:p>
            <a:pPr algn="l">
              <a:spcAft>
                <a:spcPts val="300"/>
              </a:spcAft>
            </a:pPr>
            <a:r>
              <a:rPr sz="1150" b="0">
                <a:solidFill>
                  <a:srgbClr val="5B6372"/>
                </a:solidFill>
                <a:latin typeface="Arial"/>
              </a:rPr>
              <a:t>Grid search, Monte Carlo, bootstrap, walk-forward.</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Supervised Learning: Learning from Labelled Examples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K2</a:t>
            </a:r>
          </a:p>
        </p:txBody>
      </p:sp>
      <p:pic>
        <p:nvPicPr>
          <p:cNvPr id="10" name="Picture 9" descr="concept_supervised.png"/>
          <p:cNvPicPr>
            <a:picLocks noChangeAspect="1"/>
          </p:cNvPicPr>
          <p:nvPr/>
        </p:nvPicPr>
        <p:blipFill>
          <a:blip r:embed="rId2"/>
          <a:stretch>
            <a:fillRect/>
          </a:stretch>
        </p:blipFill>
        <p:spPr>
          <a:xfrm>
            <a:off x="777240" y="2508173"/>
            <a:ext cx="6172200" cy="298465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The model learns a mapping from inputs (features) to a known answer (the label), using history in which the answer is already known.</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IN TRADING</a:t>
            </a:r>
          </a:p>
          <a:p>
            <a:pPr algn="l">
              <a:spcAft>
                <a:spcPts val="200"/>
              </a:spcAft>
            </a:pPr>
            <a:r>
              <a:rPr sz="1150" b="0">
                <a:solidFill>
                  <a:srgbClr val="161B26"/>
                </a:solidFill>
                <a:latin typeface="Arial"/>
              </a:rPr>
              <a:t>Features known at today's close - 5-day return, RSI, volatility. Label: did the price rise the NEXT day (classification) or by how much (regression)?</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WHAT IT GIVES YOU</a:t>
            </a:r>
          </a:p>
          <a:p>
            <a:pPr algn="l">
              <a:spcAft>
                <a:spcPts val="200"/>
              </a:spcAft>
            </a:pPr>
            <a:r>
              <a:rPr sz="1150" b="0">
                <a:solidFill>
                  <a:srgbClr val="161B26"/>
                </a:solidFill>
                <a:latin typeface="Arial"/>
              </a:rPr>
              <a:t>A prediction for a new day - P(up) = 0.55 or an expected return. A rule such as 'long if P(up) &gt; 0.55' turns it into a position.</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Features must use only data known at decision time. Accuracy near 50% is normal for daily direction - judge the strategy net of costs.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Unsupervised Learning: Finding Structure Without Labels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K2</a:t>
            </a:r>
          </a:p>
        </p:txBody>
      </p:sp>
      <p:pic>
        <p:nvPicPr>
          <p:cNvPr id="10" name="Picture 9" descr="concept_unsupervised.png"/>
          <p:cNvPicPr>
            <a:picLocks noChangeAspect="1"/>
          </p:cNvPicPr>
          <p:nvPr/>
        </p:nvPicPr>
        <p:blipFill>
          <a:blip r:embed="rId2"/>
          <a:stretch>
            <a:fillRect/>
          </a:stretch>
        </p:blipFill>
        <p:spPr>
          <a:xfrm>
            <a:off x="777240" y="2242594"/>
            <a:ext cx="6172200" cy="351581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There is no answer key. The algorithm groups or compresses the data by similarity, and you decide what the groups mean.</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IN TRADING</a:t>
            </a:r>
          </a:p>
          <a:p>
            <a:pPr algn="l">
              <a:spcAft>
                <a:spcPts val="200"/>
              </a:spcAft>
            </a:pPr>
            <a:r>
              <a:rPr sz="1150" b="0">
                <a:solidFill>
                  <a:srgbClr val="161B26"/>
                </a:solidFill>
                <a:latin typeface="Arial"/>
              </a:rPr>
              <a:t>Cluster days by return and volatility into regimes; PCA reduces many correlated assets to a few factors; cluster stocks for diversification.</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WHAT IT GIVES YOU</a:t>
            </a:r>
          </a:p>
          <a:p>
            <a:pPr algn="l">
              <a:spcAft>
                <a:spcPts val="200"/>
              </a:spcAft>
            </a:pPr>
            <a:r>
              <a:rPr sz="1150" b="0">
                <a:solidFill>
                  <a:srgbClr val="161B26"/>
                </a:solidFill>
                <a:latin typeface="Arial"/>
              </a:rPr>
              <a:t>A group per day or asset (calm / normal / stressed) or a few factors - inputs to a decision, such as cutting position size when stressed, not trades by themselves.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Clusters have no built-in meaning and k is your choice. Fit on past data only and re-check as the market changes.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Reinforcement Learning: Learning by Action and Reward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K2</a:t>
            </a:r>
          </a:p>
        </p:txBody>
      </p:sp>
      <p:pic>
        <p:nvPicPr>
          <p:cNvPr id="10" name="Picture 9" descr="concept_reinforcement.png"/>
          <p:cNvPicPr>
            <a:picLocks noChangeAspect="1"/>
          </p:cNvPicPr>
          <p:nvPr/>
        </p:nvPicPr>
        <p:blipFill>
          <a:blip r:embed="rId2"/>
          <a:stretch>
            <a:fillRect/>
          </a:stretch>
        </p:blipFill>
        <p:spPr>
          <a:xfrm>
            <a:off x="777240" y="2508173"/>
            <a:ext cx="6172200" cy="298465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An agent observes a state, takes an action and receives a reward; by trial and error it learns a policy that maximises total reward over time.</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IN TRADING</a:t>
            </a:r>
          </a:p>
          <a:p>
            <a:pPr algn="l">
              <a:spcAft>
                <a:spcPts val="200"/>
              </a:spcAft>
            </a:pPr>
            <a:r>
              <a:rPr sz="1150" b="0">
                <a:solidFill>
                  <a:srgbClr val="161B26"/>
                </a:solidFill>
                <a:latin typeface="Arial"/>
              </a:rPr>
              <a:t>State: prices, position, time left. Action: buy, hold, sell or how many shares. Reward: P&amp;L net of costs, minus a penalty for risk.</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WHAT IT GIVES YOU</a:t>
            </a:r>
          </a:p>
          <a:p>
            <a:pPr algn="l">
              <a:spcAft>
                <a:spcPts val="200"/>
              </a:spcAft>
            </a:pPr>
            <a:r>
              <a:rPr sz="1150" b="0">
                <a:solidFill>
                  <a:srgbClr val="161B26"/>
                </a:solidFill>
                <a:latin typeface="Arial"/>
              </a:rPr>
              <a:t>A policy - the best action for each state. Used for optimal execution of large orders, market making and dynamic hedging, mostly at banks and research labs.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Needs a realistic simulator and huge amounts of experience; it learns to exploit any flaw in the simulator. Unstable and hard to explain - rarely the first tool.</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Supervised vs Unsupervised vs Reinforcement Learning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K2</a:t>
            </a:r>
          </a:p>
        </p:txBody>
      </p:sp>
      <p:sp>
        <p:nvSpPr>
          <p:cNvPr id="10" name="Rectangle 9"/>
          <p:cNvSpPr/>
          <p:nvPr/>
        </p:nvSpPr>
        <p:spPr>
          <a:xfrm>
            <a:off x="2926080" y="1810512"/>
            <a:ext cx="2791968"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26080" y="1810512"/>
            <a:ext cx="2791968" cy="420624"/>
          </a:xfrm>
          <a:prstGeom prst="rect">
            <a:avLst/>
          </a:prstGeom>
          <a:noFill/>
        </p:spPr>
        <p:txBody>
          <a:bodyPr wrap="square" anchor="ctr">
            <a:spAutoFit/>
          </a:bodyPr>
          <a:lstStyle/>
          <a:p>
            <a:pPr algn="ctr">
              <a:spcAft>
                <a:spcPts val="400"/>
              </a:spcAft>
            </a:pPr>
            <a:r>
              <a:rPr sz="1400" b="1">
                <a:solidFill>
                  <a:srgbClr val="FFFFFF"/>
                </a:solidFill>
                <a:latin typeface="Arial"/>
              </a:rPr>
              <a:t>Supervised</a:t>
            </a:r>
          </a:p>
        </p:txBody>
      </p:sp>
      <p:sp>
        <p:nvSpPr>
          <p:cNvPr id="12" name="Rectangle 11"/>
          <p:cNvSpPr/>
          <p:nvPr/>
        </p:nvSpPr>
        <p:spPr>
          <a:xfrm>
            <a:off x="5754624" y="1810512"/>
            <a:ext cx="2791968"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54624" y="1810512"/>
            <a:ext cx="2791968" cy="420624"/>
          </a:xfrm>
          <a:prstGeom prst="rect">
            <a:avLst/>
          </a:prstGeom>
          <a:noFill/>
        </p:spPr>
        <p:txBody>
          <a:bodyPr wrap="square" anchor="ctr">
            <a:spAutoFit/>
          </a:bodyPr>
          <a:lstStyle/>
          <a:p>
            <a:pPr algn="ctr">
              <a:spcAft>
                <a:spcPts val="400"/>
              </a:spcAft>
            </a:pPr>
            <a:r>
              <a:rPr sz="1400" b="1">
                <a:solidFill>
                  <a:srgbClr val="FFFFFF"/>
                </a:solidFill>
                <a:latin typeface="Arial"/>
              </a:rPr>
              <a:t>Unsupervised</a:t>
            </a:r>
          </a:p>
        </p:txBody>
      </p:sp>
      <p:sp>
        <p:nvSpPr>
          <p:cNvPr id="14" name="Rectangle 13"/>
          <p:cNvSpPr/>
          <p:nvPr/>
        </p:nvSpPr>
        <p:spPr>
          <a:xfrm>
            <a:off x="8583168" y="1810512"/>
            <a:ext cx="2828544" cy="4206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83168" y="1810512"/>
            <a:ext cx="2828544" cy="420624"/>
          </a:xfrm>
          <a:prstGeom prst="rect">
            <a:avLst/>
          </a:prstGeom>
          <a:noFill/>
        </p:spPr>
        <p:txBody>
          <a:bodyPr wrap="square" anchor="ctr">
            <a:spAutoFit/>
          </a:bodyPr>
          <a:lstStyle/>
          <a:p>
            <a:pPr algn="ctr">
              <a:spcAft>
                <a:spcPts val="400"/>
              </a:spcAft>
            </a:pPr>
            <a:r>
              <a:rPr sz="1400" b="1">
                <a:solidFill>
                  <a:srgbClr val="FFFFFF"/>
                </a:solidFill>
                <a:latin typeface="Arial"/>
              </a:rPr>
              <a:t>Reinforcement</a:t>
            </a:r>
          </a:p>
        </p:txBody>
      </p:sp>
      <p:sp>
        <p:nvSpPr>
          <p:cNvPr id="16" name="Rectangle 15"/>
          <p:cNvSpPr/>
          <p:nvPr/>
        </p:nvSpPr>
        <p:spPr>
          <a:xfrm>
            <a:off x="777240" y="2286000"/>
            <a:ext cx="10634472" cy="6355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6968" y="228600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Learns from</a:t>
            </a:r>
          </a:p>
        </p:txBody>
      </p:sp>
      <p:sp>
        <p:nvSpPr>
          <p:cNvPr id="18" name="TextBox 17"/>
          <p:cNvSpPr txBox="1"/>
          <p:nvPr/>
        </p:nvSpPr>
        <p:spPr>
          <a:xfrm>
            <a:off x="3017520" y="2286000"/>
            <a:ext cx="2599944" cy="635508"/>
          </a:xfrm>
          <a:prstGeom prst="rect">
            <a:avLst/>
          </a:prstGeom>
          <a:noFill/>
        </p:spPr>
        <p:txBody>
          <a:bodyPr wrap="square" anchor="ctr">
            <a:spAutoFit/>
          </a:bodyPr>
          <a:lstStyle/>
          <a:p>
            <a:pPr algn="l">
              <a:spcAft>
                <a:spcPts val="400"/>
              </a:spcAft>
            </a:pPr>
            <a:r>
              <a:rPr sz="1050" b="0">
                <a:solidFill>
                  <a:srgbClr val="161B26"/>
                </a:solidFill>
                <a:latin typeface="Arial"/>
              </a:rPr>
              <a:t>Labelled history: features + the known answer</a:t>
            </a:r>
          </a:p>
        </p:txBody>
      </p:sp>
      <p:sp>
        <p:nvSpPr>
          <p:cNvPr id="19" name="TextBox 18"/>
          <p:cNvSpPr txBox="1"/>
          <p:nvPr/>
        </p:nvSpPr>
        <p:spPr>
          <a:xfrm>
            <a:off x="5846064" y="2286000"/>
            <a:ext cx="2599944" cy="635508"/>
          </a:xfrm>
          <a:prstGeom prst="rect">
            <a:avLst/>
          </a:prstGeom>
          <a:noFill/>
        </p:spPr>
        <p:txBody>
          <a:bodyPr wrap="square" anchor="ctr">
            <a:spAutoFit/>
          </a:bodyPr>
          <a:lstStyle/>
          <a:p>
            <a:pPr algn="l">
              <a:spcAft>
                <a:spcPts val="400"/>
              </a:spcAft>
            </a:pPr>
            <a:r>
              <a:rPr sz="1050" b="0">
                <a:solidFill>
                  <a:srgbClr val="161B26"/>
                </a:solidFill>
                <a:latin typeface="Arial"/>
              </a:rPr>
              <a:t>Unlabelled data: features only</a:t>
            </a:r>
          </a:p>
        </p:txBody>
      </p:sp>
      <p:sp>
        <p:nvSpPr>
          <p:cNvPr id="20" name="TextBox 19"/>
          <p:cNvSpPr txBox="1"/>
          <p:nvPr/>
        </p:nvSpPr>
        <p:spPr>
          <a:xfrm>
            <a:off x="8674608" y="2286000"/>
            <a:ext cx="2645664" cy="635508"/>
          </a:xfrm>
          <a:prstGeom prst="rect">
            <a:avLst/>
          </a:prstGeom>
          <a:noFill/>
        </p:spPr>
        <p:txBody>
          <a:bodyPr wrap="square" anchor="ctr">
            <a:spAutoFit/>
          </a:bodyPr>
          <a:lstStyle/>
          <a:p>
            <a:pPr algn="l">
              <a:spcAft>
                <a:spcPts val="400"/>
              </a:spcAft>
            </a:pPr>
            <a:r>
              <a:rPr sz="1050" b="0">
                <a:solidFill>
                  <a:srgbClr val="161B26"/>
                </a:solidFill>
                <a:latin typeface="Arial"/>
              </a:rPr>
              <a:t>Its own experience: states, actions, rewards</a:t>
            </a:r>
          </a:p>
        </p:txBody>
      </p:sp>
      <p:sp>
        <p:nvSpPr>
          <p:cNvPr id="21" name="TextBox 20"/>
          <p:cNvSpPr txBox="1"/>
          <p:nvPr/>
        </p:nvSpPr>
        <p:spPr>
          <a:xfrm>
            <a:off x="886968" y="294894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Question it answers</a:t>
            </a:r>
          </a:p>
        </p:txBody>
      </p:sp>
      <p:sp>
        <p:nvSpPr>
          <p:cNvPr id="22" name="TextBox 21"/>
          <p:cNvSpPr txBox="1"/>
          <p:nvPr/>
        </p:nvSpPr>
        <p:spPr>
          <a:xfrm>
            <a:off x="3017520" y="2948940"/>
            <a:ext cx="2599944" cy="635508"/>
          </a:xfrm>
          <a:prstGeom prst="rect">
            <a:avLst/>
          </a:prstGeom>
          <a:noFill/>
        </p:spPr>
        <p:txBody>
          <a:bodyPr wrap="square" anchor="ctr">
            <a:spAutoFit/>
          </a:bodyPr>
          <a:lstStyle/>
          <a:p>
            <a:pPr algn="l">
              <a:spcAft>
                <a:spcPts val="400"/>
              </a:spcAft>
            </a:pPr>
            <a:r>
              <a:rPr sz="1050" b="0">
                <a:solidFill>
                  <a:srgbClr val="161B26"/>
                </a:solidFill>
                <a:latin typeface="Arial"/>
              </a:rPr>
              <a:t>What will happen? - predict a target</a:t>
            </a:r>
          </a:p>
        </p:txBody>
      </p:sp>
      <p:sp>
        <p:nvSpPr>
          <p:cNvPr id="23" name="TextBox 22"/>
          <p:cNvSpPr txBox="1"/>
          <p:nvPr/>
        </p:nvSpPr>
        <p:spPr>
          <a:xfrm>
            <a:off x="5846064" y="2948940"/>
            <a:ext cx="2599944" cy="635508"/>
          </a:xfrm>
          <a:prstGeom prst="rect">
            <a:avLst/>
          </a:prstGeom>
          <a:noFill/>
        </p:spPr>
        <p:txBody>
          <a:bodyPr wrap="square" anchor="ctr">
            <a:spAutoFit/>
          </a:bodyPr>
          <a:lstStyle/>
          <a:p>
            <a:pPr algn="l">
              <a:spcAft>
                <a:spcPts val="400"/>
              </a:spcAft>
            </a:pPr>
            <a:r>
              <a:rPr sz="1050" b="0">
                <a:solidFill>
                  <a:srgbClr val="161B26"/>
                </a:solidFill>
                <a:latin typeface="Arial"/>
              </a:rPr>
              <a:t>What patterns exist? - group or compress</a:t>
            </a:r>
          </a:p>
        </p:txBody>
      </p:sp>
      <p:sp>
        <p:nvSpPr>
          <p:cNvPr id="24" name="TextBox 23"/>
          <p:cNvSpPr txBox="1"/>
          <p:nvPr/>
        </p:nvSpPr>
        <p:spPr>
          <a:xfrm>
            <a:off x="8674608" y="2948940"/>
            <a:ext cx="2645664" cy="635508"/>
          </a:xfrm>
          <a:prstGeom prst="rect">
            <a:avLst/>
          </a:prstGeom>
          <a:noFill/>
        </p:spPr>
        <p:txBody>
          <a:bodyPr wrap="square" anchor="ctr">
            <a:spAutoFit/>
          </a:bodyPr>
          <a:lstStyle/>
          <a:p>
            <a:pPr algn="l">
              <a:spcAft>
                <a:spcPts val="400"/>
              </a:spcAft>
            </a:pPr>
            <a:r>
              <a:rPr sz="1050" b="0">
                <a:solidFill>
                  <a:srgbClr val="161B26"/>
                </a:solidFill>
                <a:latin typeface="Arial"/>
              </a:rPr>
              <a:t>What should I do? - choose the next action</a:t>
            </a:r>
          </a:p>
        </p:txBody>
      </p:sp>
      <p:sp>
        <p:nvSpPr>
          <p:cNvPr id="25" name="Rectangle 24"/>
          <p:cNvSpPr/>
          <p:nvPr/>
        </p:nvSpPr>
        <p:spPr>
          <a:xfrm>
            <a:off x="777240" y="3611880"/>
            <a:ext cx="10634472" cy="6355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361188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Feedback</a:t>
            </a:r>
          </a:p>
        </p:txBody>
      </p:sp>
      <p:sp>
        <p:nvSpPr>
          <p:cNvPr id="27" name="TextBox 26"/>
          <p:cNvSpPr txBox="1"/>
          <p:nvPr/>
        </p:nvSpPr>
        <p:spPr>
          <a:xfrm>
            <a:off x="3017520" y="3611880"/>
            <a:ext cx="2599944" cy="635508"/>
          </a:xfrm>
          <a:prstGeom prst="rect">
            <a:avLst/>
          </a:prstGeom>
          <a:noFill/>
        </p:spPr>
        <p:txBody>
          <a:bodyPr wrap="square" anchor="ctr">
            <a:spAutoFit/>
          </a:bodyPr>
          <a:lstStyle/>
          <a:p>
            <a:pPr algn="l">
              <a:spcAft>
                <a:spcPts val="400"/>
              </a:spcAft>
            </a:pPr>
            <a:r>
              <a:rPr sz="1050" b="0">
                <a:solidFill>
                  <a:srgbClr val="161B26"/>
                </a:solidFill>
                <a:latin typeface="Arial"/>
              </a:rPr>
              <a:t>Error against the correct answer</a:t>
            </a:r>
          </a:p>
        </p:txBody>
      </p:sp>
      <p:sp>
        <p:nvSpPr>
          <p:cNvPr id="28" name="TextBox 27"/>
          <p:cNvSpPr txBox="1"/>
          <p:nvPr/>
        </p:nvSpPr>
        <p:spPr>
          <a:xfrm>
            <a:off x="5846064" y="3611880"/>
            <a:ext cx="2599944" cy="635508"/>
          </a:xfrm>
          <a:prstGeom prst="rect">
            <a:avLst/>
          </a:prstGeom>
          <a:noFill/>
        </p:spPr>
        <p:txBody>
          <a:bodyPr wrap="square" anchor="ctr">
            <a:spAutoFit/>
          </a:bodyPr>
          <a:lstStyle/>
          <a:p>
            <a:pPr algn="l">
              <a:spcAft>
                <a:spcPts val="400"/>
              </a:spcAft>
            </a:pPr>
            <a:r>
              <a:rPr sz="1050" b="0">
                <a:solidFill>
                  <a:srgbClr val="161B26"/>
                </a:solidFill>
                <a:latin typeface="Arial"/>
              </a:rPr>
              <a:t>None - judged by how useful the groups are</a:t>
            </a:r>
          </a:p>
        </p:txBody>
      </p:sp>
      <p:sp>
        <p:nvSpPr>
          <p:cNvPr id="29" name="TextBox 28"/>
          <p:cNvSpPr txBox="1"/>
          <p:nvPr/>
        </p:nvSpPr>
        <p:spPr>
          <a:xfrm>
            <a:off x="8674608" y="3611880"/>
            <a:ext cx="2645664" cy="635508"/>
          </a:xfrm>
          <a:prstGeom prst="rect">
            <a:avLst/>
          </a:prstGeom>
          <a:noFill/>
        </p:spPr>
        <p:txBody>
          <a:bodyPr wrap="square" anchor="ctr">
            <a:spAutoFit/>
          </a:bodyPr>
          <a:lstStyle/>
          <a:p>
            <a:pPr algn="l">
              <a:spcAft>
                <a:spcPts val="400"/>
              </a:spcAft>
            </a:pPr>
            <a:r>
              <a:rPr sz="1050" b="0">
                <a:solidFill>
                  <a:srgbClr val="161B26"/>
                </a:solidFill>
                <a:latin typeface="Arial"/>
              </a:rPr>
              <a:t>A reward, often delayed (profit, cost)</a:t>
            </a:r>
          </a:p>
        </p:txBody>
      </p:sp>
      <p:sp>
        <p:nvSpPr>
          <p:cNvPr id="30" name="TextBox 29"/>
          <p:cNvSpPr txBox="1"/>
          <p:nvPr/>
        </p:nvSpPr>
        <p:spPr>
          <a:xfrm>
            <a:off x="886968" y="427482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Typical algorithms</a:t>
            </a:r>
          </a:p>
        </p:txBody>
      </p:sp>
      <p:sp>
        <p:nvSpPr>
          <p:cNvPr id="31" name="TextBox 30"/>
          <p:cNvSpPr txBox="1"/>
          <p:nvPr/>
        </p:nvSpPr>
        <p:spPr>
          <a:xfrm>
            <a:off x="3017520" y="4274820"/>
            <a:ext cx="2599944" cy="635508"/>
          </a:xfrm>
          <a:prstGeom prst="rect">
            <a:avLst/>
          </a:prstGeom>
          <a:noFill/>
        </p:spPr>
        <p:txBody>
          <a:bodyPr wrap="square" anchor="ctr">
            <a:spAutoFit/>
          </a:bodyPr>
          <a:lstStyle/>
          <a:p>
            <a:pPr algn="l">
              <a:spcAft>
                <a:spcPts val="400"/>
              </a:spcAft>
            </a:pPr>
            <a:r>
              <a:rPr sz="1050" b="0">
                <a:solidFill>
                  <a:srgbClr val="161B26"/>
                </a:solidFill>
                <a:latin typeface="Arial"/>
              </a:rPr>
              <a:t>Logistic regression, random forest, XGBoost, LSTM</a:t>
            </a:r>
          </a:p>
        </p:txBody>
      </p:sp>
      <p:sp>
        <p:nvSpPr>
          <p:cNvPr id="32" name="TextBox 31"/>
          <p:cNvSpPr txBox="1"/>
          <p:nvPr/>
        </p:nvSpPr>
        <p:spPr>
          <a:xfrm>
            <a:off x="5846064" y="4274820"/>
            <a:ext cx="2599944" cy="635508"/>
          </a:xfrm>
          <a:prstGeom prst="rect">
            <a:avLst/>
          </a:prstGeom>
          <a:noFill/>
        </p:spPr>
        <p:txBody>
          <a:bodyPr wrap="square" anchor="ctr">
            <a:spAutoFit/>
          </a:bodyPr>
          <a:lstStyle/>
          <a:p>
            <a:pPr algn="l">
              <a:spcAft>
                <a:spcPts val="400"/>
              </a:spcAft>
            </a:pPr>
            <a:r>
              <a:rPr sz="1050" b="0">
                <a:solidFill>
                  <a:srgbClr val="161B26"/>
                </a:solidFill>
                <a:latin typeface="Arial"/>
              </a:rPr>
              <a:t>K-means, hierarchical clustering, PCA</a:t>
            </a:r>
          </a:p>
        </p:txBody>
      </p:sp>
      <p:sp>
        <p:nvSpPr>
          <p:cNvPr id="33" name="TextBox 32"/>
          <p:cNvSpPr txBox="1"/>
          <p:nvPr/>
        </p:nvSpPr>
        <p:spPr>
          <a:xfrm>
            <a:off x="8674608" y="4274820"/>
            <a:ext cx="2645664" cy="635508"/>
          </a:xfrm>
          <a:prstGeom prst="rect">
            <a:avLst/>
          </a:prstGeom>
          <a:noFill/>
        </p:spPr>
        <p:txBody>
          <a:bodyPr wrap="square" anchor="ctr">
            <a:spAutoFit/>
          </a:bodyPr>
          <a:lstStyle/>
          <a:p>
            <a:pPr algn="l">
              <a:spcAft>
                <a:spcPts val="400"/>
              </a:spcAft>
            </a:pPr>
            <a:r>
              <a:rPr sz="1050" b="0">
                <a:solidFill>
                  <a:srgbClr val="161B26"/>
                </a:solidFill>
                <a:latin typeface="Arial"/>
              </a:rPr>
              <a:t>Q-learning, policy gradients (PPO)</a:t>
            </a:r>
          </a:p>
        </p:txBody>
      </p:sp>
      <p:sp>
        <p:nvSpPr>
          <p:cNvPr id="34" name="Rectangle 33"/>
          <p:cNvSpPr/>
          <p:nvPr/>
        </p:nvSpPr>
        <p:spPr>
          <a:xfrm>
            <a:off x="777240" y="4937760"/>
            <a:ext cx="10634472" cy="6355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86968" y="493776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Trading example</a:t>
            </a:r>
          </a:p>
        </p:txBody>
      </p:sp>
      <p:sp>
        <p:nvSpPr>
          <p:cNvPr id="36" name="TextBox 35"/>
          <p:cNvSpPr txBox="1"/>
          <p:nvPr/>
        </p:nvSpPr>
        <p:spPr>
          <a:xfrm>
            <a:off x="3017520" y="4937760"/>
            <a:ext cx="2599944" cy="635508"/>
          </a:xfrm>
          <a:prstGeom prst="rect">
            <a:avLst/>
          </a:prstGeom>
          <a:noFill/>
        </p:spPr>
        <p:txBody>
          <a:bodyPr wrap="square" anchor="ctr">
            <a:spAutoFit/>
          </a:bodyPr>
          <a:lstStyle/>
          <a:p>
            <a:pPr algn="l">
              <a:spcAft>
                <a:spcPts val="400"/>
              </a:spcAft>
            </a:pPr>
            <a:r>
              <a:rPr sz="1050" b="0">
                <a:solidFill>
                  <a:srgbClr val="161B26"/>
                </a:solidFill>
                <a:latin typeface="Arial"/>
              </a:rPr>
              <a:t>P(SPY up tomorrow) from RSI and recent returns</a:t>
            </a:r>
          </a:p>
        </p:txBody>
      </p:sp>
      <p:sp>
        <p:nvSpPr>
          <p:cNvPr id="37" name="TextBox 36"/>
          <p:cNvSpPr txBox="1"/>
          <p:nvPr/>
        </p:nvSpPr>
        <p:spPr>
          <a:xfrm>
            <a:off x="5846064" y="4937760"/>
            <a:ext cx="2599944" cy="635508"/>
          </a:xfrm>
          <a:prstGeom prst="rect">
            <a:avLst/>
          </a:prstGeom>
          <a:noFill/>
        </p:spPr>
        <p:txBody>
          <a:bodyPr wrap="square" anchor="ctr">
            <a:spAutoFit/>
          </a:bodyPr>
          <a:lstStyle/>
          <a:p>
            <a:pPr algn="l">
              <a:spcAft>
                <a:spcPts val="400"/>
              </a:spcAft>
            </a:pPr>
            <a:r>
              <a:rPr sz="1050" b="0">
                <a:solidFill>
                  <a:srgbClr val="161B26"/>
                </a:solidFill>
                <a:latin typeface="Arial"/>
              </a:rPr>
              <a:t>Calm / normal / stressed market regimes</a:t>
            </a:r>
          </a:p>
        </p:txBody>
      </p:sp>
      <p:sp>
        <p:nvSpPr>
          <p:cNvPr id="38" name="TextBox 37"/>
          <p:cNvSpPr txBox="1"/>
          <p:nvPr/>
        </p:nvSpPr>
        <p:spPr>
          <a:xfrm>
            <a:off x="8674608" y="4937760"/>
            <a:ext cx="2645664" cy="635508"/>
          </a:xfrm>
          <a:prstGeom prst="rect">
            <a:avLst/>
          </a:prstGeom>
          <a:noFill/>
        </p:spPr>
        <p:txBody>
          <a:bodyPr wrap="square" anchor="ctr">
            <a:spAutoFit/>
          </a:bodyPr>
          <a:lstStyle/>
          <a:p>
            <a:pPr algn="l">
              <a:spcAft>
                <a:spcPts val="400"/>
              </a:spcAft>
            </a:pPr>
            <a:r>
              <a:rPr sz="1050" b="0">
                <a:solidFill>
                  <a:srgbClr val="161B26"/>
                </a:solidFill>
                <a:latin typeface="Arial"/>
              </a:rPr>
              <a:t>An agent slicing a 100,000-share order to cut cost</a:t>
            </a:r>
          </a:p>
        </p:txBody>
      </p:sp>
      <p:sp>
        <p:nvSpPr>
          <p:cNvPr id="39" name="TextBox 38"/>
          <p:cNvSpPr txBox="1"/>
          <p:nvPr/>
        </p:nvSpPr>
        <p:spPr>
          <a:xfrm>
            <a:off x="886968" y="560070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Main risk</a:t>
            </a:r>
          </a:p>
        </p:txBody>
      </p:sp>
      <p:sp>
        <p:nvSpPr>
          <p:cNvPr id="40" name="TextBox 39"/>
          <p:cNvSpPr txBox="1"/>
          <p:nvPr/>
        </p:nvSpPr>
        <p:spPr>
          <a:xfrm>
            <a:off x="3017520" y="5600700"/>
            <a:ext cx="2599944" cy="635508"/>
          </a:xfrm>
          <a:prstGeom prst="rect">
            <a:avLst/>
          </a:prstGeom>
          <a:noFill/>
        </p:spPr>
        <p:txBody>
          <a:bodyPr wrap="square" anchor="ctr">
            <a:spAutoFit/>
          </a:bodyPr>
          <a:lstStyle/>
          <a:p>
            <a:pPr algn="l">
              <a:spcAft>
                <a:spcPts val="400"/>
              </a:spcAft>
            </a:pPr>
            <a:r>
              <a:rPr sz="1050" b="0">
                <a:solidFill>
                  <a:srgbClr val="161B26"/>
                </a:solidFill>
                <a:latin typeface="Arial"/>
              </a:rPr>
              <a:t>Overfitting noise; look-ahead leakage</a:t>
            </a:r>
          </a:p>
        </p:txBody>
      </p:sp>
      <p:sp>
        <p:nvSpPr>
          <p:cNvPr id="41" name="TextBox 40"/>
          <p:cNvSpPr txBox="1"/>
          <p:nvPr/>
        </p:nvSpPr>
        <p:spPr>
          <a:xfrm>
            <a:off x="5846064" y="5600700"/>
            <a:ext cx="2599944" cy="635508"/>
          </a:xfrm>
          <a:prstGeom prst="rect">
            <a:avLst/>
          </a:prstGeom>
          <a:noFill/>
        </p:spPr>
        <p:txBody>
          <a:bodyPr wrap="square" anchor="ctr">
            <a:spAutoFit/>
          </a:bodyPr>
          <a:lstStyle/>
          <a:p>
            <a:pPr algn="l">
              <a:spcAft>
                <a:spcPts val="400"/>
              </a:spcAft>
            </a:pPr>
            <a:r>
              <a:rPr sz="1050" b="0">
                <a:solidFill>
                  <a:srgbClr val="161B26"/>
                </a:solidFill>
                <a:latin typeface="Arial"/>
              </a:rPr>
              <a:t>Meaningless or unstable clusters</a:t>
            </a:r>
          </a:p>
        </p:txBody>
      </p:sp>
      <p:sp>
        <p:nvSpPr>
          <p:cNvPr id="42" name="TextBox 41"/>
          <p:cNvSpPr txBox="1"/>
          <p:nvPr/>
        </p:nvSpPr>
        <p:spPr>
          <a:xfrm>
            <a:off x="8674608" y="5600700"/>
            <a:ext cx="2645664" cy="635508"/>
          </a:xfrm>
          <a:prstGeom prst="rect">
            <a:avLst/>
          </a:prstGeom>
          <a:noFill/>
        </p:spPr>
        <p:txBody>
          <a:bodyPr wrap="square" anchor="ctr">
            <a:spAutoFit/>
          </a:bodyPr>
          <a:lstStyle/>
          <a:p>
            <a:pPr algn="l">
              <a:spcAft>
                <a:spcPts val="400"/>
              </a:spcAft>
            </a:pPr>
            <a:r>
              <a:rPr sz="1050" b="0">
                <a:solidFill>
                  <a:srgbClr val="161B26"/>
                </a:solidFill>
                <a:latin typeface="Arial"/>
              </a:rPr>
              <a:t>Exploiting simulator flaws; unstable training</a:t>
            </a:r>
          </a:p>
        </p:txBody>
      </p:sp>
      <p:sp>
        <p:nvSpPr>
          <p:cNvPr id="43" name="TextBox 4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44" name="TextBox 4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5" name="TextBox 4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Supervised Models for Trading Signals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K4</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Linear / logistic regression</a:t>
            </a:r>
          </a:p>
          <a:p>
            <a:pPr algn="l">
              <a:spcAft>
                <a:spcPts val="300"/>
              </a:spcAft>
            </a:pPr>
            <a:r>
              <a:rPr sz="1150" b="0">
                <a:solidFill>
                  <a:srgbClr val="5B6372"/>
                </a:solidFill>
                <a:latin typeface="Arial"/>
              </a:rPr>
              <a:t>Interpretable baselines; P(up) from a weighted sum.</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Decision tree &amp; random forest</a:t>
            </a:r>
          </a:p>
          <a:p>
            <a:pPr algn="l">
              <a:spcAft>
                <a:spcPts val="300"/>
              </a:spcAft>
            </a:pPr>
            <a:r>
              <a:rPr sz="1150" b="0">
                <a:solidFill>
                  <a:srgbClr val="5B6372"/>
                </a:solidFill>
                <a:latin typeface="Arial"/>
              </a:rPr>
              <a:t>Threshold splits; averaged trees reduce variance.</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XGBoost</a:t>
            </a:r>
          </a:p>
          <a:p>
            <a:pPr algn="l">
              <a:spcAft>
                <a:spcPts val="300"/>
              </a:spcAft>
            </a:pPr>
            <a:r>
              <a:rPr sz="1150" b="0">
                <a:solidFill>
                  <a:srgbClr val="5B6372"/>
                </a:solidFill>
                <a:latin typeface="Arial"/>
              </a:rPr>
              <a:t>Sequential boosted trees — strongest on tabular features.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Neural networks</a:t>
            </a:r>
          </a:p>
          <a:p>
            <a:pPr algn="l">
              <a:spcAft>
                <a:spcPts val="300"/>
              </a:spcAft>
            </a:pPr>
            <a:r>
              <a:rPr sz="1150" b="0">
                <a:solidFill>
                  <a:srgbClr val="5B6372"/>
                </a:solidFill>
                <a:latin typeface="Arial"/>
              </a:rPr>
              <a:t>MLP, LSTM, Transformer — data-hungry, easy to overfit.</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Unsupervised Models for Regimes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K4</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K-means</a:t>
            </a:r>
          </a:p>
          <a:p>
            <a:pPr algn="l">
              <a:spcAft>
                <a:spcPts val="300"/>
              </a:spcAft>
            </a:pPr>
            <a:r>
              <a:rPr sz="1150" b="0">
                <a:solidFill>
                  <a:srgbClr val="5B6372"/>
                </a:solidFill>
                <a:latin typeface="Arial"/>
              </a:rPr>
              <a:t>Minimise within-cluster variance; choose k by elbow or silhouette.</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Hierarchical clustering</a:t>
            </a:r>
          </a:p>
          <a:p>
            <a:pPr algn="l">
              <a:spcAft>
                <a:spcPts val="300"/>
              </a:spcAft>
            </a:pPr>
            <a:r>
              <a:rPr sz="1150" b="0">
                <a:solidFill>
                  <a:srgbClr val="5B6372"/>
                </a:solidFill>
                <a:latin typeface="Arial"/>
              </a:rPr>
              <a:t>Dendrogram of similar assets for diversification.</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PCA</a:t>
            </a:r>
          </a:p>
          <a:p>
            <a:pPr algn="l">
              <a:spcAft>
                <a:spcPts val="300"/>
              </a:spcAft>
            </a:pPr>
            <a:r>
              <a:rPr sz="1150" b="0">
                <a:solidFill>
                  <a:srgbClr val="5B6372"/>
                </a:solidFill>
                <a:latin typeface="Arial"/>
              </a:rPr>
              <a:t>First component ≈ the market; yield curve = level, slope, curvature.</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Fit on the past only</a:t>
            </a:r>
          </a:p>
          <a:p>
            <a:pPr algn="l">
              <a:spcAft>
                <a:spcPts val="300"/>
              </a:spcAft>
            </a:pPr>
            <a:r>
              <a:rPr sz="1150" b="0">
                <a:solidFill>
                  <a:srgbClr val="5B6372"/>
                </a:solidFill>
                <a:latin typeface="Arial"/>
              </a:rPr>
              <a:t>Assign new days to regimes as they arrive.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Statistical Modelling Techniques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K6</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Returns, not prices</a:t>
            </a:r>
          </a:p>
          <a:p>
            <a:pPr algn="l">
              <a:spcAft>
                <a:spcPts val="300"/>
              </a:spcAft>
            </a:pPr>
            <a:r>
              <a:rPr sz="1150" b="0">
                <a:solidFill>
                  <a:srgbClr val="5B6372"/>
                </a:solidFill>
                <a:latin typeface="Arial"/>
              </a:rPr>
              <a:t>Closer to stationary; avoids spurious regression.</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Time-ordered validation</a:t>
            </a:r>
          </a:p>
          <a:p>
            <a:pPr algn="l">
              <a:spcAft>
                <a:spcPts val="300"/>
              </a:spcAft>
            </a:pPr>
            <a:r>
              <a:rPr sz="1150" b="0">
                <a:solidFill>
                  <a:srgbClr val="5B6372"/>
                </a:solidFill>
                <a:latin typeface="Arial"/>
              </a:rPr>
              <a:t>TimeSeriesSplit and walk-forward — never shuffle.</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Leak-free features</a:t>
            </a:r>
          </a:p>
          <a:p>
            <a:pPr algn="l">
              <a:spcAft>
                <a:spcPts val="300"/>
              </a:spcAft>
            </a:pPr>
            <a:r>
              <a:rPr sz="1150" b="0">
                <a:solidFill>
                  <a:srgbClr val="5B6372"/>
                </a:solidFill>
                <a:latin typeface="Arial"/>
              </a:rPr>
              <a:t>Lags and rolling windows known at decision time.</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Regularise</a:t>
            </a:r>
          </a:p>
          <a:p>
            <a:pPr algn="l">
              <a:spcAft>
                <a:spcPts val="300"/>
              </a:spcAft>
            </a:pPr>
            <a:r>
              <a:rPr sz="1150" b="0">
                <a:solidFill>
                  <a:srgbClr val="5B6372"/>
                </a:solidFill>
                <a:latin typeface="Arial"/>
              </a:rPr>
              <a:t>L1/L2, depth limits, early stopping, fewer features.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A5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 Testing Two Strategy Variants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A5</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State H0 and H1 first</a:t>
            </a:r>
          </a:p>
          <a:p>
            <a:pPr algn="l">
              <a:spcAft>
                <a:spcPts val="300"/>
              </a:spcAft>
            </a:pPr>
            <a:r>
              <a:rPr sz="1150" b="0">
                <a:solidFill>
                  <a:srgbClr val="5B6372"/>
                </a:solidFill>
                <a:latin typeface="Arial"/>
              </a:rPr>
              <a:t>H0: equal mean returns; H1: B is higher. α = 5%.</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Welch's t-test</a:t>
            </a:r>
          </a:p>
          <a:p>
            <a:pPr algn="l">
              <a:spcAft>
                <a:spcPts val="300"/>
              </a:spcAft>
            </a:pPr>
            <a:r>
              <a:rPr sz="1150" b="0">
                <a:solidFill>
                  <a:srgbClr val="5B6372"/>
                </a:solidFill>
                <a:latin typeface="Arial"/>
              </a:rPr>
              <a:t>Compare mean daily returns with unequal variances.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Bootstrap the Sharpe difference</a:t>
            </a:r>
          </a:p>
          <a:p>
            <a:pPr algn="l">
              <a:spcAft>
                <a:spcPts val="300"/>
              </a:spcAft>
            </a:pPr>
            <a:r>
              <a:rPr sz="1150" b="0">
                <a:solidFill>
                  <a:srgbClr val="5B6372"/>
                </a:solidFill>
                <a:latin typeface="Arial"/>
              </a:rPr>
              <a:t>Resample returns; 95% CI excluding 0?</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Mind multiple testing</a:t>
            </a:r>
          </a:p>
          <a:p>
            <a:pPr algn="l">
              <a:spcAft>
                <a:spcPts val="300"/>
              </a:spcAft>
            </a:pPr>
            <a:r>
              <a:rPr sz="1150" b="0">
                <a:solidFill>
                  <a:srgbClr val="5B6372"/>
                </a:solidFill>
                <a:latin typeface="Arial"/>
              </a:rPr>
              <a:t>100 variants → ~5 false 'winners' by chance.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Logistic Regression for Direction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K4</a:t>
            </a:r>
          </a:p>
        </p:txBody>
      </p:sp>
      <p:pic>
        <p:nvPicPr>
          <p:cNvPr id="10" name="Picture 9" descr="algo_logistic.png"/>
          <p:cNvPicPr>
            <a:picLocks noChangeAspect="1"/>
          </p:cNvPicPr>
          <p:nvPr/>
        </p:nvPicPr>
        <p:blipFill>
          <a:blip r:embed="rId2"/>
          <a:stretch>
            <a:fillRect/>
          </a:stretch>
        </p:blipFill>
        <p:spPr>
          <a:xfrm>
            <a:off x="777240" y="2529219"/>
            <a:ext cx="6172200" cy="294256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Fits P(up tomorrow) = 1 / (1 + e^-(b0 + b1 x1 + ...)) from features known today.</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Go long when P(up) exceeds a threshold such as 0.55; otherwise stay flat.</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A transparent baseline: each coefficient shows how a feature moves the probability.</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Only linear effects unless you engineer features; daily direction is close to a coin toss.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Decision Tree and Random Forest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K4</a:t>
            </a:r>
          </a:p>
        </p:txBody>
      </p:sp>
      <p:pic>
        <p:nvPicPr>
          <p:cNvPr id="10" name="Picture 9" descr="algo_tree.png"/>
          <p:cNvPicPr>
            <a:picLocks noChangeAspect="1"/>
          </p:cNvPicPr>
          <p:nvPr/>
        </p:nvPicPr>
        <p:blipFill>
          <a:blip r:embed="rId2"/>
          <a:stretch>
            <a:fillRect/>
          </a:stretch>
        </p:blipFill>
        <p:spPr>
          <a:xfrm>
            <a:off x="777240" y="2508173"/>
            <a:ext cx="6172200" cy="298465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A tree splits the data on feature thresholds (e.g. RSI &lt; 30) into leaves with an up/down share.</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A random forest averages hundreds of trees, each grown on a random sample of rows and features.</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Non-linear, interacting signals - e.g. oversold AND low volatility.</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Deep trees memorise noise; limit depth and leaf size and validate walk-forward.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Gradient Boosting (XGBoost)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K4</a:t>
            </a:r>
          </a:p>
        </p:txBody>
      </p:sp>
      <p:pic>
        <p:nvPicPr>
          <p:cNvPr id="10" name="Picture 9" descr="algo_boosting.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Builds trees one after another; each new tree corrects the errors of the ensemble so far.</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Prediction = sum of many small trees x learning rate; stop early when test loss stops falling.</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Tabular features such as returns, indicators and volatility - usually the strongest model.</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Training loss keeps falling while test loss rises: classic overfitting (see the chart).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K-Means Clustering for Market Regimes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K4</a:t>
            </a:r>
          </a:p>
        </p:txBody>
      </p:sp>
      <p:pic>
        <p:nvPicPr>
          <p:cNvPr id="10" name="Picture 9" descr="algo_kmeans.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Groups days into k clusters by minimising the distance of each day to its cluster centre.</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Features: rolling return and volatility (standardised). Name clusters by their averages.</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Switching or sizing strategies by regime: trend in calm markets, cut risk when stressed.</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Fit on past data only; choose k with the elbow or silhouette method; regimes shift.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Principal Component Analysis (PCA)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K4</a:t>
            </a:r>
          </a:p>
        </p:txBody>
      </p:sp>
      <p:pic>
        <p:nvPicPr>
          <p:cNvPr id="10" name="Picture 9" descr="algo_pca.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Finds uncorrelated combinations of assets that explain the most variance of returns.</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PC1 of a stock universe is 'the market'; later PCs are sector or style factors.</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Reducing many correlated features; building factor-neutral and pairs portfolios.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Standardise first; components change over time; PCs are statistical, not economic, factors.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Method: Walk-Forward Validation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K6</a:t>
            </a:r>
          </a:p>
        </p:txBody>
      </p:sp>
      <p:pic>
        <p:nvPicPr>
          <p:cNvPr id="10" name="Picture 9" descr="algo_walk_forward.png"/>
          <p:cNvPicPr>
            <a:picLocks noChangeAspect="1"/>
          </p:cNvPicPr>
          <p:nvPr/>
        </p:nvPicPr>
        <p:blipFill>
          <a:blip r:embed="rId2"/>
          <a:stretch>
            <a:fillRect/>
          </a:stretch>
        </p:blipFill>
        <p:spPr>
          <a:xfrm>
            <a:off x="777240" y="2633240"/>
            <a:ext cx="6172200" cy="2734518"/>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Train on a past window, test on the next unseen block, then roll forward and repeat.</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Never shuffle time series; each test block is genuinely out of sample.</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Estimating how a model or parameter set would really have performed live.</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Overlapping targets leak information - leave a gap between train and test.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A5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Method: A/B Testing Two Strategy Variants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A5</a:t>
            </a:r>
          </a:p>
        </p:txBody>
      </p:sp>
      <p:pic>
        <p:nvPicPr>
          <p:cNvPr id="10" name="Picture 9" descr="algo_ab_test.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Compare variant A and B on the same days: H0 'no difference' vs H1 'B is better'.</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Welch / paired t-test on daily returns; bootstrap a 95% CI of the Sharpe difference.</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Deciding which parameter set or filter to promote to paper trading.</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If the CI contains 0, do not reject H0; testing 100 variants gives ~5 false winners.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158</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A4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From Probability to Position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A4</a:t>
            </a:r>
          </a:p>
        </p:txBody>
      </p:sp>
      <p:sp>
        <p:nvSpPr>
          <p:cNvPr id="10" name="Rectangle 9"/>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374343"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Build leak-free features</a:t>
            </a:r>
          </a:p>
        </p:txBody>
      </p:sp>
      <p:sp>
        <p:nvSpPr>
          <p:cNvPr id="15" name="TextBox 14"/>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16" name="Rectangle 15"/>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58998"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556101"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Train on past window</a:t>
            </a:r>
          </a:p>
        </p:txBody>
      </p:sp>
      <p:sp>
        <p:nvSpPr>
          <p:cNvPr id="21" name="TextBox 20"/>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22" name="Rectangle 21"/>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40756"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737859"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Predict P(up) for tomorrow</a:t>
            </a:r>
          </a:p>
        </p:txBody>
      </p:sp>
      <p:sp>
        <p:nvSpPr>
          <p:cNvPr id="27" name="TextBox 26"/>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28" name="Rectangle 27"/>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22514"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919617"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Long if P(up) &gt; 0.55, else flat</a:t>
            </a:r>
          </a:p>
        </p:txBody>
      </p:sp>
      <p:sp>
        <p:nvSpPr>
          <p:cNvPr id="33" name="TextBox 32"/>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34" name="Rectangle 33"/>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01375"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8" name="TextBox 37"/>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Backtest net of costs</a:t>
            </a:r>
          </a:p>
        </p:txBody>
      </p:sp>
      <p:sp>
        <p:nvSpPr>
          <p:cNvPr id="39" name="Rectangle 38"/>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77240" y="5257800"/>
            <a:ext cx="91440" cy="8229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Judge the model by the net-of-cost strategy, not by accuracy alone.</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159</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K6 · PAIRS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Pairs Trading: a Hedging Algorithm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K6</a:t>
            </a:r>
          </a:p>
        </p:txBody>
      </p:sp>
      <p:sp>
        <p:nvSpPr>
          <p:cNvPr id="10" name="Rectangle 9"/>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Why it is a hedge</a:t>
            </a:r>
          </a:p>
          <a:p>
            <a:pPr algn="l">
              <a:spcAft>
                <a:spcPts val="300"/>
              </a:spcAft>
            </a:pPr>
            <a:r>
              <a:rPr sz="1000" b="0">
                <a:solidFill>
                  <a:srgbClr val="5B6372"/>
                </a:solidFill>
                <a:latin typeface="Arial"/>
              </a:rPr>
              <a:t>Long the cheap stock, short the rich one in hedge-ratio proportion: market moves largely cancel</a:t>
            </a:r>
          </a:p>
        </p:txBody>
      </p:sp>
      <p:sp>
        <p:nvSpPr>
          <p:cNvPr id="15" name="Rectangle 14"/>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Choose the pair</a:t>
            </a:r>
          </a:p>
          <a:p>
            <a:pPr algn="l">
              <a:spcAft>
                <a:spcPts val="300"/>
              </a:spcAft>
            </a:pPr>
            <a:r>
              <a:rPr sz="1000" b="0">
                <a:solidFill>
                  <a:srgbClr val="5B6372"/>
                </a:solidFill>
                <a:latin typeface="Arial"/>
              </a:rPr>
              <a:t>Economically linked stocks (e.g. KO and PEP) that are cointegrated, not merely correlated</a:t>
            </a:r>
          </a:p>
        </p:txBody>
      </p:sp>
      <p:sp>
        <p:nvSpPr>
          <p:cNvPr id="20" name="Rectangle 19"/>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Hedge ratio and spread</a:t>
            </a:r>
          </a:p>
          <a:p>
            <a:pPr algn="l">
              <a:spcAft>
                <a:spcPts val="300"/>
              </a:spcAft>
            </a:pPr>
            <a:r>
              <a:rPr sz="1000" b="0">
                <a:solidFill>
                  <a:srgbClr val="5B6372"/>
                </a:solidFill>
                <a:latin typeface="Arial"/>
              </a:rPr>
              <a:t>Regress log price A on log price B: slope = hedge ratio, residual = the spread (Engle-Granger)</a:t>
            </a:r>
          </a:p>
        </p:txBody>
      </p:sp>
      <p:sp>
        <p:nvSpPr>
          <p:cNvPr id="25" name="Rectangle 24"/>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Test the spread</a:t>
            </a:r>
          </a:p>
          <a:p>
            <a:pPr algn="l">
              <a:spcAft>
                <a:spcPts val="300"/>
              </a:spcAft>
            </a:pPr>
            <a:r>
              <a:rPr sz="1000" b="0">
                <a:solidFill>
                  <a:srgbClr val="5B6372"/>
                </a:solidFill>
                <a:latin typeface="Arial"/>
              </a:rPr>
              <a:t>ADF test on the residual: a stationary spread tends to revert to its mean</a:t>
            </a:r>
          </a:p>
        </p:txBody>
      </p:sp>
      <p:sp>
        <p:nvSpPr>
          <p:cNvPr id="30" name="Rectangle 29"/>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Trade the z-score</a:t>
            </a:r>
          </a:p>
          <a:p>
            <a:pPr algn="l">
              <a:spcAft>
                <a:spcPts val="300"/>
              </a:spcAft>
            </a:pPr>
            <a:r>
              <a:rPr sz="1000" b="0">
                <a:solidFill>
                  <a:srgbClr val="5B6372"/>
                </a:solidFill>
                <a:latin typeface="Arial"/>
              </a:rPr>
              <a:t>Enter when |z| &gt; 2, exit as z returns towards 0; trade both legs on the next bar</a:t>
            </a:r>
          </a:p>
        </p:txBody>
      </p:sp>
      <p:sp>
        <p:nvSpPr>
          <p:cNvPr id="35" name="Rectangle 34"/>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9" name="TextBox 38"/>
          <p:cNvSpPr txBox="1"/>
          <p:nvPr/>
        </p:nvSpPr>
        <p:spPr>
          <a:xfrm>
            <a:off x="7219188"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Risks</a:t>
            </a:r>
          </a:p>
          <a:p>
            <a:pPr algn="l">
              <a:spcAft>
                <a:spcPts val="300"/>
              </a:spcAft>
            </a:pPr>
            <a:r>
              <a:rPr sz="1000" b="0">
                <a:solidFill>
                  <a:srgbClr val="5B6372"/>
                </a:solidFill>
                <a:latin typeface="Arial"/>
              </a:rPr>
              <a:t>Cointegration breaks, hedge ratio drifts, double costs, short-borrow, multiple testing</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160</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A4 · PAIRS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Pairs-Trading Algorithm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A4</a:t>
            </a:r>
          </a:p>
        </p:txBody>
      </p:sp>
      <p:sp>
        <p:nvSpPr>
          <p:cNvPr id="10" name="Rectangle 9"/>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154381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92530"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9253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Select an economically linked pair</a:t>
            </a:r>
          </a:p>
        </p:txBody>
      </p:sp>
      <p:sp>
        <p:nvSpPr>
          <p:cNvPr id="15" name="TextBox 14"/>
          <p:cNvSpPr txBox="1"/>
          <p:nvPr/>
        </p:nvSpPr>
        <p:spPr>
          <a:xfrm>
            <a:off x="2302764"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16" name="Rectangle 15"/>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595372" y="2240280"/>
            <a:ext cx="154381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010662"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106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2723388"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Estimate the hedge ratio (OLS)</a:t>
            </a:r>
          </a:p>
        </p:txBody>
      </p:sp>
      <p:sp>
        <p:nvSpPr>
          <p:cNvPr id="21" name="TextBox 20"/>
          <p:cNvSpPr txBox="1"/>
          <p:nvPr/>
        </p:nvSpPr>
        <p:spPr>
          <a:xfrm>
            <a:off x="4120896"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22" name="Rectangle 21"/>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13504" y="2240280"/>
            <a:ext cx="154381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828794"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28794"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4541520"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Test cointegration (ADF on residual)</a:t>
            </a:r>
          </a:p>
        </p:txBody>
      </p:sp>
      <p:sp>
        <p:nvSpPr>
          <p:cNvPr id="27" name="TextBox 26"/>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28" name="Rectangle 27"/>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1636" y="2240280"/>
            <a:ext cx="154381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646926"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4692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6359652"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Compute the spread z-score</a:t>
            </a:r>
          </a:p>
        </p:txBody>
      </p:sp>
      <p:sp>
        <p:nvSpPr>
          <p:cNvPr id="33" name="TextBox 32"/>
          <p:cNvSpPr txBox="1"/>
          <p:nvPr/>
        </p:nvSpPr>
        <p:spPr>
          <a:xfrm>
            <a:off x="7757160"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34" name="Rectangle 33"/>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49768" y="2240280"/>
            <a:ext cx="154381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465058"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650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8" name="TextBox 37"/>
          <p:cNvSpPr txBox="1"/>
          <p:nvPr/>
        </p:nvSpPr>
        <p:spPr>
          <a:xfrm>
            <a:off x="8177784"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Enter / exit both legs</a:t>
            </a:r>
          </a:p>
        </p:txBody>
      </p:sp>
      <p:sp>
        <p:nvSpPr>
          <p:cNvPr id="39" name="TextBox 38"/>
          <p:cNvSpPr txBox="1"/>
          <p:nvPr/>
        </p:nvSpPr>
        <p:spPr>
          <a:xfrm>
            <a:off x="9575292"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40" name="Rectangle 39"/>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867900" y="2240280"/>
            <a:ext cx="154381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0283190"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28319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4" name="TextBox 43"/>
          <p:cNvSpPr txBox="1"/>
          <p:nvPr/>
        </p:nvSpPr>
        <p:spPr>
          <a:xfrm>
            <a:off x="999591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Monitor and re-test</a:t>
            </a:r>
          </a:p>
        </p:txBody>
      </p:sp>
      <p:sp>
        <p:nvSpPr>
          <p:cNvPr id="45" name="Rectangle 44"/>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77240" y="5257800"/>
            <a:ext cx="91440" cy="8229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Gatev, Goetzmann and Rouwenhorst (2006): a simple pairs rule on US stocks earned average annualised excess returns of up to 11% (1962-2002); later studies find smaller and less consistent profits.</a:t>
            </a:r>
          </a:p>
        </p:txBody>
      </p:sp>
      <p:sp>
        <p:nvSpPr>
          <p:cNvPr id="48" name="TextBox 4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49" name="TextBox 4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0" name="TextBox 4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161</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Algorithm: Pairs Trading (Hedged Statistical Arbitrage)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K6</a:t>
            </a:r>
          </a:p>
        </p:txBody>
      </p:sp>
      <p:pic>
        <p:nvPicPr>
          <p:cNvPr id="10" name="Picture 9" descr="algo_pairs.png"/>
          <p:cNvPicPr>
            <a:picLocks noChangeAspect="1"/>
          </p:cNvPicPr>
          <p:nvPr/>
        </p:nvPicPr>
        <p:blipFill>
          <a:blip r:embed="rId2"/>
          <a:stretch>
            <a:fillRect/>
          </a:stretch>
        </p:blipFill>
        <p:spPr>
          <a:xfrm>
            <a:off x="777240" y="2083742"/>
            <a:ext cx="6172200" cy="3833514"/>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Long one stock, short a cointegrated partner in hedge-ratio proportion: market moves cancel.</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Spread z &gt; +2: short A / long B. z &lt; -2: long A / short B. Exit as z returns to 0.</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Economically linked stocks (KO/PEP) whose spread has a stable mean.</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Cointegration can break; costs on both legs; short-borrow; screening many pairs.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162</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Strategy-Search Stage: Grid Search, Out-of-Sample Ranking and Decay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A2  A4  K2</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10</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Build `python -m pipeline search` to grid-search three signal families, rank parameter sets in sample, measure out-of-sample decay, prefer a robust parameter region, and decide whether anything deserves promotion into config.yaml.</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Define the search space</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grid search</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Add ranking, robustness and the decay report</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Run the search</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Read the overfitting evidence</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+2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strategy-search stage: grid search, out-of-sample ranking and the decay report.</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163</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10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10_grid_heatmap.png"/>
          <p:cNvPicPr>
            <a:picLocks noChangeAspect="1"/>
          </p:cNvPicPr>
          <p:nvPr/>
        </p:nvPicPr>
        <p:blipFill>
          <a:blip r:embed="rId2"/>
          <a:stretch>
            <a:fillRect/>
          </a:stretch>
        </p:blipFill>
        <p:spPr>
          <a:xfrm>
            <a:off x="1212295" y="1828800"/>
            <a:ext cx="9767103" cy="3794760"/>
          </a:xfrm>
          <a:prstGeom prst="rect">
            <a:avLst/>
          </a:prstGeom>
        </p:spPr>
      </p:pic>
      <p:sp>
        <p:nvSpPr>
          <p:cNvPr id="8" name="Rectangle 7"/>
          <p:cNvSpPr/>
          <p:nvPr/>
        </p:nvSpPr>
        <p:spPr>
          <a:xfrm>
            <a:off x="1201322" y="1817827"/>
            <a:ext cx="9789049" cy="381670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6986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6986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6986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Lab10-strategy-grid-search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164</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10 — Walk-Forward: Re-Tune, Then Test Unseen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im_lab10_walkforward.png"/>
          <p:cNvPicPr>
            <a:picLocks noChangeAspect="1"/>
          </p:cNvPicPr>
          <p:nvPr/>
        </p:nvPicPr>
        <p:blipFill>
          <a:blip r:embed="rId2"/>
          <a:stretch>
            <a:fillRect/>
          </a:stretch>
        </p:blipFill>
        <p:spPr>
          <a:xfrm>
            <a:off x="1538854" y="1645920"/>
            <a:ext cx="9113985" cy="4114800"/>
          </a:xfrm>
          <a:prstGeom prst="rect">
            <a:avLst/>
          </a:prstGeom>
        </p:spPr>
      </p:pic>
      <p:sp>
        <p:nvSpPr>
          <p:cNvPr id="8" name="Rectangle 7"/>
          <p:cNvSpPr/>
          <p:nvPr/>
        </p:nvSpPr>
        <p:spPr>
          <a:xfrm>
            <a:off x="1527881" y="1634947"/>
            <a:ext cx="9135931"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Research &gt; Walk-forward: SMA crossover on SPY, 3-year train, 1-year test. Stitched out of sample: CAGR 8.40% (buy-and-hold 14.40%), Sharpe 0.72 (0.87), max drawdown -20.26% (-24.50%).</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165</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ML-Signal Stage: a Walk-Forward Classifier from Probability to Position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A4  K4  K6</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11</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Build pipeline/ml.py: engineer causal features, train logistic regression, random forest and XGBoost with walk-forward TimeSeriesSplit validation, turn P(up) into a target position and backtest it after costs.</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causal features and the label</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Add walk-forward validation</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Turn probability into a position and backtest it</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Run the ML stage</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Read the strategy result</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+3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walk-forward ML signal stage from predicted probability to position, with a leakage check.</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166</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11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11_ml_strategy.png"/>
          <p:cNvPicPr>
            <a:picLocks noChangeAspect="1"/>
          </p:cNvPicPr>
          <p:nvPr/>
        </p:nvPicPr>
        <p:blipFill>
          <a:blip r:embed="rId2"/>
          <a:stretch>
            <a:fillRect/>
          </a:stretch>
        </p:blipFill>
        <p:spPr>
          <a:xfrm>
            <a:off x="984220" y="1828800"/>
            <a:ext cx="10223254" cy="3794760"/>
          </a:xfrm>
          <a:prstGeom prst="rect">
            <a:avLst/>
          </a:prstGeom>
        </p:spPr>
      </p:pic>
      <p:sp>
        <p:nvSpPr>
          <p:cNvPr id="8" name="Rectangle 7"/>
          <p:cNvSpPr/>
          <p:nvPr/>
        </p:nvSpPr>
        <p:spPr>
          <a:xfrm>
            <a:off x="973247" y="1817827"/>
            <a:ext cx="10245200" cy="381670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6986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6986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6986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Lab11-ml-signal-classifier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167</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Regime-Filter Stage: PCA and K-Means as a Gate on the Signals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A4  K4  K6</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12</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Build pipeline/regime.py: PCA on the universe's returns, K-means regimes on backward-looking SPY features, walk-forward regime labels, and a gate that forces signals flat in the stress regime, evaluated after costs.</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PCA and the regime features</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Add walk-forward labels and the gate</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Run the regime stage and read the PCA</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Read the regime profiles</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Check the walk-forward labels</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+2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PCA / K-means regime gate applied to the signals, with before-and-after performance.</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15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168</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12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12_regimes.png"/>
          <p:cNvPicPr>
            <a:picLocks noChangeAspect="1"/>
          </p:cNvPicPr>
          <p:nvPr/>
        </p:nvPicPr>
        <p:blipFill>
          <a:blip r:embed="rId2"/>
          <a:stretch>
            <a:fillRect/>
          </a:stretch>
        </p:blipFill>
        <p:spPr>
          <a:xfrm>
            <a:off x="778611" y="1828800"/>
            <a:ext cx="10634472" cy="3011589"/>
          </a:xfrm>
          <a:prstGeom prst="rect">
            <a:avLst/>
          </a:prstGeom>
        </p:spPr>
      </p:pic>
      <p:sp>
        <p:nvSpPr>
          <p:cNvPr id="8" name="Rectangle 7"/>
          <p:cNvSpPr/>
          <p:nvPr/>
        </p:nvSpPr>
        <p:spPr>
          <a:xfrm>
            <a:off x="767638" y="1817827"/>
            <a:ext cx="10656417" cy="3033534"/>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4986693"/>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86693"/>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86693"/>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Lab12-market-regimes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169</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A/B-Test Stage: a Statistical Decision before Capital Moves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0B981"/>
                </a:solidFill>
                <a:latin typeface="Arial"/>
              </a:rPr>
              <a:t>A5  K2</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13</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Build `python -m pipeline abtest` to compare any two library signals with a Welch t-test, a paired t-test and a block-bootstrap confidence interval for the Sharpe difference, and to record an accept or reject decision with a multiple-testing caution.</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State the hypotheses</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statistics</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A/B command</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Run the A/B test</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Compare the independent and paired tests</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+2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An A/B-test stage that issues a statistical decision before capital moves.</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15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170</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13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13_ab_test.png"/>
          <p:cNvPicPr>
            <a:picLocks noChangeAspect="1"/>
          </p:cNvPicPr>
          <p:nvPr/>
        </p:nvPicPr>
        <p:blipFill>
          <a:blip r:embed="rId2"/>
          <a:stretch>
            <a:fillRect/>
          </a:stretch>
        </p:blipFill>
        <p:spPr>
          <a:xfrm>
            <a:off x="778611" y="1828800"/>
            <a:ext cx="10634472" cy="3679916"/>
          </a:xfrm>
          <a:prstGeom prst="rect">
            <a:avLst/>
          </a:prstGeom>
        </p:spPr>
      </p:pic>
      <p:sp>
        <p:nvSpPr>
          <p:cNvPr id="8" name="Rectangle 7"/>
          <p:cNvSpPr/>
          <p:nvPr/>
        </p:nvSpPr>
        <p:spPr>
          <a:xfrm>
            <a:off x="767638" y="1817827"/>
            <a:ext cx="10656417" cy="3701861"/>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655020"/>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655020"/>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655020"/>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Lab13-ab-testing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171</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Pairs Stage: a Hedged, Market-Neutral Statistical-Arbitrage Sleeve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0B981"/>
                </a:solidFill>
                <a:latin typeface="Arial"/>
              </a:rPr>
              <a:t>A4  K6</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14</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Build pipeline/pairs.py: screen pairs with the Engle-Granger cointegration test, estimate the hedge ratio, trade the spread z-score out of sample with next-bar execution and costs on both legs, confirm market neutrality and output leg targets.</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Read the method</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cointegration tools</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spread trading rules and leg targets</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Run the pair screen</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Interpret the hedge ratio</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+3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hedged pairs sleeve: cointegration screen, hedge ratio and a market-neutral spread strategy.</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172</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14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14_pairs_trading.png"/>
          <p:cNvPicPr>
            <a:picLocks noChangeAspect="1"/>
          </p:cNvPicPr>
          <p:nvPr/>
        </p:nvPicPr>
        <p:blipFill>
          <a:blip r:embed="rId2"/>
          <a:stretch>
            <a:fillRect/>
          </a:stretch>
        </p:blipFill>
        <p:spPr>
          <a:xfrm>
            <a:off x="3860746" y="1828800"/>
            <a:ext cx="4470202" cy="3794760"/>
          </a:xfrm>
          <a:prstGeom prst="rect">
            <a:avLst/>
          </a:prstGeom>
        </p:spPr>
      </p:pic>
      <p:sp>
        <p:nvSpPr>
          <p:cNvPr id="8" name="Rectangle 7"/>
          <p:cNvSpPr/>
          <p:nvPr/>
        </p:nvSpPr>
        <p:spPr>
          <a:xfrm>
            <a:off x="3849773" y="1817827"/>
            <a:ext cx="4492148" cy="381670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6986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6986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6986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Lab14-pairs-trading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173</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WHAT YOU COVERED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Topic 3 Recap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07424" y="475488"/>
            <a:ext cx="2304288"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107424"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07424" y="475488"/>
            <a:ext cx="2304288" cy="310896"/>
          </a:xfrm>
          <a:prstGeom prst="rect">
            <a:avLst/>
          </a:prstGeom>
          <a:noFill/>
        </p:spPr>
        <p:txBody>
          <a:bodyPr wrap="square" anchor="ctr">
            <a:spAutoFit/>
          </a:bodyPr>
          <a:lstStyle/>
          <a:p>
            <a:pPr algn="ctr">
              <a:spcAft>
                <a:spcPts val="400"/>
              </a:spcAft>
            </a:pPr>
            <a:r>
              <a:rPr sz="1100" b="1">
                <a:solidFill>
                  <a:srgbClr val="7C3AED"/>
                </a:solidFill>
                <a:latin typeface="Arial"/>
              </a:rPr>
              <a:t>A4  A5  K2  K4  K6</a:t>
            </a:r>
          </a:p>
        </p:txBody>
      </p:sp>
      <p:sp>
        <p:nvSpPr>
          <p:cNvPr id="10" name="Rectangle 9"/>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A4</a:t>
            </a:r>
          </a:p>
          <a:p>
            <a:pPr algn="l">
              <a:spcAft>
                <a:spcPts val="300"/>
              </a:spcAft>
            </a:pPr>
            <a:r>
              <a:rPr sz="1000" b="0">
                <a:solidFill>
                  <a:srgbClr val="5B6372"/>
                </a:solidFill>
                <a:latin typeface="Arial"/>
              </a:rPr>
              <a:t>Conduct statistical modelling of data to derive patterns and solutions</a:t>
            </a:r>
          </a:p>
        </p:txBody>
      </p:sp>
      <p:sp>
        <p:nvSpPr>
          <p:cNvPr id="15" name="Rectangle 14"/>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283281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A5</a:t>
            </a:r>
          </a:p>
          <a:p>
            <a:pPr algn="l">
              <a:spcAft>
                <a:spcPts val="300"/>
              </a:spcAft>
            </a:pPr>
            <a:r>
              <a:rPr sz="1000" b="0">
                <a:solidFill>
                  <a:srgbClr val="5B6372"/>
                </a:solidFill>
                <a:latin typeface="Arial"/>
              </a:rPr>
              <a:t>Perform A/B testing based on different hypotheses</a:t>
            </a:r>
          </a:p>
        </p:txBody>
      </p:sp>
      <p:sp>
        <p:nvSpPr>
          <p:cNvPr id="20" name="Rectangle 19"/>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75452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K2</a:t>
            </a:r>
          </a:p>
          <a:p>
            <a:pPr algn="l">
              <a:spcAft>
                <a:spcPts val="300"/>
              </a:spcAft>
            </a:pPr>
            <a:r>
              <a:rPr sz="1000" b="0">
                <a:solidFill>
                  <a:srgbClr val="5B6372"/>
                </a:solidFill>
                <a:latin typeface="Arial"/>
              </a:rPr>
              <a:t>Types of statistical analyses, data models, algorithms and advanced computational methods</a:t>
            </a:r>
          </a:p>
        </p:txBody>
      </p:sp>
      <p:sp>
        <p:nvSpPr>
          <p:cNvPr id="25" name="Rectangle 24"/>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467624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K4</a:t>
            </a:r>
          </a:p>
          <a:p>
            <a:pPr algn="l">
              <a:spcAft>
                <a:spcPts val="300"/>
              </a:spcAft>
            </a:pPr>
            <a:r>
              <a:rPr sz="1000" b="0">
                <a:solidFill>
                  <a:srgbClr val="5B6372"/>
                </a:solidFill>
                <a:latin typeface="Arial"/>
              </a:rPr>
              <a:t>Range and application of various types of data models</a:t>
            </a:r>
          </a:p>
        </p:txBody>
      </p:sp>
      <p:sp>
        <p:nvSpPr>
          <p:cNvPr id="30" name="Rectangle 29"/>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559795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K6</a:t>
            </a:r>
          </a:p>
          <a:p>
            <a:pPr algn="l">
              <a:spcAft>
                <a:spcPts val="300"/>
              </a:spcAft>
            </a:pPr>
            <a:r>
              <a:rPr sz="1000" b="0">
                <a:solidFill>
                  <a:srgbClr val="5B6372"/>
                </a:solidFill>
                <a:latin typeface="Arial"/>
              </a:rPr>
              <a:t>Statistical modelling techniques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174</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874519"/>
            <a:ext cx="8778240" cy="457200"/>
          </a:xfrm>
          <a:prstGeom prst="rect">
            <a:avLst/>
          </a:prstGeom>
          <a:noFill/>
        </p:spPr>
        <p:txBody>
          <a:bodyPr wrap="square" anchor="t">
            <a:spAutoFit/>
          </a:bodyPr>
          <a:lstStyle/>
          <a:p>
            <a:pPr algn="l">
              <a:spcAft>
                <a:spcPts val="400"/>
              </a:spcAft>
            </a:pPr>
            <a:r>
              <a:rPr sz="1600" b="1">
                <a:solidFill>
                  <a:srgbClr val="F59E0B"/>
                </a:solidFill>
                <a:latin typeface="Arial"/>
              </a:rPr>
              <a:t>TOPIC 4</a:t>
            </a:r>
          </a:p>
        </p:txBody>
      </p:sp>
      <p:sp>
        <p:nvSpPr>
          <p:cNvPr id="5" name="TextBox 4"/>
          <p:cNvSpPr txBox="1"/>
          <p:nvPr/>
        </p:nvSpPr>
        <p:spPr>
          <a:xfrm>
            <a:off x="1188720" y="2331720"/>
            <a:ext cx="9509760" cy="914400"/>
          </a:xfrm>
          <a:prstGeom prst="rect">
            <a:avLst/>
          </a:prstGeom>
          <a:noFill/>
        </p:spPr>
        <p:txBody>
          <a:bodyPr wrap="square" anchor="t">
            <a:spAutoFit/>
          </a:bodyPr>
          <a:lstStyle/>
          <a:p>
            <a:pPr algn="l">
              <a:spcAft>
                <a:spcPts val="400"/>
              </a:spcAft>
            </a:pPr>
            <a:r>
              <a:rPr sz="4000" b="1">
                <a:solidFill>
                  <a:srgbClr val="161B26"/>
                </a:solidFill>
                <a:latin typeface="Arial"/>
              </a:rPr>
              <a:t>End-to-End Trading Pipeline</a:t>
            </a:r>
          </a:p>
        </p:txBody>
      </p:sp>
      <p:sp>
        <p:nvSpPr>
          <p:cNvPr id="6" name="Rectangle 5"/>
          <p:cNvSpPr/>
          <p:nvPr/>
        </p:nvSpPr>
        <p:spPr>
          <a:xfrm>
            <a:off x="1188720" y="3429000"/>
            <a:ext cx="9509760"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88720" y="3429000"/>
            <a:ext cx="82296" cy="1234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81328" y="3429000"/>
            <a:ext cx="9052560" cy="1234440"/>
          </a:xfrm>
          <a:prstGeom prst="rect">
            <a:avLst/>
          </a:prstGeom>
          <a:noFill/>
        </p:spPr>
        <p:txBody>
          <a:bodyPr wrap="square" anchor="ctr">
            <a:spAutoFit/>
          </a:bodyPr>
          <a:lstStyle/>
          <a:p>
            <a:pPr algn="l">
              <a:spcAft>
                <a:spcPts val="400"/>
              </a:spcAft>
            </a:pPr>
            <a:r>
              <a:rPr sz="1050" b="1">
                <a:solidFill>
                  <a:srgbClr val="F59E0B"/>
                </a:solidFill>
                <a:latin typeface="Arial"/>
              </a:rPr>
              <a:t>LEARNING OUTCOME</a:t>
            </a:r>
          </a:p>
          <a:p>
            <a:pPr algn="l">
              <a:spcAft>
                <a:spcPts val="400"/>
              </a:spcAft>
            </a:pPr>
            <a:r>
              <a:rPr sz="1350" b="0">
                <a:solidFill>
                  <a:srgbClr val="161B26"/>
                </a:solidFill>
                <a:latin typeface="Arial"/>
              </a:rPr>
              <a:t>Perform coding and configuration of an automated trading program based on selected models or algorithms, conduct tests on its actions and outcomes, diagnose unintended outcomes, and draw insights from the results to support decisions and report accordingly.</a:t>
            </a:r>
          </a:p>
        </p:txBody>
      </p:sp>
      <p:sp>
        <p:nvSpPr>
          <p:cNvPr id="9" name="TextBox 8"/>
          <p:cNvSpPr txBox="1"/>
          <p:nvPr/>
        </p:nvSpPr>
        <p:spPr>
          <a:xfrm>
            <a:off x="1188720" y="4892040"/>
            <a:ext cx="9509760" cy="457200"/>
          </a:xfrm>
          <a:prstGeom prst="rect">
            <a:avLst/>
          </a:prstGeom>
          <a:noFill/>
        </p:spPr>
        <p:txBody>
          <a:bodyPr wrap="square" anchor="t">
            <a:spAutoFit/>
          </a:bodyPr>
          <a:lstStyle/>
          <a:p>
            <a:pPr algn="l">
              <a:spcAft>
                <a:spcPts val="400"/>
              </a:spcAft>
            </a:pPr>
            <a:r>
              <a:rPr sz="1150" b="0">
                <a:solidFill>
                  <a:srgbClr val="5B6372"/>
                </a:solidFill>
                <a:latin typeface="Arial"/>
              </a:rPr>
              <a:t>Abilities A7, A8, A9, A10  ·  Knowledge K7, K8   ·   Day 2   ·   Labs 15–20   ·   Assessed by PP Task 4 and WA Q7, Q8</a:t>
            </a:r>
          </a:p>
        </p:txBody>
      </p:sp>
      <p:sp>
        <p:nvSpPr>
          <p:cNvPr id="10" name="TextBox 9"/>
          <p:cNvSpPr txBox="1"/>
          <p:nvPr/>
        </p:nvSpPr>
        <p:spPr>
          <a:xfrm>
            <a:off x="9692640" y="914400"/>
            <a:ext cx="2011680" cy="2011680"/>
          </a:xfrm>
          <a:prstGeom prst="rect">
            <a:avLst/>
          </a:prstGeom>
          <a:noFill/>
        </p:spPr>
        <p:txBody>
          <a:bodyPr wrap="square" anchor="t">
            <a:spAutoFit/>
          </a:bodyPr>
          <a:lstStyle/>
          <a:p>
            <a:pPr algn="r">
              <a:spcAft>
                <a:spcPts val="400"/>
              </a:spcAft>
            </a:pPr>
            <a:r>
              <a:rPr sz="9600" b="1">
                <a:solidFill>
                  <a:srgbClr val="F5F8FC"/>
                </a:solidFill>
                <a:latin typeface="Arial"/>
              </a:rPr>
              <a:t>04</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175</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A7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Pre-Trade Risk Controls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F59E0B"/>
                </a:solidFill>
                <a:latin typeface="Arial"/>
              </a:rPr>
              <a:t>A7</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Position and order limits</a:t>
            </a:r>
          </a:p>
          <a:p>
            <a:pPr algn="l">
              <a:spcAft>
                <a:spcPts val="300"/>
              </a:spcAft>
            </a:pPr>
            <a:r>
              <a:rPr sz="1150" b="0">
                <a:solidFill>
                  <a:srgbClr val="5B6372"/>
                </a:solidFill>
                <a:latin typeface="Arial"/>
              </a:rPr>
              <a:t>Maximum shares, maximum order value per symbol.</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Maximum daily loss</a:t>
            </a:r>
          </a:p>
          <a:p>
            <a:pPr algn="l">
              <a:spcAft>
                <a:spcPts val="300"/>
              </a:spcAft>
            </a:pPr>
            <a:r>
              <a:rPr sz="1150" b="0">
                <a:solidFill>
                  <a:srgbClr val="5B6372"/>
                </a:solidFill>
                <a:latin typeface="Arial"/>
              </a:rPr>
              <a:t>Stop trading for the day when breached.</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Market-hours and duplicate checks</a:t>
            </a:r>
          </a:p>
          <a:p>
            <a:pPr algn="l">
              <a:spcAft>
                <a:spcPts val="300"/>
              </a:spcAft>
            </a:pPr>
            <a:r>
              <a:rPr sz="1150" b="0">
                <a:solidFill>
                  <a:srgbClr val="5B6372"/>
                </a:solidFill>
                <a:latin typeface="Arial"/>
              </a:rPr>
              <a:t>Alpaca clock; never resend an open order.</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Kill switch</a:t>
            </a:r>
          </a:p>
          <a:p>
            <a:pPr algn="l">
              <a:spcAft>
                <a:spcPts val="300"/>
              </a:spcAft>
            </a:pPr>
            <a:r>
              <a:rPr sz="1150" b="0">
                <a:solidFill>
                  <a:srgbClr val="5B6372"/>
                </a:solidFill>
                <a:latin typeface="Arial"/>
              </a:rPr>
              <a:t>One file or flag halts all trading immediately.</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176</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K7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Trading Costs You Must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F59E0B"/>
                </a:solidFill>
                <a:latin typeface="Arial"/>
              </a:rPr>
              <a:t>K7</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Commission</a:t>
            </a:r>
          </a:p>
          <a:p>
            <a:pPr algn="l">
              <a:spcAft>
                <a:spcPts val="300"/>
              </a:spcAft>
            </a:pPr>
            <a:r>
              <a:rPr sz="1150" b="0">
                <a:solidFill>
                  <a:srgbClr val="5B6372"/>
                </a:solidFill>
                <a:latin typeface="Arial"/>
              </a:rPr>
              <a:t>Zero on Alpaca US equities — not on most brokers.</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Spread and slippage</a:t>
            </a:r>
          </a:p>
          <a:p>
            <a:pPr algn="l">
              <a:spcAft>
                <a:spcPts val="300"/>
              </a:spcAft>
            </a:pPr>
            <a:r>
              <a:rPr sz="1150" b="0">
                <a:solidFill>
                  <a:srgbClr val="5B6372"/>
                </a:solidFill>
                <a:latin typeface="Arial"/>
              </a:rPr>
              <a:t>Half-spread + slippage on every fill, in bps.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Regulatory fees on sells</a:t>
            </a:r>
          </a:p>
          <a:p>
            <a:pPr algn="l">
              <a:spcAft>
                <a:spcPts val="300"/>
              </a:spcAft>
            </a:pPr>
            <a:r>
              <a:rPr sz="1150" b="0">
                <a:solidFill>
                  <a:srgbClr val="5B6372"/>
                </a:solidFill>
                <a:latin typeface="Arial"/>
              </a:rPr>
              <a:t>SEC Section 31 fee and FINRA TAF.</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Borrow and impact</a:t>
            </a:r>
          </a:p>
          <a:p>
            <a:pPr algn="l">
              <a:spcAft>
                <a:spcPts val="300"/>
              </a:spcAft>
            </a:pPr>
            <a:r>
              <a:rPr sz="1150" b="0">
                <a:solidFill>
                  <a:srgbClr val="5B6372"/>
                </a:solidFill>
                <a:latin typeface="Arial"/>
              </a:rPr>
              <a:t>Short-borrow costs; your own market impact.</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177</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A8, K8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Historical Data: Backtest, Tune, Then Forward Test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F59E0B"/>
                </a:solidFill>
                <a:latin typeface="Arial"/>
              </a:rPr>
              <a:t>A8  K8</a:t>
            </a:r>
          </a:p>
        </p:txBody>
      </p:sp>
      <p:pic>
        <p:nvPicPr>
          <p:cNvPr id="10" name="Picture 9" descr="concept_data_split.png"/>
          <p:cNvPicPr>
            <a:picLocks noChangeAspect="1"/>
          </p:cNvPicPr>
          <p:nvPr/>
        </p:nvPicPr>
        <p:blipFill>
          <a:blip r:embed="rId2"/>
          <a:stretch>
            <a:fillRect/>
          </a:stretch>
        </p:blipFill>
        <p:spPr>
          <a:xfrm>
            <a:off x="777240" y="2299188"/>
            <a:ext cx="6172200" cy="340262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BACKTEST ON HISTORY</a:t>
            </a:r>
          </a:p>
          <a:p>
            <a:pPr algn="l">
              <a:spcAft>
                <a:spcPts val="200"/>
              </a:spcAft>
            </a:pPr>
            <a:r>
              <a:rPr sz="1150" b="0">
                <a:solidFill>
                  <a:srgbClr val="161B26"/>
                </a:solidFill>
                <a:latin typeface="Arial"/>
              </a:rPr>
              <a:t>Replay the strategy's rules over past prices - next-bar fills, trading costs - to see how it would have performed.</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TUNE HYPERPARAMETERS (IN-SAMPLE)</a:t>
            </a:r>
          </a:p>
          <a:p>
            <a:pPr algn="l">
              <a:spcAft>
                <a:spcPts val="200"/>
              </a:spcAft>
            </a:pPr>
            <a:r>
              <a:rPr sz="1150" b="0">
                <a:solidFill>
                  <a:srgbClr val="161B26"/>
                </a:solidFill>
                <a:latin typeface="Arial"/>
              </a:rPr>
              <a:t>Search the settings (MA lengths, RSI levels, model parameters) on the OLDER history only, by grid search or walk-forward.</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CONFIRM OUT-OF-SAMPLE</a:t>
            </a:r>
          </a:p>
          <a:p>
            <a:pPr algn="l">
              <a:spcAft>
                <a:spcPts val="200"/>
              </a:spcAft>
            </a:pPr>
            <a:r>
              <a:rPr sz="1150" b="0">
                <a:solidFill>
                  <a:srgbClr val="161B26"/>
                </a:solidFill>
                <a:latin typeface="Arial"/>
              </a:rPr>
              <a:t>Backtest the tuned settings ONCE on later history the search never saw. A big drop from in-sample = overfitting.</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FORWARD TEST (PAPER)</a:t>
            </a:r>
          </a:p>
          <a:p>
            <a:pPr algn="l">
              <a:spcAft>
                <a:spcPts val="200"/>
              </a:spcAft>
            </a:pPr>
            <a:r>
              <a:rPr sz="1150" b="0">
                <a:solidFill>
                  <a:srgbClr val="161B26"/>
                </a:solidFill>
                <a:latin typeface="Arial"/>
              </a:rPr>
              <a:t>Run the tuned strategy on NEW data as it arrives - paper orders, real fills and risk checks - before any capital.</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178</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A8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From Historical Data to a Forward-Tested Strategy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F59E0B"/>
                </a:solidFill>
                <a:latin typeface="Arial"/>
              </a:rPr>
              <a:t>A8</a:t>
            </a:r>
          </a:p>
        </p:txBody>
      </p:sp>
      <p:sp>
        <p:nvSpPr>
          <p:cNvPr id="10" name="TextBox 9"/>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The same rule moves through four tests; each uses data the previous step never touched.</a:t>
            </a:r>
          </a:p>
        </p:txBody>
      </p:sp>
      <p:sp>
        <p:nvSpPr>
          <p:cNvPr id="11" name="Rectangle 10"/>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374343"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5" name="TextBox 14"/>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Historical data (2018-2025)</a:t>
            </a:r>
          </a:p>
        </p:txBody>
      </p:sp>
      <p:sp>
        <p:nvSpPr>
          <p:cNvPr id="16" name="TextBox 15"/>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17" name="Rectangle 16"/>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58998"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556101"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1" name="TextBox 20"/>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Tune in-sample (2018-2021)</a:t>
            </a:r>
          </a:p>
        </p:txBody>
      </p:sp>
      <p:sp>
        <p:nvSpPr>
          <p:cNvPr id="22" name="TextBox 21"/>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3" name="Rectangle 22"/>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140756"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737859"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7" name="TextBox 26"/>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Backtest once out-of-sample (2022-2024)</a:t>
            </a:r>
          </a:p>
        </p:txBody>
      </p:sp>
      <p:sp>
        <p:nvSpPr>
          <p:cNvPr id="28" name="TextBox 27"/>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9" name="Rectangle 28"/>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22514"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919617"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3" name="TextBox 32"/>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Forward test on paper (2025 onward)</a:t>
            </a:r>
          </a:p>
        </p:txBody>
      </p:sp>
      <p:sp>
        <p:nvSpPr>
          <p:cNvPr id="34" name="TextBox 33"/>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35" name="Rectangle 34"/>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04272"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101375"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9" name="TextBox 38"/>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Go-live decision</a:t>
            </a:r>
          </a:p>
        </p:txBody>
      </p:sp>
      <p:sp>
        <p:nvSpPr>
          <p:cNvPr id="40" name="Rectangle 39"/>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7240" y="5257800"/>
            <a:ext cx="91440" cy="8229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Tuning on the test period, or re-tuning after seeing out-of-sample results, turns the test into more tuning - the result will look better than reality (Labs 10, 15, 16).</a:t>
            </a:r>
          </a:p>
        </p:txBody>
      </p:sp>
      <p:sp>
        <p:nvSpPr>
          <p:cNvPr id="43" name="TextBox 4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44" name="TextBox 4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5" name="TextBox 4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179</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K8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Potential Reasons for Unintended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F59E0B"/>
                </a:solidFill>
                <a:latin typeface="Arial"/>
              </a:rPr>
              <a:t>K8</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Overfitting and data snooping</a:t>
            </a:r>
          </a:p>
          <a:p>
            <a:pPr algn="l">
              <a:spcAft>
                <a:spcPts val="300"/>
              </a:spcAft>
            </a:pPr>
            <a:r>
              <a:rPr sz="1150" b="0">
                <a:solidFill>
                  <a:srgbClr val="5B6372"/>
                </a:solidFill>
                <a:latin typeface="Arial"/>
              </a:rPr>
              <a:t>Great in-sample, collapses out of sample.</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Look-ahead and survivorship bias</a:t>
            </a:r>
          </a:p>
          <a:p>
            <a:pPr algn="l">
              <a:spcAft>
                <a:spcPts val="300"/>
              </a:spcAft>
            </a:pPr>
            <a:r>
              <a:rPr sz="1150" b="0">
                <a:solidFill>
                  <a:srgbClr val="5B6372"/>
                </a:solidFill>
                <a:latin typeface="Arial"/>
              </a:rPr>
              <a:t>Same-bar fills; only today's survivors.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Cost and execution drag</a:t>
            </a:r>
          </a:p>
          <a:p>
            <a:pPr algn="l">
              <a:spcAft>
                <a:spcPts val="300"/>
              </a:spcAft>
            </a:pPr>
            <a:r>
              <a:rPr sz="1150" b="0">
                <a:solidFill>
                  <a:srgbClr val="5B6372"/>
                </a:solidFill>
                <a:latin typeface="Arial"/>
              </a:rPr>
              <a:t>Live returns trail the backtest by turnover × cost.</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Regime change, data and code errors</a:t>
            </a:r>
          </a:p>
          <a:p>
            <a:pPr algn="l">
              <a:spcAft>
                <a:spcPts val="300"/>
              </a:spcAft>
            </a:pPr>
            <a:r>
              <a:rPr sz="1150" b="0">
                <a:solidFill>
                  <a:srgbClr val="5B6372"/>
                </a:solidFill>
                <a:latin typeface="Arial"/>
              </a:rPr>
              <a:t>Drift, bad splits, time zones, duplicate orders.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180</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A10</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Goes on a Tearsheet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F59E0B"/>
                </a:solidFill>
                <a:latin typeface="Arial"/>
              </a:rPr>
              <a:t>A10</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Equity versus benchmark</a:t>
            </a:r>
          </a:p>
          <a:p>
            <a:pPr algn="l">
              <a:spcAft>
                <a:spcPts val="300"/>
              </a:spcAft>
            </a:pPr>
            <a:r>
              <a:rPr sz="1150" b="0">
                <a:solidFill>
                  <a:srgbClr val="5B6372"/>
                </a:solidFill>
                <a:latin typeface="Arial"/>
              </a:rPr>
              <a:t>Growth of USD 100,000, strategy and buy-and-hold.</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Drawdown and rolling Sharpe</a:t>
            </a:r>
          </a:p>
          <a:p>
            <a:pPr algn="l">
              <a:spcAft>
                <a:spcPts val="300"/>
              </a:spcAft>
            </a:pPr>
            <a:r>
              <a:rPr sz="1150" b="0">
                <a:solidFill>
                  <a:srgbClr val="5B6372"/>
                </a:solidFill>
                <a:latin typeface="Arial"/>
              </a:rPr>
              <a:t>Depth, length and stability of the edge.</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Monthly returns heatmap</a:t>
            </a:r>
          </a:p>
          <a:p>
            <a:pPr algn="l">
              <a:spcAft>
                <a:spcPts val="300"/>
              </a:spcAft>
            </a:pPr>
            <a:r>
              <a:rPr sz="1150" b="0">
                <a:solidFill>
                  <a:srgbClr val="5B6372"/>
                </a:solidFill>
                <a:latin typeface="Arial"/>
              </a:rPr>
              <a:t>When did it make — and lose — money?</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Metrics and cost table</a:t>
            </a:r>
          </a:p>
          <a:p>
            <a:pPr algn="l">
              <a:spcAft>
                <a:spcPts val="300"/>
              </a:spcAft>
            </a:pPr>
            <a:r>
              <a:rPr sz="1150" b="0">
                <a:solidFill>
                  <a:srgbClr val="5B6372"/>
                </a:solidFill>
                <a:latin typeface="Arial"/>
              </a:rPr>
              <a:t>Gross versus net; backtest versus forward.</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181</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A7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End-to-End Algorithmic Trading Pipeline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F59E0B"/>
                </a:solidFill>
                <a:latin typeface="Arial"/>
              </a:rPr>
              <a:t>A7</a:t>
            </a:r>
          </a:p>
        </p:txBody>
      </p:sp>
      <p:sp>
        <p:nvSpPr>
          <p:cNvPr id="10" name="Rectangle 9"/>
          <p:cNvSpPr/>
          <p:nvPr/>
        </p:nvSpPr>
        <p:spPr>
          <a:xfrm>
            <a:off x="777240"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65263"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526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Strategy search</a:t>
            </a:r>
          </a:p>
        </p:txBody>
      </p:sp>
      <p:sp>
        <p:nvSpPr>
          <p:cNvPr id="15" name="TextBox 14"/>
          <p:cNvSpPr txBox="1"/>
          <p:nvPr/>
        </p:nvSpPr>
        <p:spPr>
          <a:xfrm>
            <a:off x="1848231"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16" name="Rectangle 15"/>
          <p:cNvSpPr/>
          <p:nvPr/>
        </p:nvSpPr>
        <p:spPr>
          <a:xfrm>
            <a:off x="2140839"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140839"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328862"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288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2268855"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Data ingestion</a:t>
            </a:r>
          </a:p>
        </p:txBody>
      </p:sp>
      <p:sp>
        <p:nvSpPr>
          <p:cNvPr id="21" name="TextBox 20"/>
          <p:cNvSpPr txBox="1"/>
          <p:nvPr/>
        </p:nvSpPr>
        <p:spPr>
          <a:xfrm>
            <a:off x="3211830"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2" name="Rectangle 21"/>
          <p:cNvSpPr/>
          <p:nvPr/>
        </p:nvSpPr>
        <p:spPr>
          <a:xfrm>
            <a:off x="3504438"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504438"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3692461"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9246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3632454"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Signal</a:t>
            </a:r>
          </a:p>
        </p:txBody>
      </p:sp>
      <p:sp>
        <p:nvSpPr>
          <p:cNvPr id="27" name="TextBox 26"/>
          <p:cNvSpPr txBox="1"/>
          <p:nvPr/>
        </p:nvSpPr>
        <p:spPr>
          <a:xfrm>
            <a:off x="4575429"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8" name="Rectangle 27"/>
          <p:cNvSpPr/>
          <p:nvPr/>
        </p:nvSpPr>
        <p:spPr>
          <a:xfrm>
            <a:off x="4868037"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868037"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056060"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5606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4996053"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Backtest with costs</a:t>
            </a:r>
          </a:p>
        </p:txBody>
      </p:sp>
      <p:sp>
        <p:nvSpPr>
          <p:cNvPr id="33" name="TextBox 32"/>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34" name="Rectangle 33"/>
          <p:cNvSpPr/>
          <p:nvPr/>
        </p:nvSpPr>
        <p:spPr>
          <a:xfrm>
            <a:off x="6231636"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231636"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419659"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196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8" name="TextBox 37"/>
          <p:cNvSpPr txBox="1"/>
          <p:nvPr/>
        </p:nvSpPr>
        <p:spPr>
          <a:xfrm>
            <a:off x="6359652"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Risk checks</a:t>
            </a:r>
          </a:p>
        </p:txBody>
      </p:sp>
      <p:sp>
        <p:nvSpPr>
          <p:cNvPr id="39" name="TextBox 38"/>
          <p:cNvSpPr txBox="1"/>
          <p:nvPr/>
        </p:nvSpPr>
        <p:spPr>
          <a:xfrm>
            <a:off x="7302627"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40" name="Rectangle 39"/>
          <p:cNvSpPr/>
          <p:nvPr/>
        </p:nvSpPr>
        <p:spPr>
          <a:xfrm>
            <a:off x="7595235"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595235"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7783258"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7832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4" name="TextBox 43"/>
          <p:cNvSpPr txBox="1"/>
          <p:nvPr/>
        </p:nvSpPr>
        <p:spPr>
          <a:xfrm>
            <a:off x="7723251"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Order execution</a:t>
            </a:r>
          </a:p>
        </p:txBody>
      </p:sp>
      <p:sp>
        <p:nvSpPr>
          <p:cNvPr id="45" name="TextBox 44"/>
          <p:cNvSpPr txBox="1"/>
          <p:nvPr/>
        </p:nvSpPr>
        <p:spPr>
          <a:xfrm>
            <a:off x="8666226"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46" name="Rectangle 45"/>
          <p:cNvSpPr/>
          <p:nvPr/>
        </p:nvSpPr>
        <p:spPr>
          <a:xfrm>
            <a:off x="8958834"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958834"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9146857"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14685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7</a:t>
            </a:r>
          </a:p>
        </p:txBody>
      </p:sp>
      <p:sp>
        <p:nvSpPr>
          <p:cNvPr id="50" name="TextBox 49"/>
          <p:cNvSpPr txBox="1"/>
          <p:nvPr/>
        </p:nvSpPr>
        <p:spPr>
          <a:xfrm>
            <a:off x="9086850"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Forward test</a:t>
            </a:r>
          </a:p>
        </p:txBody>
      </p:sp>
      <p:sp>
        <p:nvSpPr>
          <p:cNvPr id="51" name="TextBox 50"/>
          <p:cNvSpPr txBox="1"/>
          <p:nvPr/>
        </p:nvSpPr>
        <p:spPr>
          <a:xfrm>
            <a:off x="10029825"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52" name="Rectangle 51"/>
          <p:cNvSpPr/>
          <p:nvPr/>
        </p:nvSpPr>
        <p:spPr>
          <a:xfrm>
            <a:off x="10322433"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10322433"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10510456"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51045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8</a:t>
            </a:r>
          </a:p>
        </p:txBody>
      </p:sp>
      <p:sp>
        <p:nvSpPr>
          <p:cNvPr id="56" name="TextBox 55"/>
          <p:cNvSpPr txBox="1"/>
          <p:nvPr/>
        </p:nvSpPr>
        <p:spPr>
          <a:xfrm>
            <a:off x="10450449"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Monitor and report</a:t>
            </a:r>
          </a:p>
        </p:txBody>
      </p:sp>
      <p:sp>
        <p:nvSpPr>
          <p:cNvPr id="57" name="Rectangle 56"/>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77240" y="5257800"/>
            <a:ext cx="91440" cy="8229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Configuration — symbols, parameters, limits, keys — lives outside the code.</a:t>
            </a:r>
          </a:p>
        </p:txBody>
      </p:sp>
      <p:sp>
        <p:nvSpPr>
          <p:cNvPr id="60" name="TextBox 5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61" name="TextBox 6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62" name="TextBox 6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182</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A8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Automated Paper-Trading Bot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F59E0B"/>
                </a:solidFill>
                <a:latin typeface="Arial"/>
              </a:rPr>
              <a:t>A8</a:t>
            </a:r>
          </a:p>
        </p:txBody>
      </p:sp>
      <p:sp>
        <p:nvSpPr>
          <p:cNvPr id="10" name="TextBox 9"/>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One cycle per closed bar.</a:t>
            </a:r>
          </a:p>
        </p:txBody>
      </p:sp>
      <p:sp>
        <p:nvSpPr>
          <p:cNvPr id="11" name="Rectangle 10"/>
          <p:cNvSpPr/>
          <p:nvPr/>
        </p:nvSpPr>
        <p:spPr>
          <a:xfrm>
            <a:off x="777240"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240280"/>
            <a:ext cx="128407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62663"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266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5" name="TextBox 14"/>
          <p:cNvSpPr txBox="1"/>
          <p:nvPr/>
        </p:nvSpPr>
        <p:spPr>
          <a:xfrm>
            <a:off x="905256"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Bar closes</a:t>
            </a:r>
          </a:p>
        </p:txBody>
      </p:sp>
      <p:sp>
        <p:nvSpPr>
          <p:cNvPr id="16" name="TextBox 15"/>
          <p:cNvSpPr txBox="1"/>
          <p:nvPr/>
        </p:nvSpPr>
        <p:spPr>
          <a:xfrm>
            <a:off x="2043030"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17" name="Rectangle 16"/>
          <p:cNvSpPr/>
          <p:nvPr/>
        </p:nvSpPr>
        <p:spPr>
          <a:xfrm>
            <a:off x="2335638"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335638" y="2240280"/>
            <a:ext cx="128407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621061"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2106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1" name="TextBox 20"/>
          <p:cNvSpPr txBox="1"/>
          <p:nvPr/>
        </p:nvSpPr>
        <p:spPr>
          <a:xfrm>
            <a:off x="2463654"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Fetch latest bars</a:t>
            </a:r>
          </a:p>
        </p:txBody>
      </p:sp>
      <p:sp>
        <p:nvSpPr>
          <p:cNvPr id="22" name="TextBox 21"/>
          <p:cNvSpPr txBox="1"/>
          <p:nvPr/>
        </p:nvSpPr>
        <p:spPr>
          <a:xfrm>
            <a:off x="3601428"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3" name="Rectangle 22"/>
          <p:cNvSpPr/>
          <p:nvPr/>
        </p:nvSpPr>
        <p:spPr>
          <a:xfrm>
            <a:off x="3894036"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894036" y="2240280"/>
            <a:ext cx="128407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179459"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794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7" name="TextBox 26"/>
          <p:cNvSpPr txBox="1"/>
          <p:nvPr/>
        </p:nvSpPr>
        <p:spPr>
          <a:xfrm>
            <a:off x="4022052"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Compute signal</a:t>
            </a:r>
          </a:p>
        </p:txBody>
      </p:sp>
      <p:sp>
        <p:nvSpPr>
          <p:cNvPr id="28" name="TextBox 27"/>
          <p:cNvSpPr txBox="1"/>
          <p:nvPr/>
        </p:nvSpPr>
        <p:spPr>
          <a:xfrm>
            <a:off x="5159826"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9" name="Rectangle 28"/>
          <p:cNvSpPr/>
          <p:nvPr/>
        </p:nvSpPr>
        <p:spPr>
          <a:xfrm>
            <a:off x="5452434"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52434" y="2240280"/>
            <a:ext cx="128407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5737857"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73785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3" name="TextBox 32"/>
          <p:cNvSpPr txBox="1"/>
          <p:nvPr/>
        </p:nvSpPr>
        <p:spPr>
          <a:xfrm>
            <a:off x="5580450"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Run risk checks</a:t>
            </a:r>
          </a:p>
        </p:txBody>
      </p:sp>
      <p:sp>
        <p:nvSpPr>
          <p:cNvPr id="34" name="TextBox 33"/>
          <p:cNvSpPr txBox="1"/>
          <p:nvPr/>
        </p:nvSpPr>
        <p:spPr>
          <a:xfrm>
            <a:off x="6718224"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35" name="Rectangle 34"/>
          <p:cNvSpPr/>
          <p:nvPr/>
        </p:nvSpPr>
        <p:spPr>
          <a:xfrm>
            <a:off x="7010832"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010832" y="2240280"/>
            <a:ext cx="128407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296255"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29625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9" name="TextBox 38"/>
          <p:cNvSpPr txBox="1"/>
          <p:nvPr/>
        </p:nvSpPr>
        <p:spPr>
          <a:xfrm>
            <a:off x="7138848"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Target vs actual position</a:t>
            </a:r>
          </a:p>
        </p:txBody>
      </p:sp>
      <p:sp>
        <p:nvSpPr>
          <p:cNvPr id="40" name="TextBox 39"/>
          <p:cNvSpPr txBox="1"/>
          <p:nvPr/>
        </p:nvSpPr>
        <p:spPr>
          <a:xfrm>
            <a:off x="8276622"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41" name="Rectangle 40"/>
          <p:cNvSpPr/>
          <p:nvPr/>
        </p:nvSpPr>
        <p:spPr>
          <a:xfrm>
            <a:off x="8569230"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569230" y="2240280"/>
            <a:ext cx="128407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8854653"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85465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5" name="TextBox 44"/>
          <p:cNvSpPr txBox="1"/>
          <p:nvPr/>
        </p:nvSpPr>
        <p:spPr>
          <a:xfrm>
            <a:off x="8697246"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Submit order; read status</a:t>
            </a:r>
          </a:p>
        </p:txBody>
      </p:sp>
      <p:sp>
        <p:nvSpPr>
          <p:cNvPr id="46" name="TextBox 45"/>
          <p:cNvSpPr txBox="1"/>
          <p:nvPr/>
        </p:nvSpPr>
        <p:spPr>
          <a:xfrm>
            <a:off x="9835020"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47" name="Rectangle 46"/>
          <p:cNvSpPr/>
          <p:nvPr/>
        </p:nvSpPr>
        <p:spPr>
          <a:xfrm>
            <a:off x="10127628"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0127628" y="2240280"/>
            <a:ext cx="128407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0413051"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41305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7</a:t>
            </a:r>
          </a:p>
        </p:txBody>
      </p:sp>
      <p:sp>
        <p:nvSpPr>
          <p:cNvPr id="51" name="TextBox 50"/>
          <p:cNvSpPr txBox="1"/>
          <p:nvPr/>
        </p:nvSpPr>
        <p:spPr>
          <a:xfrm>
            <a:off x="10255644"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Log and sleep</a:t>
            </a:r>
          </a:p>
        </p:txBody>
      </p:sp>
      <p:sp>
        <p:nvSpPr>
          <p:cNvPr id="52" name="Rectangle 51"/>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77240" y="5257800"/>
            <a:ext cx="91440" cy="8229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Every cycle writes to the trade log — the evidence for performance and audit.</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183</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A7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TradingView Alert to Alpaca Order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F59E0B"/>
                </a:solidFill>
                <a:latin typeface="Arial"/>
              </a:rPr>
              <a:t>A7</a:t>
            </a:r>
          </a:p>
        </p:txBody>
      </p:sp>
      <p:sp>
        <p:nvSpPr>
          <p:cNvPr id="10" name="TextBox 9"/>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Webhook-driven execution.</a:t>
            </a:r>
          </a:p>
        </p:txBody>
      </p:sp>
      <p:sp>
        <p:nvSpPr>
          <p:cNvPr id="11" name="Rectangle 10"/>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240280"/>
            <a:ext cx="154381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92530"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9253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5" name="TextBox 14"/>
          <p:cNvSpPr txBox="1"/>
          <p:nvPr/>
        </p:nvSpPr>
        <p:spPr>
          <a:xfrm>
            <a:off x="90525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Pine strategy fires alert</a:t>
            </a:r>
          </a:p>
        </p:txBody>
      </p:sp>
      <p:sp>
        <p:nvSpPr>
          <p:cNvPr id="16" name="TextBox 15"/>
          <p:cNvSpPr txBox="1"/>
          <p:nvPr/>
        </p:nvSpPr>
        <p:spPr>
          <a:xfrm>
            <a:off x="2302764"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17" name="Rectangle 16"/>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595372" y="2240280"/>
            <a:ext cx="154381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010662"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106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1" name="TextBox 20"/>
          <p:cNvSpPr txBox="1"/>
          <p:nvPr/>
        </p:nvSpPr>
        <p:spPr>
          <a:xfrm>
            <a:off x="2723388"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TradingView POSTs JSON</a:t>
            </a:r>
          </a:p>
        </p:txBody>
      </p:sp>
      <p:sp>
        <p:nvSpPr>
          <p:cNvPr id="22" name="TextBox 21"/>
          <p:cNvSpPr txBox="1"/>
          <p:nvPr/>
        </p:nvSpPr>
        <p:spPr>
          <a:xfrm>
            <a:off x="4120896"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3" name="Rectangle 22"/>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413504" y="2240280"/>
            <a:ext cx="154381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828794"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28794"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7" name="TextBox 26"/>
          <p:cNvSpPr txBox="1"/>
          <p:nvPr/>
        </p:nvSpPr>
        <p:spPr>
          <a:xfrm>
            <a:off x="4541520"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Your server checks secret</a:t>
            </a:r>
          </a:p>
        </p:txBody>
      </p:sp>
      <p:sp>
        <p:nvSpPr>
          <p:cNvPr id="28" name="TextBox 27"/>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9" name="Rectangle 28"/>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31636" y="2240280"/>
            <a:ext cx="154381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646926"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4692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3" name="TextBox 32"/>
          <p:cNvSpPr txBox="1"/>
          <p:nvPr/>
        </p:nvSpPr>
        <p:spPr>
          <a:xfrm>
            <a:off x="6359652"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Risk checks</a:t>
            </a:r>
          </a:p>
        </p:txBody>
      </p:sp>
      <p:sp>
        <p:nvSpPr>
          <p:cNvPr id="34" name="TextBox 33"/>
          <p:cNvSpPr txBox="1"/>
          <p:nvPr/>
        </p:nvSpPr>
        <p:spPr>
          <a:xfrm>
            <a:off x="7757160"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35" name="Rectangle 34"/>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49768" y="2240280"/>
            <a:ext cx="154381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465058"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650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9" name="TextBox 38"/>
          <p:cNvSpPr txBox="1"/>
          <p:nvPr/>
        </p:nvSpPr>
        <p:spPr>
          <a:xfrm>
            <a:off x="8177784"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alpaca-py submits paper order</a:t>
            </a:r>
          </a:p>
        </p:txBody>
      </p:sp>
      <p:sp>
        <p:nvSpPr>
          <p:cNvPr id="40" name="TextBox 39"/>
          <p:cNvSpPr txBox="1"/>
          <p:nvPr/>
        </p:nvSpPr>
        <p:spPr>
          <a:xfrm>
            <a:off x="9575292"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41" name="Rectangle 40"/>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867900" y="2240280"/>
            <a:ext cx="154381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0283190"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28319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5" name="TextBox 44"/>
          <p:cNvSpPr txBox="1"/>
          <p:nvPr/>
        </p:nvSpPr>
        <p:spPr>
          <a:xfrm>
            <a:off x="999591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Log and respond 200</a:t>
            </a:r>
          </a:p>
        </p:txBody>
      </p:sp>
      <p:sp>
        <p:nvSpPr>
          <p:cNvPr id="46" name="Rectangle 45"/>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77240" y="5257800"/>
            <a:ext cx="91440" cy="8229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Webhook alerts need a paid TradingView plan and a public URL (e.g. a tunnel).</a:t>
            </a:r>
          </a:p>
        </p:txBody>
      </p:sp>
      <p:sp>
        <p:nvSpPr>
          <p:cNvPr id="49" name="TextBox 4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50" name="TextBox 4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1" name="TextBox 5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184</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A9</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Diagnosing an Unintended Outcome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F59E0B"/>
                </a:solidFill>
                <a:latin typeface="Arial"/>
              </a:rPr>
              <a:t>A9</a:t>
            </a:r>
          </a:p>
        </p:txBody>
      </p:sp>
      <p:sp>
        <p:nvSpPr>
          <p:cNvPr id="10" name="Rectangle 9"/>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374343"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Reproduce the result</a:t>
            </a:r>
          </a:p>
        </p:txBody>
      </p:sp>
      <p:sp>
        <p:nvSpPr>
          <p:cNvPr id="15" name="TextBox 14"/>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16" name="Rectangle 15"/>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58998"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556101"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Isolate the first divergent step</a:t>
            </a:r>
          </a:p>
        </p:txBody>
      </p:sp>
      <p:sp>
        <p:nvSpPr>
          <p:cNvPr id="21" name="TextBox 20"/>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2" name="Rectangle 21"/>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40756"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737859"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Data · signal · order · fill?</a:t>
            </a:r>
          </a:p>
        </p:txBody>
      </p:sp>
      <p:sp>
        <p:nvSpPr>
          <p:cNvPr id="27" name="TextBox 26"/>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8" name="Rectangle 27"/>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22514"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919617"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Compare with a known-good run</a:t>
            </a:r>
          </a:p>
        </p:txBody>
      </p:sp>
      <p:sp>
        <p:nvSpPr>
          <p:cNvPr id="33" name="TextBox 32"/>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34" name="Rectangle 33"/>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01375"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8" name="TextBox 37"/>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Fix and re-test</a:t>
            </a:r>
          </a:p>
        </p:txBody>
      </p:sp>
      <p:sp>
        <p:nvSpPr>
          <p:cNvPr id="39" name="Rectangle 38"/>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77240" y="5257800"/>
            <a:ext cx="91440" cy="8229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Read the first failure, not the last — everything after it is a consequence.</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185</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5B6372"/>
                </a:solidFill>
                <a:latin typeface="Arial"/>
              </a:rPr>
              <a:t>1 hour  ·  see you at 13:30</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186</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Backtest-Engine Stage: Cost Models, Execution Timing and Break-Even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A7  A8  K7</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15</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Build pipeline/backtest.py around the common backtester: run any library signal under every cost scenario (and a custom one), break the cost into commission, spread, slippage and regulatory fees, find each strategy's break-even cost and test next-open versus next-close execution.</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Read the cost model</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engine helpers</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scenario report</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Run the cost scenarios</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Analyse the cost breakdown</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+2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backtest engine with three cost models, execution timing and break-even cost.</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25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187</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15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15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15_costs.png"/>
          <p:cNvPicPr>
            <a:picLocks noChangeAspect="1"/>
          </p:cNvPicPr>
          <p:nvPr/>
        </p:nvPicPr>
        <p:blipFill>
          <a:blip r:embed="rId2"/>
          <a:stretch>
            <a:fillRect/>
          </a:stretch>
        </p:blipFill>
        <p:spPr>
          <a:xfrm>
            <a:off x="984220" y="1828800"/>
            <a:ext cx="10223254" cy="3794760"/>
          </a:xfrm>
          <a:prstGeom prst="rect">
            <a:avLst/>
          </a:prstGeom>
        </p:spPr>
      </p:pic>
      <p:sp>
        <p:nvSpPr>
          <p:cNvPr id="8" name="Rectangle 7"/>
          <p:cNvSpPr/>
          <p:nvPr/>
        </p:nvSpPr>
        <p:spPr>
          <a:xfrm>
            <a:off x="973247" y="1817827"/>
            <a:ext cx="10245200" cy="381670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6986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6986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6986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Lab15-trading-costs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188</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Automation Stage: a Scheduled, Risk-Checked Forward Test and Live Paper Trading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A7  A8  K7</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16</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Build pipeline/risk.py and pipeline/runner.py: `python -m pipeline run --once | --loop` with the market clock, risk checks, kill switch and trade log; run a 2025 forward test; run the strategy live on the paper account for a few cycles; and schedule it with cron, launchd or Windows Task Scheduler.</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risk layer and the kill switch</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one decision cycle</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forward-test replay and the logs</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Add the live paper loop and scheduling</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Run the 2025 forward test</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+4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scheduled, risk-checked bot trading the paper account live, with a trade log and kill switch.</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25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189</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16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16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16_forward_test.png"/>
          <p:cNvPicPr>
            <a:picLocks noChangeAspect="1"/>
          </p:cNvPicPr>
          <p:nvPr/>
        </p:nvPicPr>
        <p:blipFill>
          <a:blip r:embed="rId2"/>
          <a:stretch>
            <a:fillRect/>
          </a:stretch>
        </p:blipFill>
        <p:spPr>
          <a:xfrm>
            <a:off x="1299692" y="1828800"/>
            <a:ext cx="9592310" cy="3794760"/>
          </a:xfrm>
          <a:prstGeom prst="rect">
            <a:avLst/>
          </a:prstGeom>
        </p:spPr>
      </p:pic>
      <p:sp>
        <p:nvSpPr>
          <p:cNvPr id="8" name="Rectangle 7"/>
          <p:cNvSpPr/>
          <p:nvPr/>
        </p:nvSpPr>
        <p:spPr>
          <a:xfrm>
            <a:off x="1288719" y="1817827"/>
            <a:ext cx="9614255" cy="381670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6986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6986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6986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Lab16-paper-trading-bot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190</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Event-Driven Automation: TradingView Webhook to Signal, Risk and Execution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A7  K5  K7</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17</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Build pipeline/webhook.py: a webhook receiver that turns TradingView alert JSON into a pipeline decision (validation -&gt; signal -&gt; risk -&gt; execution), test it with a local alert simulator and a self-test, and configure a real TradingView strategy alert.</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Set the shared secret</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alert validation</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Route valid alerts through signal, risk and execution</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server, the simulator and the self-test</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Run the self-test</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+4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Event-driven automation: TradingView alert to webhook to signal, risk and paper execution.</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191</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Diagnostics Stage: Automated Bias Checks before Go-Live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0B981"/>
                </a:solidFill>
                <a:latin typeface="Arial"/>
              </a:rPr>
              <a:t>A9  K8</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18</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Build `python -m pipeline diagnose` to run automated look-ahead (features and execution), cost-drag, overfitting and survivorship checks on any strategy and on the junior quant's exhibit, and write a PASS / WARN / FAIL report with a go-live verdict.</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Run the suspicious backtest</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Find the problems</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look-ahead checks</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cost, overfitting and survivorship checks</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Run the diagnostics</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+3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Automated bias diagnostics (look-ahead, costs, overfitting, survivorship) before go-live.</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192</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18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18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18_bias_comparison.png"/>
          <p:cNvPicPr>
            <a:picLocks noChangeAspect="1"/>
          </p:cNvPicPr>
          <p:nvPr/>
        </p:nvPicPr>
        <p:blipFill>
          <a:blip r:embed="rId2"/>
          <a:stretch>
            <a:fillRect/>
          </a:stretch>
        </p:blipFill>
        <p:spPr>
          <a:xfrm>
            <a:off x="1841352" y="1828800"/>
            <a:ext cx="8508989" cy="3794760"/>
          </a:xfrm>
          <a:prstGeom prst="rect">
            <a:avLst/>
          </a:prstGeom>
        </p:spPr>
      </p:pic>
      <p:sp>
        <p:nvSpPr>
          <p:cNvPr id="8" name="Rectangle 7"/>
          <p:cNvSpPr/>
          <p:nvPr/>
        </p:nvSpPr>
        <p:spPr>
          <a:xfrm>
            <a:off x="1830380" y="1817827"/>
            <a:ext cx="8530935" cy="381670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6986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6986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6986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Lab18-diagnose-bias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193</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Monitoring and Reporting Stage: Automated Tearsheet and Backtest-vs-Forward Report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0B981"/>
                </a:solidFill>
                <a:latin typeface="Arial"/>
              </a:rPr>
              <a:t>A8  A10</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19</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Build `python -m pipeline report` to compare the research backtest with the runner's forward-test logs, run monitoring checks with thresholds, and generate a tearsheet and a markdown report with data-driven insights and a recommendation.</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Make sure the forward-test logs exist</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backtest-vs-forward comparison</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Add monitoring checks, the tearsheet and the report</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Generate the report</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Read the monitoring checks</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+3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An automated tearsheet and backtest-versus-forward-test report with monitoring checks.</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25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194</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19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19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19_tearsheet.png"/>
          <p:cNvPicPr>
            <a:picLocks noChangeAspect="1"/>
          </p:cNvPicPr>
          <p:nvPr/>
        </p:nvPicPr>
        <p:blipFill>
          <a:blip r:embed="rId2"/>
          <a:stretch>
            <a:fillRect/>
          </a:stretch>
        </p:blipFill>
        <p:spPr>
          <a:xfrm>
            <a:off x="3832362" y="1828800"/>
            <a:ext cx="4526970" cy="3794760"/>
          </a:xfrm>
          <a:prstGeom prst="rect">
            <a:avLst/>
          </a:prstGeom>
        </p:spPr>
      </p:pic>
      <p:sp>
        <p:nvSpPr>
          <p:cNvPr id="8" name="Rectangle 7"/>
          <p:cNvSpPr/>
          <p:nvPr/>
        </p:nvSpPr>
        <p:spPr>
          <a:xfrm>
            <a:off x="3821389" y="1817827"/>
            <a:ext cx="4548916" cy="381670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6986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6986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6986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Lab19-performance-report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195</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Capstone: One Command Runs the Pipeline End to End, with an Agentic Layer and Human Approval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A7  A10  K1</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20</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Build pipeline/agents.py (analyst, researcher, trader and risk agents; rule-based by default, Claude optional) and pipeline/e2e.py (`python -m pipeline e2e`) that runs every stage in order with gates, then evaluate the pipeline and the role of human oversight.</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agent layer</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end-to-end orchestrator</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Run the whole pipeline</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Trace the run</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Read the agents' decisions</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+5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One command running the whole pipeline end to end, with a human-approved agentic layer.</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196</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20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20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20_e2e_pipeline.png"/>
          <p:cNvPicPr>
            <a:picLocks noChangeAspect="1"/>
          </p:cNvPicPr>
          <p:nvPr/>
        </p:nvPicPr>
        <p:blipFill>
          <a:blip r:embed="rId2"/>
          <a:stretch>
            <a:fillRect/>
          </a:stretch>
        </p:blipFill>
        <p:spPr>
          <a:xfrm>
            <a:off x="2388212" y="1828800"/>
            <a:ext cx="7415270" cy="3794760"/>
          </a:xfrm>
          <a:prstGeom prst="rect">
            <a:avLst/>
          </a:prstGeom>
        </p:spPr>
      </p:pic>
      <p:sp>
        <p:nvSpPr>
          <p:cNvPr id="8" name="Rectangle 7"/>
          <p:cNvSpPr/>
          <p:nvPr/>
        </p:nvSpPr>
        <p:spPr>
          <a:xfrm>
            <a:off x="2377239" y="1817827"/>
            <a:ext cx="7437216" cy="381670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6986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6986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6986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Lab20-agentic-capstone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197</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WHAT YOU COVERED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Topic 4 Recap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23376" y="475488"/>
            <a:ext cx="268833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72337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23376" y="475488"/>
            <a:ext cx="2688336" cy="310896"/>
          </a:xfrm>
          <a:prstGeom prst="rect">
            <a:avLst/>
          </a:prstGeom>
          <a:noFill/>
        </p:spPr>
        <p:txBody>
          <a:bodyPr wrap="square" anchor="ctr">
            <a:spAutoFit/>
          </a:bodyPr>
          <a:lstStyle/>
          <a:p>
            <a:pPr algn="ctr">
              <a:spcAft>
                <a:spcPts val="400"/>
              </a:spcAft>
            </a:pPr>
            <a:r>
              <a:rPr sz="1100" b="1">
                <a:solidFill>
                  <a:srgbClr val="F59E0B"/>
                </a:solidFill>
                <a:latin typeface="Arial"/>
              </a:rPr>
              <a:t>A7  A8  A9  A10  K7  K8</a:t>
            </a:r>
          </a:p>
        </p:txBody>
      </p:sp>
      <p:sp>
        <p:nvSpPr>
          <p:cNvPr id="10" name="Rectangle 9"/>
          <p:cNvSpPr/>
          <p:nvPr/>
        </p:nvSpPr>
        <p:spPr>
          <a:xfrm>
            <a:off x="777240" y="17830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77393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77393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347472"/>
          </a:xfrm>
          <a:prstGeom prst="rect">
            <a:avLst/>
          </a:prstGeom>
          <a:noFill/>
        </p:spPr>
        <p:txBody>
          <a:bodyPr wrap="square" anchor="ctr">
            <a:spAutoFit/>
          </a:bodyPr>
          <a:lstStyle/>
          <a:p>
            <a:pPr algn="l">
              <a:spcAft>
                <a:spcPts val="300"/>
              </a:spcAft>
            </a:pPr>
            <a:r>
              <a:rPr sz="1300" b="1">
                <a:solidFill>
                  <a:srgbClr val="161B26"/>
                </a:solidFill>
                <a:latin typeface="Arial"/>
              </a:rPr>
              <a:t>A7</a:t>
            </a:r>
          </a:p>
          <a:p>
            <a:pPr algn="l">
              <a:spcAft>
                <a:spcPts val="300"/>
              </a:spcAft>
            </a:pPr>
            <a:r>
              <a:rPr sz="900" b="0">
                <a:solidFill>
                  <a:srgbClr val="5B6372"/>
                </a:solidFill>
                <a:latin typeface="Arial"/>
              </a:rPr>
              <a:t>Perform coding and configuration of software agents or programs based on selected models or algorithms</a:t>
            </a:r>
          </a:p>
        </p:txBody>
      </p:sp>
      <p:sp>
        <p:nvSpPr>
          <p:cNvPr id="15" name="Rectangle 14"/>
          <p:cNvSpPr/>
          <p:nvPr/>
        </p:nvSpPr>
        <p:spPr>
          <a:xfrm>
            <a:off x="777240" y="2551176"/>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551176"/>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2679192"/>
            <a:ext cx="9427464" cy="347472"/>
          </a:xfrm>
          <a:prstGeom prst="rect">
            <a:avLst/>
          </a:prstGeom>
          <a:noFill/>
        </p:spPr>
        <p:txBody>
          <a:bodyPr wrap="square" anchor="ctr">
            <a:spAutoFit/>
          </a:bodyPr>
          <a:lstStyle/>
          <a:p>
            <a:pPr algn="l">
              <a:spcAft>
                <a:spcPts val="300"/>
              </a:spcAft>
            </a:pPr>
            <a:r>
              <a:rPr sz="1300" b="1">
                <a:solidFill>
                  <a:srgbClr val="161B26"/>
                </a:solidFill>
                <a:latin typeface="Arial"/>
              </a:rPr>
              <a:t>A8</a:t>
            </a:r>
          </a:p>
          <a:p>
            <a:pPr algn="l">
              <a:spcAft>
                <a:spcPts val="300"/>
              </a:spcAft>
            </a:pPr>
            <a:r>
              <a:rPr sz="900" b="0">
                <a:solidFill>
                  <a:srgbClr val="5B6372"/>
                </a:solidFill>
                <a:latin typeface="Arial"/>
              </a:rPr>
              <a:t>Conduct tests on the actions taken and outcomes to assess effectiveness of the models</a:t>
            </a:r>
          </a:p>
        </p:txBody>
      </p:sp>
      <p:sp>
        <p:nvSpPr>
          <p:cNvPr id="20" name="Rectangle 19"/>
          <p:cNvSpPr/>
          <p:nvPr/>
        </p:nvSpPr>
        <p:spPr>
          <a:xfrm>
            <a:off x="777240" y="3319272"/>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319272"/>
            <a:ext cx="91440" cy="5303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31012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31012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447288"/>
            <a:ext cx="9427464" cy="347472"/>
          </a:xfrm>
          <a:prstGeom prst="rect">
            <a:avLst/>
          </a:prstGeom>
          <a:noFill/>
        </p:spPr>
        <p:txBody>
          <a:bodyPr wrap="square" anchor="ctr">
            <a:spAutoFit/>
          </a:bodyPr>
          <a:lstStyle/>
          <a:p>
            <a:pPr algn="l">
              <a:spcAft>
                <a:spcPts val="300"/>
              </a:spcAft>
            </a:pPr>
            <a:r>
              <a:rPr sz="1300" b="1">
                <a:solidFill>
                  <a:srgbClr val="161B26"/>
                </a:solidFill>
                <a:latin typeface="Arial"/>
              </a:rPr>
              <a:t>A9</a:t>
            </a:r>
          </a:p>
          <a:p>
            <a:pPr algn="l">
              <a:spcAft>
                <a:spcPts val="300"/>
              </a:spcAft>
            </a:pPr>
            <a:r>
              <a:rPr sz="900" b="0">
                <a:solidFill>
                  <a:srgbClr val="5B6372"/>
                </a:solidFill>
                <a:latin typeface="Arial"/>
              </a:rPr>
              <a:t>Diagnose unintended outcomes produced by statistical models</a:t>
            </a:r>
          </a:p>
        </p:txBody>
      </p:sp>
      <p:sp>
        <p:nvSpPr>
          <p:cNvPr id="25" name="Rectangle 24"/>
          <p:cNvSpPr/>
          <p:nvPr/>
        </p:nvSpPr>
        <p:spPr>
          <a:xfrm>
            <a:off x="777240" y="4087368"/>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087368"/>
            <a:ext cx="91440" cy="5303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407822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407822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4215384"/>
            <a:ext cx="9427464" cy="347472"/>
          </a:xfrm>
          <a:prstGeom prst="rect">
            <a:avLst/>
          </a:prstGeom>
          <a:noFill/>
        </p:spPr>
        <p:txBody>
          <a:bodyPr wrap="square" anchor="ctr">
            <a:spAutoFit/>
          </a:bodyPr>
          <a:lstStyle/>
          <a:p>
            <a:pPr algn="l">
              <a:spcAft>
                <a:spcPts val="300"/>
              </a:spcAft>
            </a:pPr>
            <a:r>
              <a:rPr sz="1300" b="1">
                <a:solidFill>
                  <a:srgbClr val="161B26"/>
                </a:solidFill>
                <a:latin typeface="Arial"/>
              </a:rPr>
              <a:t>A10</a:t>
            </a:r>
          </a:p>
          <a:p>
            <a:pPr algn="l">
              <a:spcAft>
                <a:spcPts val="300"/>
              </a:spcAft>
            </a:pPr>
            <a:r>
              <a:rPr sz="900" b="0">
                <a:solidFill>
                  <a:srgbClr val="5B6372"/>
                </a:solidFill>
                <a:latin typeface="Arial"/>
              </a:rPr>
              <a:t>Draw relevant trends and insights from data analysis to support decisions and report accordingly</a:t>
            </a:r>
          </a:p>
        </p:txBody>
      </p:sp>
      <p:sp>
        <p:nvSpPr>
          <p:cNvPr id="30" name="Rectangle 29"/>
          <p:cNvSpPr/>
          <p:nvPr/>
        </p:nvSpPr>
        <p:spPr>
          <a:xfrm>
            <a:off x="777240" y="4855464"/>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4855464"/>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4983480"/>
            <a:ext cx="9427464" cy="347472"/>
          </a:xfrm>
          <a:prstGeom prst="rect">
            <a:avLst/>
          </a:prstGeom>
          <a:noFill/>
        </p:spPr>
        <p:txBody>
          <a:bodyPr wrap="square" anchor="ctr">
            <a:spAutoFit/>
          </a:bodyPr>
          <a:lstStyle/>
          <a:p>
            <a:pPr algn="l">
              <a:spcAft>
                <a:spcPts val="300"/>
              </a:spcAft>
            </a:pPr>
            <a:r>
              <a:rPr sz="1300" b="1">
                <a:solidFill>
                  <a:srgbClr val="161B26"/>
                </a:solidFill>
                <a:latin typeface="Arial"/>
              </a:rPr>
              <a:t>K7</a:t>
            </a:r>
          </a:p>
          <a:p>
            <a:pPr algn="l">
              <a:spcAft>
                <a:spcPts val="300"/>
              </a:spcAft>
            </a:pPr>
            <a:r>
              <a:rPr sz="900" b="0">
                <a:solidFill>
                  <a:srgbClr val="5B6372"/>
                </a:solidFill>
                <a:latin typeface="Arial"/>
              </a:rPr>
              <a:t>Coding languages for programming of algorithms and signals</a:t>
            </a:r>
          </a:p>
        </p:txBody>
      </p:sp>
      <p:sp>
        <p:nvSpPr>
          <p:cNvPr id="35" name="Rectangle 34"/>
          <p:cNvSpPr/>
          <p:nvPr/>
        </p:nvSpPr>
        <p:spPr>
          <a:xfrm>
            <a:off x="777240" y="562356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7240" y="5623560"/>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33272" y="561441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33272" y="561441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9" name="TextBox 38"/>
          <p:cNvSpPr txBox="1"/>
          <p:nvPr/>
        </p:nvSpPr>
        <p:spPr>
          <a:xfrm>
            <a:off x="1764792" y="5751576"/>
            <a:ext cx="9427464" cy="347472"/>
          </a:xfrm>
          <a:prstGeom prst="rect">
            <a:avLst/>
          </a:prstGeom>
          <a:noFill/>
        </p:spPr>
        <p:txBody>
          <a:bodyPr wrap="square" anchor="ctr">
            <a:spAutoFit/>
          </a:bodyPr>
          <a:lstStyle/>
          <a:p>
            <a:pPr algn="l">
              <a:spcAft>
                <a:spcPts val="300"/>
              </a:spcAft>
            </a:pPr>
            <a:r>
              <a:rPr sz="1300" b="1">
                <a:solidFill>
                  <a:srgbClr val="161B26"/>
                </a:solidFill>
                <a:latin typeface="Arial"/>
              </a:rPr>
              <a:t>K8</a:t>
            </a:r>
          </a:p>
          <a:p>
            <a:pPr algn="l">
              <a:spcAft>
                <a:spcPts val="300"/>
              </a:spcAft>
            </a:pPr>
            <a:r>
              <a:rPr sz="900" b="0">
                <a:solidFill>
                  <a:srgbClr val="5B6372"/>
                </a:solidFill>
                <a:latin typeface="Arial"/>
              </a:rPr>
              <a:t>Potential reasons for unintended outcomes</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198</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SUMMARY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Framed testable hypotheses</a:t>
            </a:r>
          </a:p>
          <a:p>
            <a:pPr algn="l">
              <a:spcAft>
                <a:spcPts val="300"/>
              </a:spcAft>
            </a:pPr>
            <a:r>
              <a:rPr sz="1300" b="0">
                <a:solidFill>
                  <a:srgbClr val="5B6372"/>
                </a:solidFill>
                <a:latin typeface="Arial"/>
              </a:rPr>
              <a:t>Instrument, signal, holding period, effect, benchmark.</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Built indicators and strategies</a:t>
            </a:r>
          </a:p>
          <a:p>
            <a:pPr algn="l">
              <a:spcAft>
                <a:spcPts val="300"/>
              </a:spcAft>
            </a:pPr>
            <a:r>
              <a:rPr sz="1300" b="0">
                <a:solidFill>
                  <a:srgbClr val="5B6372"/>
                </a:solidFill>
                <a:latin typeface="Arial"/>
              </a:rPr>
              <a:t>Pine Script on TradingView; Python on Alpaca data.</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Modelled and A/B-tested</a:t>
            </a:r>
          </a:p>
          <a:p>
            <a:pPr algn="l">
              <a:spcAft>
                <a:spcPts val="300"/>
              </a:spcAft>
            </a:pPr>
            <a:r>
              <a:rPr sz="1300" b="0">
                <a:solidFill>
                  <a:srgbClr val="5B6372"/>
                </a:solidFill>
                <a:latin typeface="Arial"/>
              </a:rPr>
              <a:t>ML classifiers, regimes, Welch's t-test and bootstrap.</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Backtested net of costs</a:t>
            </a:r>
          </a:p>
          <a:p>
            <a:pPr algn="l">
              <a:spcAft>
                <a:spcPts val="300"/>
              </a:spcAft>
            </a:pPr>
            <a:r>
              <a:rPr sz="1300" b="0">
                <a:solidFill>
                  <a:srgbClr val="5B6372"/>
                </a:solidFill>
                <a:latin typeface="Arial"/>
              </a:rPr>
              <a:t>Commission, spread, slippage and regulatory fees.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Forward-tested automatically</a:t>
            </a:r>
          </a:p>
          <a:p>
            <a:pPr algn="l">
              <a:spcAft>
                <a:spcPts val="300"/>
              </a:spcAft>
            </a:pPr>
            <a:r>
              <a:rPr sz="1300" b="0">
                <a:solidFill>
                  <a:srgbClr val="5B6372"/>
                </a:solidFill>
                <a:latin typeface="Arial"/>
              </a:rPr>
              <a:t>A paper-trading bot with risk checks and a trade log.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Diagnosed and reported</a:t>
            </a:r>
          </a:p>
          <a:p>
            <a:pPr algn="l">
              <a:spcAft>
                <a:spcPts val="300"/>
              </a:spcAft>
            </a:pPr>
            <a:r>
              <a:rPr sz="1300" b="0">
                <a:solidFill>
                  <a:srgbClr val="5B6372"/>
                </a:solidFill>
                <a:latin typeface="Arial"/>
              </a:rPr>
              <a:t>Found the bias, fixed it, and wrote the recommendation.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199</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Courseware &amp; Assessment on the LMS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Everything for the open-book assessment — slides, Learner Guide and submissions — lives on the LMS.</a:t>
            </a:r>
          </a:p>
        </p:txBody>
      </p:sp>
      <p:sp>
        <p:nvSpPr>
          <p:cNvPr id="8" name="Rectangle 7"/>
          <p:cNvSpPr/>
          <p:nvPr/>
        </p:nvSpPr>
        <p:spPr>
          <a:xfrm>
            <a:off x="777240" y="2148840"/>
            <a:ext cx="3749039" cy="3566160"/>
          </a:xfrm>
          <a:prstGeom prst="rect">
            <a:avLst/>
          </a:prstGeom>
          <a:solidFill>
            <a:srgbClr val="0F2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240279" y="251460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40279" y="2514600"/>
            <a:ext cx="822960" cy="822960"/>
          </a:xfrm>
          <a:prstGeom prst="rect">
            <a:avLst/>
          </a:prstGeom>
          <a:noFill/>
        </p:spPr>
        <p:txBody>
          <a:bodyPr wrap="square" anchor="ctr">
            <a:spAutoFit/>
          </a:bodyPr>
          <a:lstStyle/>
          <a:p>
            <a:pPr algn="ctr">
              <a:spcAft>
                <a:spcPts val="400"/>
              </a:spcAft>
            </a:pPr>
            <a:r>
              <a:rPr sz="3200" b="1">
                <a:solidFill>
                  <a:srgbClr val="0F2A5F"/>
                </a:solidFill>
                <a:latin typeface="Arial"/>
              </a:rPr>
              <a:t>T</a:t>
            </a:r>
          </a:p>
        </p:txBody>
      </p:sp>
      <p:sp>
        <p:nvSpPr>
          <p:cNvPr id="11" name="TextBox 10"/>
          <p:cNvSpPr txBox="1"/>
          <p:nvPr/>
        </p:nvSpPr>
        <p:spPr>
          <a:xfrm>
            <a:off x="777240" y="3520440"/>
            <a:ext cx="3749039" cy="457200"/>
          </a:xfrm>
          <a:prstGeom prst="rect">
            <a:avLst/>
          </a:prstGeom>
          <a:noFill/>
        </p:spPr>
        <p:txBody>
          <a:bodyPr wrap="square" anchor="t">
            <a:spAutoFit/>
          </a:bodyPr>
          <a:lstStyle/>
          <a:p>
            <a:pPr algn="ctr">
              <a:spcAft>
                <a:spcPts val="400"/>
              </a:spcAft>
            </a:pPr>
            <a:r>
              <a:rPr sz="1700" b="1">
                <a:solidFill>
                  <a:srgbClr val="FFFFFF"/>
                </a:solidFill>
                <a:latin typeface="Arial"/>
              </a:rPr>
              <a:t>Tertiary Infotech Academy</a:t>
            </a:r>
          </a:p>
        </p:txBody>
      </p:sp>
      <p:sp>
        <p:nvSpPr>
          <p:cNvPr id="12" name="TextBox 11"/>
          <p:cNvSpPr txBox="1"/>
          <p:nvPr/>
        </p:nvSpPr>
        <p:spPr>
          <a:xfrm>
            <a:off x="777240" y="3977640"/>
            <a:ext cx="3749039" cy="365760"/>
          </a:xfrm>
          <a:prstGeom prst="rect">
            <a:avLst/>
          </a:prstGeom>
          <a:noFill/>
        </p:spPr>
        <p:txBody>
          <a:bodyPr wrap="square" anchor="t">
            <a:spAutoFit/>
          </a:bodyPr>
          <a:lstStyle/>
          <a:p>
            <a:pPr algn="ctr">
              <a:spcAft>
                <a:spcPts val="400"/>
              </a:spcAft>
            </a:pPr>
            <a:r>
              <a:rPr sz="1200" b="0">
                <a:solidFill>
                  <a:srgbClr val="B8C7E0"/>
                </a:solidFill>
                <a:latin typeface="Arial"/>
              </a:rPr>
              <a:t>LMS for IBF-STS courses</a:t>
            </a:r>
          </a:p>
        </p:txBody>
      </p:sp>
      <p:sp>
        <p:nvSpPr>
          <p:cNvPr id="13" name="Rectangle 12"/>
          <p:cNvSpPr/>
          <p:nvPr/>
        </p:nvSpPr>
        <p:spPr>
          <a:xfrm>
            <a:off x="1737360" y="4526280"/>
            <a:ext cx="1828800"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737360" y="4526280"/>
            <a:ext cx="1828800" cy="502920"/>
          </a:xfrm>
          <a:prstGeom prst="rect">
            <a:avLst/>
          </a:prstGeom>
          <a:noFill/>
        </p:spPr>
        <p:txBody>
          <a:bodyPr wrap="square" anchor="ctr">
            <a:spAutoFit/>
          </a:bodyPr>
          <a:lstStyle/>
          <a:p>
            <a:pPr algn="ctr">
              <a:spcAft>
                <a:spcPts val="400"/>
              </a:spcAft>
            </a:pPr>
            <a:r>
              <a:rPr sz="1400" b="1">
                <a:solidFill>
                  <a:srgbClr val="FFFFFF"/>
                </a:solidFill>
                <a:latin typeface="Arial"/>
              </a:rPr>
              <a:t>Sign in / OTP</a:t>
            </a:r>
          </a:p>
        </p:txBody>
      </p:sp>
      <p:sp>
        <p:nvSpPr>
          <p:cNvPr id="15" name="TextBox 14"/>
          <p:cNvSpPr txBox="1"/>
          <p:nvPr/>
        </p:nvSpPr>
        <p:spPr>
          <a:xfrm>
            <a:off x="777240" y="5166360"/>
            <a:ext cx="3749039" cy="365760"/>
          </a:xfrm>
          <a:prstGeom prst="rect">
            <a:avLst/>
          </a:prstGeom>
          <a:noFill/>
        </p:spPr>
        <p:txBody>
          <a:bodyPr wrap="square" anchor="t">
            <a:spAutoFit/>
          </a:bodyPr>
          <a:lstStyle/>
          <a:p>
            <a:pPr algn="ctr">
              <a:spcAft>
                <a:spcPts val="400"/>
              </a:spcAft>
            </a:pPr>
            <a:r>
              <a:rPr sz="1200" b="1">
                <a:solidFill>
                  <a:srgbClr val="9CDCFE"/>
                </a:solidFill>
                <a:latin typeface="Arial"/>
              </a:rPr>
              <a:t>lms-tms.tertiaryinfotech.com</a:t>
            </a:r>
          </a:p>
        </p:txBody>
      </p:sp>
      <p:sp>
        <p:nvSpPr>
          <p:cNvPr id="16" name="Rectangle 15"/>
          <p:cNvSpPr/>
          <p:nvPr/>
        </p:nvSpPr>
        <p:spPr>
          <a:xfrm>
            <a:off x="4846320" y="2148840"/>
            <a:ext cx="656539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46320" y="2148840"/>
            <a:ext cx="91440" cy="8229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120640" y="2359152"/>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20640" y="2359152"/>
            <a:ext cx="402336" cy="402336"/>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20" name="TextBox 19"/>
          <p:cNvSpPr txBox="1"/>
          <p:nvPr/>
        </p:nvSpPr>
        <p:spPr>
          <a:xfrm>
            <a:off x="5715000" y="2148840"/>
            <a:ext cx="5468112" cy="822960"/>
          </a:xfrm>
          <a:prstGeom prst="rect">
            <a:avLst/>
          </a:prstGeom>
          <a:noFill/>
        </p:spPr>
        <p:txBody>
          <a:bodyPr wrap="square" anchor="ctr">
            <a:spAutoFit/>
          </a:bodyPr>
          <a:lstStyle/>
          <a:p>
            <a:pPr algn="l">
              <a:spcAft>
                <a:spcPts val="200"/>
              </a:spcAft>
            </a:pPr>
            <a:r>
              <a:rPr sz="1400" b="1">
                <a:solidFill>
                  <a:srgbClr val="161B26"/>
                </a:solidFill>
                <a:latin typeface="Arial"/>
              </a:rPr>
              <a:t>Sign in</a:t>
            </a:r>
          </a:p>
          <a:p>
            <a:pPr algn="l">
              <a:spcAft>
                <a:spcPts val="200"/>
              </a:spcAft>
            </a:pPr>
            <a:r>
              <a:rPr sz="1150" b="0">
                <a:solidFill>
                  <a:srgbClr val="5B6372"/>
                </a:solidFill>
                <a:latin typeface="Arial"/>
              </a:rPr>
              <a:t>Log in with your registered email (OTP or password).</a:t>
            </a:r>
          </a:p>
        </p:txBody>
      </p:sp>
      <p:sp>
        <p:nvSpPr>
          <p:cNvPr id="21" name="Rectangle 20"/>
          <p:cNvSpPr/>
          <p:nvPr/>
        </p:nvSpPr>
        <p:spPr>
          <a:xfrm>
            <a:off x="4846320" y="3072384"/>
            <a:ext cx="656539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846320" y="3072384"/>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120640" y="3282696"/>
            <a:ext cx="402336" cy="40233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20640" y="3282696"/>
            <a:ext cx="402336" cy="402336"/>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25" name="TextBox 24"/>
          <p:cNvSpPr txBox="1"/>
          <p:nvPr/>
        </p:nvSpPr>
        <p:spPr>
          <a:xfrm>
            <a:off x="5715000" y="3072384"/>
            <a:ext cx="5468112" cy="822960"/>
          </a:xfrm>
          <a:prstGeom prst="rect">
            <a:avLst/>
          </a:prstGeom>
          <a:noFill/>
        </p:spPr>
        <p:txBody>
          <a:bodyPr wrap="square" anchor="ctr">
            <a:spAutoFit/>
          </a:bodyPr>
          <a:lstStyle/>
          <a:p>
            <a:pPr algn="l">
              <a:spcAft>
                <a:spcPts val="200"/>
              </a:spcAft>
            </a:pPr>
            <a:r>
              <a:rPr sz="1400" b="1">
                <a:solidFill>
                  <a:srgbClr val="161B26"/>
                </a:solidFill>
                <a:latin typeface="Arial"/>
              </a:rPr>
              <a:t>Download the courseware</a:t>
            </a:r>
          </a:p>
          <a:p>
            <a:pPr algn="l">
              <a:spcAft>
                <a:spcPts val="200"/>
              </a:spcAft>
            </a:pPr>
            <a:r>
              <a:rPr sz="1150" b="0">
                <a:solidFill>
                  <a:srgbClr val="5B6372"/>
                </a:solidFill>
                <a:latin typeface="Arial"/>
              </a:rPr>
              <a:t>Trainer slides, Learner Guide and lab artefacts.</a:t>
            </a:r>
          </a:p>
        </p:txBody>
      </p:sp>
      <p:sp>
        <p:nvSpPr>
          <p:cNvPr id="26" name="Rectangle 25"/>
          <p:cNvSpPr/>
          <p:nvPr/>
        </p:nvSpPr>
        <p:spPr>
          <a:xfrm>
            <a:off x="4846320" y="3995928"/>
            <a:ext cx="656539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846320" y="3995928"/>
            <a:ext cx="91440" cy="8229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120640" y="4206240"/>
            <a:ext cx="402336" cy="40233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120640" y="4206240"/>
            <a:ext cx="402336" cy="402336"/>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30" name="TextBox 29"/>
          <p:cNvSpPr txBox="1"/>
          <p:nvPr/>
        </p:nvSpPr>
        <p:spPr>
          <a:xfrm>
            <a:off x="5715000" y="3995928"/>
            <a:ext cx="5468112" cy="822960"/>
          </a:xfrm>
          <a:prstGeom prst="rect">
            <a:avLst/>
          </a:prstGeom>
          <a:noFill/>
        </p:spPr>
        <p:txBody>
          <a:bodyPr wrap="square" anchor="ctr">
            <a:spAutoFit/>
          </a:bodyPr>
          <a:lstStyle/>
          <a:p>
            <a:pPr algn="l">
              <a:spcAft>
                <a:spcPts val="200"/>
              </a:spcAft>
            </a:pPr>
            <a:r>
              <a:rPr sz="1400" b="1">
                <a:solidFill>
                  <a:srgbClr val="161B26"/>
                </a:solidFill>
                <a:latin typeface="Arial"/>
              </a:rPr>
              <a:t>Mark attendance</a:t>
            </a:r>
          </a:p>
          <a:p>
            <a:pPr algn="l">
              <a:spcAft>
                <a:spcPts val="200"/>
              </a:spcAft>
            </a:pPr>
            <a:r>
              <a:rPr sz="1150" b="0">
                <a:solidFill>
                  <a:srgbClr val="5B6372"/>
                </a:solidFill>
                <a:latin typeface="Arial"/>
              </a:rPr>
              <a:t>Sign in for each session — IBF-STS funding needs 75% attendance.</a:t>
            </a:r>
          </a:p>
        </p:txBody>
      </p:sp>
      <p:sp>
        <p:nvSpPr>
          <p:cNvPr id="31" name="Rectangle 30"/>
          <p:cNvSpPr/>
          <p:nvPr/>
        </p:nvSpPr>
        <p:spPr>
          <a:xfrm>
            <a:off x="4846320" y="4919472"/>
            <a:ext cx="656539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846320" y="4919472"/>
            <a:ext cx="91440" cy="8229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120640" y="5129784"/>
            <a:ext cx="402336" cy="40233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120640" y="5129784"/>
            <a:ext cx="402336" cy="402336"/>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5" name="TextBox 34"/>
          <p:cNvSpPr txBox="1"/>
          <p:nvPr/>
        </p:nvSpPr>
        <p:spPr>
          <a:xfrm>
            <a:off x="5715000" y="4919472"/>
            <a:ext cx="5468112" cy="822960"/>
          </a:xfrm>
          <a:prstGeom prst="rect">
            <a:avLst/>
          </a:prstGeom>
          <a:noFill/>
        </p:spPr>
        <p:txBody>
          <a:bodyPr wrap="square" anchor="ctr">
            <a:spAutoFit/>
          </a:bodyPr>
          <a:lstStyle/>
          <a:p>
            <a:pPr algn="l">
              <a:spcAft>
                <a:spcPts val="200"/>
              </a:spcAft>
            </a:pPr>
            <a:r>
              <a:rPr sz="1400" b="1">
                <a:solidFill>
                  <a:srgbClr val="161B26"/>
                </a:solidFill>
                <a:latin typeface="Arial"/>
              </a:rPr>
              <a:t>Submit the assessment</a:t>
            </a:r>
          </a:p>
          <a:p>
            <a:pPr algn="l">
              <a:spcAft>
                <a:spcPts val="200"/>
              </a:spcAft>
            </a:pPr>
            <a:r>
              <a:rPr sz="1150" b="0">
                <a:solidFill>
                  <a:srgbClr val="5B6372"/>
                </a:solidFill>
                <a:latin typeface="Arial"/>
              </a:rPr>
              <a:t>Upload your WA answers and PP evidence here.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200</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 — Reminder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5180076"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5180076"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4741164" cy="548640"/>
          </a:xfrm>
          <a:prstGeom prst="rect">
            <a:avLst/>
          </a:prstGeom>
          <a:noFill/>
        </p:spPr>
        <p:txBody>
          <a:bodyPr wrap="square" anchor="t">
            <a:spAutoFit/>
          </a:bodyPr>
          <a:lstStyle/>
          <a:p>
            <a:pPr algn="l">
              <a:spcAft>
                <a:spcPts val="400"/>
              </a:spcAft>
            </a:pPr>
            <a:r>
              <a:rPr sz="1600" b="1">
                <a:solidFill>
                  <a:srgbClr val="1F6FEB"/>
                </a:solidFill>
                <a:latin typeface="Arial"/>
              </a:rPr>
              <a:t>Written Assessment</a:t>
            </a:r>
          </a:p>
        </p:txBody>
      </p:sp>
      <p:sp>
        <p:nvSpPr>
          <p:cNvPr id="10" name="TextBox 9"/>
          <p:cNvSpPr txBox="1"/>
          <p:nvPr/>
        </p:nvSpPr>
        <p:spPr>
          <a:xfrm>
            <a:off x="996696" y="2926080"/>
            <a:ext cx="4741164" cy="2377440"/>
          </a:xfrm>
          <a:prstGeom prst="rect">
            <a:avLst/>
          </a:prstGeom>
          <a:noFill/>
        </p:spPr>
        <p:txBody>
          <a:bodyPr wrap="square" anchor="t">
            <a:spAutoFit/>
          </a:bodyPr>
          <a:lstStyle/>
          <a:p>
            <a:pPr algn="l">
              <a:spcAft>
                <a:spcPts val="400"/>
              </a:spcAft>
            </a:pPr>
            <a:r>
              <a:rPr sz="1200" b="0">
                <a:solidFill>
                  <a:srgbClr val="161B26"/>
                </a:solidFill>
                <a:latin typeface="Arial"/>
              </a:rPr>
              <a:t>45 minutes · open book · 9 short-answer questions covering K1 - K9.</a:t>
            </a:r>
          </a:p>
        </p:txBody>
      </p:sp>
      <p:sp>
        <p:nvSpPr>
          <p:cNvPr id="11" name="Rectangle 10"/>
          <p:cNvSpPr/>
          <p:nvPr/>
        </p:nvSpPr>
        <p:spPr>
          <a:xfrm>
            <a:off x="6231636" y="1965960"/>
            <a:ext cx="5180076"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965960"/>
            <a:ext cx="5180076"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51092" y="2331720"/>
            <a:ext cx="4741164" cy="548640"/>
          </a:xfrm>
          <a:prstGeom prst="rect">
            <a:avLst/>
          </a:prstGeom>
          <a:noFill/>
        </p:spPr>
        <p:txBody>
          <a:bodyPr wrap="square" anchor="t">
            <a:spAutoFit/>
          </a:bodyPr>
          <a:lstStyle/>
          <a:p>
            <a:pPr algn="l">
              <a:spcAft>
                <a:spcPts val="400"/>
              </a:spcAft>
            </a:pPr>
            <a:r>
              <a:rPr sz="1600" b="1">
                <a:solidFill>
                  <a:srgbClr val="10B981"/>
                </a:solidFill>
                <a:latin typeface="Arial"/>
              </a:rPr>
              <a:t>Practical Performance</a:t>
            </a:r>
          </a:p>
        </p:txBody>
      </p:sp>
      <p:sp>
        <p:nvSpPr>
          <p:cNvPr id="14" name="TextBox 13"/>
          <p:cNvSpPr txBox="1"/>
          <p:nvPr/>
        </p:nvSpPr>
        <p:spPr>
          <a:xfrm>
            <a:off x="6451092" y="2926080"/>
            <a:ext cx="4741164" cy="2377440"/>
          </a:xfrm>
          <a:prstGeom prst="rect">
            <a:avLst/>
          </a:prstGeom>
          <a:noFill/>
        </p:spPr>
        <p:txBody>
          <a:bodyPr wrap="square" anchor="t">
            <a:spAutoFit/>
          </a:bodyPr>
          <a:lstStyle/>
          <a:p>
            <a:pPr algn="l">
              <a:spcAft>
                <a:spcPts val="400"/>
              </a:spcAft>
            </a:pPr>
            <a:r>
              <a:rPr sz="1200" b="0">
                <a:solidFill>
                  <a:srgbClr val="161B26"/>
                </a:solidFill>
                <a:latin typeface="Arial"/>
              </a:rPr>
              <a:t>75 minutes · open book · 4 tasks (the Trading Simulator and TradingView, as in the labs - no coding), A1 - A10.</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201</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4343"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1" name="TextBox 10"/>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Sign the assessment attendance record</a:t>
            </a:r>
          </a:p>
        </p:txBody>
      </p:sp>
      <p:sp>
        <p:nvSpPr>
          <p:cNvPr id="12" name="TextBox 11"/>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13" name="Rectangle 12"/>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56101"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17" name="TextBox 16"/>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Assessor briefing (not assessed)</a:t>
            </a:r>
          </a:p>
        </p:txBody>
      </p:sp>
      <p:sp>
        <p:nvSpPr>
          <p:cNvPr id="18" name="TextBox 17"/>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19" name="Rectangle 18"/>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37859"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3" name="TextBox 22"/>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Sit the WA (45 min) then the PP (75 min) — open book</a:t>
            </a:r>
          </a:p>
        </p:txBody>
      </p:sp>
      <p:sp>
        <p:nvSpPr>
          <p:cNvPr id="24" name="TextBox 23"/>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25" name="Rectangle 24"/>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22514"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19617"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29" name="TextBox 28"/>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Submit your answers on the LMS</a:t>
            </a:r>
          </a:p>
        </p:txBody>
      </p:sp>
      <p:sp>
        <p:nvSpPr>
          <p:cNvPr id="30" name="TextBox 29"/>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31" name="Rectangle 30"/>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04272"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101375"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5" name="TextBox 34"/>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Sign the Assessment Summary Record</a:t>
            </a:r>
          </a:p>
        </p:txBody>
      </p:sp>
      <p:sp>
        <p:nvSpPr>
          <p:cNvPr id="36" name="Rectangle 35"/>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77240" y="5257800"/>
            <a:ext cx="91440" cy="8229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Sign the assessment attendance record BEFORE you begin. Submit on the LMS.</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202</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CLOSING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Before You Leave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Attendance</a:t>
            </a:r>
          </a:p>
          <a:p>
            <a:pPr algn="l">
              <a:spcAft>
                <a:spcPts val="300"/>
              </a:spcAft>
            </a:pPr>
            <a:r>
              <a:rPr sz="1300" b="0">
                <a:solidFill>
                  <a:srgbClr val="5B6372"/>
                </a:solidFill>
                <a:latin typeface="Arial"/>
              </a:rPr>
              <a:t>Make sure every session is signed — 75% is required for IBF-STS funding.</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Course feedback</a:t>
            </a:r>
          </a:p>
          <a:p>
            <a:pPr algn="l">
              <a:spcAft>
                <a:spcPts val="300"/>
              </a:spcAft>
            </a:pPr>
            <a:r>
              <a:rPr sz="1300" b="0">
                <a:solidFill>
                  <a:srgbClr val="5B6372"/>
                </a:solidFill>
                <a:latin typeface="Arial"/>
              </a:rPr>
              <a:t>Complete the feedback form on the LMS.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Keep practising on paper</a:t>
            </a:r>
          </a:p>
          <a:p>
            <a:pPr algn="l">
              <a:spcAft>
                <a:spcPts val="300"/>
              </a:spcAft>
            </a:pPr>
            <a:r>
              <a:rPr sz="1300" b="0">
                <a:solidFill>
                  <a:srgbClr val="5B6372"/>
                </a:solidFill>
                <a:latin typeface="Arial"/>
              </a:rPr>
              <a:t>Your Alpaca paper account, the Trading Simulator and the lab code are yours to keep.</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Not investment advice</a:t>
            </a:r>
          </a:p>
          <a:p>
            <a:pPr algn="l">
              <a:spcAft>
                <a:spcPts val="300"/>
              </a:spcAft>
            </a:pPr>
            <a:r>
              <a:rPr sz="1300" b="0">
                <a:solidFill>
                  <a:srgbClr val="5B6372"/>
                </a:solidFill>
                <a:latin typeface="Arial"/>
              </a:rPr>
              <a:t>Scenarios are fictitious; trade real money only with proper advice.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203</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2651760"/>
            <a:ext cx="12191695" cy="1097280"/>
          </a:xfrm>
          <a:prstGeom prst="rect">
            <a:avLst/>
          </a:prstGeom>
          <a:noFill/>
        </p:spPr>
        <p:txBody>
          <a:bodyPr wrap="square" anchor="t">
            <a:spAutoFit/>
          </a:bodyPr>
          <a:lstStyle/>
          <a:p>
            <a:pPr algn="ctr">
              <a:spcAft>
                <a:spcPts val="400"/>
              </a:spcAft>
            </a:pPr>
            <a:r>
              <a:rPr sz="5400" b="1">
                <a:solidFill>
                  <a:srgbClr val="161B26"/>
                </a:solidFill>
                <a:latin typeface="Arial"/>
              </a:rPr>
              <a:t>Thank You</a:t>
            </a:r>
          </a:p>
        </p:txBody>
      </p:sp>
      <p:sp>
        <p:nvSpPr>
          <p:cNvPr id="6" name="TextBox 5"/>
          <p:cNvSpPr txBox="1"/>
          <p:nvPr/>
        </p:nvSpPr>
        <p:spPr>
          <a:xfrm>
            <a:off x="0" y="3840480"/>
            <a:ext cx="12191695" cy="548640"/>
          </a:xfrm>
          <a:prstGeom prst="rect">
            <a:avLst/>
          </a:prstGeom>
          <a:noFill/>
        </p:spPr>
        <p:txBody>
          <a:bodyPr wrap="square" anchor="t">
            <a:spAutoFit/>
          </a:bodyPr>
          <a:lstStyle/>
          <a:p>
            <a:pPr algn="ctr">
              <a:spcAft>
                <a:spcPts val="400"/>
              </a:spcAft>
            </a:pPr>
            <a:r>
              <a:rPr sz="1600" b="0">
                <a:solidFill>
                  <a:srgbClr val="5B6372"/>
                </a:solidFill>
                <a:latin typeface="Arial"/>
              </a:rPr>
              <a:t>Machine Learning 101 for Financial Trading  ·  FSE-DAT-3019-1.1</a:t>
            </a:r>
          </a:p>
        </p:txBody>
      </p:sp>
      <p:sp>
        <p:nvSpPr>
          <p:cNvPr id="7" name="TextBox 6"/>
          <p:cNvSpPr txBox="1"/>
          <p:nvPr/>
        </p:nvSpPr>
        <p:spPr>
          <a:xfrm>
            <a:off x="0" y="4434840"/>
            <a:ext cx="12191695" cy="548640"/>
          </a:xfrm>
          <a:prstGeom prst="rect">
            <a:avLst/>
          </a:prstGeom>
          <a:noFill/>
        </p:spPr>
        <p:txBody>
          <a:bodyPr wrap="square" anchor="t">
            <a:spAutoFit/>
          </a:bodyPr>
          <a:lstStyle/>
          <a:p>
            <a:pPr algn="ctr">
              <a:spcAft>
                <a:spcPts val="400"/>
              </a:spcAft>
            </a:pPr>
            <a:r>
              <a:rPr sz="1300" b="0">
                <a:solidFill>
                  <a:srgbClr val="5B6372"/>
                </a:solidFill>
                <a:latin typeface="Arial"/>
              </a:rPr>
              <a:t>Tertiary Infotech Academy Pte Ltd  ·  UEN 201200696W</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(Full Code)  ·  FSE-DAT-3019-1.1  ·  v2.7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101 for Financial Trading - Full Code Edition</dc:title>
  <dc:subject/>
  <dc:creator>Tertiary Infotech Academy Pte Ltd</dc:creator>
  <cp:keywords/>
  <dc:description>generated using python-pptx</dc:description>
  <cp:lastModifiedBy>Tertiary Infotech Academy Pte Ltd</cp:lastModifiedBy>
  <cp:revision>1</cp:revision>
  <dcterms:created xsi:type="dcterms:W3CDTF">2013-01-27T09:14:16Z</dcterms:created>
  <dcterms:modified xsi:type="dcterms:W3CDTF">2013-01-27T09:15:58Z</dcterms:modified>
  <cp:category/>
</cp:coreProperties>
</file>
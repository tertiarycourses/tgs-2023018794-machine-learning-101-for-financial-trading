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31520" y="685800"/>
            <a:ext cx="822960" cy="822960"/>
          </a:xfrm>
          <a:prstGeom prst="ellipse">
            <a:avLst/>
          </a:prstGeom>
          <a:solidFill>
            <a:srgbClr val="0F2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85800"/>
            <a:ext cx="822960" cy="822960"/>
          </a:xfrm>
          <a:prstGeom prst="rect">
            <a:avLst/>
          </a:prstGeom>
          <a:noFill/>
        </p:spPr>
        <p:txBody>
          <a:bodyPr wrap="square" anchor="ctr">
            <a:spAutoFit/>
          </a:bodyPr>
          <a:lstStyle/>
          <a:p>
            <a:pPr algn="ctr">
              <a:spcAft>
                <a:spcPts val="400"/>
              </a:spcAft>
            </a:pPr>
            <a:r>
              <a:rPr sz="3400" b="1">
                <a:solidFill>
                  <a:srgbClr val="FFFFFF"/>
                </a:solidFill>
                <a:latin typeface="Arial"/>
              </a:rPr>
              <a:t>T</a:t>
            </a:r>
          </a:p>
        </p:txBody>
      </p:sp>
      <p:sp>
        <p:nvSpPr>
          <p:cNvPr id="7" name="TextBox 6"/>
          <p:cNvSpPr txBox="1"/>
          <p:nvPr/>
        </p:nvSpPr>
        <p:spPr>
          <a:xfrm>
            <a:off x="731520" y="1874519"/>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TRAINER SLIDES  ·  IBF-STS ACCREDITED</a:t>
            </a:r>
          </a:p>
        </p:txBody>
      </p:sp>
      <p:sp>
        <p:nvSpPr>
          <p:cNvPr id="8" name="TextBox 7"/>
          <p:cNvSpPr txBox="1"/>
          <p:nvPr/>
        </p:nvSpPr>
        <p:spPr>
          <a:xfrm>
            <a:off x="731520" y="2331720"/>
            <a:ext cx="10607040" cy="1097280"/>
          </a:xfrm>
          <a:prstGeom prst="rect">
            <a:avLst/>
          </a:prstGeom>
          <a:noFill/>
        </p:spPr>
        <p:txBody>
          <a:bodyPr wrap="square" anchor="t">
            <a:spAutoFit/>
          </a:bodyPr>
          <a:lstStyle/>
          <a:p>
            <a:pPr algn="l">
              <a:spcAft>
                <a:spcPts val="400"/>
              </a:spcAft>
            </a:pPr>
            <a:r>
              <a:rPr sz="3400" b="1">
                <a:solidFill>
                  <a:srgbClr val="161B26"/>
                </a:solidFill>
                <a:latin typeface="Arial"/>
              </a:rPr>
              <a:t>Machine Learning 101 for Financial Trading</a:t>
            </a:r>
          </a:p>
        </p:txBody>
      </p:sp>
      <p:sp>
        <p:nvSpPr>
          <p:cNvPr id="9" name="Rectangle 8"/>
          <p:cNvSpPr/>
          <p:nvPr/>
        </p:nvSpPr>
        <p:spPr>
          <a:xfrm>
            <a:off x="731520" y="3611880"/>
            <a:ext cx="201168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886200"/>
            <a:ext cx="10607040" cy="1371600"/>
          </a:xfrm>
          <a:prstGeom prst="rect">
            <a:avLst/>
          </a:prstGeom>
          <a:noFill/>
        </p:spPr>
        <p:txBody>
          <a:bodyPr wrap="square" anchor="t">
            <a:spAutoFit/>
          </a:bodyPr>
          <a:lstStyle/>
          <a:p>
            <a:pPr algn="l">
              <a:spcAft>
                <a:spcPts val="700"/>
              </a:spcAft>
            </a:pPr>
            <a:r>
              <a:rPr sz="1500" b="0">
                <a:solidFill>
                  <a:srgbClr val="5B6372"/>
                </a:solidFill>
                <a:latin typeface="Arial"/>
              </a:rPr>
              <a:t>FSE-DAT-3019-1.1  ·  Data Analytics and Computational Modelling  ·  Proficiency Level 3</a:t>
            </a:r>
          </a:p>
          <a:p>
            <a:pPr algn="l">
              <a:spcAft>
                <a:spcPts val="700"/>
              </a:spcAft>
            </a:pPr>
            <a:r>
              <a:rPr sz="1500" b="0">
                <a:solidFill>
                  <a:srgbClr val="5B6372"/>
                </a:solidFill>
                <a:latin typeface="Arial"/>
              </a:rPr>
              <a:t>Conducted by Tertiary Infotech Academy Pte Ltd  ·  UEN 201200696W</a:t>
            </a:r>
          </a:p>
          <a:p>
            <a:pPr algn="l">
              <a:spcAft>
                <a:spcPts val="700"/>
              </a:spcAft>
            </a:pPr>
            <a:r>
              <a:rPr sz="1400" b="1">
                <a:solidFill>
                  <a:srgbClr val="1F6FEB"/>
                </a:solidFill>
                <a:latin typeface="Arial"/>
              </a:rPr>
              <a:t>Version 2.0  ·  18 October 2026</a:t>
            </a:r>
          </a:p>
        </p:txBody>
      </p:sp>
      <p:sp>
        <p:nvSpPr>
          <p:cNvPr id="11" name="TextBox 10"/>
          <p:cNvSpPr txBox="1"/>
          <p:nvPr/>
        </p:nvSpPr>
        <p:spPr>
          <a:xfrm>
            <a:off x="731520" y="5943600"/>
            <a:ext cx="10607040" cy="365760"/>
          </a:xfrm>
          <a:prstGeom prst="rect">
            <a:avLst/>
          </a:prstGeom>
          <a:noFill/>
        </p:spPr>
        <p:txBody>
          <a:bodyPr wrap="square" anchor="t">
            <a:spAutoFit/>
          </a:bodyPr>
          <a:lstStyle/>
          <a:p>
            <a:pPr algn="l">
              <a:spcAft>
                <a:spcPts val="400"/>
              </a:spcAft>
            </a:pPr>
            <a:r>
              <a:rPr sz="1000" b="0">
                <a:solidFill>
                  <a:srgbClr val="5B6372"/>
                </a:solidFill>
                <a:latin typeface="Arial"/>
              </a:rPr>
              <a:t>© Tertiary Infotech Academy Pte Ltd. All rights reserved.  ·  www.tertiarycourses.com.sg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ATTENDANCE · IBF-STS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Attendance and IBF-STS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Sign in every session</a:t>
            </a:r>
          </a:p>
          <a:p>
            <a:pPr algn="l">
              <a:spcAft>
                <a:spcPts val="300"/>
              </a:spcAft>
            </a:pPr>
            <a:r>
              <a:rPr sz="1300" b="0">
                <a:solidFill>
                  <a:srgbClr val="5B6372"/>
                </a:solidFill>
                <a:latin typeface="Arial"/>
              </a:rPr>
              <a:t>Mark attendance at the start of each session and after lunch.</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attendance</a:t>
            </a:r>
          </a:p>
          <a:p>
            <a:pPr algn="l">
              <a:spcAft>
                <a:spcPts val="300"/>
              </a:spcAft>
            </a:pPr>
            <a:r>
              <a:rPr sz="1300" b="0">
                <a:solidFill>
                  <a:srgbClr val="5B6372"/>
                </a:solidFill>
                <a:latin typeface="Arial"/>
              </a:rPr>
              <a:t>IBF-STS funding requires at least 75% attendance.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Pass the assessment</a:t>
            </a:r>
          </a:p>
          <a:p>
            <a:pPr algn="l">
              <a:spcAft>
                <a:spcPts val="300"/>
              </a:spcAft>
            </a:pPr>
            <a:r>
              <a:rPr sz="1300" b="0">
                <a:solidFill>
                  <a:srgbClr val="5B6372"/>
                </a:solidFill>
                <a:latin typeface="Arial"/>
              </a:rPr>
              <a:t>Funding also requires passing both assessment components.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 attendance</a:t>
            </a:r>
          </a:p>
          <a:p>
            <a:pPr algn="l">
              <a:spcAft>
                <a:spcPts val="300"/>
              </a:spcAft>
            </a:pPr>
            <a:r>
              <a:rPr sz="1300" b="0">
                <a:solidFill>
                  <a:srgbClr val="5B6372"/>
                </a:solidFill>
                <a:latin typeface="Arial"/>
              </a:rPr>
              <a:t>A separate record is signed before the assessment begins.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________________________</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Complete this panel with your own details before delivery.</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Course Developer · Trainer · Assessor for this IBF-STS programme.</a:t>
            </a:r>
          </a:p>
        </p:txBody>
      </p:sp>
      <p:sp>
        <p:nvSpPr>
          <p:cNvPr id="13" name="Rectangle 12"/>
          <p:cNvSpPr/>
          <p:nvPr/>
        </p:nvSpPr>
        <p:spPr>
          <a:xfrm>
            <a:off x="4480560" y="1783080"/>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713232"/>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300" b="0">
                <a:solidFill>
                  <a:srgbClr val="161B26"/>
                </a:solidFill>
                <a:latin typeface="Arial"/>
              </a:rPr>
              <a:t>Course Developer, Trainer and Assessor</a:t>
            </a:r>
          </a:p>
        </p:txBody>
      </p:sp>
      <p:sp>
        <p:nvSpPr>
          <p:cNvPr id="16" name="Rectangle 15"/>
          <p:cNvSpPr/>
          <p:nvPr/>
        </p:nvSpPr>
        <p:spPr>
          <a:xfrm>
            <a:off x="4480560" y="2679192"/>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679192"/>
            <a:ext cx="91440"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679192"/>
            <a:ext cx="6400800" cy="713232"/>
          </a:xfrm>
          <a:prstGeom prst="rect">
            <a:avLst/>
          </a:prstGeom>
          <a:noFill/>
        </p:spPr>
        <p:txBody>
          <a:bodyPr wrap="square" anchor="ctr">
            <a:spAutoFit/>
          </a:bodyPr>
          <a:lstStyle/>
          <a:p>
            <a:pPr algn="l">
              <a:spcAft>
                <a:spcPts val="300"/>
              </a:spcAft>
            </a:pPr>
            <a:r>
              <a:rPr sz="1100" b="1">
                <a:solidFill>
                  <a:srgbClr val="10B981"/>
                </a:solidFill>
                <a:latin typeface="Arial"/>
              </a:rPr>
              <a:t>CERTIFICATION</a:t>
            </a:r>
          </a:p>
          <a:p>
            <a:pPr algn="l">
              <a:spcAft>
                <a:spcPts val="300"/>
              </a:spcAft>
            </a:pPr>
            <a:r>
              <a:rPr sz="1300" b="0">
                <a:solidFill>
                  <a:srgbClr val="161B26"/>
                </a:solidFill>
                <a:latin typeface="Arial"/>
              </a:rPr>
              <a:t>ACTA · DACE · PhD</a:t>
            </a:r>
          </a:p>
        </p:txBody>
      </p:sp>
      <p:sp>
        <p:nvSpPr>
          <p:cNvPr id="19" name="Rectangle 18"/>
          <p:cNvSpPr/>
          <p:nvPr/>
        </p:nvSpPr>
        <p:spPr>
          <a:xfrm>
            <a:off x="4480560" y="3575304"/>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575304"/>
            <a:ext cx="91440"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575304"/>
            <a:ext cx="6400800" cy="713232"/>
          </a:xfrm>
          <a:prstGeom prst="rect">
            <a:avLst/>
          </a:prstGeom>
          <a:noFill/>
        </p:spPr>
        <p:txBody>
          <a:bodyPr wrap="square" anchor="ctr">
            <a:spAutoFit/>
          </a:bodyPr>
          <a:lstStyle/>
          <a:p>
            <a:pPr algn="l">
              <a:spcAft>
                <a:spcPts val="300"/>
              </a:spcAft>
            </a:pPr>
            <a:r>
              <a:rPr sz="1100" b="1">
                <a:solidFill>
                  <a:srgbClr val="7C3AED"/>
                </a:solidFill>
                <a:latin typeface="Arial"/>
              </a:rPr>
              <a:t>FINANCIAL SERVICES</a:t>
            </a:r>
          </a:p>
          <a:p>
            <a:pPr algn="l">
              <a:spcAft>
                <a:spcPts val="300"/>
              </a:spcAft>
            </a:pPr>
            <a:r>
              <a:rPr sz="1300" b="0">
                <a:solidFill>
                  <a:srgbClr val="161B26"/>
                </a:solidFill>
                <a:latin typeface="Arial"/>
              </a:rPr>
              <a:t>IBF-STS programmes in AI, algorithmic trading and fintech</a:t>
            </a:r>
          </a:p>
        </p:txBody>
      </p:sp>
      <p:sp>
        <p:nvSpPr>
          <p:cNvPr id="22" name="Rectangle 21"/>
          <p:cNvSpPr/>
          <p:nvPr/>
        </p:nvSpPr>
        <p:spPr>
          <a:xfrm>
            <a:off x="4480560" y="4471416"/>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471416"/>
            <a:ext cx="9144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471416"/>
            <a:ext cx="6400800" cy="713232"/>
          </a:xfrm>
          <a:prstGeom prst="rect">
            <a:avLst/>
          </a:prstGeom>
          <a:noFill/>
        </p:spPr>
        <p:txBody>
          <a:bodyPr wrap="square" anchor="ctr">
            <a:spAutoFit/>
          </a:bodyPr>
          <a:lstStyle/>
          <a:p>
            <a:pPr algn="l">
              <a:spcAft>
                <a:spcPts val="300"/>
              </a:spcAft>
            </a:pPr>
            <a:r>
              <a:rPr sz="1100" b="1">
                <a:solidFill>
                  <a:srgbClr val="F59E0B"/>
                </a:solidFill>
                <a:latin typeface="Arial"/>
              </a:rPr>
              <a:t>DELIVERS</a:t>
            </a:r>
          </a:p>
          <a:p>
            <a:pPr algn="l">
              <a:spcAft>
                <a:spcPts val="300"/>
              </a:spcAft>
            </a:pPr>
            <a:r>
              <a:rPr sz="1300" b="0">
                <a:solidFill>
                  <a:srgbClr val="161B26"/>
                </a:solidFill>
                <a:latin typeface="Arial"/>
              </a:rPr>
              <a:t>AI, machine learning and data programmes for financial institutions</a:t>
            </a:r>
          </a:p>
        </p:txBody>
      </p:sp>
      <p:sp>
        <p:nvSpPr>
          <p:cNvPr id="25" name="Rectangle 24"/>
          <p:cNvSpPr/>
          <p:nvPr/>
        </p:nvSpPr>
        <p:spPr>
          <a:xfrm>
            <a:off x="4480560" y="5367528"/>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5367528"/>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5367528"/>
            <a:ext cx="6400800" cy="713232"/>
          </a:xfrm>
          <a:prstGeom prst="rect">
            <a:avLst/>
          </a:prstGeom>
          <a:noFill/>
        </p:spPr>
        <p:txBody>
          <a:bodyPr wrap="square" anchor="ctr">
            <a:spAutoFit/>
          </a:bodyPr>
          <a:lstStyle/>
          <a:p>
            <a:pPr algn="l">
              <a:spcAft>
                <a:spcPts val="300"/>
              </a:spcAft>
            </a:pPr>
            <a:r>
              <a:rPr sz="1100" b="1">
                <a:solidFill>
                  <a:srgbClr val="1F6FEB"/>
                </a:solidFill>
                <a:latin typeface="Arial"/>
              </a:rPr>
              <a:t>FOUNDER</a:t>
            </a:r>
          </a:p>
          <a:p>
            <a:pPr algn="l">
              <a:spcAft>
                <a:spcPts val="300"/>
              </a:spcAft>
            </a:pPr>
            <a:r>
              <a:rPr sz="1300" b="0">
                <a:solidFill>
                  <a:srgbClr val="161B26"/>
                </a:solidFill>
                <a:latin typeface="Arial"/>
              </a:rPr>
              <a:t>Tertiary Infotech Academy Pte Ltd</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10515600" cy="4297680"/>
          </a:xfrm>
          <a:prstGeom prst="rect">
            <a:avLst/>
          </a:prstGeom>
          <a:noFill/>
        </p:spPr>
        <p:txBody>
          <a:bodyPr wrap="square">
            <a:spAutoFit/>
          </a:bodyPr>
          <a:lstStyle/>
          <a:p>
            <a:pPr>
              <a:spcAft>
                <a:spcPts val="1000"/>
              </a:spcAft>
            </a:pPr>
            <a:r>
              <a:rPr sz="1700">
                <a:solidFill>
                  <a:srgbClr val="161B26"/>
                </a:solidFill>
                <a:latin typeface="Arial"/>
              </a:rPr>
              <a:t>•  Your name, your institution and your role.</a:t>
            </a:r>
          </a:p>
          <a:p>
            <a:pPr>
              <a:spcAft>
                <a:spcPts val="1000"/>
              </a:spcAft>
            </a:pPr>
            <a:r>
              <a:rPr sz="1700">
                <a:solidFill>
                  <a:srgbClr val="161B26"/>
                </a:solidFill>
                <a:latin typeface="Arial"/>
              </a:rPr>
              <a:t>•  Do you trade, invest, analyse or build systems for markets today?</a:t>
            </a:r>
          </a:p>
          <a:p>
            <a:pPr>
              <a:spcAft>
                <a:spcPts val="1000"/>
              </a:spcAft>
            </a:pPr>
            <a:r>
              <a:rPr sz="1700">
                <a:solidFill>
                  <a:srgbClr val="161B26"/>
                </a:solidFill>
                <a:latin typeface="Arial"/>
              </a:rPr>
              <a:t>•  Have you used TradingView, a broker API or Python before?</a:t>
            </a:r>
          </a:p>
          <a:p>
            <a:pPr>
              <a:spcAft>
                <a:spcPts val="1000"/>
              </a:spcAft>
            </a:pPr>
            <a:r>
              <a:rPr sz="1700">
                <a:solidFill>
                  <a:srgbClr val="161B26"/>
                </a:solidFill>
                <a:latin typeface="Arial"/>
              </a:rPr>
              <a:t>•  One trading rule you believe works — we will test it this week.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Be on time</a:t>
            </a:r>
          </a:p>
          <a:p>
            <a:pPr algn="l">
              <a:spcAft>
                <a:spcPts val="300"/>
              </a:spcAft>
            </a:pPr>
            <a:r>
              <a:rPr sz="1300" b="0">
                <a:solidFill>
                  <a:srgbClr val="5B6372"/>
                </a:solidFill>
                <a:latin typeface="Arial"/>
              </a:rPr>
              <a:t>Sessions restart promptly after each break.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Phones on silent</a:t>
            </a:r>
          </a:p>
          <a:p>
            <a:pPr algn="l">
              <a:spcAft>
                <a:spcPts val="300"/>
              </a:spcAft>
            </a:pPr>
            <a:r>
              <a:rPr sz="1300" b="0">
                <a:solidFill>
                  <a:srgbClr val="5B6372"/>
                </a:solidFill>
                <a:latin typeface="Arial"/>
              </a:rPr>
              <a:t>Take calls outside the room.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Ask as we go</a:t>
            </a:r>
          </a:p>
          <a:p>
            <a:pPr algn="l">
              <a:spcAft>
                <a:spcPts val="300"/>
              </a:spcAft>
            </a:pPr>
            <a:r>
              <a:rPr sz="1300" b="0">
                <a:solidFill>
                  <a:srgbClr val="5B6372"/>
                </a:solidFill>
                <a:latin typeface="Arial"/>
              </a:rPr>
              <a:t>Questions are welcome at any point.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Hands on the keyboard</a:t>
            </a:r>
          </a:p>
          <a:p>
            <a:pPr algn="l">
              <a:spcAft>
                <a:spcPts val="300"/>
              </a:spcAft>
            </a:pPr>
            <a:r>
              <a:rPr sz="1300" b="0">
                <a:solidFill>
                  <a:srgbClr val="5B6372"/>
                </a:solidFill>
                <a:latin typeface="Arial"/>
              </a:rPr>
              <a:t>Twenty labs — follow along on your own laptop.</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Paper trading only</a:t>
            </a:r>
          </a:p>
          <a:p>
            <a:pPr algn="l">
              <a:spcAft>
                <a:spcPts val="300"/>
              </a:spcAft>
            </a:pPr>
            <a:r>
              <a:rPr sz="1300" b="0">
                <a:solidFill>
                  <a:srgbClr val="5B6372"/>
                </a:solidFill>
                <a:latin typeface="Arial"/>
              </a:rPr>
              <a:t>No real money is used anywhere in this course.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Not investment advice</a:t>
            </a:r>
          </a:p>
          <a:p>
            <a:pPr algn="l">
              <a:spcAft>
                <a:spcPts val="300"/>
              </a:spcAft>
            </a:pPr>
            <a:r>
              <a:rPr sz="1300" b="0">
                <a:solidFill>
                  <a:srgbClr val="5B6372"/>
                </a:solidFill>
                <a:latin typeface="Arial"/>
              </a:rPr>
              <a:t>Lion City Capital and all scenarios are fictitious.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You'll Achieve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LO1  ·  A1, A6</a:t>
            </a:r>
          </a:p>
          <a:p>
            <a:pPr algn="l">
              <a:spcAft>
                <a:spcPts val="300"/>
              </a:spcAft>
            </a:pPr>
            <a:r>
              <a:rPr sz="1000" b="0">
                <a:solidFill>
                  <a:srgbClr val="5B6372"/>
                </a:solidFill>
                <a:latin typeface="Arial"/>
              </a:rPr>
              <a:t>Develop hypotheses for implementing data analytics and computational modelling activities in algorithmic trading, and identify possible big data applications across the forms of data within financial services.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LO2  ·  A2, A3</a:t>
            </a:r>
          </a:p>
          <a:p>
            <a:pPr algn="l">
              <a:spcAft>
                <a:spcPts val="300"/>
              </a:spcAft>
            </a:pPr>
            <a:r>
              <a:rPr sz="1000" b="0">
                <a:solidFill>
                  <a:srgbClr val="5B6372"/>
                </a:solidFill>
                <a:latin typeface="Arial"/>
              </a:rPr>
              <a:t>Identify appropriate statistical algorithms and data models to test trading hypotheses, and use appropriate analytics platforms, analytical tools and statistical methods given specific analytics and reporting requirements.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LO3  ·  A4, A5</a:t>
            </a:r>
          </a:p>
          <a:p>
            <a:pPr algn="l">
              <a:spcAft>
                <a:spcPts val="300"/>
              </a:spcAft>
            </a:pPr>
            <a:r>
              <a:rPr sz="1000" b="0">
                <a:solidFill>
                  <a:srgbClr val="5B6372"/>
                </a:solidFill>
                <a:latin typeface="Arial"/>
              </a:rPr>
              <a:t>Conduct statistical modelling of market data with machine learning models to derive patterns and solutions, and perform A/B testing of trading strategies based on different hypotheses.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LO4  ·  A7, A8, A9, A10</a:t>
            </a:r>
          </a:p>
          <a:p>
            <a:pPr algn="l">
              <a:spcAft>
                <a:spcPts val="300"/>
              </a:spcAft>
            </a:pPr>
            <a:r>
              <a:rPr sz="1000" b="0">
                <a:solidFill>
                  <a:srgbClr val="5B6372"/>
                </a:solidFill>
                <a:latin typeface="Arial"/>
              </a:rPr>
              <a:t>Perform coding and configuration of an automated trading program based on selected models or algorithms, conduct tests on its actions and outcomes, diagnose unintended outcomes, and draw insights from the results to support decisions and report accordingly.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JOURNEY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Course Journey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Topic 1 — Quant and Algo Trading Foundations</a:t>
            </a:r>
          </a:p>
          <a:p>
            <a:pPr algn="l">
              <a:spcAft>
                <a:spcPts val="300"/>
              </a:spcAft>
            </a:pPr>
            <a:r>
              <a:rPr sz="1100" b="0">
                <a:solidFill>
                  <a:srgbClr val="5B6372"/>
                </a:solidFill>
                <a:latin typeface="Arial"/>
              </a:rPr>
              <a:t>Day 1  ·  Labs 1–4  ·  A1, A6, K1, K9  ·  Foundations of Quant and Algorithmic Trading: From Thorp to AI Agents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Topic 2 — Indicators, Strategies and Metrics</a:t>
            </a:r>
          </a:p>
          <a:p>
            <a:pPr algn="l">
              <a:spcAft>
                <a:spcPts val="300"/>
              </a:spcAft>
            </a:pPr>
            <a:r>
              <a:rPr sz="1100" b="0">
                <a:solidFill>
                  <a:srgbClr val="5B6372"/>
                </a:solidFill>
                <a:latin typeface="Arial"/>
              </a:rPr>
              <a:t>Day 1  ·  Labs 5–9  ·  A2, A3, K3, K5, K7  ·  Technical Indicators, Trading Strategies and Metrics with TradingView and Alpaca</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Topic 3 — ML Models and A/B Testing</a:t>
            </a:r>
          </a:p>
          <a:p>
            <a:pPr algn="l">
              <a:spcAft>
                <a:spcPts val="300"/>
              </a:spcAft>
            </a:pPr>
            <a:r>
              <a:rPr sz="1100" b="0">
                <a:solidFill>
                  <a:srgbClr val="5B6372"/>
                </a:solidFill>
                <a:latin typeface="Arial"/>
              </a:rPr>
              <a:t>Day 2  ·  Labs 10–14  ·  A4, A5, K2, K4, K6  ·  Machine Learning Models, Statistical Modelling and A/B Testing for Trading Signals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00" b="1">
                <a:solidFill>
                  <a:srgbClr val="161B26"/>
                </a:solidFill>
                <a:latin typeface="Arial"/>
              </a:rPr>
              <a:t>Topic 4 — End-to-End Trading Pipeline</a:t>
            </a:r>
          </a:p>
          <a:p>
            <a:pPr algn="l">
              <a:spcAft>
                <a:spcPts val="300"/>
              </a:spcAft>
            </a:pPr>
            <a:r>
              <a:rPr sz="1100" b="0">
                <a:solidFill>
                  <a:srgbClr val="5B6372"/>
                </a:solidFill>
                <a:latin typeface="Arial"/>
              </a:rPr>
              <a:t>Day 2  ·  Labs 15–20  ·  A7, A8, A9, A10, K7, K8  ·  Building an End-to-End Algorithmic Trading Pipeline: Backtest, Forward Test and Performance Analysis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FSE-DAT-3019-1.1 · ABILITIES 1-5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Alignment — Abilities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A1</a:t>
            </a:r>
          </a:p>
          <a:p>
            <a:pPr algn="l">
              <a:spcAft>
                <a:spcPts val="300"/>
              </a:spcAft>
            </a:pPr>
            <a:r>
              <a:rPr sz="1000" b="0">
                <a:solidFill>
                  <a:srgbClr val="5B6372"/>
                </a:solidFill>
                <a:latin typeface="Arial"/>
              </a:rPr>
              <a:t>Develop hypotheses for implementing data analytics and computational modelling activities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A2</a:t>
            </a:r>
          </a:p>
          <a:p>
            <a:pPr algn="l">
              <a:spcAft>
                <a:spcPts val="300"/>
              </a:spcAft>
            </a:pPr>
            <a:r>
              <a:rPr sz="1000" b="0">
                <a:solidFill>
                  <a:srgbClr val="5B6372"/>
                </a:solidFill>
                <a:latin typeface="Arial"/>
              </a:rPr>
              <a:t>Identify appropriate statistical algorithms and data models to test hypotheses and/or theories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A3</a:t>
            </a:r>
          </a:p>
          <a:p>
            <a:pPr algn="l">
              <a:spcAft>
                <a:spcPts val="300"/>
              </a:spcAft>
            </a:pPr>
            <a:r>
              <a:rPr sz="1000" b="0">
                <a:solidFill>
                  <a:srgbClr val="5B6372"/>
                </a:solidFill>
                <a:latin typeface="Arial"/>
              </a:rPr>
              <a:t>Use appropriate analytics platforms, analytical tools, statistical methods and analytical approaches given specific analytics and reporting requirements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A4</a:t>
            </a:r>
          </a:p>
          <a:p>
            <a:pPr algn="l">
              <a:spcAft>
                <a:spcPts val="300"/>
              </a:spcAft>
            </a:pPr>
            <a:r>
              <a:rPr sz="1000" b="0">
                <a:solidFill>
                  <a:srgbClr val="5B6372"/>
                </a:solidFill>
                <a:latin typeface="Arial"/>
              </a:rPr>
              <a:t>Conduct statistical modelling of data to derive patterns and solutions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A5</a:t>
            </a:r>
          </a:p>
          <a:p>
            <a:pPr algn="l">
              <a:spcAft>
                <a:spcPts val="300"/>
              </a:spcAft>
            </a:pPr>
            <a:r>
              <a:rPr sz="1000" b="0">
                <a:solidFill>
                  <a:srgbClr val="5B6372"/>
                </a:solidFill>
                <a:latin typeface="Arial"/>
              </a:rPr>
              <a:t>Perform A/B testing based on different hypotheses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FSE-DAT-3019-1.1 · ABILITIES 6-10</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Alignment — Abilities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A6</a:t>
            </a:r>
          </a:p>
          <a:p>
            <a:pPr algn="l">
              <a:spcAft>
                <a:spcPts val="300"/>
              </a:spcAft>
            </a:pPr>
            <a:r>
              <a:rPr sz="1000" b="0">
                <a:solidFill>
                  <a:srgbClr val="5B6372"/>
                </a:solidFill>
                <a:latin typeface="Arial"/>
              </a:rPr>
              <a:t>Identify possible big data applications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A7</a:t>
            </a:r>
          </a:p>
          <a:p>
            <a:pPr algn="l">
              <a:spcAft>
                <a:spcPts val="300"/>
              </a:spcAft>
            </a:pPr>
            <a:r>
              <a:rPr sz="1000" b="0">
                <a:solidFill>
                  <a:srgbClr val="5B6372"/>
                </a:solidFill>
                <a:latin typeface="Arial"/>
              </a:rPr>
              <a:t>Perform coding and configuration of software agents or programs based on selected models or algorithms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A8</a:t>
            </a:r>
          </a:p>
          <a:p>
            <a:pPr algn="l">
              <a:spcAft>
                <a:spcPts val="300"/>
              </a:spcAft>
            </a:pPr>
            <a:r>
              <a:rPr sz="1000" b="0">
                <a:solidFill>
                  <a:srgbClr val="5B6372"/>
                </a:solidFill>
                <a:latin typeface="Arial"/>
              </a:rPr>
              <a:t>Conduct tests on the actions taken and outcomes to assess effectiveness of the models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A9</a:t>
            </a:r>
          </a:p>
          <a:p>
            <a:pPr algn="l">
              <a:spcAft>
                <a:spcPts val="300"/>
              </a:spcAft>
            </a:pPr>
            <a:r>
              <a:rPr sz="1000" b="0">
                <a:solidFill>
                  <a:srgbClr val="5B6372"/>
                </a:solidFill>
                <a:latin typeface="Arial"/>
              </a:rPr>
              <a:t>Diagnose unintended outcomes produced by statistical models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A10</a:t>
            </a:r>
          </a:p>
          <a:p>
            <a:pPr algn="l">
              <a:spcAft>
                <a:spcPts val="300"/>
              </a:spcAft>
            </a:pPr>
            <a:r>
              <a:rPr sz="1000" b="0">
                <a:solidFill>
                  <a:srgbClr val="5B6372"/>
                </a:solidFill>
                <a:latin typeface="Arial"/>
              </a:rPr>
              <a:t>Draw relevant trends and insights from data analysis to support decisions and report accordingly</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FSE-DAT-3019-1.1 · KNOWLEDGE 1-5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Alignment — Knowledge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K1</a:t>
            </a:r>
          </a:p>
          <a:p>
            <a:pPr algn="l">
              <a:spcAft>
                <a:spcPts val="300"/>
              </a:spcAft>
            </a:pPr>
            <a:r>
              <a:rPr sz="1000" b="0">
                <a:solidFill>
                  <a:srgbClr val="5B6372"/>
                </a:solidFill>
                <a:latin typeface="Arial"/>
              </a:rPr>
              <a:t>Data analytics and modelling business use cases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K2</a:t>
            </a:r>
          </a:p>
          <a:p>
            <a:pPr algn="l">
              <a:spcAft>
                <a:spcPts val="300"/>
              </a:spcAft>
            </a:pPr>
            <a:r>
              <a:rPr sz="1000" b="0">
                <a:solidFill>
                  <a:srgbClr val="5B6372"/>
                </a:solidFill>
                <a:latin typeface="Arial"/>
              </a:rPr>
              <a:t>Types of statistical analyses, data models, algorithms and advanced computational methods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K3</a:t>
            </a:r>
          </a:p>
          <a:p>
            <a:pPr algn="l">
              <a:spcAft>
                <a:spcPts val="300"/>
              </a:spcAft>
            </a:pPr>
            <a:r>
              <a:rPr sz="1000" b="0">
                <a:solidFill>
                  <a:srgbClr val="5B6372"/>
                </a:solidFill>
                <a:latin typeface="Arial"/>
              </a:rPr>
              <a:t>Range and application of various statistical methods and algorithms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K4</a:t>
            </a:r>
          </a:p>
          <a:p>
            <a:pPr algn="l">
              <a:spcAft>
                <a:spcPts val="300"/>
              </a:spcAft>
            </a:pPr>
            <a:r>
              <a:rPr sz="1000" b="0">
                <a:solidFill>
                  <a:srgbClr val="5B6372"/>
                </a:solidFill>
                <a:latin typeface="Arial"/>
              </a:rPr>
              <a:t>Range and application of various types of data models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K5</a:t>
            </a:r>
          </a:p>
          <a:p>
            <a:pPr algn="l">
              <a:spcAft>
                <a:spcPts val="300"/>
              </a:spcAft>
            </a:pPr>
            <a:r>
              <a:rPr sz="1000" b="0">
                <a:solidFill>
                  <a:srgbClr val="5B6372"/>
                </a:solidFill>
                <a:latin typeface="Arial"/>
              </a:rPr>
              <a:t>Usage of analytics platforms and tools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FSE-DAT-3019-1.1 · KNOWLEDGE 6-9</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Alignment — Knowledge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K6</a:t>
            </a:r>
          </a:p>
          <a:p>
            <a:pPr algn="l">
              <a:spcAft>
                <a:spcPts val="300"/>
              </a:spcAft>
            </a:pPr>
            <a:r>
              <a:rPr sz="1000" b="0">
                <a:solidFill>
                  <a:srgbClr val="5B6372"/>
                </a:solidFill>
                <a:latin typeface="Arial"/>
              </a:rPr>
              <a:t>Statistical modelling techniques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K7</a:t>
            </a:r>
          </a:p>
          <a:p>
            <a:pPr algn="l">
              <a:spcAft>
                <a:spcPts val="300"/>
              </a:spcAft>
            </a:pPr>
            <a:r>
              <a:rPr sz="1000" b="0">
                <a:solidFill>
                  <a:srgbClr val="5B6372"/>
                </a:solidFill>
                <a:latin typeface="Arial"/>
              </a:rPr>
              <a:t>Coding languages for programming of algorithms and signals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K8</a:t>
            </a:r>
          </a:p>
          <a:p>
            <a:pPr algn="l">
              <a:spcAft>
                <a:spcPts val="300"/>
              </a:spcAft>
            </a:pPr>
            <a:r>
              <a:rPr sz="1000" b="0">
                <a:solidFill>
                  <a:srgbClr val="5B6372"/>
                </a:solidFill>
                <a:latin typeface="Arial"/>
              </a:rPr>
              <a:t>Potential reasons for unintended outcomes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K9</a:t>
            </a:r>
          </a:p>
          <a:p>
            <a:pPr algn="l">
              <a:spcAft>
                <a:spcPts val="300"/>
              </a:spcAft>
            </a:pPr>
            <a:r>
              <a:rPr sz="1000" b="0">
                <a:solidFill>
                  <a:srgbClr val="5B6372"/>
                </a:solidFill>
                <a:latin typeface="Arial"/>
              </a:rPr>
              <a:t>Forms of data within financial services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Day 1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09:00 - 18:30  ·  8 instructional hours  ·  excluding 1-hour lunch and two tea breaks</a:t>
            </a:r>
          </a:p>
        </p:txBody>
      </p:sp>
      <p:sp>
        <p:nvSpPr>
          <p:cNvPr id="8" name="TextBox 7"/>
          <p:cNvSpPr txBox="1"/>
          <p:nvPr/>
        </p:nvSpPr>
        <p:spPr>
          <a:xfrm>
            <a:off x="822960" y="2011680"/>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09:00 - 09:30</a:t>
            </a:r>
          </a:p>
        </p:txBody>
      </p:sp>
      <p:sp>
        <p:nvSpPr>
          <p:cNvPr id="9" name="TextBox 8"/>
          <p:cNvSpPr txBox="1"/>
          <p:nvPr/>
        </p:nvSpPr>
        <p:spPr>
          <a:xfrm>
            <a:off x="2377440" y="2011680"/>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Course Overview, Trainer Introduction and Ground Rules</a:t>
            </a:r>
          </a:p>
        </p:txBody>
      </p:sp>
      <p:sp>
        <p:nvSpPr>
          <p:cNvPr id="10" name="TextBox 9"/>
          <p:cNvSpPr txBox="1"/>
          <p:nvPr/>
        </p:nvSpPr>
        <p:spPr>
          <a:xfrm>
            <a:off x="10287000" y="2011680"/>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
            </a:r>
          </a:p>
        </p:txBody>
      </p:sp>
      <p:sp>
        <p:nvSpPr>
          <p:cNvPr id="11" name="TextBox 10"/>
          <p:cNvSpPr txBox="1"/>
          <p:nvPr/>
        </p:nvSpPr>
        <p:spPr>
          <a:xfrm>
            <a:off x="822960" y="2395728"/>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09:30 - 10:45</a:t>
            </a:r>
          </a:p>
        </p:txBody>
      </p:sp>
      <p:sp>
        <p:nvSpPr>
          <p:cNvPr id="12" name="TextBox 11"/>
          <p:cNvSpPr txBox="1"/>
          <p:nvPr/>
        </p:nvSpPr>
        <p:spPr>
          <a:xfrm>
            <a:off x="2377440" y="2395728"/>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T1.1-1.3 History of AI, AI Agents versus Agentic AI, and the History of Algorithmic Trading</a:t>
            </a:r>
          </a:p>
        </p:txBody>
      </p:sp>
      <p:sp>
        <p:nvSpPr>
          <p:cNvPr id="13" name="TextBox 12"/>
          <p:cNvSpPr txBox="1"/>
          <p:nvPr/>
        </p:nvSpPr>
        <p:spPr>
          <a:xfrm>
            <a:off x="10287000" y="2395728"/>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K1, K9</a:t>
            </a:r>
          </a:p>
        </p:txBody>
      </p:sp>
      <p:sp>
        <p:nvSpPr>
          <p:cNvPr id="14" name="Rectangle 13"/>
          <p:cNvSpPr/>
          <p:nvPr/>
        </p:nvSpPr>
        <p:spPr>
          <a:xfrm>
            <a:off x="777240" y="2779776"/>
            <a:ext cx="10634472" cy="3566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779776"/>
            <a:ext cx="10241280" cy="356616"/>
          </a:xfrm>
          <a:prstGeom prst="rect">
            <a:avLst/>
          </a:prstGeom>
          <a:noFill/>
        </p:spPr>
        <p:txBody>
          <a:bodyPr wrap="square" anchor="ctr">
            <a:spAutoFit/>
          </a:bodyPr>
          <a:lstStyle/>
          <a:p>
            <a:pPr algn="l">
              <a:spcAft>
                <a:spcPts val="400"/>
              </a:spcAft>
            </a:pPr>
            <a:r>
              <a:rPr sz="1050" b="1">
                <a:solidFill>
                  <a:srgbClr val="5B6372"/>
                </a:solidFill>
                <a:latin typeface="Arial"/>
              </a:rPr>
              <a:t>10:45 - 11:00      Tea Break</a:t>
            </a:r>
          </a:p>
        </p:txBody>
      </p:sp>
      <p:sp>
        <p:nvSpPr>
          <p:cNvPr id="16" name="TextBox 15"/>
          <p:cNvSpPr txBox="1"/>
          <p:nvPr/>
        </p:nvSpPr>
        <p:spPr>
          <a:xfrm>
            <a:off x="822960" y="3163824"/>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11:00 - 11:30</a:t>
            </a:r>
          </a:p>
        </p:txBody>
      </p:sp>
      <p:sp>
        <p:nvSpPr>
          <p:cNvPr id="17" name="TextBox 16"/>
          <p:cNvSpPr txBox="1"/>
          <p:nvPr/>
        </p:nvSpPr>
        <p:spPr>
          <a:xfrm>
            <a:off x="2377440" y="3163824"/>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T1.4-1.5 Forms of Financial Data, Big Data Applications and Trading Hypotheses</a:t>
            </a:r>
          </a:p>
        </p:txBody>
      </p:sp>
      <p:sp>
        <p:nvSpPr>
          <p:cNvPr id="18" name="TextBox 17"/>
          <p:cNvSpPr txBox="1"/>
          <p:nvPr/>
        </p:nvSpPr>
        <p:spPr>
          <a:xfrm>
            <a:off x="10287000" y="3163824"/>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A1, A6, K1, K9</a:t>
            </a:r>
          </a:p>
        </p:txBody>
      </p:sp>
      <p:sp>
        <p:nvSpPr>
          <p:cNvPr id="19" name="TextBox 18"/>
          <p:cNvSpPr txBox="1"/>
          <p:nvPr/>
        </p:nvSpPr>
        <p:spPr>
          <a:xfrm>
            <a:off x="822960" y="3547872"/>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11:30 - 11:50</a:t>
            </a:r>
          </a:p>
        </p:txBody>
      </p:sp>
      <p:sp>
        <p:nvSpPr>
          <p:cNvPr id="20" name="TextBox 19"/>
          <p:cNvSpPr txBox="1"/>
          <p:nvPr/>
        </p:nvSpPr>
        <p:spPr>
          <a:xfrm>
            <a:off x="2377440" y="3547872"/>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1: Pipeline Skeleton, Configuration and the Alpaca Paper Account</a:t>
            </a:r>
          </a:p>
        </p:txBody>
      </p:sp>
      <p:sp>
        <p:nvSpPr>
          <p:cNvPr id="21" name="TextBox 20"/>
          <p:cNvSpPr txBox="1"/>
          <p:nvPr/>
        </p:nvSpPr>
        <p:spPr>
          <a:xfrm>
            <a:off x="10287000" y="3547872"/>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K5</a:t>
            </a:r>
          </a:p>
        </p:txBody>
      </p:sp>
      <p:sp>
        <p:nvSpPr>
          <p:cNvPr id="22" name="TextBox 21"/>
          <p:cNvSpPr txBox="1"/>
          <p:nvPr/>
        </p:nvSpPr>
        <p:spPr>
          <a:xfrm>
            <a:off x="822960" y="3931920"/>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11:50 - 12:10</a:t>
            </a:r>
          </a:p>
        </p:txBody>
      </p:sp>
      <p:sp>
        <p:nvSpPr>
          <p:cNvPr id="23" name="TextBox 22"/>
          <p:cNvSpPr txBox="1"/>
          <p:nvPr/>
        </p:nvSpPr>
        <p:spPr>
          <a:xfrm>
            <a:off x="2377440" y="3931920"/>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2: Data-Validation Stage: Cross-Check Pipeline Bars against TradingView</a:t>
            </a:r>
          </a:p>
        </p:txBody>
      </p:sp>
      <p:sp>
        <p:nvSpPr>
          <p:cNvPr id="24" name="TextBox 23"/>
          <p:cNvSpPr txBox="1"/>
          <p:nvPr/>
        </p:nvSpPr>
        <p:spPr>
          <a:xfrm>
            <a:off x="10287000" y="3931920"/>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K5, K9</a:t>
            </a:r>
          </a:p>
        </p:txBody>
      </p:sp>
      <p:sp>
        <p:nvSpPr>
          <p:cNvPr id="25" name="TextBox 24"/>
          <p:cNvSpPr txBox="1"/>
          <p:nvPr/>
        </p:nvSpPr>
        <p:spPr>
          <a:xfrm>
            <a:off x="822960" y="4315968"/>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12:10 - 12:30</a:t>
            </a:r>
          </a:p>
        </p:txBody>
      </p:sp>
      <p:sp>
        <p:nvSpPr>
          <p:cNvPr id="26" name="TextBox 25"/>
          <p:cNvSpPr txBox="1"/>
          <p:nvPr/>
        </p:nvSpPr>
        <p:spPr>
          <a:xfrm>
            <a:off x="2377440" y="4315968"/>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3: Ingestion Stage: Multi-Timeframe Bars, Headlines and Data Quality</a:t>
            </a:r>
          </a:p>
        </p:txBody>
      </p:sp>
      <p:sp>
        <p:nvSpPr>
          <p:cNvPr id="27" name="TextBox 26"/>
          <p:cNvSpPr txBox="1"/>
          <p:nvPr/>
        </p:nvSpPr>
        <p:spPr>
          <a:xfrm>
            <a:off x="10287000" y="4315968"/>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A6, K9</a:t>
            </a:r>
          </a:p>
        </p:txBody>
      </p:sp>
      <p:sp>
        <p:nvSpPr>
          <p:cNvPr id="28" name="Rectangle 27"/>
          <p:cNvSpPr/>
          <p:nvPr/>
        </p:nvSpPr>
        <p:spPr>
          <a:xfrm>
            <a:off x="777240" y="4700016"/>
            <a:ext cx="10634472" cy="3566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700016"/>
            <a:ext cx="10241280" cy="356616"/>
          </a:xfrm>
          <a:prstGeom prst="rect">
            <a:avLst/>
          </a:prstGeom>
          <a:noFill/>
        </p:spPr>
        <p:txBody>
          <a:bodyPr wrap="square" anchor="ctr">
            <a:spAutoFit/>
          </a:bodyPr>
          <a:lstStyle/>
          <a:p>
            <a:pPr algn="l">
              <a:spcAft>
                <a:spcPts val="400"/>
              </a:spcAft>
            </a:pPr>
            <a:r>
              <a:rPr sz="1050" b="1">
                <a:solidFill>
                  <a:srgbClr val="5B6372"/>
                </a:solidFill>
                <a:latin typeface="Arial"/>
              </a:rPr>
              <a:t>12:30 - 13:30      Lunch Break</a:t>
            </a:r>
          </a:p>
        </p:txBody>
      </p:sp>
      <p:sp>
        <p:nvSpPr>
          <p:cNvPr id="30" name="TextBox 29"/>
          <p:cNvSpPr txBox="1"/>
          <p:nvPr/>
        </p:nvSpPr>
        <p:spPr>
          <a:xfrm>
            <a:off x="822960" y="5084064"/>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13:30 - 13:45</a:t>
            </a:r>
          </a:p>
        </p:txBody>
      </p:sp>
      <p:sp>
        <p:nvSpPr>
          <p:cNvPr id="31" name="TextBox 30"/>
          <p:cNvSpPr txBox="1"/>
          <p:nvPr/>
        </p:nvSpPr>
        <p:spPr>
          <a:xfrm>
            <a:off x="2377440" y="5084064"/>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4: Hypothesis Stage: from a Written Card to an Automated Statistical Test</a:t>
            </a:r>
          </a:p>
        </p:txBody>
      </p:sp>
      <p:sp>
        <p:nvSpPr>
          <p:cNvPr id="32" name="TextBox 31"/>
          <p:cNvSpPr txBox="1"/>
          <p:nvPr/>
        </p:nvSpPr>
        <p:spPr>
          <a:xfrm>
            <a:off x="10287000" y="5084064"/>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A1, A6, K1</a:t>
            </a:r>
          </a:p>
        </p:txBody>
      </p:sp>
      <p:sp>
        <p:nvSpPr>
          <p:cNvPr id="33" name="TextBox 32"/>
          <p:cNvSpPr txBox="1"/>
          <p:nvPr/>
        </p:nvSpPr>
        <p:spPr>
          <a:xfrm>
            <a:off x="822960" y="5468112"/>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13:45 - 14:30</a:t>
            </a:r>
          </a:p>
        </p:txBody>
      </p:sp>
      <p:sp>
        <p:nvSpPr>
          <p:cNvPr id="34" name="TextBox 33"/>
          <p:cNvSpPr txBox="1"/>
          <p:nvPr/>
        </p:nvSpPr>
        <p:spPr>
          <a:xfrm>
            <a:off x="2377440" y="5468112"/>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T2.1-2.2 Technical Indicators and Standard Algorithmic Trading Strategies</a:t>
            </a:r>
          </a:p>
        </p:txBody>
      </p:sp>
      <p:sp>
        <p:nvSpPr>
          <p:cNvPr id="35" name="TextBox 34"/>
          <p:cNvSpPr txBox="1"/>
          <p:nvPr/>
        </p:nvSpPr>
        <p:spPr>
          <a:xfrm>
            <a:off x="10287000" y="5468112"/>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A2, K3</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Day 1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09:00 - 18:30  ·  8 instructional hours  ·  excluding 1-hour lunch and two tea breaks</a:t>
            </a:r>
          </a:p>
        </p:txBody>
      </p:sp>
      <p:sp>
        <p:nvSpPr>
          <p:cNvPr id="8" name="TextBox 7"/>
          <p:cNvSpPr txBox="1"/>
          <p:nvPr/>
        </p:nvSpPr>
        <p:spPr>
          <a:xfrm>
            <a:off x="822960" y="2011680"/>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14:30 - 14:55</a:t>
            </a:r>
          </a:p>
        </p:txBody>
      </p:sp>
      <p:sp>
        <p:nvSpPr>
          <p:cNvPr id="9" name="TextBox 8"/>
          <p:cNvSpPr txBox="1"/>
          <p:nvPr/>
        </p:nvSpPr>
        <p:spPr>
          <a:xfrm>
            <a:off x="2377440" y="2011680"/>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5: Indicator Stage: Pine Script v6 Indicators and their Python Twins</a:t>
            </a:r>
          </a:p>
        </p:txBody>
      </p:sp>
      <p:sp>
        <p:nvSpPr>
          <p:cNvPr id="10" name="TextBox 9"/>
          <p:cNvSpPr txBox="1"/>
          <p:nvPr/>
        </p:nvSpPr>
        <p:spPr>
          <a:xfrm>
            <a:off x="10287000" y="2011680"/>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K3, K7</a:t>
            </a:r>
          </a:p>
        </p:txBody>
      </p:sp>
      <p:sp>
        <p:nvSpPr>
          <p:cNvPr id="11" name="TextBox 10"/>
          <p:cNvSpPr txBox="1"/>
          <p:nvPr/>
        </p:nvSpPr>
        <p:spPr>
          <a:xfrm>
            <a:off x="822960" y="2395728"/>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14:55 - 15:25</a:t>
            </a:r>
          </a:p>
        </p:txBody>
      </p:sp>
      <p:sp>
        <p:nvSpPr>
          <p:cNvPr id="12" name="TextBox 11"/>
          <p:cNvSpPr txBox="1"/>
          <p:nvPr/>
        </p:nvSpPr>
        <p:spPr>
          <a:xfrm>
            <a:off x="2377440" y="2395728"/>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6: Strategy Prototype: TradingView Strategy Tester, Paper Trading from the Chart and Pipeline Reconciliation</a:t>
            </a:r>
          </a:p>
        </p:txBody>
      </p:sp>
      <p:sp>
        <p:nvSpPr>
          <p:cNvPr id="13" name="TextBox 12"/>
          <p:cNvSpPr txBox="1"/>
          <p:nvPr/>
        </p:nvSpPr>
        <p:spPr>
          <a:xfrm>
            <a:off x="10287000" y="2395728"/>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A2, A3, K3, K7</a:t>
            </a:r>
          </a:p>
        </p:txBody>
      </p:sp>
      <p:sp>
        <p:nvSpPr>
          <p:cNvPr id="14" name="Rectangle 13"/>
          <p:cNvSpPr/>
          <p:nvPr/>
        </p:nvSpPr>
        <p:spPr>
          <a:xfrm>
            <a:off x="777240" y="2779776"/>
            <a:ext cx="10634472" cy="3566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779776"/>
            <a:ext cx="10241280" cy="356616"/>
          </a:xfrm>
          <a:prstGeom prst="rect">
            <a:avLst/>
          </a:prstGeom>
          <a:noFill/>
        </p:spPr>
        <p:txBody>
          <a:bodyPr wrap="square" anchor="ctr">
            <a:spAutoFit/>
          </a:bodyPr>
          <a:lstStyle/>
          <a:p>
            <a:pPr algn="l">
              <a:spcAft>
                <a:spcPts val="400"/>
              </a:spcAft>
            </a:pPr>
            <a:r>
              <a:rPr sz="1050" b="1">
                <a:solidFill>
                  <a:srgbClr val="5B6372"/>
                </a:solidFill>
                <a:latin typeface="Arial"/>
              </a:rPr>
              <a:t>15:25 - 15:40      Tea Break</a:t>
            </a:r>
          </a:p>
        </p:txBody>
      </p:sp>
      <p:sp>
        <p:nvSpPr>
          <p:cNvPr id="16" name="TextBox 15"/>
          <p:cNvSpPr txBox="1"/>
          <p:nvPr/>
        </p:nvSpPr>
        <p:spPr>
          <a:xfrm>
            <a:off x="822960" y="3163824"/>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15:40 - 16:05</a:t>
            </a:r>
          </a:p>
        </p:txBody>
      </p:sp>
      <p:sp>
        <p:nvSpPr>
          <p:cNvPr id="17" name="TextBox 16"/>
          <p:cNvSpPr txBox="1"/>
          <p:nvPr/>
        </p:nvSpPr>
        <p:spPr>
          <a:xfrm>
            <a:off x="2377440" y="3163824"/>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7: Signal Stage: a Library of Trend, Mean-Reversion, Momentum and Breakout Signals</a:t>
            </a:r>
          </a:p>
        </p:txBody>
      </p:sp>
      <p:sp>
        <p:nvSpPr>
          <p:cNvPr id="18" name="TextBox 17"/>
          <p:cNvSpPr txBox="1"/>
          <p:nvPr/>
        </p:nvSpPr>
        <p:spPr>
          <a:xfrm>
            <a:off x="10287000" y="3163824"/>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A2, K3, K7</a:t>
            </a:r>
          </a:p>
        </p:txBody>
      </p:sp>
      <p:sp>
        <p:nvSpPr>
          <p:cNvPr id="19" name="TextBox 18"/>
          <p:cNvSpPr txBox="1"/>
          <p:nvPr/>
        </p:nvSpPr>
        <p:spPr>
          <a:xfrm>
            <a:off x="822960" y="3547872"/>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16:05 - 16:50</a:t>
            </a:r>
          </a:p>
        </p:txBody>
      </p:sp>
      <p:sp>
        <p:nvSpPr>
          <p:cNvPr id="20" name="TextBox 19"/>
          <p:cNvSpPr txBox="1"/>
          <p:nvPr/>
        </p:nvSpPr>
        <p:spPr>
          <a:xfrm>
            <a:off x="2377440" y="3547872"/>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T2.3-2.4 Analytics Platforms, Coding Languages and Order Placement</a:t>
            </a:r>
          </a:p>
        </p:txBody>
      </p:sp>
      <p:sp>
        <p:nvSpPr>
          <p:cNvPr id="21" name="TextBox 20"/>
          <p:cNvSpPr txBox="1"/>
          <p:nvPr/>
        </p:nvSpPr>
        <p:spPr>
          <a:xfrm>
            <a:off x="10287000" y="3547872"/>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K5, K7</a:t>
            </a:r>
          </a:p>
        </p:txBody>
      </p:sp>
      <p:sp>
        <p:nvSpPr>
          <p:cNvPr id="22" name="TextBox 21"/>
          <p:cNvSpPr txBox="1"/>
          <p:nvPr/>
        </p:nvSpPr>
        <p:spPr>
          <a:xfrm>
            <a:off x="822960" y="3931920"/>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16:50 - 17:20</a:t>
            </a:r>
          </a:p>
        </p:txBody>
      </p:sp>
      <p:sp>
        <p:nvSpPr>
          <p:cNvPr id="23" name="TextBox 22"/>
          <p:cNvSpPr txBox="1"/>
          <p:nvPr/>
        </p:nvSpPr>
        <p:spPr>
          <a:xfrm>
            <a:off x="2377440" y="3931920"/>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8: Execution Stage: an Order Manager that Trades the Paper Account in Any Session</a:t>
            </a:r>
          </a:p>
        </p:txBody>
      </p:sp>
      <p:sp>
        <p:nvSpPr>
          <p:cNvPr id="24" name="TextBox 23"/>
          <p:cNvSpPr txBox="1"/>
          <p:nvPr/>
        </p:nvSpPr>
        <p:spPr>
          <a:xfrm>
            <a:off x="10287000" y="3931920"/>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K5</a:t>
            </a:r>
          </a:p>
        </p:txBody>
      </p:sp>
      <p:sp>
        <p:nvSpPr>
          <p:cNvPr id="25" name="TextBox 24"/>
          <p:cNvSpPr txBox="1"/>
          <p:nvPr/>
        </p:nvSpPr>
        <p:spPr>
          <a:xfrm>
            <a:off x="822960" y="4315968"/>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17:20 - 17:50</a:t>
            </a:r>
          </a:p>
        </p:txBody>
      </p:sp>
      <p:sp>
        <p:nvSpPr>
          <p:cNvPr id="26" name="TextBox 25"/>
          <p:cNvSpPr txBox="1"/>
          <p:nvPr/>
        </p:nvSpPr>
        <p:spPr>
          <a:xfrm>
            <a:off x="2377440" y="4315968"/>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T2.5 Performance and Risk Metric Definitions</a:t>
            </a:r>
          </a:p>
        </p:txBody>
      </p:sp>
      <p:sp>
        <p:nvSpPr>
          <p:cNvPr id="27" name="TextBox 26"/>
          <p:cNvSpPr txBox="1"/>
          <p:nvPr/>
        </p:nvSpPr>
        <p:spPr>
          <a:xfrm>
            <a:off x="10287000" y="4315968"/>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K3</a:t>
            </a:r>
          </a:p>
        </p:txBody>
      </p:sp>
      <p:sp>
        <p:nvSpPr>
          <p:cNvPr id="28" name="TextBox 27"/>
          <p:cNvSpPr txBox="1"/>
          <p:nvPr/>
        </p:nvSpPr>
        <p:spPr>
          <a:xfrm>
            <a:off x="822960" y="4700016"/>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17:50 - 18:15</a:t>
            </a:r>
          </a:p>
        </p:txBody>
      </p:sp>
      <p:sp>
        <p:nvSpPr>
          <p:cNvPr id="29" name="TextBox 28"/>
          <p:cNvSpPr txBox="1"/>
          <p:nvPr/>
        </p:nvSpPr>
        <p:spPr>
          <a:xfrm>
            <a:off x="2377440" y="4700016"/>
            <a:ext cx="7863840" cy="356616"/>
          </a:xfrm>
          <a:prstGeom prst="rect">
            <a:avLst/>
          </a:prstGeom>
          <a:noFill/>
        </p:spPr>
        <p:txBody>
          <a:bodyPr wrap="square" anchor="ctr">
            <a:spAutoFit/>
          </a:bodyPr>
          <a:lstStyle/>
          <a:p>
            <a:pPr algn="l">
              <a:spcAft>
                <a:spcPts val="400"/>
              </a:spcAft>
            </a:pPr>
            <a:r>
              <a:rPr sz="1050" b="1">
                <a:solidFill>
                  <a:srgbClr val="10B981"/>
                </a:solidFill>
                <a:latin typeface="Arial"/>
              </a:rPr>
              <a:t>Lab 9: Evaluation Stage: Performance and Risk Metrics with a Benchmark Table</a:t>
            </a:r>
          </a:p>
        </p:txBody>
      </p:sp>
      <p:sp>
        <p:nvSpPr>
          <p:cNvPr id="30" name="TextBox 29"/>
          <p:cNvSpPr txBox="1"/>
          <p:nvPr/>
        </p:nvSpPr>
        <p:spPr>
          <a:xfrm>
            <a:off x="10287000" y="4700016"/>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A3, K3</a:t>
            </a:r>
          </a:p>
        </p:txBody>
      </p:sp>
      <p:sp>
        <p:nvSpPr>
          <p:cNvPr id="31" name="TextBox 30"/>
          <p:cNvSpPr txBox="1"/>
          <p:nvPr/>
        </p:nvSpPr>
        <p:spPr>
          <a:xfrm>
            <a:off x="822960" y="5084064"/>
            <a:ext cx="1463040" cy="356616"/>
          </a:xfrm>
          <a:prstGeom prst="rect">
            <a:avLst/>
          </a:prstGeom>
          <a:noFill/>
        </p:spPr>
        <p:txBody>
          <a:bodyPr wrap="square" anchor="ctr">
            <a:spAutoFit/>
          </a:bodyPr>
          <a:lstStyle/>
          <a:p>
            <a:pPr algn="l">
              <a:spcAft>
                <a:spcPts val="400"/>
              </a:spcAft>
            </a:pPr>
            <a:r>
              <a:rPr sz="1000" b="1">
                <a:solidFill>
                  <a:srgbClr val="5B6372"/>
                </a:solidFill>
                <a:latin typeface="Arial"/>
              </a:rPr>
              <a:t>18:15 - 18:30</a:t>
            </a:r>
          </a:p>
        </p:txBody>
      </p:sp>
      <p:sp>
        <p:nvSpPr>
          <p:cNvPr id="32" name="TextBox 31"/>
          <p:cNvSpPr txBox="1"/>
          <p:nvPr/>
        </p:nvSpPr>
        <p:spPr>
          <a:xfrm>
            <a:off x="2377440" y="5084064"/>
            <a:ext cx="7863840" cy="356616"/>
          </a:xfrm>
          <a:prstGeom prst="rect">
            <a:avLst/>
          </a:prstGeom>
          <a:noFill/>
        </p:spPr>
        <p:txBody>
          <a:bodyPr wrap="square" anchor="ctr">
            <a:spAutoFit/>
          </a:bodyPr>
          <a:lstStyle/>
          <a:p>
            <a:pPr algn="l">
              <a:spcAft>
                <a:spcPts val="400"/>
              </a:spcAft>
            </a:pPr>
            <a:r>
              <a:rPr sz="1050" b="0">
                <a:solidFill>
                  <a:srgbClr val="161B26"/>
                </a:solidFill>
                <a:latin typeface="Arial"/>
              </a:rPr>
              <a:t>Day 1 Recap and Q&amp;A</a:t>
            </a:r>
          </a:p>
        </p:txBody>
      </p:sp>
      <p:sp>
        <p:nvSpPr>
          <p:cNvPr id="33" name="TextBox 32"/>
          <p:cNvSpPr txBox="1"/>
          <p:nvPr/>
        </p:nvSpPr>
        <p:spPr>
          <a:xfrm>
            <a:off x="10287000" y="5084064"/>
            <a:ext cx="1097280" cy="356616"/>
          </a:xfrm>
          <a:prstGeom prst="rect">
            <a:avLst/>
          </a:prstGeom>
          <a:noFill/>
        </p:spPr>
        <p:txBody>
          <a:bodyPr wrap="square" anchor="ctr">
            <a:spAutoFit/>
          </a:bodyPr>
          <a:lstStyle/>
          <a:p>
            <a:pPr algn="r">
              <a:spcAft>
                <a:spcPts val="400"/>
              </a:spcAft>
            </a:pPr>
            <a:r>
              <a:rPr sz="900" b="0">
                <a:solidFill>
                  <a:srgbClr val="5B6372"/>
                </a:solidFill>
                <a:latin typeface="Arial"/>
              </a:rPr>
              <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Day 2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09:00 - 18:30  ·  8 instructional hours  ·  excluding 1-hour lunch and two tea breaks</a:t>
            </a:r>
          </a:p>
        </p:txBody>
      </p:sp>
      <p:sp>
        <p:nvSpPr>
          <p:cNvPr id="8" name="TextBox 7"/>
          <p:cNvSpPr txBox="1"/>
          <p:nvPr/>
        </p:nvSpPr>
        <p:spPr>
          <a:xfrm>
            <a:off x="822960" y="201168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09:00 - 09:15</a:t>
            </a:r>
          </a:p>
        </p:txBody>
      </p:sp>
      <p:sp>
        <p:nvSpPr>
          <p:cNvPr id="9" name="TextBox 8"/>
          <p:cNvSpPr txBox="1"/>
          <p:nvPr/>
        </p:nvSpPr>
        <p:spPr>
          <a:xfrm>
            <a:off x="2377440" y="201168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Day 1 Recap and Day 2 Overview</a:t>
            </a:r>
          </a:p>
        </p:txBody>
      </p:sp>
      <p:sp>
        <p:nvSpPr>
          <p:cNvPr id="10" name="TextBox 9"/>
          <p:cNvSpPr txBox="1"/>
          <p:nvPr/>
        </p:nvSpPr>
        <p:spPr>
          <a:xfrm>
            <a:off x="10287000" y="201168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
            </a:r>
          </a:p>
        </p:txBody>
      </p:sp>
      <p:sp>
        <p:nvSpPr>
          <p:cNvPr id="11" name="TextBox 10"/>
          <p:cNvSpPr txBox="1"/>
          <p:nvPr/>
        </p:nvSpPr>
        <p:spPr>
          <a:xfrm>
            <a:off x="822960" y="235839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09:15 - 09:40</a:t>
            </a:r>
          </a:p>
        </p:txBody>
      </p:sp>
      <p:sp>
        <p:nvSpPr>
          <p:cNvPr id="12" name="TextBox 11"/>
          <p:cNvSpPr txBox="1"/>
          <p:nvPr/>
        </p:nvSpPr>
        <p:spPr>
          <a:xfrm>
            <a:off x="2377440" y="235839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T3.1-3.2 Statistical Analyses, Algorithms and Supervised Learning Models</a:t>
            </a:r>
          </a:p>
        </p:txBody>
      </p:sp>
      <p:sp>
        <p:nvSpPr>
          <p:cNvPr id="13" name="TextBox 12"/>
          <p:cNvSpPr txBox="1"/>
          <p:nvPr/>
        </p:nvSpPr>
        <p:spPr>
          <a:xfrm>
            <a:off x="10287000" y="235839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K2, K4</a:t>
            </a:r>
          </a:p>
        </p:txBody>
      </p:sp>
      <p:sp>
        <p:nvSpPr>
          <p:cNvPr id="14" name="TextBox 13"/>
          <p:cNvSpPr txBox="1"/>
          <p:nvPr/>
        </p:nvSpPr>
        <p:spPr>
          <a:xfrm>
            <a:off x="822960" y="270510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09:40 - 10:00</a:t>
            </a:r>
          </a:p>
        </p:txBody>
      </p:sp>
      <p:sp>
        <p:nvSpPr>
          <p:cNvPr id="15" name="TextBox 14"/>
          <p:cNvSpPr txBox="1"/>
          <p:nvPr/>
        </p:nvSpPr>
        <p:spPr>
          <a:xfrm>
            <a:off x="2377440" y="270510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10: Strategy-Search Stage: Grid Search, Out-of-Sample Ranking and Decay</a:t>
            </a:r>
          </a:p>
        </p:txBody>
      </p:sp>
      <p:sp>
        <p:nvSpPr>
          <p:cNvPr id="16" name="TextBox 15"/>
          <p:cNvSpPr txBox="1"/>
          <p:nvPr/>
        </p:nvSpPr>
        <p:spPr>
          <a:xfrm>
            <a:off x="10287000" y="270510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A2, A4, K2</a:t>
            </a:r>
          </a:p>
        </p:txBody>
      </p:sp>
      <p:sp>
        <p:nvSpPr>
          <p:cNvPr id="17" name="TextBox 16"/>
          <p:cNvSpPr txBox="1"/>
          <p:nvPr/>
        </p:nvSpPr>
        <p:spPr>
          <a:xfrm>
            <a:off x="822960" y="305181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10:00 - 10:20</a:t>
            </a:r>
          </a:p>
        </p:txBody>
      </p:sp>
      <p:sp>
        <p:nvSpPr>
          <p:cNvPr id="18" name="TextBox 17"/>
          <p:cNvSpPr txBox="1"/>
          <p:nvPr/>
        </p:nvSpPr>
        <p:spPr>
          <a:xfrm>
            <a:off x="2377440" y="305181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11: ML-Signal Stage: a Walk-Forward Classifier from Probability to Position</a:t>
            </a:r>
          </a:p>
        </p:txBody>
      </p:sp>
      <p:sp>
        <p:nvSpPr>
          <p:cNvPr id="19" name="TextBox 18"/>
          <p:cNvSpPr txBox="1"/>
          <p:nvPr/>
        </p:nvSpPr>
        <p:spPr>
          <a:xfrm>
            <a:off x="10287000" y="305181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K4, K6</a:t>
            </a:r>
          </a:p>
        </p:txBody>
      </p:sp>
      <p:sp>
        <p:nvSpPr>
          <p:cNvPr id="20" name="Rectangle 19"/>
          <p:cNvSpPr/>
          <p:nvPr/>
        </p:nvSpPr>
        <p:spPr>
          <a:xfrm>
            <a:off x="777240" y="3398520"/>
            <a:ext cx="10634472" cy="3192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3398520"/>
            <a:ext cx="10241280" cy="319277"/>
          </a:xfrm>
          <a:prstGeom prst="rect">
            <a:avLst/>
          </a:prstGeom>
          <a:noFill/>
        </p:spPr>
        <p:txBody>
          <a:bodyPr wrap="square" anchor="ctr">
            <a:spAutoFit/>
          </a:bodyPr>
          <a:lstStyle/>
          <a:p>
            <a:pPr algn="l">
              <a:spcAft>
                <a:spcPts val="400"/>
              </a:spcAft>
            </a:pPr>
            <a:r>
              <a:rPr sz="1050" b="1">
                <a:solidFill>
                  <a:srgbClr val="5B6372"/>
                </a:solidFill>
                <a:latin typeface="Arial"/>
              </a:rPr>
              <a:t>10:20 - 10:35      Tea Break</a:t>
            </a:r>
          </a:p>
        </p:txBody>
      </p:sp>
      <p:sp>
        <p:nvSpPr>
          <p:cNvPr id="22" name="TextBox 21"/>
          <p:cNvSpPr txBox="1"/>
          <p:nvPr/>
        </p:nvSpPr>
        <p:spPr>
          <a:xfrm>
            <a:off x="822960" y="374523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10:35 - 10:55</a:t>
            </a:r>
          </a:p>
        </p:txBody>
      </p:sp>
      <p:sp>
        <p:nvSpPr>
          <p:cNvPr id="23" name="TextBox 22"/>
          <p:cNvSpPr txBox="1"/>
          <p:nvPr/>
        </p:nvSpPr>
        <p:spPr>
          <a:xfrm>
            <a:off x="2377440" y="374523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T3.3-3.4 Unsupervised Learning and Statistical Modelling Techniques</a:t>
            </a:r>
          </a:p>
        </p:txBody>
      </p:sp>
      <p:sp>
        <p:nvSpPr>
          <p:cNvPr id="24" name="TextBox 23"/>
          <p:cNvSpPr txBox="1"/>
          <p:nvPr/>
        </p:nvSpPr>
        <p:spPr>
          <a:xfrm>
            <a:off x="10287000" y="374523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K4, K6</a:t>
            </a:r>
          </a:p>
        </p:txBody>
      </p:sp>
      <p:sp>
        <p:nvSpPr>
          <p:cNvPr id="25" name="TextBox 24"/>
          <p:cNvSpPr txBox="1"/>
          <p:nvPr/>
        </p:nvSpPr>
        <p:spPr>
          <a:xfrm>
            <a:off x="822960" y="4091939"/>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10:55 - 11:10</a:t>
            </a:r>
          </a:p>
        </p:txBody>
      </p:sp>
      <p:sp>
        <p:nvSpPr>
          <p:cNvPr id="26" name="TextBox 25"/>
          <p:cNvSpPr txBox="1"/>
          <p:nvPr/>
        </p:nvSpPr>
        <p:spPr>
          <a:xfrm>
            <a:off x="2377440" y="4091939"/>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12: Regime-Filter Stage: PCA and K-Means as a Gate on the Signals</a:t>
            </a:r>
          </a:p>
        </p:txBody>
      </p:sp>
      <p:sp>
        <p:nvSpPr>
          <p:cNvPr id="27" name="TextBox 26"/>
          <p:cNvSpPr txBox="1"/>
          <p:nvPr/>
        </p:nvSpPr>
        <p:spPr>
          <a:xfrm>
            <a:off x="10287000" y="4091939"/>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K4, K6</a:t>
            </a:r>
          </a:p>
        </p:txBody>
      </p:sp>
      <p:sp>
        <p:nvSpPr>
          <p:cNvPr id="28" name="TextBox 27"/>
          <p:cNvSpPr txBox="1"/>
          <p:nvPr/>
        </p:nvSpPr>
        <p:spPr>
          <a:xfrm>
            <a:off x="822960" y="443865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11:10 - 11:25</a:t>
            </a:r>
          </a:p>
        </p:txBody>
      </p:sp>
      <p:sp>
        <p:nvSpPr>
          <p:cNvPr id="29" name="TextBox 28"/>
          <p:cNvSpPr txBox="1"/>
          <p:nvPr/>
        </p:nvSpPr>
        <p:spPr>
          <a:xfrm>
            <a:off x="2377440" y="443865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T3.5-3.6 A/B Testing, and Pairs Trading as a Hedging Algorithm</a:t>
            </a:r>
          </a:p>
        </p:txBody>
      </p:sp>
      <p:sp>
        <p:nvSpPr>
          <p:cNvPr id="30" name="TextBox 29"/>
          <p:cNvSpPr txBox="1"/>
          <p:nvPr/>
        </p:nvSpPr>
        <p:spPr>
          <a:xfrm>
            <a:off x="10287000" y="443865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A5, K2, K6</a:t>
            </a:r>
          </a:p>
        </p:txBody>
      </p:sp>
      <p:sp>
        <p:nvSpPr>
          <p:cNvPr id="31" name="TextBox 30"/>
          <p:cNvSpPr txBox="1"/>
          <p:nvPr/>
        </p:nvSpPr>
        <p:spPr>
          <a:xfrm>
            <a:off x="822960" y="478536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11:25 - 11:40</a:t>
            </a:r>
          </a:p>
        </p:txBody>
      </p:sp>
      <p:sp>
        <p:nvSpPr>
          <p:cNvPr id="32" name="TextBox 31"/>
          <p:cNvSpPr txBox="1"/>
          <p:nvPr/>
        </p:nvSpPr>
        <p:spPr>
          <a:xfrm>
            <a:off x="2377440" y="478536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13: A/B-Test Stage: a Statistical Decision before Capital Moves</a:t>
            </a:r>
          </a:p>
        </p:txBody>
      </p:sp>
      <p:sp>
        <p:nvSpPr>
          <p:cNvPr id="33" name="TextBox 32"/>
          <p:cNvSpPr txBox="1"/>
          <p:nvPr/>
        </p:nvSpPr>
        <p:spPr>
          <a:xfrm>
            <a:off x="10287000" y="478536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A5, K2</a:t>
            </a:r>
          </a:p>
        </p:txBody>
      </p:sp>
      <p:sp>
        <p:nvSpPr>
          <p:cNvPr id="34" name="TextBox 33"/>
          <p:cNvSpPr txBox="1"/>
          <p:nvPr/>
        </p:nvSpPr>
        <p:spPr>
          <a:xfrm>
            <a:off x="822960" y="513207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11:40 - 12:00</a:t>
            </a:r>
          </a:p>
        </p:txBody>
      </p:sp>
      <p:sp>
        <p:nvSpPr>
          <p:cNvPr id="35" name="TextBox 34"/>
          <p:cNvSpPr txBox="1"/>
          <p:nvPr/>
        </p:nvSpPr>
        <p:spPr>
          <a:xfrm>
            <a:off x="2377440" y="513207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14: Pairs Stage: a Hedged, Market-Neutral Statistical-Arbitrage Sleeve</a:t>
            </a:r>
          </a:p>
        </p:txBody>
      </p:sp>
      <p:sp>
        <p:nvSpPr>
          <p:cNvPr id="36" name="TextBox 35"/>
          <p:cNvSpPr txBox="1"/>
          <p:nvPr/>
        </p:nvSpPr>
        <p:spPr>
          <a:xfrm>
            <a:off x="10287000" y="513207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A4, K6</a:t>
            </a:r>
          </a:p>
        </p:txBody>
      </p:sp>
      <p:sp>
        <p:nvSpPr>
          <p:cNvPr id="37" name="TextBox 36"/>
          <p:cNvSpPr txBox="1"/>
          <p:nvPr/>
        </p:nvSpPr>
        <p:spPr>
          <a:xfrm>
            <a:off x="822960" y="547878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12:00 - 12:30</a:t>
            </a:r>
          </a:p>
        </p:txBody>
      </p:sp>
      <p:sp>
        <p:nvSpPr>
          <p:cNvPr id="38" name="TextBox 37"/>
          <p:cNvSpPr txBox="1"/>
          <p:nvPr/>
        </p:nvSpPr>
        <p:spPr>
          <a:xfrm>
            <a:off x="2377440" y="547878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T4.1-4.2 Pipeline Architecture and Backtesting with Trading Costs</a:t>
            </a:r>
          </a:p>
        </p:txBody>
      </p:sp>
      <p:sp>
        <p:nvSpPr>
          <p:cNvPr id="39" name="TextBox 38"/>
          <p:cNvSpPr txBox="1"/>
          <p:nvPr/>
        </p:nvSpPr>
        <p:spPr>
          <a:xfrm>
            <a:off x="10287000" y="547878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A8, K7</a:t>
            </a:r>
          </a:p>
        </p:txBody>
      </p:sp>
      <p:sp>
        <p:nvSpPr>
          <p:cNvPr id="40" name="Rectangle 39"/>
          <p:cNvSpPr/>
          <p:nvPr/>
        </p:nvSpPr>
        <p:spPr>
          <a:xfrm>
            <a:off x="777240" y="5825490"/>
            <a:ext cx="10634472" cy="3192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0120" y="5825490"/>
            <a:ext cx="10241280" cy="319277"/>
          </a:xfrm>
          <a:prstGeom prst="rect">
            <a:avLst/>
          </a:prstGeom>
          <a:noFill/>
        </p:spPr>
        <p:txBody>
          <a:bodyPr wrap="square" anchor="ctr">
            <a:spAutoFit/>
          </a:bodyPr>
          <a:lstStyle/>
          <a:p>
            <a:pPr algn="l">
              <a:spcAft>
                <a:spcPts val="400"/>
              </a:spcAft>
            </a:pPr>
            <a:r>
              <a:rPr sz="1050" b="1">
                <a:solidFill>
                  <a:srgbClr val="5B6372"/>
                </a:solidFill>
                <a:latin typeface="Arial"/>
              </a:rPr>
              <a:t>12:30 - 13:30      Lunch Break</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Day 2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09:00 - 18:30  ·  8 instructional hours  ·  excluding 1-hour lunch and two tea breaks</a:t>
            </a:r>
          </a:p>
        </p:txBody>
      </p:sp>
      <p:sp>
        <p:nvSpPr>
          <p:cNvPr id="8" name="TextBox 7"/>
          <p:cNvSpPr txBox="1"/>
          <p:nvPr/>
        </p:nvSpPr>
        <p:spPr>
          <a:xfrm>
            <a:off x="822960" y="201168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13:30 - 13:55</a:t>
            </a:r>
          </a:p>
        </p:txBody>
      </p:sp>
      <p:sp>
        <p:nvSpPr>
          <p:cNvPr id="9" name="TextBox 8"/>
          <p:cNvSpPr txBox="1"/>
          <p:nvPr/>
        </p:nvSpPr>
        <p:spPr>
          <a:xfrm>
            <a:off x="2377440" y="201168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15: Backtest-Engine Stage: Cost Models, Execution Timing and Break-Even</a:t>
            </a:r>
          </a:p>
        </p:txBody>
      </p:sp>
      <p:sp>
        <p:nvSpPr>
          <p:cNvPr id="10" name="TextBox 9"/>
          <p:cNvSpPr txBox="1"/>
          <p:nvPr/>
        </p:nvSpPr>
        <p:spPr>
          <a:xfrm>
            <a:off x="10287000" y="201168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A8, K7</a:t>
            </a:r>
          </a:p>
        </p:txBody>
      </p:sp>
      <p:sp>
        <p:nvSpPr>
          <p:cNvPr id="11" name="TextBox 10"/>
          <p:cNvSpPr txBox="1"/>
          <p:nvPr/>
        </p:nvSpPr>
        <p:spPr>
          <a:xfrm>
            <a:off x="822960" y="235839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13:55 - 14:05</a:t>
            </a:r>
          </a:p>
        </p:txBody>
      </p:sp>
      <p:sp>
        <p:nvSpPr>
          <p:cNvPr id="12" name="TextBox 11"/>
          <p:cNvSpPr txBox="1"/>
          <p:nvPr/>
        </p:nvSpPr>
        <p:spPr>
          <a:xfrm>
            <a:off x="2377440" y="235839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T4.3 Forward Testing with Automated Paper Trading</a:t>
            </a:r>
          </a:p>
        </p:txBody>
      </p:sp>
      <p:sp>
        <p:nvSpPr>
          <p:cNvPr id="13" name="TextBox 12"/>
          <p:cNvSpPr txBox="1"/>
          <p:nvPr/>
        </p:nvSpPr>
        <p:spPr>
          <a:xfrm>
            <a:off x="10287000" y="235839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A8</a:t>
            </a:r>
          </a:p>
        </p:txBody>
      </p:sp>
      <p:sp>
        <p:nvSpPr>
          <p:cNvPr id="14" name="TextBox 13"/>
          <p:cNvSpPr txBox="1"/>
          <p:nvPr/>
        </p:nvSpPr>
        <p:spPr>
          <a:xfrm>
            <a:off x="822960" y="270510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14:05 - 14:30</a:t>
            </a:r>
          </a:p>
        </p:txBody>
      </p:sp>
      <p:sp>
        <p:nvSpPr>
          <p:cNvPr id="15" name="TextBox 14"/>
          <p:cNvSpPr txBox="1"/>
          <p:nvPr/>
        </p:nvSpPr>
        <p:spPr>
          <a:xfrm>
            <a:off x="2377440" y="270510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16: Automation Stage: a Scheduled, Risk-Checked Forward Test and Live Paper Trading</a:t>
            </a:r>
          </a:p>
        </p:txBody>
      </p:sp>
      <p:sp>
        <p:nvSpPr>
          <p:cNvPr id="16" name="TextBox 15"/>
          <p:cNvSpPr txBox="1"/>
          <p:nvPr/>
        </p:nvSpPr>
        <p:spPr>
          <a:xfrm>
            <a:off x="10287000" y="270510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A8, K7</a:t>
            </a:r>
          </a:p>
        </p:txBody>
      </p:sp>
      <p:sp>
        <p:nvSpPr>
          <p:cNvPr id="17" name="TextBox 16"/>
          <p:cNvSpPr txBox="1"/>
          <p:nvPr/>
        </p:nvSpPr>
        <p:spPr>
          <a:xfrm>
            <a:off x="822960" y="305181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14:30 - 14:50</a:t>
            </a:r>
          </a:p>
        </p:txBody>
      </p:sp>
      <p:sp>
        <p:nvSpPr>
          <p:cNvPr id="18" name="TextBox 17"/>
          <p:cNvSpPr txBox="1"/>
          <p:nvPr/>
        </p:nvSpPr>
        <p:spPr>
          <a:xfrm>
            <a:off x="2377440" y="305181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17: Event-Driven Automation: TradingView Webhook to Signal, Risk and Execution</a:t>
            </a:r>
          </a:p>
        </p:txBody>
      </p:sp>
      <p:sp>
        <p:nvSpPr>
          <p:cNvPr id="19" name="TextBox 18"/>
          <p:cNvSpPr txBox="1"/>
          <p:nvPr/>
        </p:nvSpPr>
        <p:spPr>
          <a:xfrm>
            <a:off x="10287000" y="305181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K5, K7</a:t>
            </a:r>
          </a:p>
        </p:txBody>
      </p:sp>
      <p:sp>
        <p:nvSpPr>
          <p:cNvPr id="20" name="TextBox 19"/>
          <p:cNvSpPr txBox="1"/>
          <p:nvPr/>
        </p:nvSpPr>
        <p:spPr>
          <a:xfrm>
            <a:off x="822960" y="339852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14:50 - 15:00</a:t>
            </a:r>
          </a:p>
        </p:txBody>
      </p:sp>
      <p:sp>
        <p:nvSpPr>
          <p:cNvPr id="21" name="TextBox 20"/>
          <p:cNvSpPr txBox="1"/>
          <p:nvPr/>
        </p:nvSpPr>
        <p:spPr>
          <a:xfrm>
            <a:off x="2377440" y="339852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T4.4 Potential Reasons for Unintended Outcomes</a:t>
            </a:r>
          </a:p>
        </p:txBody>
      </p:sp>
      <p:sp>
        <p:nvSpPr>
          <p:cNvPr id="22" name="TextBox 21"/>
          <p:cNvSpPr txBox="1"/>
          <p:nvPr/>
        </p:nvSpPr>
        <p:spPr>
          <a:xfrm>
            <a:off x="10287000" y="339852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A9, K8</a:t>
            </a:r>
          </a:p>
        </p:txBody>
      </p:sp>
      <p:sp>
        <p:nvSpPr>
          <p:cNvPr id="23" name="TextBox 22"/>
          <p:cNvSpPr txBox="1"/>
          <p:nvPr/>
        </p:nvSpPr>
        <p:spPr>
          <a:xfrm>
            <a:off x="822960" y="374523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15:00 - 15:20</a:t>
            </a:r>
          </a:p>
        </p:txBody>
      </p:sp>
      <p:sp>
        <p:nvSpPr>
          <p:cNvPr id="24" name="TextBox 23"/>
          <p:cNvSpPr txBox="1"/>
          <p:nvPr/>
        </p:nvSpPr>
        <p:spPr>
          <a:xfrm>
            <a:off x="2377440" y="374523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18: Diagnostics Stage: Automated Bias Checks before Go-Live</a:t>
            </a:r>
          </a:p>
        </p:txBody>
      </p:sp>
      <p:sp>
        <p:nvSpPr>
          <p:cNvPr id="25" name="TextBox 24"/>
          <p:cNvSpPr txBox="1"/>
          <p:nvPr/>
        </p:nvSpPr>
        <p:spPr>
          <a:xfrm>
            <a:off x="10287000" y="374523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A9, K8</a:t>
            </a:r>
          </a:p>
        </p:txBody>
      </p:sp>
      <p:sp>
        <p:nvSpPr>
          <p:cNvPr id="26" name="Rectangle 25"/>
          <p:cNvSpPr/>
          <p:nvPr/>
        </p:nvSpPr>
        <p:spPr>
          <a:xfrm>
            <a:off x="777240" y="4091939"/>
            <a:ext cx="10634472" cy="3192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20" y="4091939"/>
            <a:ext cx="10241280" cy="319277"/>
          </a:xfrm>
          <a:prstGeom prst="rect">
            <a:avLst/>
          </a:prstGeom>
          <a:noFill/>
        </p:spPr>
        <p:txBody>
          <a:bodyPr wrap="square" anchor="ctr">
            <a:spAutoFit/>
          </a:bodyPr>
          <a:lstStyle/>
          <a:p>
            <a:pPr algn="l">
              <a:spcAft>
                <a:spcPts val="400"/>
              </a:spcAft>
            </a:pPr>
            <a:r>
              <a:rPr sz="1050" b="1">
                <a:solidFill>
                  <a:srgbClr val="5B6372"/>
                </a:solidFill>
                <a:latin typeface="Arial"/>
              </a:rPr>
              <a:t>15:20 - 15:35      Tea Break</a:t>
            </a:r>
          </a:p>
        </p:txBody>
      </p:sp>
      <p:sp>
        <p:nvSpPr>
          <p:cNvPr id="28" name="TextBox 27"/>
          <p:cNvSpPr txBox="1"/>
          <p:nvPr/>
        </p:nvSpPr>
        <p:spPr>
          <a:xfrm>
            <a:off x="822960" y="443865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15:35 - 15:45</a:t>
            </a:r>
          </a:p>
        </p:txBody>
      </p:sp>
      <p:sp>
        <p:nvSpPr>
          <p:cNvPr id="29" name="TextBox 28"/>
          <p:cNvSpPr txBox="1"/>
          <p:nvPr/>
        </p:nvSpPr>
        <p:spPr>
          <a:xfrm>
            <a:off x="2377440" y="4438650"/>
            <a:ext cx="7863840" cy="319277"/>
          </a:xfrm>
          <a:prstGeom prst="rect">
            <a:avLst/>
          </a:prstGeom>
          <a:noFill/>
        </p:spPr>
        <p:txBody>
          <a:bodyPr wrap="square" anchor="ctr">
            <a:spAutoFit/>
          </a:bodyPr>
          <a:lstStyle/>
          <a:p>
            <a:pPr algn="l">
              <a:spcAft>
                <a:spcPts val="400"/>
              </a:spcAft>
            </a:pPr>
            <a:r>
              <a:rPr sz="1050" b="0">
                <a:solidFill>
                  <a:srgbClr val="161B26"/>
                </a:solidFill>
                <a:latin typeface="Arial"/>
              </a:rPr>
              <a:t>T4.5 Performance Analysis, Insights and Reporting</a:t>
            </a:r>
          </a:p>
        </p:txBody>
      </p:sp>
      <p:sp>
        <p:nvSpPr>
          <p:cNvPr id="30" name="TextBox 29"/>
          <p:cNvSpPr txBox="1"/>
          <p:nvPr/>
        </p:nvSpPr>
        <p:spPr>
          <a:xfrm>
            <a:off x="10287000" y="443865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A10</a:t>
            </a:r>
          </a:p>
        </p:txBody>
      </p:sp>
      <p:sp>
        <p:nvSpPr>
          <p:cNvPr id="31" name="TextBox 30"/>
          <p:cNvSpPr txBox="1"/>
          <p:nvPr/>
        </p:nvSpPr>
        <p:spPr>
          <a:xfrm>
            <a:off x="822960" y="478536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15:45 - 16:10</a:t>
            </a:r>
          </a:p>
        </p:txBody>
      </p:sp>
      <p:sp>
        <p:nvSpPr>
          <p:cNvPr id="32" name="TextBox 31"/>
          <p:cNvSpPr txBox="1"/>
          <p:nvPr/>
        </p:nvSpPr>
        <p:spPr>
          <a:xfrm>
            <a:off x="2377440" y="478536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19: Monitoring and Reporting Stage: Automated Tearsheet and Backtest-vs-Forward Report</a:t>
            </a:r>
          </a:p>
        </p:txBody>
      </p:sp>
      <p:sp>
        <p:nvSpPr>
          <p:cNvPr id="33" name="TextBox 32"/>
          <p:cNvSpPr txBox="1"/>
          <p:nvPr/>
        </p:nvSpPr>
        <p:spPr>
          <a:xfrm>
            <a:off x="10287000" y="478536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A8, A10</a:t>
            </a:r>
          </a:p>
        </p:txBody>
      </p:sp>
      <p:sp>
        <p:nvSpPr>
          <p:cNvPr id="34" name="TextBox 33"/>
          <p:cNvSpPr txBox="1"/>
          <p:nvPr/>
        </p:nvSpPr>
        <p:spPr>
          <a:xfrm>
            <a:off x="822960" y="513207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16:10 - 16:30</a:t>
            </a:r>
          </a:p>
        </p:txBody>
      </p:sp>
      <p:sp>
        <p:nvSpPr>
          <p:cNvPr id="35" name="TextBox 34"/>
          <p:cNvSpPr txBox="1"/>
          <p:nvPr/>
        </p:nvSpPr>
        <p:spPr>
          <a:xfrm>
            <a:off x="2377440" y="5132070"/>
            <a:ext cx="7863840" cy="319277"/>
          </a:xfrm>
          <a:prstGeom prst="rect">
            <a:avLst/>
          </a:prstGeom>
          <a:noFill/>
        </p:spPr>
        <p:txBody>
          <a:bodyPr wrap="square" anchor="ctr">
            <a:spAutoFit/>
          </a:bodyPr>
          <a:lstStyle/>
          <a:p>
            <a:pPr algn="l">
              <a:spcAft>
                <a:spcPts val="400"/>
              </a:spcAft>
            </a:pPr>
            <a:r>
              <a:rPr sz="1050" b="1">
                <a:solidFill>
                  <a:srgbClr val="10B981"/>
                </a:solidFill>
                <a:latin typeface="Arial"/>
              </a:rPr>
              <a:t>Lab 20: Capstone: One Command Runs the Pipeline End to End, with an Agentic Layer and Human Approval</a:t>
            </a:r>
          </a:p>
        </p:txBody>
      </p:sp>
      <p:sp>
        <p:nvSpPr>
          <p:cNvPr id="36" name="TextBox 35"/>
          <p:cNvSpPr txBox="1"/>
          <p:nvPr/>
        </p:nvSpPr>
        <p:spPr>
          <a:xfrm>
            <a:off x="10287000" y="513207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A7, A10, K1</a:t>
            </a:r>
          </a:p>
        </p:txBody>
      </p:sp>
      <p:sp>
        <p:nvSpPr>
          <p:cNvPr id="37" name="TextBox 36"/>
          <p:cNvSpPr txBox="1"/>
          <p:nvPr/>
        </p:nvSpPr>
        <p:spPr>
          <a:xfrm>
            <a:off x="822960" y="547878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16:30 - 17:15</a:t>
            </a:r>
          </a:p>
        </p:txBody>
      </p:sp>
      <p:sp>
        <p:nvSpPr>
          <p:cNvPr id="38" name="TextBox 37"/>
          <p:cNvSpPr txBox="1"/>
          <p:nvPr/>
        </p:nvSpPr>
        <p:spPr>
          <a:xfrm>
            <a:off x="2377440" y="5478780"/>
            <a:ext cx="7863840" cy="319277"/>
          </a:xfrm>
          <a:prstGeom prst="rect">
            <a:avLst/>
          </a:prstGeom>
          <a:noFill/>
        </p:spPr>
        <p:txBody>
          <a:bodyPr wrap="square" anchor="ctr">
            <a:spAutoFit/>
          </a:bodyPr>
          <a:lstStyle/>
          <a:p>
            <a:pPr algn="l">
              <a:spcAft>
                <a:spcPts val="400"/>
              </a:spcAft>
            </a:pPr>
            <a:r>
              <a:rPr sz="1050" b="1">
                <a:solidFill>
                  <a:srgbClr val="7C3AED"/>
                </a:solidFill>
                <a:latin typeface="Arial"/>
              </a:rPr>
              <a:t>Written Assessment (Short Answer Questions)</a:t>
            </a:r>
          </a:p>
        </p:txBody>
      </p:sp>
      <p:sp>
        <p:nvSpPr>
          <p:cNvPr id="39" name="TextBox 38"/>
          <p:cNvSpPr txBox="1"/>
          <p:nvPr/>
        </p:nvSpPr>
        <p:spPr>
          <a:xfrm>
            <a:off x="10287000" y="547878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K1 - K9</a:t>
            </a:r>
          </a:p>
        </p:txBody>
      </p:sp>
      <p:sp>
        <p:nvSpPr>
          <p:cNvPr id="40" name="TextBox 39"/>
          <p:cNvSpPr txBox="1"/>
          <p:nvPr/>
        </p:nvSpPr>
        <p:spPr>
          <a:xfrm>
            <a:off x="822960" y="5825490"/>
            <a:ext cx="1463040" cy="319277"/>
          </a:xfrm>
          <a:prstGeom prst="rect">
            <a:avLst/>
          </a:prstGeom>
          <a:noFill/>
        </p:spPr>
        <p:txBody>
          <a:bodyPr wrap="square" anchor="ctr">
            <a:spAutoFit/>
          </a:bodyPr>
          <a:lstStyle/>
          <a:p>
            <a:pPr algn="l">
              <a:spcAft>
                <a:spcPts val="400"/>
              </a:spcAft>
            </a:pPr>
            <a:r>
              <a:rPr sz="1000" b="1">
                <a:solidFill>
                  <a:srgbClr val="5B6372"/>
                </a:solidFill>
                <a:latin typeface="Arial"/>
              </a:rPr>
              <a:t>17:15 - 18:30</a:t>
            </a:r>
          </a:p>
        </p:txBody>
      </p:sp>
      <p:sp>
        <p:nvSpPr>
          <p:cNvPr id="41" name="TextBox 40"/>
          <p:cNvSpPr txBox="1"/>
          <p:nvPr/>
        </p:nvSpPr>
        <p:spPr>
          <a:xfrm>
            <a:off x="2377440" y="5825490"/>
            <a:ext cx="7863840" cy="319277"/>
          </a:xfrm>
          <a:prstGeom prst="rect">
            <a:avLst/>
          </a:prstGeom>
          <a:noFill/>
        </p:spPr>
        <p:txBody>
          <a:bodyPr wrap="square" anchor="ctr">
            <a:spAutoFit/>
          </a:bodyPr>
          <a:lstStyle/>
          <a:p>
            <a:pPr algn="l">
              <a:spcAft>
                <a:spcPts val="400"/>
              </a:spcAft>
            </a:pPr>
            <a:r>
              <a:rPr sz="1050" b="1">
                <a:solidFill>
                  <a:srgbClr val="7C3AED"/>
                </a:solidFill>
                <a:latin typeface="Arial"/>
              </a:rPr>
              <a:t>Practical Performance Assessment</a:t>
            </a:r>
          </a:p>
        </p:txBody>
      </p:sp>
      <p:sp>
        <p:nvSpPr>
          <p:cNvPr id="42" name="TextBox 41"/>
          <p:cNvSpPr txBox="1"/>
          <p:nvPr/>
        </p:nvSpPr>
        <p:spPr>
          <a:xfrm>
            <a:off x="10287000" y="5825490"/>
            <a:ext cx="1097280" cy="319277"/>
          </a:xfrm>
          <a:prstGeom prst="rect">
            <a:avLst/>
          </a:prstGeom>
          <a:noFill/>
        </p:spPr>
        <p:txBody>
          <a:bodyPr wrap="square" anchor="ctr">
            <a:spAutoFit/>
          </a:bodyPr>
          <a:lstStyle/>
          <a:p>
            <a:pPr algn="r">
              <a:spcAft>
                <a:spcPts val="400"/>
              </a:spcAft>
            </a:pPr>
            <a:r>
              <a:rPr sz="900" b="0">
                <a:solidFill>
                  <a:srgbClr val="5B6372"/>
                </a:solidFill>
                <a:latin typeface="Arial"/>
              </a:rPr>
              <a:t>A1 - A10</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BEFORE THE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Open book</a:t>
            </a:r>
          </a:p>
          <a:p>
            <a:pPr algn="l">
              <a:spcAft>
                <a:spcPts val="300"/>
              </a:spcAft>
            </a:pPr>
            <a:r>
              <a:rPr sz="1300" b="0">
                <a:solidFill>
                  <a:srgbClr val="5B6372"/>
                </a:solidFill>
                <a:latin typeface="Arial"/>
              </a:rPr>
              <a:t>You may use your Learner Guide, lab code and your own notes.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Two components</a:t>
            </a:r>
          </a:p>
          <a:p>
            <a:pPr algn="l">
              <a:spcAft>
                <a:spcPts val="300"/>
              </a:spcAft>
            </a:pPr>
            <a:r>
              <a:rPr sz="1300" b="0">
                <a:solidFill>
                  <a:srgbClr val="5B6372"/>
                </a:solidFill>
                <a:latin typeface="Arial"/>
              </a:rPr>
              <a:t>Written Assessment (45 min) and Practical Performance (75 min).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Both must be passed</a:t>
            </a:r>
          </a:p>
          <a:p>
            <a:pPr algn="l">
              <a:spcAft>
                <a:spcPts val="300"/>
              </a:spcAft>
            </a:pPr>
            <a:r>
              <a:rPr sz="1300" b="0">
                <a:solidFill>
                  <a:srgbClr val="5B6372"/>
                </a:solidFill>
                <a:latin typeface="Arial"/>
              </a:rPr>
              <a:t>Competent in BOTH is required to be awarded the module.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All your own work</a:t>
            </a:r>
          </a:p>
          <a:p>
            <a:pPr algn="l">
              <a:spcAft>
                <a:spcPts val="300"/>
              </a:spcAft>
            </a:pPr>
            <a:r>
              <a:rPr sz="1300" b="0">
                <a:solidFill>
                  <a:srgbClr val="5B6372"/>
                </a:solidFill>
                <a:latin typeface="Arial"/>
              </a:rPr>
              <a:t>Collaboration results in a Not Yet Competent outcome.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Ask if unclear</a:t>
            </a:r>
          </a:p>
          <a:p>
            <a:pPr algn="l">
              <a:spcAft>
                <a:spcPts val="300"/>
              </a:spcAft>
            </a:pPr>
            <a:r>
              <a:rPr sz="1300" b="0">
                <a:solidFill>
                  <a:srgbClr val="5B6372"/>
                </a:solidFill>
                <a:latin typeface="Arial"/>
              </a:rPr>
              <a:t>The assessor can explain a question, but not how to answer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Not Yet Competent?</a:t>
            </a:r>
          </a:p>
          <a:p>
            <a:pPr algn="l">
              <a:spcAft>
                <a:spcPts val="300"/>
              </a:spcAft>
            </a:pPr>
            <a:r>
              <a:rPr sz="1300" b="0">
                <a:solidFill>
                  <a:srgbClr val="5B6372"/>
                </a:solidFill>
                <a:latin typeface="Arial"/>
              </a:rPr>
              <a:t>You will be counselled on the gaps and offered a re-assessment.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5180076" cy="356616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518007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331720"/>
            <a:ext cx="4741164" cy="548640"/>
          </a:xfrm>
          <a:prstGeom prst="rect">
            <a:avLst/>
          </a:prstGeom>
          <a:noFill/>
        </p:spPr>
        <p:txBody>
          <a:bodyPr wrap="square" anchor="t">
            <a:spAutoFit/>
          </a:bodyPr>
          <a:lstStyle/>
          <a:p>
            <a:pPr algn="l">
              <a:spcAft>
                <a:spcPts val="400"/>
              </a:spcAft>
            </a:pPr>
            <a:r>
              <a:rPr sz="1600" b="1">
                <a:solidFill>
                  <a:srgbClr val="1F6FEB"/>
                </a:solidFill>
                <a:latin typeface="Arial"/>
              </a:rPr>
              <a:t>Written Assessment</a:t>
            </a:r>
          </a:p>
        </p:txBody>
      </p:sp>
      <p:sp>
        <p:nvSpPr>
          <p:cNvPr id="10" name="TextBox 9"/>
          <p:cNvSpPr txBox="1"/>
          <p:nvPr/>
        </p:nvSpPr>
        <p:spPr>
          <a:xfrm>
            <a:off x="996696"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Short Answer Questions · 45 minutes · open book.
9 open-ended questions — one for each knowledge statement K1 - K9.
No multiple-choice questions.</a:t>
            </a:r>
          </a:p>
        </p:txBody>
      </p:sp>
      <p:sp>
        <p:nvSpPr>
          <p:cNvPr id="11" name="Rectangle 10"/>
          <p:cNvSpPr/>
          <p:nvPr/>
        </p:nvSpPr>
        <p:spPr>
          <a:xfrm>
            <a:off x="6231636" y="1965960"/>
            <a:ext cx="5180076" cy="356616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965960"/>
            <a:ext cx="518007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092" y="2331720"/>
            <a:ext cx="4741164" cy="548640"/>
          </a:xfrm>
          <a:prstGeom prst="rect">
            <a:avLst/>
          </a:prstGeom>
          <a:noFill/>
        </p:spPr>
        <p:txBody>
          <a:bodyPr wrap="square" anchor="t">
            <a:spAutoFit/>
          </a:bodyPr>
          <a:lstStyle/>
          <a:p>
            <a:pPr algn="l">
              <a:spcAft>
                <a:spcPts val="400"/>
              </a:spcAft>
            </a:pPr>
            <a:r>
              <a:rPr sz="1600" b="1">
                <a:solidFill>
                  <a:srgbClr val="10B981"/>
                </a:solidFill>
                <a:latin typeface="Arial"/>
              </a:rPr>
              <a:t>Practical Performance</a:t>
            </a:r>
          </a:p>
        </p:txBody>
      </p:sp>
      <p:sp>
        <p:nvSpPr>
          <p:cNvPr id="14" name="TextBox 13"/>
          <p:cNvSpPr txBox="1"/>
          <p:nvPr/>
        </p:nvSpPr>
        <p:spPr>
          <a:xfrm>
            <a:off x="6451092"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Python + Alpaca paper trading · 75 minutes · open book.
4 practical tasks covering ability statements A1 - A10.
A new trading scenario, using the same pipeline tool-kit as the labs.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4343"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1" name="TextBox 10"/>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the assessment attendance record</a:t>
            </a:r>
          </a:p>
        </p:txBody>
      </p:sp>
      <p:sp>
        <p:nvSpPr>
          <p:cNvPr id="12" name="TextBox 11"/>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3" name="Rectangle 12"/>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6101"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7" name="TextBox 16"/>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Assessor briefing (not assessed)</a:t>
            </a:r>
          </a:p>
        </p:txBody>
      </p:sp>
      <p:sp>
        <p:nvSpPr>
          <p:cNvPr id="18" name="TextBox 17"/>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9" name="Rectangle 18"/>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37859"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3" name="TextBox 22"/>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Sit the WA (45 min) then the PP (75 min) — open book</a:t>
            </a:r>
          </a:p>
        </p:txBody>
      </p:sp>
      <p:sp>
        <p:nvSpPr>
          <p:cNvPr id="24" name="TextBox 23"/>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5" name="Rectangle 24"/>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19617"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29" name="TextBox 28"/>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Submit your answers on the LMS</a:t>
            </a:r>
          </a:p>
        </p:txBody>
      </p:sp>
      <p:sp>
        <p:nvSpPr>
          <p:cNvPr id="30" name="TextBox 29"/>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31" name="Rectangle 30"/>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01375"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5" name="TextBox 34"/>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the Assessment Summary Record</a:t>
            </a:r>
          </a:p>
        </p:txBody>
      </p:sp>
      <p:sp>
        <p:nvSpPr>
          <p:cNvPr id="36" name="Rectangle 3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5257800"/>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Both components are open book. You must be Competent in BOTH to be awarded the module.</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1F6FEB"/>
                </a:solidFill>
                <a:latin typeface="Arial"/>
              </a:rPr>
              <a:t>GETTING STARTED</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Set Up Alpaca and TradingView</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1F6FEB"/>
                </a:solidFill>
                <a:latin typeface="Arial"/>
              </a:rPr>
              <a:t>LEARNING OUTCOME</a:t>
            </a:r>
          </a:p>
          <a:p>
            <a:pPr algn="l">
              <a:spcAft>
                <a:spcPts val="400"/>
              </a:spcAft>
            </a:pPr>
            <a:r>
              <a:rPr sz="1350" b="0">
                <a:solidFill>
                  <a:srgbClr val="161B26"/>
                </a:solidFill>
                <a:latin typeface="Arial"/>
              </a:rPr>
              <a:t>Create the free accounts and the Python environment every lab uses. Everything runs on paper — no real money at any point.</a:t>
            </a:r>
          </a:p>
        </p:txBody>
      </p:sp>
      <p:sp>
        <p:nvSpPr>
          <p:cNvPr id="9" name="TextBox 8"/>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01</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PLATFORM · ALPACA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Open an Alpaca Paper-Trading Account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4343"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1" name="TextBox 10"/>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up free at alpaca.markets (email only)</a:t>
            </a:r>
          </a:p>
        </p:txBody>
      </p:sp>
      <p:sp>
        <p:nvSpPr>
          <p:cNvPr id="12" name="TextBox 11"/>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3" name="Rectangle 12"/>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6101"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7" name="TextBox 16"/>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Switch the dashboard to the Paper account</a:t>
            </a:r>
          </a:p>
        </p:txBody>
      </p:sp>
      <p:sp>
        <p:nvSpPr>
          <p:cNvPr id="18" name="TextBox 17"/>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9" name="Rectangle 18"/>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37859"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3" name="TextBox 22"/>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Generate API key ID and secret — copy once</a:t>
            </a:r>
          </a:p>
        </p:txBody>
      </p:sp>
      <p:sp>
        <p:nvSpPr>
          <p:cNvPr id="24" name="TextBox 23"/>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5" name="Rectangle 24"/>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19617"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29" name="TextBox 28"/>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Save them in a .env file as APCA_API_KEY_ID / APCA_API_SECRET_KEY</a:t>
            </a:r>
          </a:p>
        </p:txBody>
      </p:sp>
      <p:sp>
        <p:nvSpPr>
          <p:cNvPr id="30" name="TextBox 29"/>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1" name="Rectangle 30"/>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01375"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5" name="TextBox 34"/>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Run Lab 1's account check script</a:t>
            </a:r>
          </a:p>
        </p:txBody>
      </p:sp>
      <p:sp>
        <p:nvSpPr>
          <p:cNvPr id="36" name="Rectangle 3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Paper endpoint: paper-api.alpaca.markets · default virtual balance USD 100,000. No keys? Every lab also runs offline on bundled data.</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PLATFORM · TRADINGVIEW + PYTHON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Open a TradingView Account and Python Environment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4343"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1" name="TextBox 10"/>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up free at tradingview.com</a:t>
            </a:r>
          </a:p>
        </p:txBody>
      </p:sp>
      <p:sp>
        <p:nvSpPr>
          <p:cNvPr id="12" name="TextBox 11"/>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3" name="Rectangle 12"/>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6101"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7" name="TextBox 16"/>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Open a chart; find the Pine Editor and Strategy Tester tabs</a:t>
            </a:r>
          </a:p>
        </p:txBody>
      </p:sp>
      <p:sp>
        <p:nvSpPr>
          <p:cNvPr id="18" name="TextBox 17"/>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9" name="Rectangle 18"/>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37859"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3" name="TextBox 22"/>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Install Python 3.10+ and create a virtual environment</a:t>
            </a:r>
          </a:p>
        </p:txBody>
      </p:sp>
      <p:sp>
        <p:nvSpPr>
          <p:cNvPr id="24" name="TextBox 23"/>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5" name="Rectangle 24"/>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19617"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29" name="TextBox 28"/>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pip install -r labs/requirements.txt</a:t>
            </a:r>
          </a:p>
        </p:txBody>
      </p:sp>
      <p:sp>
        <p:nvSpPr>
          <p:cNvPr id="30" name="TextBox 29"/>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1" name="Rectangle 30"/>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01375"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5" name="TextBox 34"/>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Run python Lab01-…/check_account.py</a:t>
            </a:r>
          </a:p>
        </p:txBody>
      </p:sp>
      <p:sp>
        <p:nvSpPr>
          <p:cNvPr id="36" name="Rectangle 3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Webhook alerts (Lab 17) need a paid TradingView plan — the lab also includes a local simulator.</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920240"/>
            <a:ext cx="9692640" cy="365760"/>
          </a:xfrm>
          <a:prstGeom prst="rect">
            <a:avLst/>
          </a:prstGeom>
          <a:noFill/>
        </p:spPr>
        <p:txBody>
          <a:bodyPr wrap="square" anchor="t">
            <a:spAutoFit/>
          </a:bodyPr>
          <a:lstStyle/>
          <a:p>
            <a:pPr algn="l">
              <a:spcAft>
                <a:spcPts val="400"/>
              </a:spcAft>
            </a:pPr>
            <a:r>
              <a:rPr sz="1400" b="1">
                <a:solidFill>
                  <a:srgbClr val="10B981"/>
                </a:solidFill>
                <a:latin typeface="Arial"/>
              </a:rPr>
              <a:t>PLATFORM · THE IDEA THAT MATTERS MOST</a:t>
            </a:r>
          </a:p>
        </p:txBody>
      </p:sp>
      <p:sp>
        <p:nvSpPr>
          <p:cNvPr id="5" name="TextBox 4"/>
          <p:cNvSpPr txBox="1"/>
          <p:nvPr/>
        </p:nvSpPr>
        <p:spPr>
          <a:xfrm>
            <a:off x="1188720" y="2377440"/>
            <a:ext cx="9692640" cy="1645920"/>
          </a:xfrm>
          <a:prstGeom prst="rect">
            <a:avLst/>
          </a:prstGeom>
          <a:noFill/>
        </p:spPr>
        <p:txBody>
          <a:bodyPr wrap="square" anchor="t">
            <a:spAutoFit/>
          </a:bodyPr>
          <a:lstStyle/>
          <a:p>
            <a:pPr algn="l">
              <a:spcAft>
                <a:spcPts val="400"/>
              </a:spcAft>
            </a:pPr>
            <a:r>
              <a:rPr sz="3400" b="1">
                <a:solidFill>
                  <a:srgbClr val="161B26"/>
                </a:solidFill>
                <a:latin typeface="Arial"/>
              </a:rPr>
              <a:t>Paper first. Always.</a:t>
            </a:r>
          </a:p>
        </p:txBody>
      </p:sp>
      <p:sp>
        <p:nvSpPr>
          <p:cNvPr id="6" name="TextBox 5"/>
          <p:cNvSpPr txBox="1"/>
          <p:nvPr/>
        </p:nvSpPr>
        <p:spPr>
          <a:xfrm>
            <a:off x="1188720" y="4206240"/>
            <a:ext cx="9692640" cy="1097280"/>
          </a:xfrm>
          <a:prstGeom prst="rect">
            <a:avLst/>
          </a:prstGeom>
          <a:noFill/>
        </p:spPr>
        <p:txBody>
          <a:bodyPr wrap="square" anchor="t">
            <a:spAutoFit/>
          </a:bodyPr>
          <a:lstStyle/>
          <a:p>
            <a:pPr algn="l">
              <a:spcAft>
                <a:spcPts val="400"/>
              </a:spcAft>
            </a:pPr>
            <a:r>
              <a:rPr sz="1600" b="0">
                <a:solidFill>
                  <a:srgbClr val="5B6372"/>
                </a:solidFill>
                <a:latin typeface="Arial"/>
              </a:rPr>
              <a:t>Every strategy in this course is tested on history, then forward-tested on a paper account with automatic orders, before anyone would consider real capital. That discipline is the course.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1F6FEB"/>
                </a:solidFill>
                <a:latin typeface="Arial"/>
              </a:rPr>
              <a:t>TOPIC 1</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Quant and Algo Trading Foundations</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1F6FEB"/>
                </a:solidFill>
                <a:latin typeface="Arial"/>
              </a:rPr>
              <a:t>LEARNING OUTCOME</a:t>
            </a:r>
          </a:p>
          <a:p>
            <a:pPr algn="l">
              <a:spcAft>
                <a:spcPts val="400"/>
              </a:spcAft>
            </a:pPr>
            <a:r>
              <a:rPr sz="1350" b="0">
                <a:solidFill>
                  <a:srgbClr val="161B26"/>
                </a:solidFill>
                <a:latin typeface="Arial"/>
              </a:rPr>
              <a:t>Develop hypotheses for implementing data analytics and computational modelling activities in algorithmic trading, and identify possible big data applications across the forms of data within financial services.</a:t>
            </a:r>
          </a:p>
        </p:txBody>
      </p:sp>
      <p:sp>
        <p:nvSpPr>
          <p:cNvPr id="9" name="TextBox 8"/>
          <p:cNvSpPr txBox="1"/>
          <p:nvPr/>
        </p:nvSpPr>
        <p:spPr>
          <a:xfrm>
            <a:off x="1188720" y="4892040"/>
            <a:ext cx="9509760" cy="457200"/>
          </a:xfrm>
          <a:prstGeom prst="rect">
            <a:avLst/>
          </a:prstGeom>
          <a:noFill/>
        </p:spPr>
        <p:txBody>
          <a:bodyPr wrap="square" anchor="t">
            <a:spAutoFit/>
          </a:bodyPr>
          <a:lstStyle/>
          <a:p>
            <a:pPr algn="l">
              <a:spcAft>
                <a:spcPts val="400"/>
              </a:spcAft>
            </a:pPr>
            <a:r>
              <a:rPr sz="1150" b="0">
                <a:solidFill>
                  <a:srgbClr val="5B6372"/>
                </a:solidFill>
                <a:latin typeface="Arial"/>
              </a:rPr>
              <a:t>Abilities A1, A6  ·  Knowledge K1, K9   ·   Day 1   ·   Labs 1–4   ·   Assessed by PP Task 1 and WA Q1, Q9</a:t>
            </a:r>
          </a:p>
        </p:txBody>
      </p:sp>
      <p:sp>
        <p:nvSpPr>
          <p:cNvPr id="10" name="TextBox 9"/>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01</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QUANT SUCCESS STORIES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 Success Stories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Ed Thorp - Princeton Newport  ·  1969</a:t>
            </a:r>
          </a:p>
          <a:p>
            <a:pPr algn="l">
              <a:spcAft>
                <a:spcPts val="300"/>
              </a:spcAft>
            </a:pPr>
            <a:r>
              <a:rPr sz="1000" b="0">
                <a:solidFill>
                  <a:srgbClr val="5B6372"/>
                </a:solidFill>
                <a:latin typeface="Arial"/>
              </a:rPr>
              <a:t>First market-neutral quant fund: about 20% a year after fees for two decades by hedging warrants and convertibles</a:t>
            </a:r>
          </a:p>
        </p:txBody>
      </p:sp>
      <p:sp>
        <p:nvSpPr>
          <p:cNvPr id="15" name="Rectangle 14"/>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Renaissance - Medallion  ·  1988</a:t>
            </a:r>
          </a:p>
          <a:p>
            <a:pPr algn="l">
              <a:spcAft>
                <a:spcPts val="300"/>
              </a:spcAft>
            </a:pPr>
            <a:r>
              <a:rPr sz="1000" b="0">
                <a:solidFill>
                  <a:srgbClr val="5B6372"/>
                </a:solidFill>
                <a:latin typeface="Arial"/>
              </a:rPr>
              <a:t>Purely model-driven; about 66% a year before fees, 39% after (1988-2018); closed to outsiders, employee-owned</a:t>
            </a:r>
          </a:p>
        </p:txBody>
      </p:sp>
      <p:sp>
        <p:nvSpPr>
          <p:cNvPr id="20" name="Rectangle 19"/>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D.E. Shaw  ·  1988</a:t>
            </a:r>
          </a:p>
          <a:p>
            <a:pPr algn="l">
              <a:spcAft>
                <a:spcPts val="300"/>
              </a:spcAft>
            </a:pPr>
            <a:r>
              <a:rPr sz="1000" b="0">
                <a:solidFill>
                  <a:srgbClr val="5B6372"/>
                </a:solidFill>
                <a:latin typeface="Arial"/>
              </a:rPr>
              <a:t>Founded by a computer-science professor from Morgan Stanley's quant group; models and software; about US$60-65bn</a:t>
            </a:r>
          </a:p>
        </p:txBody>
      </p:sp>
      <p:sp>
        <p:nvSpPr>
          <p:cNvPr id="25" name="Rectangle 24"/>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Man AHL  ·  1987</a:t>
            </a:r>
          </a:p>
          <a:p>
            <a:pPr algn="l">
              <a:spcAft>
                <a:spcPts val="300"/>
              </a:spcAft>
            </a:pPr>
            <a:r>
              <a:rPr sz="1000" b="0">
                <a:solidFill>
                  <a:srgbClr val="5B6372"/>
                </a:solidFill>
                <a:latin typeface="Arial"/>
              </a:rPr>
              <a:t>Systematic trend following from hand-typed price histories to momentum models across 800+ markets</a:t>
            </a:r>
          </a:p>
        </p:txBody>
      </p:sp>
      <p:sp>
        <p:nvSpPr>
          <p:cNvPr id="30" name="Rectangle 29"/>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Two Sigma  ·  2001</a:t>
            </a:r>
          </a:p>
          <a:p>
            <a:pPr algn="l">
              <a:spcAft>
                <a:spcPts val="300"/>
              </a:spcAft>
            </a:pPr>
            <a:r>
              <a:rPr sz="1000" b="0">
                <a:solidFill>
                  <a:srgbClr val="5B6372"/>
                </a:solidFill>
                <a:latin typeface="Arial"/>
              </a:rPr>
              <a:t>AI, machine learning and distributed computing applied to trading; about US$70bn under management</a:t>
            </a:r>
          </a:p>
        </p:txBody>
      </p:sp>
      <p:sp>
        <p:nvSpPr>
          <p:cNvPr id="35" name="Rectangle 34"/>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Jane Street  ·  2024</a:t>
            </a:r>
          </a:p>
          <a:p>
            <a:pPr algn="l">
              <a:spcAft>
                <a:spcPts val="300"/>
              </a:spcAft>
            </a:pPr>
            <a:r>
              <a:rPr sz="1000" b="0">
                <a:solidFill>
                  <a:srgbClr val="5B6372"/>
                </a:solidFill>
                <a:latin typeface="Arial"/>
              </a:rPr>
              <a:t>Quant market maker: about US$20.5bn net trading revenue; nearly a quarter of primary US ETF activity</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QUANT SUCCESS STORIES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Spotlight: Renaissance Technologies and the Medallion Fund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Founded by a mathematician</a:t>
            </a:r>
          </a:p>
          <a:p>
            <a:pPr algn="l">
              <a:spcAft>
                <a:spcPts val="300"/>
              </a:spcAft>
            </a:pPr>
            <a:r>
              <a:rPr sz="1100" b="0">
                <a:solidFill>
                  <a:srgbClr val="5B6372"/>
                </a:solidFill>
                <a:latin typeface="Arial"/>
              </a:rPr>
              <a:t>Jim Simons founds Monemetrics in 1978; renamed Renaissance Technologies in 1982</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Medallion fund, 1988</a:t>
            </a:r>
          </a:p>
          <a:p>
            <a:pPr algn="l">
              <a:spcAft>
                <a:spcPts val="300"/>
              </a:spcAft>
            </a:pPr>
            <a:r>
              <a:rPr sz="1100" b="0">
                <a:solidFill>
                  <a:srgbClr val="5B6372"/>
                </a:solidFill>
                <a:latin typeface="Arial"/>
              </a:rPr>
              <a:t>The flagship fund trades purely on mathematical models of market data</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About 66% a year before fees</a:t>
            </a:r>
          </a:p>
          <a:p>
            <a:pPr algn="l">
              <a:spcAft>
                <a:spcPts val="300"/>
              </a:spcAft>
            </a:pPr>
            <a:r>
              <a:rPr sz="1100" b="0">
                <a:solidFill>
                  <a:srgbClr val="5B6372"/>
                </a:solidFill>
                <a:latin typeface="Arial"/>
              </a:rPr>
              <a:t>Average gross return 1988-2018, about 39% after its high fees; closed to outsiders, employee-owned</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The lesson for this course</a:t>
            </a:r>
          </a:p>
          <a:p>
            <a:pPr algn="l">
              <a:spcAft>
                <a:spcPts val="300"/>
              </a:spcAft>
            </a:pPr>
            <a:r>
              <a:rPr sz="1100" b="0">
                <a:solidFill>
                  <a:srgbClr val="5B6372"/>
                </a:solidFill>
                <a:latin typeface="Arial"/>
              </a:rPr>
              <a:t>The edge came from data, rigorous testing, costs and risk control - not from one clever indicator</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QUANT SUCCESS STORIES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the Success Stories Have in Common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Hypothesis first</a:t>
            </a:r>
          </a:p>
          <a:p>
            <a:pPr algn="l">
              <a:spcAft>
                <a:spcPts val="300"/>
              </a:spcAft>
            </a:pPr>
            <a:r>
              <a:rPr sz="1050" b="0">
                <a:solidFill>
                  <a:srgbClr val="5B6372"/>
                </a:solidFill>
                <a:latin typeface="Arial"/>
              </a:rPr>
              <a:t>Each started from a testable idea about prices, not from a tool</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Data and testing</a:t>
            </a:r>
          </a:p>
          <a:p>
            <a:pPr algn="l">
              <a:spcAft>
                <a:spcPts val="300"/>
              </a:spcAft>
            </a:pPr>
            <a:r>
              <a:rPr sz="1050" b="0">
                <a:solidFill>
                  <a:srgbClr val="5B6372"/>
                </a:solidFill>
                <a:latin typeface="Arial"/>
              </a:rPr>
              <a:t>Clean data and out-of-sample tests before capital</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Many small edges</a:t>
            </a:r>
          </a:p>
          <a:p>
            <a:pPr algn="l">
              <a:spcAft>
                <a:spcPts val="300"/>
              </a:spcAft>
            </a:pPr>
            <a:r>
              <a:rPr sz="1050" b="0">
                <a:solidFill>
                  <a:srgbClr val="5B6372"/>
                </a:solidFill>
                <a:latin typeface="Arial"/>
              </a:rPr>
              <a:t>Diversified, market-neutral bets rather than one big call</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Costs and risk</a:t>
            </a:r>
          </a:p>
          <a:p>
            <a:pPr algn="l">
              <a:spcAft>
                <a:spcPts val="300"/>
              </a:spcAft>
            </a:pPr>
            <a:r>
              <a:rPr sz="1050" b="0">
                <a:solidFill>
                  <a:srgbClr val="5B6372"/>
                </a:solidFill>
                <a:latin typeface="Arial"/>
              </a:rPr>
              <a:t>Execution cost, leverage and risk limits decide survival - see LTCM 1998</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Citadel Securities</a:t>
            </a:r>
          </a:p>
          <a:p>
            <a:pPr algn="l">
              <a:spcAft>
                <a:spcPts val="300"/>
              </a:spcAft>
            </a:pPr>
            <a:r>
              <a:rPr sz="1050" b="0">
                <a:solidFill>
                  <a:srgbClr val="5B6372"/>
                </a:solidFill>
                <a:latin typeface="Arial"/>
              </a:rPr>
              <a:t>Quant market maker estimated to handle about a quarter of all US equities trading</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920240"/>
            <a:ext cx="9692640" cy="365760"/>
          </a:xfrm>
          <a:prstGeom prst="rect">
            <a:avLst/>
          </a:prstGeom>
          <a:noFill/>
        </p:spPr>
        <p:txBody>
          <a:bodyPr wrap="square" anchor="t">
            <a:spAutoFit/>
          </a:bodyPr>
          <a:lstStyle/>
          <a:p>
            <a:pPr algn="l">
              <a:spcAft>
                <a:spcPts val="400"/>
              </a:spcAft>
            </a:pPr>
            <a:r>
              <a:rPr sz="1400" b="1">
                <a:solidFill>
                  <a:srgbClr val="1F6FEB"/>
                </a:solidFill>
                <a:latin typeface="Arial"/>
              </a:rPr>
              <a:t>TOPIC 1 · DEFINITION</a:t>
            </a:r>
          </a:p>
        </p:txBody>
      </p:sp>
      <p:sp>
        <p:nvSpPr>
          <p:cNvPr id="5" name="TextBox 4"/>
          <p:cNvSpPr txBox="1"/>
          <p:nvPr/>
        </p:nvSpPr>
        <p:spPr>
          <a:xfrm>
            <a:off x="1188720" y="2377440"/>
            <a:ext cx="9692640" cy="1645920"/>
          </a:xfrm>
          <a:prstGeom prst="rect">
            <a:avLst/>
          </a:prstGeom>
          <a:noFill/>
        </p:spPr>
        <p:txBody>
          <a:bodyPr wrap="square" anchor="t">
            <a:spAutoFit/>
          </a:bodyPr>
          <a:lstStyle/>
          <a:p>
            <a:pPr algn="l">
              <a:spcAft>
                <a:spcPts val="400"/>
              </a:spcAft>
            </a:pPr>
            <a:r>
              <a:rPr sz="3400" b="1">
                <a:solidFill>
                  <a:srgbClr val="161B26"/>
                </a:solidFill>
                <a:latin typeface="Arial"/>
              </a:rPr>
              <a:t>Algorithmic trading</a:t>
            </a:r>
          </a:p>
        </p:txBody>
      </p:sp>
      <p:sp>
        <p:nvSpPr>
          <p:cNvPr id="6" name="TextBox 5"/>
          <p:cNvSpPr txBox="1"/>
          <p:nvPr/>
        </p:nvSpPr>
        <p:spPr>
          <a:xfrm>
            <a:off x="1188720" y="4206240"/>
            <a:ext cx="9692640" cy="1097280"/>
          </a:xfrm>
          <a:prstGeom prst="rect">
            <a:avLst/>
          </a:prstGeom>
          <a:noFill/>
        </p:spPr>
        <p:txBody>
          <a:bodyPr wrap="square" anchor="t">
            <a:spAutoFit/>
          </a:bodyPr>
          <a:lstStyle/>
          <a:p>
            <a:pPr algn="l">
              <a:spcAft>
                <a:spcPts val="400"/>
              </a:spcAft>
            </a:pPr>
            <a:r>
              <a:rPr sz="1600" b="0">
                <a:solidFill>
                  <a:srgbClr val="5B6372"/>
                </a:solidFill>
                <a:latin typeface="Arial"/>
              </a:rPr>
              <a:t>Using computer programs that follow predefined rules on price, timing, volume or models to generate and execute orders automatically, with limited or no human intervention.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EVOLUTION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Evolution of Quant: From Thorp to HFT to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2663"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266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1950s-70s: portfolio theory, arbitrage and option pricing</a:t>
            </a:r>
          </a:p>
        </p:txBody>
      </p:sp>
      <p:sp>
        <p:nvSpPr>
          <p:cNvPr id="15" name="TextBox 14"/>
          <p:cNvSpPr txBox="1"/>
          <p:nvPr/>
        </p:nvSpPr>
        <p:spPr>
          <a:xfrm>
            <a:off x="2043030"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16" name="Rectangle 15"/>
          <p:cNvSpPr/>
          <p:nvPr/>
        </p:nvSpPr>
        <p:spPr>
          <a:xfrm>
            <a:off x="2335638"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335638"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621061"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2106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463654"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1970s-80s: factor risk models and program trading</a:t>
            </a:r>
          </a:p>
        </p:txBody>
      </p:sp>
      <p:sp>
        <p:nvSpPr>
          <p:cNvPr id="21" name="TextBox 20"/>
          <p:cNvSpPr txBox="1"/>
          <p:nvPr/>
        </p:nvSpPr>
        <p:spPr>
          <a:xfrm>
            <a:off x="3601428"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2" name="Rectangle 21"/>
          <p:cNvSpPr/>
          <p:nvPr/>
        </p:nvSpPr>
        <p:spPr>
          <a:xfrm>
            <a:off x="3894036"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894036"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179459"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794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4022052"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1980s-90s: statistical arbitrage and pairs trading</a:t>
            </a:r>
          </a:p>
        </p:txBody>
      </p:sp>
      <p:sp>
        <p:nvSpPr>
          <p:cNvPr id="27" name="TextBox 26"/>
          <p:cNvSpPr txBox="1"/>
          <p:nvPr/>
        </p:nvSpPr>
        <p:spPr>
          <a:xfrm>
            <a:off x="5159826"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8" name="Rectangle 27"/>
          <p:cNvSpPr/>
          <p:nvPr/>
        </p:nvSpPr>
        <p:spPr>
          <a:xfrm>
            <a:off x="5452434"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52434"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737857"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3785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5580450"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1988 on: fully systematic signal mining (Renaissance, D.E. Shaw)</a:t>
            </a:r>
          </a:p>
        </p:txBody>
      </p:sp>
      <p:sp>
        <p:nvSpPr>
          <p:cNvPr id="33" name="TextBox 32"/>
          <p:cNvSpPr txBox="1"/>
          <p:nvPr/>
        </p:nvSpPr>
        <p:spPr>
          <a:xfrm>
            <a:off x="6718224"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34" name="Rectangle 33"/>
          <p:cNvSpPr/>
          <p:nvPr/>
        </p:nvSpPr>
        <p:spPr>
          <a:xfrm>
            <a:off x="7010832"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010832"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296255"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25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7138848"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2000s: electronic market making and HFT</a:t>
            </a:r>
          </a:p>
        </p:txBody>
      </p:sp>
      <p:sp>
        <p:nvSpPr>
          <p:cNvPr id="39" name="TextBox 38"/>
          <p:cNvSpPr txBox="1"/>
          <p:nvPr/>
        </p:nvSpPr>
        <p:spPr>
          <a:xfrm>
            <a:off x="8276622"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40" name="Rectangle 39"/>
          <p:cNvSpPr/>
          <p:nvPr/>
        </p:nvSpPr>
        <p:spPr>
          <a:xfrm>
            <a:off x="8569230"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569230"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854653"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85465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8697246"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2010s: speed race - co-location, microwave, microseconds</a:t>
            </a:r>
          </a:p>
        </p:txBody>
      </p:sp>
      <p:sp>
        <p:nvSpPr>
          <p:cNvPr id="45" name="TextBox 44"/>
          <p:cNvSpPr txBox="1"/>
          <p:nvPr/>
        </p:nvSpPr>
        <p:spPr>
          <a:xfrm>
            <a:off x="9835020"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46" name="Rectangle 45"/>
          <p:cNvSpPr/>
          <p:nvPr/>
        </p:nvSpPr>
        <p:spPr>
          <a:xfrm>
            <a:off x="10127628"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127628" y="2240280"/>
            <a:ext cx="12840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413051"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41305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7</a:t>
            </a:r>
          </a:p>
        </p:txBody>
      </p:sp>
      <p:sp>
        <p:nvSpPr>
          <p:cNvPr id="50" name="TextBox 49"/>
          <p:cNvSpPr txBox="1"/>
          <p:nvPr/>
        </p:nvSpPr>
        <p:spPr>
          <a:xfrm>
            <a:off x="10255644"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2020s: ML on alternative data, then LLM and agentic quant</a:t>
            </a:r>
          </a:p>
        </p:txBody>
      </p:sp>
      <p:sp>
        <p:nvSpPr>
          <p:cNvPr id="51" name="Rectangle 50"/>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25780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Each era kept the last era's discipline - hypothesis, data, testing, costs, risk - and added speed or new data.</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HISTORY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The Evolution of Quant and Algorithmic Trading (1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1952</a:t>
            </a:r>
          </a:p>
          <a:p>
            <a:pPr algn="ctr">
              <a:spcAft>
                <a:spcPts val="100"/>
              </a:spcAft>
            </a:pPr>
            <a:r>
              <a:rPr sz="1150" b="1">
                <a:solidFill>
                  <a:srgbClr val="161B26"/>
                </a:solidFill>
                <a:latin typeface="Arial"/>
              </a:rPr>
              <a:t>Modern portfolio theory</a:t>
            </a:r>
          </a:p>
          <a:p>
            <a:pPr algn="ctr">
              <a:spcAft>
                <a:spcPts val="100"/>
              </a:spcAft>
            </a:pPr>
            <a:r>
              <a:rPr sz="950" b="0">
                <a:solidFill>
                  <a:srgbClr val="5B6372"/>
                </a:solidFill>
                <a:latin typeface="Arial"/>
              </a:rPr>
              <a:t>Markowitz's 'Portfolio Selection' measures risk as variance: diversification becomes maths</a:t>
            </a:r>
          </a:p>
        </p:txBody>
      </p:sp>
      <p:sp>
        <p:nvSpPr>
          <p:cNvPr id="14" name="Oval 13"/>
          <p:cNvSpPr/>
          <p:nvPr/>
        </p:nvSpPr>
        <p:spPr>
          <a:xfrm>
            <a:off x="2840126"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1683"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84578"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1967</a:t>
            </a:r>
          </a:p>
          <a:p>
            <a:pPr algn="ctr">
              <a:spcAft>
                <a:spcPts val="100"/>
              </a:spcAft>
            </a:pPr>
            <a:r>
              <a:rPr sz="1150" b="1">
                <a:solidFill>
                  <a:srgbClr val="161B26"/>
                </a:solidFill>
                <a:latin typeface="Arial"/>
              </a:rPr>
              <a:t>Thorp's 'Beat the Market'</a:t>
            </a:r>
          </a:p>
          <a:p>
            <a:pPr algn="ctr">
              <a:spcAft>
                <a:spcPts val="100"/>
              </a:spcAft>
            </a:pPr>
            <a:r>
              <a:rPr sz="950" b="0">
                <a:solidFill>
                  <a:srgbClr val="5B6372"/>
                </a:solidFill>
                <a:latin typeface="Arial"/>
              </a:rPr>
              <a:t>Ed Thorp applies probability to hedging warrants - an early quant trading playbook</a:t>
            </a:r>
          </a:p>
        </p:txBody>
      </p:sp>
      <p:sp>
        <p:nvSpPr>
          <p:cNvPr id="17" name="Oval 16"/>
          <p:cNvSpPr/>
          <p:nvPr/>
        </p:nvSpPr>
        <p:spPr>
          <a:xfrm>
            <a:off x="4930444"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42001"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4896"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1969</a:t>
            </a:r>
          </a:p>
          <a:p>
            <a:pPr algn="ctr">
              <a:spcAft>
                <a:spcPts val="100"/>
              </a:spcAft>
            </a:pPr>
            <a:r>
              <a:rPr sz="1150" b="1">
                <a:solidFill>
                  <a:srgbClr val="161B26"/>
                </a:solidFill>
                <a:latin typeface="Arial"/>
              </a:rPr>
              <a:t>First market-neutral quant fund</a:t>
            </a:r>
          </a:p>
          <a:p>
            <a:pPr algn="ctr">
              <a:spcAft>
                <a:spcPts val="100"/>
              </a:spcAft>
            </a:pPr>
            <a:r>
              <a:rPr sz="950" b="0">
                <a:solidFill>
                  <a:srgbClr val="5B6372"/>
                </a:solidFill>
                <a:latin typeface="Arial"/>
              </a:rPr>
              <a:t>Thorp's fund (Princeton Newport from 1974) earns about 20% a year after fees for two decades</a:t>
            </a:r>
          </a:p>
        </p:txBody>
      </p:sp>
      <p:sp>
        <p:nvSpPr>
          <p:cNvPr id="20" name="Oval 19"/>
          <p:cNvSpPr/>
          <p:nvPr/>
        </p:nvSpPr>
        <p:spPr>
          <a:xfrm>
            <a:off x="7020763"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5215"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1973</a:t>
            </a:r>
          </a:p>
          <a:p>
            <a:pPr algn="ctr">
              <a:spcAft>
                <a:spcPts val="100"/>
              </a:spcAft>
            </a:pPr>
            <a:r>
              <a:rPr sz="1150" b="1">
                <a:solidFill>
                  <a:srgbClr val="161B26"/>
                </a:solidFill>
                <a:latin typeface="Arial"/>
              </a:rPr>
              <a:t>Black-Scholes and the CBOE</a:t>
            </a:r>
          </a:p>
          <a:p>
            <a:pPr algn="ctr">
              <a:spcAft>
                <a:spcPts val="100"/>
              </a:spcAft>
            </a:pPr>
            <a:r>
              <a:rPr sz="950" b="0">
                <a:solidFill>
                  <a:srgbClr val="5B6372"/>
                </a:solidFill>
                <a:latin typeface="Arial"/>
              </a:rPr>
              <a:t>Option-pricing formula published as the CBOE opens (Apr 1973); CBOE adopts it by 1975</a:t>
            </a:r>
          </a:p>
        </p:txBody>
      </p:sp>
      <p:sp>
        <p:nvSpPr>
          <p:cNvPr id="23" name="Oval 22"/>
          <p:cNvSpPr/>
          <p:nvPr/>
        </p:nvSpPr>
        <p:spPr>
          <a:xfrm>
            <a:off x="9111081"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22638"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5533"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Mid-1970s</a:t>
            </a:r>
          </a:p>
          <a:p>
            <a:pPr algn="ctr">
              <a:spcAft>
                <a:spcPts val="100"/>
              </a:spcAft>
            </a:pPr>
            <a:r>
              <a:rPr sz="1150" b="1">
                <a:solidFill>
                  <a:srgbClr val="161B26"/>
                </a:solidFill>
                <a:latin typeface="Arial"/>
              </a:rPr>
              <a:t>Factor risk models</a:t>
            </a:r>
          </a:p>
          <a:p>
            <a:pPr algn="ctr">
              <a:spcAft>
                <a:spcPts val="100"/>
              </a:spcAft>
            </a:pPr>
            <a:r>
              <a:rPr sz="950" b="0">
                <a:solidFill>
                  <a:srgbClr val="5B6372"/>
                </a:solidFill>
                <a:latin typeface="Arial"/>
              </a:rPr>
              <a:t>Barr Rosenberg's Barra models portfolio risk from style, industry and size factors</a:t>
            </a:r>
          </a:p>
        </p:txBody>
      </p:sp>
      <p:sp>
        <p:nvSpPr>
          <p:cNvPr id="26" name="Oval 25"/>
          <p:cNvSpPr/>
          <p:nvPr/>
        </p:nvSpPr>
        <p:spPr>
          <a:xfrm>
            <a:off x="1120140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31295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9147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1978</a:t>
            </a:r>
          </a:p>
          <a:p>
            <a:pPr algn="ctr">
              <a:spcAft>
                <a:spcPts val="100"/>
              </a:spcAft>
            </a:pPr>
            <a:r>
              <a:rPr sz="1150" b="1">
                <a:solidFill>
                  <a:srgbClr val="161B26"/>
                </a:solidFill>
                <a:latin typeface="Arial"/>
              </a:rPr>
              <a:t>Renaissance is founded</a:t>
            </a:r>
          </a:p>
          <a:p>
            <a:pPr algn="ctr">
              <a:spcAft>
                <a:spcPts val="100"/>
              </a:spcAft>
            </a:pPr>
            <a:r>
              <a:rPr sz="950" b="0">
                <a:solidFill>
                  <a:srgbClr val="5B6372"/>
                </a:solidFill>
                <a:latin typeface="Arial"/>
              </a:rPr>
              <a:t>Mathematician Jim Simons founds Monemetrics; renamed Renaissance Technologies in 1982</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HISTORY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The Evolution of Quant and Algorithmic Trading (2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1980s</a:t>
            </a:r>
          </a:p>
          <a:p>
            <a:pPr algn="ctr">
              <a:spcAft>
                <a:spcPts val="100"/>
              </a:spcAft>
            </a:pPr>
            <a:r>
              <a:rPr sz="1150" b="1">
                <a:solidFill>
                  <a:srgbClr val="161B26"/>
                </a:solidFill>
                <a:latin typeface="Arial"/>
              </a:rPr>
              <a:t>Statistical arbitrage</a:t>
            </a:r>
          </a:p>
          <a:p>
            <a:pPr algn="ctr">
              <a:spcAft>
                <a:spcPts val="100"/>
              </a:spcAft>
            </a:pPr>
            <a:r>
              <a:rPr sz="950" b="0">
                <a:solidFill>
                  <a:srgbClr val="5B6372"/>
                </a:solidFill>
                <a:latin typeface="Arial"/>
              </a:rPr>
              <a:t>Bamberger and Tartaglia's Morgan Stanley group trades pairs of co-moving stocks by rule</a:t>
            </a:r>
          </a:p>
        </p:txBody>
      </p:sp>
      <p:sp>
        <p:nvSpPr>
          <p:cNvPr id="14" name="Oval 13"/>
          <p:cNvSpPr/>
          <p:nvPr/>
        </p:nvSpPr>
        <p:spPr>
          <a:xfrm>
            <a:off x="2840126"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1683"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84578"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1987</a:t>
            </a:r>
          </a:p>
          <a:p>
            <a:pPr algn="ctr">
              <a:spcAft>
                <a:spcPts val="100"/>
              </a:spcAft>
            </a:pPr>
            <a:r>
              <a:rPr sz="1150" b="1">
                <a:solidFill>
                  <a:srgbClr val="161B26"/>
                </a:solidFill>
                <a:latin typeface="Arial"/>
              </a:rPr>
              <a:t>Black Monday</a:t>
            </a:r>
          </a:p>
          <a:p>
            <a:pPr algn="ctr">
              <a:spcAft>
                <a:spcPts val="100"/>
              </a:spcAft>
            </a:pPr>
            <a:r>
              <a:rPr sz="950" b="0">
                <a:solidFill>
                  <a:srgbClr val="5B6372"/>
                </a:solidFill>
                <a:latin typeface="Arial"/>
              </a:rPr>
              <a:t>Dow falls 22.6% on 19 Oct; portfolio-insurance program selling deepens the crash</a:t>
            </a:r>
          </a:p>
        </p:txBody>
      </p:sp>
      <p:sp>
        <p:nvSpPr>
          <p:cNvPr id="17" name="Oval 16"/>
          <p:cNvSpPr/>
          <p:nvPr/>
        </p:nvSpPr>
        <p:spPr>
          <a:xfrm>
            <a:off x="4930444"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42001"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4896"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1988</a:t>
            </a:r>
          </a:p>
          <a:p>
            <a:pPr algn="ctr">
              <a:spcAft>
                <a:spcPts val="100"/>
              </a:spcAft>
            </a:pPr>
            <a:r>
              <a:rPr sz="1150" b="1">
                <a:solidFill>
                  <a:srgbClr val="161B26"/>
                </a:solidFill>
                <a:latin typeface="Arial"/>
              </a:rPr>
              <a:t>Medallion and D.E. Shaw</a:t>
            </a:r>
          </a:p>
          <a:p>
            <a:pPr algn="ctr">
              <a:spcAft>
                <a:spcPts val="100"/>
              </a:spcAft>
            </a:pPr>
            <a:r>
              <a:rPr sz="950" b="0">
                <a:solidFill>
                  <a:srgbClr val="5B6372"/>
                </a:solidFill>
                <a:latin typeface="Arial"/>
              </a:rPr>
              <a:t>Renaissance launches Medallion; ex-Morgan Stanley quant David Shaw founds D.E. Shaw</a:t>
            </a:r>
          </a:p>
        </p:txBody>
      </p:sp>
      <p:sp>
        <p:nvSpPr>
          <p:cNvPr id="20" name="Oval 19"/>
          <p:cNvSpPr/>
          <p:nvPr/>
        </p:nvSpPr>
        <p:spPr>
          <a:xfrm>
            <a:off x="7020763"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5215"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1996</a:t>
            </a:r>
          </a:p>
          <a:p>
            <a:pPr algn="ctr">
              <a:spcAft>
                <a:spcPts val="100"/>
              </a:spcAft>
            </a:pPr>
            <a:r>
              <a:rPr sz="1150" b="1">
                <a:solidFill>
                  <a:srgbClr val="161B26"/>
                </a:solidFill>
                <a:latin typeface="Arial"/>
              </a:rPr>
              <a:t>Island ECN</a:t>
            </a:r>
          </a:p>
          <a:p>
            <a:pPr algn="ctr">
              <a:spcAft>
                <a:spcPts val="100"/>
              </a:spcAft>
            </a:pPr>
            <a:r>
              <a:rPr sz="950" b="0">
                <a:solidFill>
                  <a:srgbClr val="5B6372"/>
                </a:solidFill>
                <a:latin typeface="Arial"/>
              </a:rPr>
              <a:t>Fast electronic order book (trading from 1997) becomes a hub for early HFT firms</a:t>
            </a:r>
          </a:p>
        </p:txBody>
      </p:sp>
      <p:sp>
        <p:nvSpPr>
          <p:cNvPr id="23" name="Oval 22"/>
          <p:cNvSpPr/>
          <p:nvPr/>
        </p:nvSpPr>
        <p:spPr>
          <a:xfrm>
            <a:off x="9111081"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22638"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5533"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1998</a:t>
            </a:r>
          </a:p>
          <a:p>
            <a:pPr algn="ctr">
              <a:spcAft>
                <a:spcPts val="100"/>
              </a:spcAft>
            </a:pPr>
            <a:r>
              <a:rPr sz="1150" b="1">
                <a:solidFill>
                  <a:srgbClr val="161B26"/>
                </a:solidFill>
                <a:latin typeface="Arial"/>
              </a:rPr>
              <a:t>LTCM collapses</a:t>
            </a:r>
          </a:p>
          <a:p>
            <a:pPr algn="ctr">
              <a:spcAft>
                <a:spcPts val="100"/>
              </a:spcAft>
            </a:pPr>
            <a:r>
              <a:rPr sz="950" b="0">
                <a:solidFill>
                  <a:srgbClr val="5B6372"/>
                </a:solidFill>
                <a:latin typeface="Arial"/>
              </a:rPr>
              <a:t>Leveraged relative-value fund loses US$4.6bn; Fed-supervised US$3.65bn recapitalisation</a:t>
            </a:r>
          </a:p>
        </p:txBody>
      </p:sp>
      <p:sp>
        <p:nvSpPr>
          <p:cNvPr id="26" name="Oval 25"/>
          <p:cNvSpPr/>
          <p:nvPr/>
        </p:nvSpPr>
        <p:spPr>
          <a:xfrm>
            <a:off x="1120140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31295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9147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2001</a:t>
            </a:r>
          </a:p>
          <a:p>
            <a:pPr algn="ctr">
              <a:spcAft>
                <a:spcPts val="100"/>
              </a:spcAft>
            </a:pPr>
            <a:r>
              <a:rPr sz="1150" b="1">
                <a:solidFill>
                  <a:srgbClr val="161B26"/>
                </a:solidFill>
                <a:latin typeface="Arial"/>
              </a:rPr>
              <a:t>Decimalisation</a:t>
            </a:r>
          </a:p>
          <a:p>
            <a:pPr algn="ctr">
              <a:spcAft>
                <a:spcPts val="100"/>
              </a:spcAft>
            </a:pPr>
            <a:r>
              <a:rPr sz="950" b="0">
                <a:solidFill>
                  <a:srgbClr val="5B6372"/>
                </a:solidFill>
                <a:latin typeface="Arial"/>
              </a:rPr>
              <a:t>US stocks quote in cents, not 1/16ths; spreads narrow and electronic market making grows</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HISTORY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The Evolution of Quant and Algorithmic Trading (3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2005</a:t>
            </a:r>
          </a:p>
          <a:p>
            <a:pPr algn="ctr">
              <a:spcAft>
                <a:spcPts val="100"/>
              </a:spcAft>
            </a:pPr>
            <a:r>
              <a:rPr sz="1150" b="1">
                <a:solidFill>
                  <a:srgbClr val="161B26"/>
                </a:solidFill>
                <a:latin typeface="Arial"/>
              </a:rPr>
              <a:t>Regulation NMS</a:t>
            </a:r>
          </a:p>
          <a:p>
            <a:pPr algn="ctr">
              <a:spcAft>
                <a:spcPts val="100"/>
              </a:spcAft>
            </a:pPr>
            <a:r>
              <a:rPr sz="950" b="0">
                <a:solidFill>
                  <a:srgbClr val="5B6372"/>
                </a:solidFill>
                <a:latin typeface="Arial"/>
              </a:rPr>
              <a:t>SEC rule (in force 2007) links venues; fragmentation rewards speed and smart order routing</a:t>
            </a:r>
          </a:p>
        </p:txBody>
      </p:sp>
      <p:sp>
        <p:nvSpPr>
          <p:cNvPr id="14" name="Oval 13"/>
          <p:cNvSpPr/>
          <p:nvPr/>
        </p:nvSpPr>
        <p:spPr>
          <a:xfrm>
            <a:off x="2840126"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1683"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84578"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2007</a:t>
            </a:r>
          </a:p>
          <a:p>
            <a:pPr algn="ctr">
              <a:spcAft>
                <a:spcPts val="100"/>
              </a:spcAft>
            </a:pPr>
            <a:r>
              <a:rPr sz="1150" b="1">
                <a:solidFill>
                  <a:srgbClr val="161B26"/>
                </a:solidFill>
                <a:latin typeface="Arial"/>
              </a:rPr>
              <a:t>The quant quake</a:t>
            </a:r>
          </a:p>
          <a:p>
            <a:pPr algn="ctr">
              <a:spcAft>
                <a:spcPts val="100"/>
              </a:spcAft>
            </a:pPr>
            <a:r>
              <a:rPr sz="950" b="0">
                <a:solidFill>
                  <a:srgbClr val="5B6372"/>
                </a:solidFill>
                <a:latin typeface="Arial"/>
              </a:rPr>
              <a:t>Week of 6 Aug: crowded quant market-neutral funds suffer sudden losses as positions unwind</a:t>
            </a:r>
          </a:p>
        </p:txBody>
      </p:sp>
      <p:sp>
        <p:nvSpPr>
          <p:cNvPr id="17" name="Oval 16"/>
          <p:cNvSpPr/>
          <p:nvPr/>
        </p:nvSpPr>
        <p:spPr>
          <a:xfrm>
            <a:off x="4930444"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42001"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4896"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2010</a:t>
            </a:r>
          </a:p>
          <a:p>
            <a:pPr algn="ctr">
              <a:spcAft>
                <a:spcPts val="100"/>
              </a:spcAft>
            </a:pPr>
            <a:r>
              <a:rPr sz="1150" b="1">
                <a:solidFill>
                  <a:srgbClr val="161B26"/>
                </a:solidFill>
                <a:latin typeface="Arial"/>
              </a:rPr>
              <a:t>Flash Crash</a:t>
            </a:r>
          </a:p>
          <a:p>
            <a:pPr algn="ctr">
              <a:spcAft>
                <a:spcPts val="100"/>
              </a:spcAft>
            </a:pPr>
            <a:r>
              <a:rPr sz="950" b="0">
                <a:solidFill>
                  <a:srgbClr val="5B6372"/>
                </a:solidFill>
                <a:latin typeface="Arial"/>
              </a:rPr>
              <a:t>6 May: the Dow drops nearly 1,000 points in minutes after a large algorithmic sell order</a:t>
            </a:r>
          </a:p>
        </p:txBody>
      </p:sp>
      <p:sp>
        <p:nvSpPr>
          <p:cNvPr id="20" name="Oval 19"/>
          <p:cNvSpPr/>
          <p:nvPr/>
        </p:nvSpPr>
        <p:spPr>
          <a:xfrm>
            <a:off x="7020763"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5215"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2010</a:t>
            </a:r>
          </a:p>
          <a:p>
            <a:pPr algn="ctr">
              <a:spcAft>
                <a:spcPts val="100"/>
              </a:spcAft>
            </a:pPr>
            <a:r>
              <a:rPr sz="1150" b="1">
                <a:solidFill>
                  <a:srgbClr val="161B26"/>
                </a:solidFill>
                <a:latin typeface="Arial"/>
              </a:rPr>
              <a:t>The speed race</a:t>
            </a:r>
          </a:p>
          <a:p>
            <a:pPr algn="ctr">
              <a:spcAft>
                <a:spcPts val="100"/>
              </a:spcAft>
            </a:pPr>
            <a:r>
              <a:rPr sz="950" b="0">
                <a:solidFill>
                  <a:srgbClr val="5B6372"/>
                </a:solidFill>
                <a:latin typeface="Arial"/>
              </a:rPr>
              <a:t>US$300m straight fibre New York-Chicago cuts about 3 ms; microwave links soon beat it</a:t>
            </a:r>
          </a:p>
        </p:txBody>
      </p:sp>
      <p:sp>
        <p:nvSpPr>
          <p:cNvPr id="23" name="Oval 22"/>
          <p:cNvSpPr/>
          <p:nvPr/>
        </p:nvSpPr>
        <p:spPr>
          <a:xfrm>
            <a:off x="9111081"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22638"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5533"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2012</a:t>
            </a:r>
          </a:p>
          <a:p>
            <a:pPr algn="ctr">
              <a:spcAft>
                <a:spcPts val="100"/>
              </a:spcAft>
            </a:pPr>
            <a:r>
              <a:rPr sz="1150" b="1">
                <a:solidFill>
                  <a:srgbClr val="161B26"/>
                </a:solidFill>
                <a:latin typeface="Arial"/>
              </a:rPr>
              <a:t>Knight Capital</a:t>
            </a:r>
          </a:p>
          <a:p>
            <a:pPr algn="ctr">
              <a:spcAft>
                <a:spcPts val="100"/>
              </a:spcAft>
            </a:pPr>
            <a:r>
              <a:rPr sz="950" b="0">
                <a:solidFill>
                  <a:srgbClr val="5B6372"/>
                </a:solidFill>
                <a:latin typeface="Arial"/>
              </a:rPr>
              <a:t>A faulty deployment sends millions of orders in 45 minutes; Knight loses over US$460m</a:t>
            </a:r>
          </a:p>
        </p:txBody>
      </p:sp>
      <p:sp>
        <p:nvSpPr>
          <p:cNvPr id="26" name="Oval 25"/>
          <p:cNvSpPr/>
          <p:nvPr/>
        </p:nvSpPr>
        <p:spPr>
          <a:xfrm>
            <a:off x="1120140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31295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9147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2016</a:t>
            </a:r>
          </a:p>
          <a:p>
            <a:pPr algn="ctr">
              <a:spcAft>
                <a:spcPts val="100"/>
              </a:spcAft>
            </a:pPr>
            <a:r>
              <a:rPr sz="1150" b="1">
                <a:solidFill>
                  <a:srgbClr val="161B26"/>
                </a:solidFill>
                <a:latin typeface="Arial"/>
              </a:rPr>
              <a:t>IEX speed bump</a:t>
            </a:r>
          </a:p>
          <a:p>
            <a:pPr algn="ctr">
              <a:spcAft>
                <a:spcPts val="100"/>
              </a:spcAft>
            </a:pPr>
            <a:r>
              <a:rPr sz="950" b="0">
                <a:solidFill>
                  <a:srgbClr val="5B6372"/>
                </a:solidFill>
                <a:latin typeface="Arial"/>
              </a:rPr>
              <a:t>SEC approves IEX as an exchange with a 350-microsecond delay against latency arbitrage</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HISTORY OF QUANT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The Evolution of Quant and Algorithmic Trading (4 of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2018</a:t>
            </a:r>
          </a:p>
          <a:p>
            <a:pPr algn="ctr">
              <a:spcAft>
                <a:spcPts val="100"/>
              </a:spcAft>
            </a:pPr>
            <a:r>
              <a:rPr sz="1150" b="1">
                <a:solidFill>
                  <a:srgbClr val="161B26"/>
                </a:solidFill>
                <a:latin typeface="Arial"/>
              </a:rPr>
              <a:t>MiFID II</a:t>
            </a:r>
          </a:p>
          <a:p>
            <a:pPr algn="ctr">
              <a:spcAft>
                <a:spcPts val="100"/>
              </a:spcAft>
            </a:pPr>
            <a:r>
              <a:rPr sz="950" b="0">
                <a:solidFill>
                  <a:srgbClr val="5B6372"/>
                </a:solidFill>
                <a:latin typeface="Arial"/>
              </a:rPr>
              <a:t>EU requires algorithm testing, kill switches and records; HFT formally defined</a:t>
            </a:r>
          </a:p>
        </p:txBody>
      </p:sp>
      <p:sp>
        <p:nvSpPr>
          <p:cNvPr id="14" name="Oval 13"/>
          <p:cNvSpPr/>
          <p:nvPr/>
        </p:nvSpPr>
        <p:spPr>
          <a:xfrm>
            <a:off x="2840126"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1683"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84578"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2018</a:t>
            </a:r>
          </a:p>
          <a:p>
            <a:pPr algn="ctr">
              <a:spcAft>
                <a:spcPts val="100"/>
              </a:spcAft>
            </a:pPr>
            <a:r>
              <a:rPr sz="1150" b="1">
                <a:solidFill>
                  <a:srgbClr val="161B26"/>
                </a:solidFill>
                <a:latin typeface="Arial"/>
              </a:rPr>
              <a:t>API-first brokers</a:t>
            </a:r>
          </a:p>
          <a:p>
            <a:pPr algn="ctr">
              <a:spcAft>
                <a:spcPts val="100"/>
              </a:spcAft>
            </a:pPr>
            <a:r>
              <a:rPr sz="950" b="0">
                <a:solidFill>
                  <a:srgbClr val="5B6372"/>
                </a:solidFill>
                <a:latin typeface="Arial"/>
              </a:rPr>
              <a:t>Alpaca's commission-free trading API opens algorithmic stock trading to individuals</a:t>
            </a:r>
          </a:p>
        </p:txBody>
      </p:sp>
      <p:sp>
        <p:nvSpPr>
          <p:cNvPr id="17" name="Oval 16"/>
          <p:cNvSpPr/>
          <p:nvPr/>
        </p:nvSpPr>
        <p:spPr>
          <a:xfrm>
            <a:off x="4930444"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42001"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4896"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2020</a:t>
            </a:r>
          </a:p>
          <a:p>
            <a:pPr algn="ctr">
              <a:spcAft>
                <a:spcPts val="100"/>
              </a:spcAft>
            </a:pPr>
            <a:r>
              <a:rPr sz="1150" b="1">
                <a:solidFill>
                  <a:srgbClr val="161B26"/>
                </a:solidFill>
                <a:latin typeface="Arial"/>
              </a:rPr>
              <a:t>SGX RegCo algo guide</a:t>
            </a:r>
          </a:p>
          <a:p>
            <a:pPr algn="ctr">
              <a:spcAft>
                <a:spcPts val="100"/>
              </a:spcAft>
            </a:pPr>
            <a:r>
              <a:rPr sz="950" b="0">
                <a:solidFill>
                  <a:srgbClr val="5B6372"/>
                </a:solidFill>
                <a:latin typeface="Arial"/>
              </a:rPr>
              <a:t>Sets expectations for governance, risk controls and testing of algorithms by SGX members</a:t>
            </a:r>
          </a:p>
        </p:txBody>
      </p:sp>
      <p:sp>
        <p:nvSpPr>
          <p:cNvPr id="20" name="Oval 19"/>
          <p:cNvSpPr/>
          <p:nvPr/>
        </p:nvSpPr>
        <p:spPr>
          <a:xfrm>
            <a:off x="7020763"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5215"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2023</a:t>
            </a:r>
          </a:p>
          <a:p>
            <a:pPr algn="ctr">
              <a:spcAft>
                <a:spcPts val="100"/>
              </a:spcAft>
            </a:pPr>
            <a:r>
              <a:rPr sz="1150" b="1">
                <a:solidFill>
                  <a:srgbClr val="161B26"/>
                </a:solidFill>
                <a:latin typeface="Arial"/>
              </a:rPr>
              <a:t>LLM trading signals</a:t>
            </a:r>
          </a:p>
          <a:p>
            <a:pPr algn="ctr">
              <a:spcAft>
                <a:spcPts val="100"/>
              </a:spcAft>
            </a:pPr>
            <a:r>
              <a:rPr sz="950" b="0">
                <a:solidFill>
                  <a:srgbClr val="5B6372"/>
                </a:solidFill>
                <a:latin typeface="Arial"/>
              </a:rPr>
              <a:t>ChatGPT headline sentiment predicts next-day stock returns (Lopez-Lira and Tang)</a:t>
            </a:r>
          </a:p>
        </p:txBody>
      </p:sp>
      <p:sp>
        <p:nvSpPr>
          <p:cNvPr id="23" name="Oval 22"/>
          <p:cNvSpPr/>
          <p:nvPr/>
        </p:nvSpPr>
        <p:spPr>
          <a:xfrm>
            <a:off x="9111081"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22638"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5533"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2024</a:t>
            </a:r>
          </a:p>
          <a:p>
            <a:pPr algn="ctr">
              <a:spcAft>
                <a:spcPts val="100"/>
              </a:spcAft>
            </a:pPr>
            <a:r>
              <a:rPr sz="1150" b="1">
                <a:solidFill>
                  <a:srgbClr val="161B26"/>
                </a:solidFill>
                <a:latin typeface="Arial"/>
              </a:rPr>
              <a:t>Multi-agent LLM trading</a:t>
            </a:r>
          </a:p>
          <a:p>
            <a:pPr algn="ctr">
              <a:spcAft>
                <a:spcPts val="100"/>
              </a:spcAft>
            </a:pPr>
            <a:r>
              <a:rPr sz="950" b="0">
                <a:solidFill>
                  <a:srgbClr val="5B6372"/>
                </a:solidFill>
                <a:latin typeface="Arial"/>
              </a:rPr>
              <a:t>TradingAgents (Dec 2024): analyst, debate, trader and risk agents trade stocks</a:t>
            </a:r>
          </a:p>
        </p:txBody>
      </p:sp>
      <p:sp>
        <p:nvSpPr>
          <p:cNvPr id="26" name="Oval 25"/>
          <p:cNvSpPr/>
          <p:nvPr/>
        </p:nvSpPr>
        <p:spPr>
          <a:xfrm>
            <a:off x="1120140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31295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9147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2026</a:t>
            </a:r>
          </a:p>
          <a:p>
            <a:pPr algn="ctr">
              <a:spcAft>
                <a:spcPts val="100"/>
              </a:spcAft>
            </a:pPr>
            <a:r>
              <a:rPr sz="1150" b="1">
                <a:solidFill>
                  <a:srgbClr val="161B26"/>
                </a:solidFill>
                <a:latin typeface="Arial"/>
              </a:rPr>
              <a:t>MAS AI Risk Management</a:t>
            </a:r>
          </a:p>
          <a:p>
            <a:pPr algn="ctr">
              <a:spcAft>
                <a:spcPts val="100"/>
              </a:spcAft>
            </a:pPr>
            <a:r>
              <a:rPr sz="950" b="0">
                <a:solidFill>
                  <a:srgbClr val="5B6372"/>
                </a:solidFill>
                <a:latin typeface="Arial"/>
              </a:rPr>
              <a:t>Guidelines issued 7 Oct 2026, effective 7 Oct 2027: AI inventories and lifecycle controls</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PARADIGM SHIFTS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Six Paradigm Shifts in Quant and Algorithmic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intuition to probability  ·  1950s-1970s</a:t>
            </a:r>
          </a:p>
          <a:p>
            <a:pPr algn="l">
              <a:spcAft>
                <a:spcPts val="300"/>
              </a:spcAft>
            </a:pPr>
            <a:r>
              <a:rPr sz="950" b="0">
                <a:solidFill>
                  <a:srgbClr val="5B6372"/>
                </a:solidFill>
                <a:latin typeface="Arial"/>
              </a:rPr>
              <a:t>Markowitz, Thorp and Black-Scholes make risk, hedging and option value mathematical</a:t>
            </a:r>
          </a:p>
        </p:txBody>
      </p:sp>
      <p:sp>
        <p:nvSpPr>
          <p:cNvPr id="15" name="Rectangle 14"/>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stocks to factors  ·  1970s-1980s</a:t>
            </a:r>
          </a:p>
          <a:p>
            <a:pPr algn="l">
              <a:spcAft>
                <a:spcPts val="300"/>
              </a:spcAft>
            </a:pPr>
            <a:r>
              <a:rPr sz="950" b="0">
                <a:solidFill>
                  <a:srgbClr val="5B6372"/>
                </a:solidFill>
                <a:latin typeface="Arial"/>
              </a:rPr>
              <a:t>Barra factor models and program trading treat portfolios as baskets of risk exposures</a:t>
            </a:r>
          </a:p>
        </p:txBody>
      </p:sp>
      <p:sp>
        <p:nvSpPr>
          <p:cNvPr id="20" name="Rectangle 19"/>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factors to statistical arbitrage  ·  1980s-2000s</a:t>
            </a:r>
          </a:p>
          <a:p>
            <a:pPr algn="l">
              <a:spcAft>
                <a:spcPts val="300"/>
              </a:spcAft>
            </a:pPr>
            <a:r>
              <a:rPr sz="950" b="0">
                <a:solidFill>
                  <a:srgbClr val="5B6372"/>
                </a:solidFill>
                <a:latin typeface="Arial"/>
              </a:rPr>
              <a:t>Morgan Stanley's pairs group, D.E. Shaw and Renaissance harvest many small market-neutral edges</a:t>
            </a:r>
          </a:p>
        </p:txBody>
      </p:sp>
      <p:sp>
        <p:nvSpPr>
          <p:cNvPr id="25" name="Rectangle 24"/>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447288"/>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floors to electronic speed  ·  1996-2010s</a:t>
            </a:r>
          </a:p>
          <a:p>
            <a:pPr algn="l">
              <a:spcAft>
                <a:spcPts val="300"/>
              </a:spcAft>
            </a:pPr>
            <a:r>
              <a:rPr sz="950" b="0">
                <a:solidFill>
                  <a:srgbClr val="5B6372"/>
                </a:solidFill>
                <a:latin typeface="Arial"/>
              </a:rPr>
              <a:t>ECNs, decimalisation and Reg NMS enable HFT: co-location, microwave links, microseconds</a:t>
            </a:r>
          </a:p>
        </p:txBody>
      </p:sp>
      <p:sp>
        <p:nvSpPr>
          <p:cNvPr id="30" name="Rectangle 29"/>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statistics to machine learning  ·  2000s-2010s</a:t>
            </a:r>
          </a:p>
          <a:p>
            <a:pPr algn="l">
              <a:spcAft>
                <a:spcPts val="300"/>
              </a:spcAft>
            </a:pPr>
            <a:r>
              <a:rPr sz="950" b="0">
                <a:solidFill>
                  <a:srgbClr val="5B6372"/>
                </a:solidFill>
                <a:latin typeface="Arial"/>
              </a:rPr>
              <a:t>Models learn non-linear patterns from prices, order books and alternative data</a:t>
            </a:r>
          </a:p>
        </p:txBody>
      </p:sp>
      <p:sp>
        <p:nvSpPr>
          <p:cNvPr id="35" name="Rectangle 34"/>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983480"/>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From machine learning to LLMs and agents  ·  2023-present</a:t>
            </a:r>
          </a:p>
          <a:p>
            <a:pPr algn="l">
              <a:spcAft>
                <a:spcPts val="300"/>
              </a:spcAft>
            </a:pPr>
            <a:r>
              <a:rPr sz="950" b="0">
                <a:solidFill>
                  <a:srgbClr val="5B6372"/>
                </a:solidFill>
                <a:latin typeface="Arial"/>
              </a:rPr>
              <a:t>LLMs turn text into signals and agents write and test strategies; humans supervise</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Why Algorithms - and What Can Go Wrong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102352" cy="4206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510235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4645152" cy="365760"/>
          </a:xfrm>
          <a:prstGeom prst="rect">
            <a:avLst/>
          </a:prstGeom>
          <a:noFill/>
        </p:spPr>
        <p:txBody>
          <a:bodyPr wrap="square" anchor="t">
            <a:spAutoFit/>
          </a:bodyPr>
          <a:lstStyle/>
          <a:p>
            <a:pPr algn="l">
              <a:spcAft>
                <a:spcPts val="400"/>
              </a:spcAft>
            </a:pPr>
            <a:r>
              <a:rPr sz="1500" b="1">
                <a:solidFill>
                  <a:srgbClr val="1F6FEB"/>
                </a:solidFill>
                <a:latin typeface="Arial"/>
              </a:rPr>
              <a:t>Benefits</a:t>
            </a:r>
          </a:p>
        </p:txBody>
      </p:sp>
      <p:sp>
        <p:nvSpPr>
          <p:cNvPr id="10" name="TextBox 9"/>
          <p:cNvSpPr txBox="1"/>
          <p:nvPr/>
        </p:nvSpPr>
        <p:spPr>
          <a:xfrm>
            <a:off x="1005840" y="2514600"/>
            <a:ext cx="4645152" cy="3291840"/>
          </a:xfrm>
          <a:prstGeom prst="rect">
            <a:avLst/>
          </a:prstGeom>
          <a:noFill/>
        </p:spPr>
        <p:txBody>
          <a:bodyPr wrap="square">
            <a:spAutoFit/>
          </a:bodyPr>
          <a:lstStyle/>
          <a:p>
            <a:pPr>
              <a:spcAft>
                <a:spcPts val="800"/>
              </a:spcAft>
            </a:pPr>
            <a:r>
              <a:rPr sz="1250">
                <a:solidFill>
                  <a:srgbClr val="161B26"/>
                </a:solidFill>
                <a:latin typeface="Arial"/>
              </a:rPr>
              <a:t>•  Speed: reacts and executes in milliseconds</a:t>
            </a:r>
          </a:p>
          <a:p>
            <a:pPr>
              <a:spcAft>
                <a:spcPts val="800"/>
              </a:spcAft>
            </a:pPr>
            <a:r>
              <a:rPr sz="1250">
                <a:solidFill>
                  <a:srgbClr val="161B26"/>
                </a:solidFill>
                <a:latin typeface="Arial"/>
              </a:rPr>
              <a:t>•  Discipline: rules remove fear, greed and fatigue</a:t>
            </a:r>
          </a:p>
          <a:p>
            <a:pPr>
              <a:spcAft>
                <a:spcPts val="800"/>
              </a:spcAft>
            </a:pPr>
            <a:r>
              <a:rPr sz="1250">
                <a:solidFill>
                  <a:srgbClr val="161B26"/>
                </a:solidFill>
                <a:latin typeface="Arial"/>
              </a:rPr>
              <a:t>•  Backtesting: test ideas on historical data first</a:t>
            </a:r>
          </a:p>
          <a:p>
            <a:pPr>
              <a:spcAft>
                <a:spcPts val="800"/>
              </a:spcAft>
            </a:pPr>
            <a:r>
              <a:rPr sz="1250">
                <a:solidFill>
                  <a:srgbClr val="161B26"/>
                </a:solidFill>
                <a:latin typeface="Arial"/>
              </a:rPr>
              <a:t>•  Lower costs: split large orders to reduce market impact</a:t>
            </a:r>
          </a:p>
          <a:p>
            <a:pPr>
              <a:spcAft>
                <a:spcPts val="800"/>
              </a:spcAft>
            </a:pPr>
            <a:r>
              <a:rPr sz="1250">
                <a:solidFill>
                  <a:srgbClr val="161B26"/>
                </a:solidFill>
                <a:latin typeface="Arial"/>
              </a:rPr>
              <a:t>•  Scale: monitors many markets and assets around the clock</a:t>
            </a:r>
          </a:p>
        </p:txBody>
      </p:sp>
      <p:sp>
        <p:nvSpPr>
          <p:cNvPr id="11" name="Rectangle 10"/>
          <p:cNvSpPr/>
          <p:nvPr/>
        </p:nvSpPr>
        <p:spPr>
          <a:xfrm>
            <a:off x="6309360" y="1828800"/>
            <a:ext cx="5102352" cy="4206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828800"/>
            <a:ext cx="510235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2057400"/>
            <a:ext cx="4645152" cy="365760"/>
          </a:xfrm>
          <a:prstGeom prst="rect">
            <a:avLst/>
          </a:prstGeom>
          <a:noFill/>
        </p:spPr>
        <p:txBody>
          <a:bodyPr wrap="square" anchor="t">
            <a:spAutoFit/>
          </a:bodyPr>
          <a:lstStyle/>
          <a:p>
            <a:pPr algn="l">
              <a:spcAft>
                <a:spcPts val="400"/>
              </a:spcAft>
            </a:pPr>
            <a:r>
              <a:rPr sz="1500" b="1">
                <a:solidFill>
                  <a:srgbClr val="10B981"/>
                </a:solidFill>
                <a:latin typeface="Arial"/>
              </a:rPr>
              <a:t>Risks</a:t>
            </a:r>
          </a:p>
        </p:txBody>
      </p:sp>
      <p:sp>
        <p:nvSpPr>
          <p:cNvPr id="14" name="TextBox 13"/>
          <p:cNvSpPr txBox="1"/>
          <p:nvPr/>
        </p:nvSpPr>
        <p:spPr>
          <a:xfrm>
            <a:off x="6537960" y="2514600"/>
            <a:ext cx="4645152" cy="3291840"/>
          </a:xfrm>
          <a:prstGeom prst="rect">
            <a:avLst/>
          </a:prstGeom>
          <a:noFill/>
        </p:spPr>
        <p:txBody>
          <a:bodyPr wrap="square">
            <a:spAutoFit/>
          </a:bodyPr>
          <a:lstStyle/>
          <a:p>
            <a:pPr>
              <a:spcAft>
                <a:spcPts val="800"/>
              </a:spcAft>
            </a:pPr>
            <a:r>
              <a:rPr sz="1250">
                <a:solidFill>
                  <a:srgbClr val="161B26"/>
                </a:solidFill>
                <a:latin typeface="Arial"/>
              </a:rPr>
              <a:t>•  Technical failure: bugs and outages (Knight Capital, 2012)</a:t>
            </a:r>
          </a:p>
          <a:p>
            <a:pPr>
              <a:spcAft>
                <a:spcPts val="800"/>
              </a:spcAft>
            </a:pPr>
            <a:r>
              <a:rPr sz="1250">
                <a:solidFill>
                  <a:srgbClr val="161B26"/>
                </a:solidFill>
                <a:latin typeface="Arial"/>
              </a:rPr>
              <a:t>•  Overfitting: great backtests that fail on live data</a:t>
            </a:r>
          </a:p>
          <a:p>
            <a:pPr>
              <a:spcAft>
                <a:spcPts val="800"/>
              </a:spcAft>
            </a:pPr>
            <a:r>
              <a:rPr sz="1250">
                <a:solidFill>
                  <a:srgbClr val="161B26"/>
                </a:solidFill>
                <a:latin typeface="Arial"/>
              </a:rPr>
              <a:t>•  Black swans and regime change the model has never seen</a:t>
            </a:r>
          </a:p>
          <a:p>
            <a:pPr>
              <a:spcAft>
                <a:spcPts val="800"/>
              </a:spcAft>
            </a:pPr>
            <a:r>
              <a:rPr sz="1250">
                <a:solidFill>
                  <a:srgbClr val="161B26"/>
                </a:solidFill>
                <a:latin typeface="Arial"/>
              </a:rPr>
              <a:t>•  Feedback loops between algorithms (2010 Flash Crash)</a:t>
            </a:r>
          </a:p>
          <a:p>
            <a:pPr>
              <a:spcAft>
                <a:spcPts val="800"/>
              </a:spcAft>
            </a:pPr>
            <a:r>
              <a:rPr sz="1250">
                <a:solidFill>
                  <a:srgbClr val="161B26"/>
                </a:solidFill>
                <a:latin typeface="Arial"/>
              </a:rPr>
              <a:t>•  Set-up, data and compliance costs; no guaranteed profit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AI IN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Eras of AI in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Symbolic AI  ·  1956-1980s</a:t>
            </a:r>
          </a:p>
          <a:p>
            <a:pPr algn="l">
              <a:spcAft>
                <a:spcPts val="300"/>
              </a:spcAft>
            </a:pPr>
            <a:r>
              <a:rPr sz="1000" b="0">
                <a:solidFill>
                  <a:srgbClr val="5B6372"/>
                </a:solidFill>
                <a:latin typeface="Arial"/>
              </a:rPr>
              <a:t>Hand-written rules: expert systems and rule-based program trading; brittle when markets change</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Machine learning  ·  1990s-2000s</a:t>
            </a:r>
          </a:p>
          <a:p>
            <a:pPr algn="l">
              <a:spcAft>
                <a:spcPts val="300"/>
              </a:spcAft>
            </a:pPr>
            <a:r>
              <a:rPr sz="1000" b="0">
                <a:solidFill>
                  <a:srgbClr val="5B6372"/>
                </a:solidFill>
                <a:latin typeface="Arial"/>
              </a:rPr>
              <a:t>Models learn from data: regression, tree and boosting signals; statistical arbitrage at scale</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Deep learning  ·  2012-2017</a:t>
            </a:r>
          </a:p>
          <a:p>
            <a:pPr algn="l">
              <a:spcAft>
                <a:spcPts val="300"/>
              </a:spcAft>
            </a:pPr>
            <a:r>
              <a:rPr sz="1000" b="0">
                <a:solidFill>
                  <a:srgbClr val="5B6372"/>
                </a:solidFill>
                <a:latin typeface="Arial"/>
              </a:rPr>
              <a:t>Many-layer networks on GPUs find non-linear patterns in prices, order books and alternative data</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Generative AI  ·  2017-2023</a:t>
            </a:r>
          </a:p>
          <a:p>
            <a:pPr algn="l">
              <a:spcAft>
                <a:spcPts val="300"/>
              </a:spcAft>
            </a:pPr>
            <a:r>
              <a:rPr sz="1000" b="0">
                <a:solidFill>
                  <a:srgbClr val="5B6372"/>
                </a:solidFill>
                <a:latin typeface="Arial"/>
              </a:rPr>
              <a:t>Transformers and LLMs turn news, filings and earnings calls into trading signals</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Agentic AI  ·  2024-present</a:t>
            </a:r>
          </a:p>
          <a:p>
            <a:pPr algn="l">
              <a:spcAft>
                <a:spcPts val="300"/>
              </a:spcAft>
            </a:pPr>
            <a:r>
              <a:rPr sz="1000" b="0">
                <a:solidFill>
                  <a:srgbClr val="5B6372"/>
                </a:solidFill>
                <a:latin typeface="Arial"/>
              </a:rPr>
              <a:t>LLM agents research, code, backtest and paper-trade strategies under hard risk limits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AI IN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AI Milestones and Their Trading Counterparts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1950</a:t>
            </a:r>
          </a:p>
          <a:p>
            <a:pPr algn="ctr">
              <a:spcAft>
                <a:spcPts val="100"/>
              </a:spcAft>
            </a:pPr>
            <a:r>
              <a:rPr sz="1150" b="1">
                <a:solidFill>
                  <a:srgbClr val="161B26"/>
                </a:solidFill>
                <a:latin typeface="Arial"/>
              </a:rPr>
              <a:t>Turing Test</a:t>
            </a:r>
          </a:p>
          <a:p>
            <a:pPr algn="ctr">
              <a:spcAft>
                <a:spcPts val="100"/>
              </a:spcAft>
            </a:pPr>
            <a:r>
              <a:rPr sz="950" b="0">
                <a:solidFill>
                  <a:srgbClr val="5B6372"/>
                </a:solidFill>
                <a:latin typeface="Arial"/>
              </a:rPr>
              <a:t>Turing asks if machines can think; in 1952 Markowitz turns portfolio choice into maths</a:t>
            </a:r>
          </a:p>
        </p:txBody>
      </p:sp>
      <p:sp>
        <p:nvSpPr>
          <p:cNvPr id="14" name="Oval 13"/>
          <p:cNvSpPr/>
          <p:nvPr/>
        </p:nvSpPr>
        <p:spPr>
          <a:xfrm>
            <a:off x="249174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0329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3619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1956</a:t>
            </a:r>
          </a:p>
          <a:p>
            <a:pPr algn="ctr">
              <a:spcAft>
                <a:spcPts val="100"/>
              </a:spcAft>
            </a:pPr>
            <a:r>
              <a:rPr sz="1150" b="1">
                <a:solidFill>
                  <a:srgbClr val="161B26"/>
                </a:solidFill>
                <a:latin typeface="Arial"/>
              </a:rPr>
              <a:t>'AI' is named</a:t>
            </a:r>
          </a:p>
          <a:p>
            <a:pPr algn="ctr">
              <a:spcAft>
                <a:spcPts val="100"/>
              </a:spcAft>
            </a:pPr>
            <a:r>
              <a:rPr sz="950" b="0">
                <a:solidFill>
                  <a:srgbClr val="5B6372"/>
                </a:solidFill>
                <a:latin typeface="Arial"/>
              </a:rPr>
              <a:t>AI becomes a field; Ed Thorp soon applies computers and probability to blackjack, then markets</a:t>
            </a:r>
          </a:p>
        </p:txBody>
      </p:sp>
      <p:sp>
        <p:nvSpPr>
          <p:cNvPr id="17" name="Oval 16"/>
          <p:cNvSpPr/>
          <p:nvPr/>
        </p:nvSpPr>
        <p:spPr>
          <a:xfrm>
            <a:off x="4233672"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45228"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78124"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1980s</a:t>
            </a:r>
          </a:p>
          <a:p>
            <a:pPr algn="ctr">
              <a:spcAft>
                <a:spcPts val="100"/>
              </a:spcAft>
            </a:pPr>
            <a:r>
              <a:rPr sz="1150" b="1">
                <a:solidFill>
                  <a:srgbClr val="161B26"/>
                </a:solidFill>
                <a:latin typeface="Arial"/>
              </a:rPr>
              <a:t>Expert systems</a:t>
            </a:r>
          </a:p>
          <a:p>
            <a:pPr algn="ctr">
              <a:spcAft>
                <a:spcPts val="100"/>
              </a:spcAft>
            </a:pPr>
            <a:r>
              <a:rPr sz="950" b="0">
                <a:solidFill>
                  <a:srgbClr val="5B6372"/>
                </a:solidFill>
                <a:latin typeface="Arial"/>
              </a:rPr>
              <a:t>Hand-written if-then rules - the same logic as the rule-based program trading of the 1980s</a:t>
            </a:r>
          </a:p>
        </p:txBody>
      </p:sp>
      <p:sp>
        <p:nvSpPr>
          <p:cNvPr id="20" name="Oval 19"/>
          <p:cNvSpPr/>
          <p:nvPr/>
        </p:nvSpPr>
        <p:spPr>
          <a:xfrm>
            <a:off x="5975604"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716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0056"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1986</a:t>
            </a:r>
          </a:p>
          <a:p>
            <a:pPr algn="ctr">
              <a:spcAft>
                <a:spcPts val="100"/>
              </a:spcAft>
            </a:pPr>
            <a:r>
              <a:rPr sz="1150" b="1">
                <a:solidFill>
                  <a:srgbClr val="161B26"/>
                </a:solidFill>
                <a:latin typeface="Arial"/>
              </a:rPr>
              <a:t>Backpropagation</a:t>
            </a:r>
          </a:p>
          <a:p>
            <a:pPr algn="ctr">
              <a:spcAft>
                <a:spcPts val="100"/>
              </a:spcAft>
            </a:pPr>
            <a:r>
              <a:rPr sz="950" b="0">
                <a:solidFill>
                  <a:srgbClr val="5B6372"/>
                </a:solidFill>
                <a:latin typeface="Arial"/>
              </a:rPr>
              <a:t>Multi-layer neural networks become trainable - the ancestor of today's price-prediction nets</a:t>
            </a:r>
          </a:p>
        </p:txBody>
      </p:sp>
      <p:sp>
        <p:nvSpPr>
          <p:cNvPr id="23" name="Oval 22"/>
          <p:cNvSpPr/>
          <p:nvPr/>
        </p:nvSpPr>
        <p:spPr>
          <a:xfrm>
            <a:off x="7717536"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829092"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1988"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1988</a:t>
            </a:r>
          </a:p>
          <a:p>
            <a:pPr algn="ctr">
              <a:spcAft>
                <a:spcPts val="100"/>
              </a:spcAft>
            </a:pPr>
            <a:r>
              <a:rPr sz="1150" b="1">
                <a:solidFill>
                  <a:srgbClr val="161B26"/>
                </a:solidFill>
                <a:latin typeface="Arial"/>
              </a:rPr>
              <a:t>Models trade markets</a:t>
            </a:r>
          </a:p>
          <a:p>
            <a:pPr algn="ctr">
              <a:spcAft>
                <a:spcPts val="100"/>
              </a:spcAft>
            </a:pPr>
            <a:r>
              <a:rPr sz="950" b="0">
                <a:solidFill>
                  <a:srgbClr val="5B6372"/>
                </a:solidFill>
                <a:latin typeface="Arial"/>
              </a:rPr>
              <a:t>Renaissance's Medallion fund launches, trading purely on mathematical models of market data</a:t>
            </a:r>
          </a:p>
        </p:txBody>
      </p:sp>
      <p:sp>
        <p:nvSpPr>
          <p:cNvPr id="26" name="Oval 25"/>
          <p:cNvSpPr/>
          <p:nvPr/>
        </p:nvSpPr>
        <p:spPr>
          <a:xfrm>
            <a:off x="9459468"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571024"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03920"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1997</a:t>
            </a:r>
          </a:p>
          <a:p>
            <a:pPr algn="ctr">
              <a:spcAft>
                <a:spcPts val="100"/>
              </a:spcAft>
            </a:pPr>
            <a:r>
              <a:rPr sz="1150" b="1">
                <a:solidFill>
                  <a:srgbClr val="161B26"/>
                </a:solidFill>
                <a:latin typeface="Arial"/>
              </a:rPr>
              <a:t>Deep Blue</a:t>
            </a:r>
          </a:p>
          <a:p>
            <a:pPr algn="ctr">
              <a:spcAft>
                <a:spcPts val="100"/>
              </a:spcAft>
            </a:pPr>
            <a:r>
              <a:rPr sz="950" b="0">
                <a:solidFill>
                  <a:srgbClr val="5B6372"/>
                </a:solidFill>
                <a:latin typeface="Arial"/>
              </a:rPr>
              <a:t>IBM beats Kasparov at chess; computer-driven quant firms such as D.E. Shaw are already trading</a:t>
            </a:r>
          </a:p>
        </p:txBody>
      </p:sp>
      <p:sp>
        <p:nvSpPr>
          <p:cNvPr id="29" name="Oval 28"/>
          <p:cNvSpPr/>
          <p:nvPr/>
        </p:nvSpPr>
        <p:spPr>
          <a:xfrm>
            <a:off x="11201400"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312956"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91472"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2012</a:t>
            </a:r>
          </a:p>
          <a:p>
            <a:pPr algn="ctr">
              <a:spcAft>
                <a:spcPts val="100"/>
              </a:spcAft>
            </a:pPr>
            <a:r>
              <a:rPr sz="1150" b="1">
                <a:solidFill>
                  <a:srgbClr val="161B26"/>
                </a:solidFill>
                <a:latin typeface="Arial"/>
              </a:rPr>
              <a:t>Deep learning</a:t>
            </a:r>
          </a:p>
          <a:p>
            <a:pPr algn="ctr">
              <a:spcAft>
                <a:spcPts val="100"/>
              </a:spcAft>
            </a:pPr>
            <a:r>
              <a:rPr sz="950" b="0">
                <a:solidFill>
                  <a:srgbClr val="5B6372"/>
                </a:solidFill>
                <a:latin typeface="Arial"/>
              </a:rPr>
              <a:t>GPU-trained deep networks win ImageNet; deep learning becomes a new tool for market data</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AI IN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AI Milestones and Their Trading Counterparts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868680" y="3954779"/>
            <a:ext cx="10451592"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9808"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1364"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2016</a:t>
            </a:r>
          </a:p>
          <a:p>
            <a:pPr algn="ctr">
              <a:spcAft>
                <a:spcPts val="100"/>
              </a:spcAft>
            </a:pPr>
            <a:r>
              <a:rPr sz="1150" b="1">
                <a:solidFill>
                  <a:srgbClr val="161B26"/>
                </a:solidFill>
                <a:latin typeface="Arial"/>
              </a:rPr>
              <a:t>AlphaGo</a:t>
            </a:r>
          </a:p>
          <a:p>
            <a:pPr algn="ctr">
              <a:spcAft>
                <a:spcPts val="100"/>
              </a:spcAft>
            </a:pPr>
            <a:r>
              <a:rPr sz="950" b="0">
                <a:solidFill>
                  <a:srgbClr val="5B6372"/>
                </a:solidFill>
                <a:latin typeface="Arial"/>
              </a:rPr>
              <a:t>Deep reinforcement learning wins at Go; RL is researched for order execution and portfolios</a:t>
            </a:r>
          </a:p>
        </p:txBody>
      </p:sp>
      <p:sp>
        <p:nvSpPr>
          <p:cNvPr id="14" name="Oval 13"/>
          <p:cNvSpPr/>
          <p:nvPr/>
        </p:nvSpPr>
        <p:spPr>
          <a:xfrm>
            <a:off x="2840126"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1683"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84578"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2017</a:t>
            </a:r>
          </a:p>
          <a:p>
            <a:pPr algn="ctr">
              <a:spcAft>
                <a:spcPts val="100"/>
              </a:spcAft>
            </a:pPr>
            <a:r>
              <a:rPr sz="1150" b="1">
                <a:solidFill>
                  <a:srgbClr val="161B26"/>
                </a:solidFill>
                <a:latin typeface="Arial"/>
              </a:rPr>
              <a:t>Transformer</a:t>
            </a:r>
          </a:p>
          <a:p>
            <a:pPr algn="ctr">
              <a:spcAft>
                <a:spcPts val="100"/>
              </a:spcAft>
            </a:pPr>
            <a:r>
              <a:rPr sz="950" b="0">
                <a:solidFill>
                  <a:srgbClr val="5B6372"/>
                </a:solidFill>
                <a:latin typeface="Arial"/>
              </a:rPr>
              <a:t>The architecture behind every LLM - later used to read news and filings for trading signals</a:t>
            </a:r>
          </a:p>
        </p:txBody>
      </p:sp>
      <p:sp>
        <p:nvSpPr>
          <p:cNvPr id="17" name="Oval 16"/>
          <p:cNvSpPr/>
          <p:nvPr/>
        </p:nvSpPr>
        <p:spPr>
          <a:xfrm>
            <a:off x="4930444" y="3858768"/>
            <a:ext cx="237744" cy="23774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42001" y="3246120"/>
            <a:ext cx="14630" cy="6126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4896" y="2011680"/>
            <a:ext cx="2148840" cy="1234440"/>
          </a:xfrm>
          <a:prstGeom prst="rect">
            <a:avLst/>
          </a:prstGeom>
          <a:noFill/>
        </p:spPr>
        <p:txBody>
          <a:bodyPr wrap="square" anchor="b">
            <a:spAutoFit/>
          </a:bodyPr>
          <a:lstStyle/>
          <a:p>
            <a:pPr algn="ctr">
              <a:spcAft>
                <a:spcPts val="100"/>
              </a:spcAft>
            </a:pPr>
            <a:r>
              <a:rPr sz="1500" b="1">
                <a:solidFill>
                  <a:srgbClr val="7C3AED"/>
                </a:solidFill>
                <a:latin typeface="Arial"/>
              </a:rPr>
              <a:t>2023</a:t>
            </a:r>
          </a:p>
          <a:p>
            <a:pPr algn="ctr">
              <a:spcAft>
                <a:spcPts val="100"/>
              </a:spcAft>
            </a:pPr>
            <a:r>
              <a:rPr sz="1150" b="1">
                <a:solidFill>
                  <a:srgbClr val="161B26"/>
                </a:solidFill>
                <a:latin typeface="Arial"/>
              </a:rPr>
              <a:t>LLMs meet markets</a:t>
            </a:r>
          </a:p>
          <a:p>
            <a:pPr algn="ctr">
              <a:spcAft>
                <a:spcPts val="100"/>
              </a:spcAft>
            </a:pPr>
            <a:r>
              <a:rPr sz="950" b="0">
                <a:solidFill>
                  <a:srgbClr val="5B6372"/>
                </a:solidFill>
                <a:latin typeface="Arial"/>
              </a:rPr>
              <a:t>BloombergGPT (50bn parameters); ChatGPT headline sentiment predicts next-day stock returns</a:t>
            </a:r>
          </a:p>
        </p:txBody>
      </p:sp>
      <p:sp>
        <p:nvSpPr>
          <p:cNvPr id="20" name="Oval 19"/>
          <p:cNvSpPr/>
          <p:nvPr/>
        </p:nvSpPr>
        <p:spPr>
          <a:xfrm>
            <a:off x="7020763" y="3858768"/>
            <a:ext cx="237744" cy="23774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320" y="4096512"/>
            <a:ext cx="14630" cy="6126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5215" y="4754880"/>
            <a:ext cx="2148840" cy="1371600"/>
          </a:xfrm>
          <a:prstGeom prst="rect">
            <a:avLst/>
          </a:prstGeom>
          <a:noFill/>
        </p:spPr>
        <p:txBody>
          <a:bodyPr wrap="square" anchor="t">
            <a:spAutoFit/>
          </a:bodyPr>
          <a:lstStyle/>
          <a:p>
            <a:pPr algn="ctr">
              <a:spcAft>
                <a:spcPts val="100"/>
              </a:spcAft>
            </a:pPr>
            <a:r>
              <a:rPr sz="1500" b="1">
                <a:solidFill>
                  <a:srgbClr val="F59E0B"/>
                </a:solidFill>
                <a:latin typeface="Arial"/>
              </a:rPr>
              <a:t>2024</a:t>
            </a:r>
          </a:p>
          <a:p>
            <a:pPr algn="ctr">
              <a:spcAft>
                <a:spcPts val="100"/>
              </a:spcAft>
            </a:pPr>
            <a:r>
              <a:rPr sz="1150" b="1">
                <a:solidFill>
                  <a:srgbClr val="161B26"/>
                </a:solidFill>
                <a:latin typeface="Arial"/>
              </a:rPr>
              <a:t>Multi-agent trading</a:t>
            </a:r>
          </a:p>
          <a:p>
            <a:pPr algn="ctr">
              <a:spcAft>
                <a:spcPts val="100"/>
              </a:spcAft>
            </a:pPr>
            <a:r>
              <a:rPr sz="950" b="0">
                <a:solidFill>
                  <a:srgbClr val="5B6372"/>
                </a:solidFill>
                <a:latin typeface="Arial"/>
              </a:rPr>
              <a:t>TradingAgents models a trading firm: analyst, bull/bear debate, trader and risk agents</a:t>
            </a:r>
          </a:p>
        </p:txBody>
      </p:sp>
      <p:sp>
        <p:nvSpPr>
          <p:cNvPr id="23" name="Oval 22"/>
          <p:cNvSpPr/>
          <p:nvPr/>
        </p:nvSpPr>
        <p:spPr>
          <a:xfrm>
            <a:off x="9111081" y="3858768"/>
            <a:ext cx="237744" cy="23774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22638" y="3246120"/>
            <a:ext cx="14630" cy="6126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5533" y="2011680"/>
            <a:ext cx="2148840" cy="1234440"/>
          </a:xfrm>
          <a:prstGeom prst="rect">
            <a:avLst/>
          </a:prstGeom>
          <a:noFill/>
        </p:spPr>
        <p:txBody>
          <a:bodyPr wrap="square" anchor="b">
            <a:spAutoFit/>
          </a:bodyPr>
          <a:lstStyle/>
          <a:p>
            <a:pPr algn="ctr">
              <a:spcAft>
                <a:spcPts val="100"/>
              </a:spcAft>
            </a:pPr>
            <a:r>
              <a:rPr sz="1500" b="1">
                <a:solidFill>
                  <a:srgbClr val="1F6FEB"/>
                </a:solidFill>
                <a:latin typeface="Arial"/>
              </a:rPr>
              <a:t>2025</a:t>
            </a:r>
          </a:p>
          <a:p>
            <a:pPr algn="ctr">
              <a:spcAft>
                <a:spcPts val="100"/>
              </a:spcAft>
            </a:pPr>
            <a:r>
              <a:rPr sz="1150" b="1">
                <a:solidFill>
                  <a:srgbClr val="161B26"/>
                </a:solidFill>
                <a:latin typeface="Arial"/>
              </a:rPr>
              <a:t>Agentic quant research</a:t>
            </a:r>
          </a:p>
          <a:p>
            <a:pPr algn="ctr">
              <a:spcAft>
                <a:spcPts val="100"/>
              </a:spcAft>
            </a:pPr>
            <a:r>
              <a:rPr sz="950" b="0">
                <a:solidFill>
                  <a:srgbClr val="5B6372"/>
                </a:solidFill>
                <a:latin typeface="Arial"/>
              </a:rPr>
              <a:t>LLM agents mine formulaic alphas and write backtests (e.g. Alpha-GPT, AlphaAgent)</a:t>
            </a:r>
          </a:p>
        </p:txBody>
      </p:sp>
      <p:sp>
        <p:nvSpPr>
          <p:cNvPr id="26" name="Oval 25"/>
          <p:cNvSpPr/>
          <p:nvPr/>
        </p:nvSpPr>
        <p:spPr>
          <a:xfrm>
            <a:off x="11201400" y="385876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312956" y="4096512"/>
            <a:ext cx="14630" cy="6126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91472" y="4754880"/>
            <a:ext cx="2148840" cy="1371600"/>
          </a:xfrm>
          <a:prstGeom prst="rect">
            <a:avLst/>
          </a:prstGeom>
          <a:noFill/>
        </p:spPr>
        <p:txBody>
          <a:bodyPr wrap="square" anchor="t">
            <a:spAutoFit/>
          </a:bodyPr>
          <a:lstStyle/>
          <a:p>
            <a:pPr algn="ctr">
              <a:spcAft>
                <a:spcPts val="100"/>
              </a:spcAft>
            </a:pPr>
            <a:r>
              <a:rPr sz="1500" b="1">
                <a:solidFill>
                  <a:srgbClr val="10B981"/>
                </a:solidFill>
                <a:latin typeface="Arial"/>
              </a:rPr>
              <a:t>2026</a:t>
            </a:r>
          </a:p>
          <a:p>
            <a:pPr algn="ctr">
              <a:spcAft>
                <a:spcPts val="100"/>
              </a:spcAft>
            </a:pPr>
            <a:r>
              <a:rPr sz="1150" b="1">
                <a:solidFill>
                  <a:srgbClr val="161B26"/>
                </a:solidFill>
                <a:latin typeface="Arial"/>
              </a:rPr>
              <a:t>Governed AI</a:t>
            </a:r>
          </a:p>
          <a:p>
            <a:pPr algn="ctr">
              <a:spcAft>
                <a:spcPts val="100"/>
              </a:spcAft>
            </a:pPr>
            <a:r>
              <a:rPr sz="950" b="0">
                <a:solidFill>
                  <a:srgbClr val="5B6372"/>
                </a:solidFill>
                <a:latin typeface="Arial"/>
              </a:rPr>
              <a:t>MAS AI Risk Management Guidelines (7 Oct 2026) set lifecycle controls for AI in finance</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K9 · ML TO LLM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Paradigm Shift: Machine-Learning Quant versus LLM-Era Quant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F6FEB"/>
                </a:solidFill>
                <a:latin typeface="Arial"/>
              </a:rPr>
              <a:t>K1  K9</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Machine-learning quant</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LLM-era quant</a:t>
            </a:r>
          </a:p>
        </p:txBody>
      </p:sp>
      <p:sp>
        <p:nvSpPr>
          <p:cNvPr id="14" name="Rectangle 13"/>
          <p:cNvSpPr/>
          <p:nvPr/>
        </p:nvSpPr>
        <p:spPr>
          <a:xfrm>
            <a:off x="777240" y="2286000"/>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Main data</a:t>
            </a:r>
          </a:p>
        </p:txBody>
      </p:sp>
      <p:sp>
        <p:nvSpPr>
          <p:cNvPr id="16" name="TextBox 15"/>
          <p:cNvSpPr txBox="1"/>
          <p:nvPr/>
        </p:nvSpPr>
        <p:spPr>
          <a:xfrm>
            <a:off x="3017520" y="2286000"/>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Structured: prices, volumes, fundamentals</a:t>
            </a:r>
          </a:p>
        </p:txBody>
      </p:sp>
      <p:sp>
        <p:nvSpPr>
          <p:cNvPr id="17" name="TextBox 16"/>
          <p:cNvSpPr txBox="1"/>
          <p:nvPr/>
        </p:nvSpPr>
        <p:spPr>
          <a:xfrm>
            <a:off x="7260336" y="2286000"/>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Adds unstructured text: news, filings, earnings calls, research</a:t>
            </a:r>
          </a:p>
        </p:txBody>
      </p:sp>
      <p:sp>
        <p:nvSpPr>
          <p:cNvPr id="18" name="TextBox 17"/>
          <p:cNvSpPr txBox="1"/>
          <p:nvPr/>
        </p:nvSpPr>
        <p:spPr>
          <a:xfrm>
            <a:off x="886968" y="2854234"/>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Features</a:t>
            </a:r>
          </a:p>
        </p:txBody>
      </p:sp>
      <p:sp>
        <p:nvSpPr>
          <p:cNvPr id="19" name="TextBox 18"/>
          <p:cNvSpPr txBox="1"/>
          <p:nvPr/>
        </p:nvSpPr>
        <p:spPr>
          <a:xfrm>
            <a:off x="3017520" y="2854234"/>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Hand-engineered by the quant (lags, RSI, factors)</a:t>
            </a:r>
          </a:p>
        </p:txBody>
      </p:sp>
      <p:sp>
        <p:nvSpPr>
          <p:cNvPr id="20" name="TextBox 19"/>
          <p:cNvSpPr txBox="1"/>
          <p:nvPr/>
        </p:nvSpPr>
        <p:spPr>
          <a:xfrm>
            <a:off x="7260336" y="2854234"/>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Text read directly; LLM scores sentiment and events</a:t>
            </a:r>
          </a:p>
        </p:txBody>
      </p:sp>
      <p:sp>
        <p:nvSpPr>
          <p:cNvPr id="21" name="Rectangle 20"/>
          <p:cNvSpPr/>
          <p:nvPr/>
        </p:nvSpPr>
        <p:spPr>
          <a:xfrm>
            <a:off x="777240" y="3422468"/>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422468"/>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Model building</a:t>
            </a:r>
          </a:p>
        </p:txBody>
      </p:sp>
      <p:sp>
        <p:nvSpPr>
          <p:cNvPr id="23" name="TextBox 22"/>
          <p:cNvSpPr txBox="1"/>
          <p:nvPr/>
        </p:nvSpPr>
        <p:spPr>
          <a:xfrm>
            <a:off x="3017520" y="3422468"/>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Fit regressions, trees, boosting on labelled data</a:t>
            </a:r>
          </a:p>
        </p:txBody>
      </p:sp>
      <p:sp>
        <p:nvSpPr>
          <p:cNvPr id="24" name="TextBox 23"/>
          <p:cNvSpPr txBox="1"/>
          <p:nvPr/>
        </p:nvSpPr>
        <p:spPr>
          <a:xfrm>
            <a:off x="7260336" y="3422468"/>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Prompt or fine-tune pretrained LLMs; agents propose alphas</a:t>
            </a:r>
          </a:p>
        </p:txBody>
      </p:sp>
      <p:sp>
        <p:nvSpPr>
          <p:cNvPr id="25" name="TextBox 24"/>
          <p:cNvSpPr txBox="1"/>
          <p:nvPr/>
        </p:nvSpPr>
        <p:spPr>
          <a:xfrm>
            <a:off x="886968" y="3990702"/>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Research workflow</a:t>
            </a:r>
          </a:p>
        </p:txBody>
      </p:sp>
      <p:sp>
        <p:nvSpPr>
          <p:cNvPr id="26" name="TextBox 25"/>
          <p:cNvSpPr txBox="1"/>
          <p:nvPr/>
        </p:nvSpPr>
        <p:spPr>
          <a:xfrm>
            <a:off x="3017520" y="3990702"/>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The quant writes every line of code</a:t>
            </a:r>
          </a:p>
        </p:txBody>
      </p:sp>
      <p:sp>
        <p:nvSpPr>
          <p:cNvPr id="27" name="TextBox 26"/>
          <p:cNvSpPr txBox="1"/>
          <p:nvPr/>
        </p:nvSpPr>
        <p:spPr>
          <a:xfrm>
            <a:off x="7260336" y="3990702"/>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Coding agents draft code and backtests; the quant reviews</a:t>
            </a:r>
          </a:p>
        </p:txBody>
      </p:sp>
      <p:sp>
        <p:nvSpPr>
          <p:cNvPr id="28" name="Rectangle 27"/>
          <p:cNvSpPr/>
          <p:nvPr/>
        </p:nvSpPr>
        <p:spPr>
          <a:xfrm>
            <a:off x="777240" y="4558937"/>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558937"/>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Alpha decay</a:t>
            </a:r>
          </a:p>
        </p:txBody>
      </p:sp>
      <p:sp>
        <p:nvSpPr>
          <p:cNvPr id="30" name="TextBox 29"/>
          <p:cNvSpPr txBox="1"/>
          <p:nvPr/>
        </p:nvSpPr>
        <p:spPr>
          <a:xfrm>
            <a:off x="3017520" y="4558937"/>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Signals fade as more funds trade them</a:t>
            </a:r>
          </a:p>
        </p:txBody>
      </p:sp>
      <p:sp>
        <p:nvSpPr>
          <p:cNvPr id="31" name="TextBox 30"/>
          <p:cNvSpPr txBox="1"/>
          <p:nvPr/>
        </p:nvSpPr>
        <p:spPr>
          <a:xfrm>
            <a:off x="7260336" y="4558937"/>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LLM signals fade too as LLM adoption rises</a:t>
            </a:r>
          </a:p>
        </p:txBody>
      </p:sp>
      <p:sp>
        <p:nvSpPr>
          <p:cNvPr id="32" name="TextBox 31"/>
          <p:cNvSpPr txBox="1"/>
          <p:nvPr/>
        </p:nvSpPr>
        <p:spPr>
          <a:xfrm>
            <a:off x="886968" y="5127171"/>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New risks</a:t>
            </a:r>
          </a:p>
        </p:txBody>
      </p:sp>
      <p:sp>
        <p:nvSpPr>
          <p:cNvPr id="33" name="TextBox 32"/>
          <p:cNvSpPr txBox="1"/>
          <p:nvPr/>
        </p:nvSpPr>
        <p:spPr>
          <a:xfrm>
            <a:off x="3017520" y="5127171"/>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Overfitting; look-ahead in features</a:t>
            </a:r>
          </a:p>
        </p:txBody>
      </p:sp>
      <p:sp>
        <p:nvSpPr>
          <p:cNvPr id="34" name="TextBox 33"/>
          <p:cNvSpPr txBox="1"/>
          <p:nvPr/>
        </p:nvSpPr>
        <p:spPr>
          <a:xfrm>
            <a:off x="7260336" y="5127171"/>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LLM training-data look-ahead and 'distraction'; homogeneous factors</a:t>
            </a:r>
          </a:p>
        </p:txBody>
      </p:sp>
      <p:sp>
        <p:nvSpPr>
          <p:cNvPr id="35" name="Rectangle 34"/>
          <p:cNvSpPr/>
          <p:nvPr/>
        </p:nvSpPr>
        <p:spPr>
          <a:xfrm>
            <a:off x="777240" y="5695405"/>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 y="5695405"/>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Human role</a:t>
            </a:r>
          </a:p>
        </p:txBody>
      </p:sp>
      <p:sp>
        <p:nvSpPr>
          <p:cNvPr id="37" name="TextBox 36"/>
          <p:cNvSpPr txBox="1"/>
          <p:nvPr/>
        </p:nvSpPr>
        <p:spPr>
          <a:xfrm>
            <a:off x="3017520" y="5695405"/>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Model builder</a:t>
            </a:r>
          </a:p>
        </p:txBody>
      </p:sp>
      <p:sp>
        <p:nvSpPr>
          <p:cNvPr id="38" name="TextBox 37"/>
          <p:cNvSpPr txBox="1"/>
          <p:nvPr/>
        </p:nvSpPr>
        <p:spPr>
          <a:xfrm>
            <a:off x="7260336" y="5695405"/>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Supervisor: hypothesis, testing, risk sign-off</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K9 · ML TO LLM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Impact of LLMs on Quant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F6FEB"/>
                </a:solidFill>
                <a:latin typeface="Arial"/>
              </a:rPr>
              <a:t>K1  K9</a:t>
            </a:r>
          </a:p>
        </p:txBody>
      </p:sp>
      <p:sp>
        <p:nvSpPr>
          <p:cNvPr id="10" name="Rectangle 9"/>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Text becomes a signal</a:t>
            </a:r>
          </a:p>
          <a:p>
            <a:pPr algn="l">
              <a:spcAft>
                <a:spcPts val="300"/>
              </a:spcAft>
            </a:pPr>
            <a:r>
              <a:rPr sz="950" b="0">
                <a:solidFill>
                  <a:srgbClr val="5B6372"/>
                </a:solidFill>
                <a:latin typeface="Arial"/>
              </a:rPr>
              <a:t>ChatGPT headline scores predict next-day returns, strongest for small stocks and bad news (Lopez-Lira and Tang)</a:t>
            </a:r>
          </a:p>
        </p:txBody>
      </p:sp>
      <p:sp>
        <p:nvSpPr>
          <p:cNvPr id="15" name="Rectangle 14"/>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Finance-specific LLMs</a:t>
            </a:r>
          </a:p>
          <a:p>
            <a:pPr algn="l">
              <a:spcAft>
                <a:spcPts val="300"/>
              </a:spcAft>
            </a:pPr>
            <a:r>
              <a:rPr sz="950" b="0">
                <a:solidFill>
                  <a:srgbClr val="5B6372"/>
                </a:solidFill>
                <a:latin typeface="Arial"/>
              </a:rPr>
              <a:t>BloombergGPT (2023): 50bn parameters trained with 363bn tokens of Bloomberg financial data</a:t>
            </a:r>
          </a:p>
        </p:txBody>
      </p:sp>
      <p:sp>
        <p:nvSpPr>
          <p:cNvPr id="20" name="Rectangle 19"/>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Automated alpha mining</a:t>
            </a:r>
          </a:p>
          <a:p>
            <a:pPr algn="l">
              <a:spcAft>
                <a:spcPts val="300"/>
              </a:spcAft>
            </a:pPr>
            <a:r>
              <a:rPr sz="950" b="0">
                <a:solidFill>
                  <a:srgbClr val="5B6372"/>
                </a:solidFill>
                <a:latin typeface="Arial"/>
              </a:rPr>
              <a:t>Alpha-GPT turns ideas into formulaic alphas; AlphaAgent targets alpha decay and crowding</a:t>
            </a:r>
          </a:p>
        </p:txBody>
      </p:sp>
      <p:sp>
        <p:nvSpPr>
          <p:cNvPr id="25" name="Rectangle 24"/>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447288"/>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Backtests need new controls</a:t>
            </a:r>
          </a:p>
          <a:p>
            <a:pPr algn="l">
              <a:spcAft>
                <a:spcPts val="300"/>
              </a:spcAft>
            </a:pPr>
            <a:r>
              <a:rPr sz="950" b="0">
                <a:solidFill>
                  <a:srgbClr val="5B6372"/>
                </a:solidFill>
                <a:latin typeface="Arial"/>
              </a:rPr>
              <a:t>LLMs may 'know' in-sample history: test after the knowledge cutoff and anonymise firms (Glasserman and Lin)</a:t>
            </a:r>
          </a:p>
        </p:txBody>
      </p:sp>
      <p:sp>
        <p:nvSpPr>
          <p:cNvPr id="30" name="Rectangle 29"/>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Faster crowding</a:t>
            </a:r>
          </a:p>
          <a:p>
            <a:pPr algn="l">
              <a:spcAft>
                <a:spcPts val="300"/>
              </a:spcAft>
            </a:pPr>
            <a:r>
              <a:rPr sz="950" b="0">
                <a:solidFill>
                  <a:srgbClr val="5B6372"/>
                </a:solidFill>
                <a:latin typeface="Arial"/>
              </a:rPr>
              <a:t>Strategy returns decline as LLM adoption rises - prices become more efficient (Lopez-Lira and Tang)</a:t>
            </a:r>
          </a:p>
        </p:txBody>
      </p:sp>
      <p:sp>
        <p:nvSpPr>
          <p:cNvPr id="35" name="Rectangle 34"/>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983480"/>
            <a:ext cx="3973068" cy="1115568"/>
          </a:xfrm>
          <a:prstGeom prst="rect">
            <a:avLst/>
          </a:prstGeom>
          <a:noFill/>
        </p:spPr>
        <p:txBody>
          <a:bodyPr wrap="square" anchor="ctr">
            <a:spAutoFit/>
          </a:bodyPr>
          <a:lstStyle/>
          <a:p>
            <a:pPr algn="l">
              <a:spcAft>
                <a:spcPts val="300"/>
              </a:spcAft>
            </a:pPr>
            <a:r>
              <a:rPr sz="1350" b="1">
                <a:solidFill>
                  <a:srgbClr val="161B26"/>
                </a:solidFill>
                <a:latin typeface="Arial"/>
              </a:rPr>
              <a:t>Agents still need limits</a:t>
            </a:r>
          </a:p>
          <a:p>
            <a:pPr algn="l">
              <a:spcAft>
                <a:spcPts val="300"/>
              </a:spcAft>
            </a:pPr>
            <a:r>
              <a:rPr sz="950" b="0">
                <a:solidFill>
                  <a:srgbClr val="5B6372"/>
                </a:solidFill>
                <a:latin typeface="Arial"/>
              </a:rPr>
              <a:t>Agents propose trades; hard-coded risk checks and humans approve them</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AGENTIC AI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AI Agents versus Agentic AI in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5180076" cy="356616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518007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331720"/>
            <a:ext cx="4741164" cy="548640"/>
          </a:xfrm>
          <a:prstGeom prst="rect">
            <a:avLst/>
          </a:prstGeom>
          <a:noFill/>
        </p:spPr>
        <p:txBody>
          <a:bodyPr wrap="square" anchor="t">
            <a:spAutoFit/>
          </a:bodyPr>
          <a:lstStyle/>
          <a:p>
            <a:pPr algn="l">
              <a:spcAft>
                <a:spcPts val="400"/>
              </a:spcAft>
            </a:pPr>
            <a:r>
              <a:rPr sz="1600" b="1">
                <a:solidFill>
                  <a:srgbClr val="1F6FEB"/>
                </a:solidFill>
                <a:latin typeface="Arial"/>
              </a:rPr>
              <a:t>AI Agent</a:t>
            </a:r>
          </a:p>
        </p:txBody>
      </p:sp>
      <p:sp>
        <p:nvSpPr>
          <p:cNvPr id="10" name="TextBox 9"/>
          <p:cNvSpPr txBox="1"/>
          <p:nvPr/>
        </p:nvSpPr>
        <p:spPr>
          <a:xfrm>
            <a:off x="996696"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A single LLM-powered program with tools and memory that pursues a bounded task on its own, often running always-on and reacting to events 24/7.
Trading example: A signal bot that pulls live bars and news for a stock and replies Buy / Sell / Hold with its reasoning</a:t>
            </a:r>
          </a:p>
        </p:txBody>
      </p:sp>
      <p:sp>
        <p:nvSpPr>
          <p:cNvPr id="11" name="Rectangle 10"/>
          <p:cNvSpPr/>
          <p:nvPr/>
        </p:nvSpPr>
        <p:spPr>
          <a:xfrm>
            <a:off x="6231636" y="1965960"/>
            <a:ext cx="5180076" cy="356616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965960"/>
            <a:ext cx="518007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092" y="2331720"/>
            <a:ext cx="4741164" cy="548640"/>
          </a:xfrm>
          <a:prstGeom prst="rect">
            <a:avLst/>
          </a:prstGeom>
          <a:noFill/>
        </p:spPr>
        <p:txBody>
          <a:bodyPr wrap="square" anchor="t">
            <a:spAutoFit/>
          </a:bodyPr>
          <a:lstStyle/>
          <a:p>
            <a:pPr algn="l">
              <a:spcAft>
                <a:spcPts val="400"/>
              </a:spcAft>
            </a:pPr>
            <a:r>
              <a:rPr sz="1600" b="1">
                <a:solidFill>
                  <a:srgbClr val="10B981"/>
                </a:solidFill>
                <a:latin typeface="Arial"/>
              </a:rPr>
              <a:t>Agentic AI</a:t>
            </a:r>
          </a:p>
        </p:txBody>
      </p:sp>
      <p:sp>
        <p:nvSpPr>
          <p:cNvPr id="14" name="TextBox 13"/>
          <p:cNvSpPr txBox="1"/>
          <p:nvPr/>
        </p:nvSpPr>
        <p:spPr>
          <a:xfrm>
            <a:off x="6451092"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The broader paradigm: AI systems that pursue a goal over many steps, often by orchestrating specialist agents with shared memory, guardrails and human approval.
Trading example: A research desk of analyst, bull/bear, trader and risk agents that debate a stock before a manager approves the trade</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AGENTIC AI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AI Agents vs Agentic AI - Side by Side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AI Agents</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Agentic AI</a:t>
            </a:r>
          </a:p>
        </p:txBody>
      </p:sp>
      <p:sp>
        <p:nvSpPr>
          <p:cNvPr id="14" name="Rectangle 13"/>
          <p:cNvSpPr/>
          <p:nvPr/>
        </p:nvSpPr>
        <p:spPr>
          <a:xfrm>
            <a:off x="777240" y="228600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Scope</a:t>
            </a:r>
          </a:p>
        </p:txBody>
      </p:sp>
      <p:sp>
        <p:nvSpPr>
          <p:cNvPr id="16" name="TextBox 15"/>
          <p:cNvSpPr txBox="1"/>
          <p:nvPr/>
        </p:nvSpPr>
        <p:spPr>
          <a:xfrm>
            <a:off x="3017520" y="228600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One bounded task</a:t>
            </a:r>
          </a:p>
        </p:txBody>
      </p:sp>
      <p:sp>
        <p:nvSpPr>
          <p:cNvPr id="17" name="TextBox 16"/>
          <p:cNvSpPr txBox="1"/>
          <p:nvPr/>
        </p:nvSpPr>
        <p:spPr>
          <a:xfrm>
            <a:off x="7260336" y="228600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Complex, multi-step goals</a:t>
            </a:r>
          </a:p>
        </p:txBody>
      </p:sp>
      <p:sp>
        <p:nvSpPr>
          <p:cNvPr id="18" name="TextBox 17"/>
          <p:cNvSpPr txBox="1"/>
          <p:nvPr/>
        </p:nvSpPr>
        <p:spPr>
          <a:xfrm>
            <a:off x="886968" y="2783205"/>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Structure</a:t>
            </a:r>
          </a:p>
        </p:txBody>
      </p:sp>
      <p:sp>
        <p:nvSpPr>
          <p:cNvPr id="19" name="TextBox 18"/>
          <p:cNvSpPr txBox="1"/>
          <p:nvPr/>
        </p:nvSpPr>
        <p:spPr>
          <a:xfrm>
            <a:off x="3017520" y="2783205"/>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Single agent with tools</a:t>
            </a:r>
          </a:p>
        </p:txBody>
      </p:sp>
      <p:sp>
        <p:nvSpPr>
          <p:cNvPr id="20" name="TextBox 19"/>
          <p:cNvSpPr txBox="1"/>
          <p:nvPr/>
        </p:nvSpPr>
        <p:spPr>
          <a:xfrm>
            <a:off x="7260336" y="2783205"/>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Many agents plus an orchestrator</a:t>
            </a:r>
          </a:p>
        </p:txBody>
      </p:sp>
      <p:sp>
        <p:nvSpPr>
          <p:cNvPr id="21" name="Rectangle 20"/>
          <p:cNvSpPr/>
          <p:nvPr/>
        </p:nvSpPr>
        <p:spPr>
          <a:xfrm>
            <a:off x="777240" y="328041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28041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Autonomy</a:t>
            </a:r>
          </a:p>
        </p:txBody>
      </p:sp>
      <p:sp>
        <p:nvSpPr>
          <p:cNvPr id="23" name="TextBox 22"/>
          <p:cNvSpPr txBox="1"/>
          <p:nvPr/>
        </p:nvSpPr>
        <p:spPr>
          <a:xfrm>
            <a:off x="3017520" y="328041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High, but within a narrow task</a:t>
            </a:r>
          </a:p>
        </p:txBody>
      </p:sp>
      <p:sp>
        <p:nvSpPr>
          <p:cNvPr id="24" name="TextBox 23"/>
          <p:cNvSpPr txBox="1"/>
          <p:nvPr/>
        </p:nvSpPr>
        <p:spPr>
          <a:xfrm>
            <a:off x="7260336" y="328041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Coordinated autonomy across agents</a:t>
            </a:r>
          </a:p>
        </p:txBody>
      </p:sp>
      <p:sp>
        <p:nvSpPr>
          <p:cNvPr id="25" name="TextBox 24"/>
          <p:cNvSpPr txBox="1"/>
          <p:nvPr/>
        </p:nvSpPr>
        <p:spPr>
          <a:xfrm>
            <a:off x="886968" y="3777614"/>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Memory</a:t>
            </a:r>
          </a:p>
        </p:txBody>
      </p:sp>
      <p:sp>
        <p:nvSpPr>
          <p:cNvPr id="26" name="TextBox 25"/>
          <p:cNvSpPr txBox="1"/>
          <p:nvPr/>
        </p:nvSpPr>
        <p:spPr>
          <a:xfrm>
            <a:off x="3017520" y="3777614"/>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Session or task memory</a:t>
            </a:r>
          </a:p>
        </p:txBody>
      </p:sp>
      <p:sp>
        <p:nvSpPr>
          <p:cNvPr id="27" name="TextBox 26"/>
          <p:cNvSpPr txBox="1"/>
          <p:nvPr/>
        </p:nvSpPr>
        <p:spPr>
          <a:xfrm>
            <a:off x="7260336" y="3777614"/>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Shared, persistent memory</a:t>
            </a:r>
          </a:p>
        </p:txBody>
      </p:sp>
      <p:sp>
        <p:nvSpPr>
          <p:cNvPr id="28" name="Rectangle 27"/>
          <p:cNvSpPr/>
          <p:nvPr/>
        </p:nvSpPr>
        <p:spPr>
          <a:xfrm>
            <a:off x="777240" y="4274820"/>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274820"/>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Planning</a:t>
            </a:r>
          </a:p>
        </p:txBody>
      </p:sp>
      <p:sp>
        <p:nvSpPr>
          <p:cNvPr id="30" name="TextBox 29"/>
          <p:cNvSpPr txBox="1"/>
          <p:nvPr/>
        </p:nvSpPr>
        <p:spPr>
          <a:xfrm>
            <a:off x="3017520" y="4274820"/>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Follows its instructions and tools</a:t>
            </a:r>
          </a:p>
        </p:txBody>
      </p:sp>
      <p:sp>
        <p:nvSpPr>
          <p:cNvPr id="31" name="TextBox 30"/>
          <p:cNvSpPr txBox="1"/>
          <p:nvPr/>
        </p:nvSpPr>
        <p:spPr>
          <a:xfrm>
            <a:off x="7260336" y="4274820"/>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Breaks goals into sub-tasks dynamically</a:t>
            </a:r>
          </a:p>
        </p:txBody>
      </p:sp>
      <p:sp>
        <p:nvSpPr>
          <p:cNvPr id="32" name="TextBox 31"/>
          <p:cNvSpPr txBox="1"/>
          <p:nvPr/>
        </p:nvSpPr>
        <p:spPr>
          <a:xfrm>
            <a:off x="886968" y="4772025"/>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Collaboration</a:t>
            </a:r>
          </a:p>
        </p:txBody>
      </p:sp>
      <p:sp>
        <p:nvSpPr>
          <p:cNvPr id="33" name="TextBox 32"/>
          <p:cNvSpPr txBox="1"/>
          <p:nvPr/>
        </p:nvSpPr>
        <p:spPr>
          <a:xfrm>
            <a:off x="3017520" y="4772025"/>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Works alone</a:t>
            </a:r>
          </a:p>
        </p:txBody>
      </p:sp>
      <p:sp>
        <p:nvSpPr>
          <p:cNvPr id="34" name="TextBox 33"/>
          <p:cNvSpPr txBox="1"/>
          <p:nvPr/>
        </p:nvSpPr>
        <p:spPr>
          <a:xfrm>
            <a:off x="7260336" y="4772025"/>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Agents debate, hand off and verify</a:t>
            </a:r>
          </a:p>
        </p:txBody>
      </p:sp>
      <p:sp>
        <p:nvSpPr>
          <p:cNvPr id="35" name="Rectangle 34"/>
          <p:cNvSpPr/>
          <p:nvPr/>
        </p:nvSpPr>
        <p:spPr>
          <a:xfrm>
            <a:off x="777240" y="5269229"/>
            <a:ext cx="10634472" cy="4697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 y="5269229"/>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Main risks</a:t>
            </a:r>
          </a:p>
        </p:txBody>
      </p:sp>
      <p:sp>
        <p:nvSpPr>
          <p:cNvPr id="37" name="TextBox 36"/>
          <p:cNvSpPr txBox="1"/>
          <p:nvPr/>
        </p:nvSpPr>
        <p:spPr>
          <a:xfrm>
            <a:off x="3017520" y="5269229"/>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Hallucination, brittleness</a:t>
            </a:r>
          </a:p>
        </p:txBody>
      </p:sp>
      <p:sp>
        <p:nvSpPr>
          <p:cNvPr id="38" name="TextBox 37"/>
          <p:cNvSpPr txBox="1"/>
          <p:nvPr/>
        </p:nvSpPr>
        <p:spPr>
          <a:xfrm>
            <a:off x="7260336" y="5269229"/>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Emergent behaviour, coordination failure</a:t>
            </a:r>
          </a:p>
        </p:txBody>
      </p:sp>
      <p:sp>
        <p:nvSpPr>
          <p:cNvPr id="39" name="TextBox 38"/>
          <p:cNvSpPr txBox="1"/>
          <p:nvPr/>
        </p:nvSpPr>
        <p:spPr>
          <a:xfrm>
            <a:off x="886968" y="5766434"/>
            <a:ext cx="1965960" cy="469772"/>
          </a:xfrm>
          <a:prstGeom prst="rect">
            <a:avLst/>
          </a:prstGeom>
          <a:noFill/>
        </p:spPr>
        <p:txBody>
          <a:bodyPr wrap="square" anchor="ctr">
            <a:spAutoFit/>
          </a:bodyPr>
          <a:lstStyle/>
          <a:p>
            <a:pPr algn="l">
              <a:spcAft>
                <a:spcPts val="400"/>
              </a:spcAft>
            </a:pPr>
            <a:r>
              <a:rPr sz="1150" b="1">
                <a:solidFill>
                  <a:srgbClr val="161B26"/>
                </a:solidFill>
                <a:latin typeface="Arial"/>
              </a:rPr>
              <a:t>Trading example</a:t>
            </a:r>
          </a:p>
        </p:txBody>
      </p:sp>
      <p:sp>
        <p:nvSpPr>
          <p:cNvPr id="40" name="TextBox 39"/>
          <p:cNvSpPr txBox="1"/>
          <p:nvPr/>
        </p:nvSpPr>
        <p:spPr>
          <a:xfrm>
            <a:off x="3017520" y="5766434"/>
            <a:ext cx="4014216" cy="469772"/>
          </a:xfrm>
          <a:prstGeom prst="rect">
            <a:avLst/>
          </a:prstGeom>
          <a:noFill/>
        </p:spPr>
        <p:txBody>
          <a:bodyPr wrap="square" anchor="ctr">
            <a:spAutoFit/>
          </a:bodyPr>
          <a:lstStyle/>
          <a:p>
            <a:pPr algn="l">
              <a:spcAft>
                <a:spcPts val="400"/>
              </a:spcAft>
            </a:pPr>
            <a:r>
              <a:rPr sz="1050" b="0">
                <a:solidFill>
                  <a:srgbClr val="161B26"/>
                </a:solidFill>
                <a:latin typeface="Arial"/>
              </a:rPr>
              <a:t>Price-alert or signal bot</a:t>
            </a:r>
          </a:p>
        </p:txBody>
      </p:sp>
      <p:sp>
        <p:nvSpPr>
          <p:cNvPr id="41" name="TextBox 40"/>
          <p:cNvSpPr txBox="1"/>
          <p:nvPr/>
        </p:nvSpPr>
        <p:spPr>
          <a:xfrm>
            <a:off x="7260336" y="5766434"/>
            <a:ext cx="4059936" cy="469772"/>
          </a:xfrm>
          <a:prstGeom prst="rect">
            <a:avLst/>
          </a:prstGeom>
          <a:noFill/>
        </p:spPr>
        <p:txBody>
          <a:bodyPr wrap="square" anchor="ctr">
            <a:spAutoFit/>
          </a:bodyPr>
          <a:lstStyle/>
          <a:p>
            <a:pPr algn="l">
              <a:spcAft>
                <a:spcPts val="400"/>
              </a:spcAft>
            </a:pPr>
            <a:r>
              <a:rPr sz="1050" b="0">
                <a:solidFill>
                  <a:srgbClr val="161B26"/>
                </a:solidFill>
                <a:latin typeface="Arial"/>
              </a:rPr>
              <a:t>Multi-agent research and trading desk</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AGENTIC AI</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From Chatbot to Multi-Agent Trading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24528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647063"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4706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2196846" cy="1371600"/>
          </a:xfrm>
          <a:prstGeom prst="rect">
            <a:avLst/>
          </a:prstGeom>
          <a:noFill/>
        </p:spPr>
        <p:txBody>
          <a:bodyPr wrap="square" anchor="t">
            <a:spAutoFit/>
          </a:bodyPr>
          <a:lstStyle/>
          <a:p>
            <a:pPr algn="ctr">
              <a:spcAft>
                <a:spcPts val="400"/>
              </a:spcAft>
            </a:pPr>
            <a:r>
              <a:rPr sz="1200" b="0">
                <a:solidFill>
                  <a:srgbClr val="161B26"/>
                </a:solidFill>
                <a:latin typeface="Arial"/>
              </a:rPr>
              <a:t>1 · Chatbot: Answers one prompt at a time; no tools, no actions</a:t>
            </a:r>
          </a:p>
        </p:txBody>
      </p:sp>
      <p:sp>
        <p:nvSpPr>
          <p:cNvPr id="15" name="TextBox 14"/>
          <p:cNvSpPr txBox="1"/>
          <p:nvPr/>
        </p:nvSpPr>
        <p:spPr>
          <a:xfrm>
            <a:off x="3211830"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16" name="Rectangle 15"/>
          <p:cNvSpPr/>
          <p:nvPr/>
        </p:nvSpPr>
        <p:spPr>
          <a:xfrm>
            <a:off x="3504438"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4438" y="2240280"/>
            <a:ext cx="24528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374261"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7426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3632454" y="3483864"/>
            <a:ext cx="2196846" cy="1371600"/>
          </a:xfrm>
          <a:prstGeom prst="rect">
            <a:avLst/>
          </a:prstGeom>
          <a:noFill/>
        </p:spPr>
        <p:txBody>
          <a:bodyPr wrap="square" anchor="t">
            <a:spAutoFit/>
          </a:bodyPr>
          <a:lstStyle/>
          <a:p>
            <a:pPr algn="ctr">
              <a:spcAft>
                <a:spcPts val="400"/>
              </a:spcAft>
            </a:pPr>
            <a:r>
              <a:rPr sz="1200" b="0">
                <a:solidFill>
                  <a:srgbClr val="161B26"/>
                </a:solidFill>
                <a:latin typeface="Arial"/>
              </a:rPr>
              <a:t>2 · AI assistant: Uses tools or your documents when asked; you drive every step</a:t>
            </a:r>
          </a:p>
        </p:txBody>
      </p:sp>
      <p:sp>
        <p:nvSpPr>
          <p:cNvPr id="21" name="TextBox 20"/>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2" name="Rectangle 21"/>
          <p:cNvSpPr/>
          <p:nvPr/>
        </p:nvSpPr>
        <p:spPr>
          <a:xfrm>
            <a:off x="6231636"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240280"/>
            <a:ext cx="24528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01459"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014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6359652" y="3483864"/>
            <a:ext cx="2196846" cy="1371600"/>
          </a:xfrm>
          <a:prstGeom prst="rect">
            <a:avLst/>
          </a:prstGeom>
          <a:noFill/>
        </p:spPr>
        <p:txBody>
          <a:bodyPr wrap="square" anchor="t">
            <a:spAutoFit/>
          </a:bodyPr>
          <a:lstStyle/>
          <a:p>
            <a:pPr algn="ctr">
              <a:spcAft>
                <a:spcPts val="400"/>
              </a:spcAft>
            </a:pPr>
            <a:r>
              <a:rPr sz="1200" b="0">
                <a:solidFill>
                  <a:srgbClr val="161B26"/>
                </a:solidFill>
                <a:latin typeface="Arial"/>
              </a:rPr>
              <a:t>3 · AI agent: Given a goal, plans and calls tools in a loop; can run always-on</a:t>
            </a:r>
          </a:p>
        </p:txBody>
      </p:sp>
      <p:sp>
        <p:nvSpPr>
          <p:cNvPr id="27" name="TextBox 26"/>
          <p:cNvSpPr txBox="1"/>
          <p:nvPr/>
        </p:nvSpPr>
        <p:spPr>
          <a:xfrm>
            <a:off x="8666226"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8" name="Rectangle 27"/>
          <p:cNvSpPr/>
          <p:nvPr/>
        </p:nvSpPr>
        <p:spPr>
          <a:xfrm>
            <a:off x="8958834" y="2240280"/>
            <a:ext cx="24528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958834" y="2240280"/>
            <a:ext cx="245287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828657"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2865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9086850" y="3483864"/>
            <a:ext cx="2196846" cy="1371600"/>
          </a:xfrm>
          <a:prstGeom prst="rect">
            <a:avLst/>
          </a:prstGeom>
          <a:noFill/>
        </p:spPr>
        <p:txBody>
          <a:bodyPr wrap="square" anchor="t">
            <a:spAutoFit/>
          </a:bodyPr>
          <a:lstStyle/>
          <a:p>
            <a:pPr algn="ctr">
              <a:spcAft>
                <a:spcPts val="400"/>
              </a:spcAft>
            </a:pPr>
            <a:r>
              <a:rPr sz="1200" b="0">
                <a:solidFill>
                  <a:srgbClr val="161B26"/>
                </a:solidFill>
                <a:latin typeface="Arial"/>
              </a:rPr>
              <a:t>4 · Multi-agent agentic system: Orchestrator plus specialist agents, shared memory, debate and risk checks</a:t>
            </a:r>
          </a:p>
        </p:txBody>
      </p:sp>
      <p:sp>
        <p:nvSpPr>
          <p:cNvPr id="33" name="Rectangle 32"/>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25780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Autonomy rises left to right - and so does the need for hard limits and human oversight.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MULTI-AGENT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Roles in a Multi-Agent Trading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Fundamental Analyst</a:t>
            </a:r>
          </a:p>
          <a:p>
            <a:pPr algn="l">
              <a:spcAft>
                <a:spcPts val="300"/>
              </a:spcAft>
            </a:pPr>
            <a:r>
              <a:rPr sz="1000" b="0">
                <a:solidFill>
                  <a:srgbClr val="5B6372"/>
                </a:solidFill>
                <a:latin typeface="Arial"/>
              </a:rPr>
              <a:t>Reads filings, earnings and balance sheets to judge intrinsic value</a:t>
            </a:r>
          </a:p>
        </p:txBody>
      </p:sp>
      <p:sp>
        <p:nvSpPr>
          <p:cNvPr id="15" name="Rectangle 14"/>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Technical Analyst</a:t>
            </a:r>
          </a:p>
          <a:p>
            <a:pPr algn="l">
              <a:spcAft>
                <a:spcPts val="300"/>
              </a:spcAft>
            </a:pPr>
            <a:r>
              <a:rPr sz="1000" b="0">
                <a:solidFill>
                  <a:srgbClr val="5B6372"/>
                </a:solidFill>
                <a:latin typeface="Arial"/>
              </a:rPr>
              <a:t>Reads price, volume and indicators such as MACD and RSI</a:t>
            </a:r>
          </a:p>
        </p:txBody>
      </p:sp>
      <p:sp>
        <p:nvSpPr>
          <p:cNvPr id="20" name="Rectangle 19"/>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063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Sentiment Analyst</a:t>
            </a:r>
          </a:p>
          <a:p>
            <a:pPr algn="l">
              <a:spcAft>
                <a:spcPts val="300"/>
              </a:spcAft>
            </a:pPr>
            <a:r>
              <a:rPr sz="1000" b="0">
                <a:solidFill>
                  <a:srgbClr val="5B6372"/>
                </a:solidFill>
                <a:latin typeface="Arial"/>
              </a:rPr>
              <a:t>Gauges mood from social media, analyst ratings and options flow</a:t>
            </a:r>
          </a:p>
        </p:txBody>
      </p:sp>
      <p:sp>
        <p:nvSpPr>
          <p:cNvPr id="25" name="Rectangle 24"/>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063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News Analyst</a:t>
            </a:r>
          </a:p>
          <a:p>
            <a:pPr algn="l">
              <a:spcAft>
                <a:spcPts val="300"/>
              </a:spcAft>
            </a:pPr>
            <a:r>
              <a:rPr sz="1000" b="0">
                <a:solidFill>
                  <a:srgbClr val="5B6372"/>
                </a:solidFill>
                <a:latin typeface="Arial"/>
              </a:rPr>
              <a:t>Tracks news wires, press releases and macro events</a:t>
            </a:r>
          </a:p>
        </p:txBody>
      </p:sp>
      <p:sp>
        <p:nvSpPr>
          <p:cNvPr id="30" name="Rectangle 29"/>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215384"/>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Bull / Bear Researchers</a:t>
            </a:r>
          </a:p>
          <a:p>
            <a:pPr algn="l">
              <a:spcAft>
                <a:spcPts val="300"/>
              </a:spcAft>
            </a:pPr>
            <a:r>
              <a:rPr sz="1000" b="0">
                <a:solidFill>
                  <a:srgbClr val="5B6372"/>
                </a:solidFill>
                <a:latin typeface="Arial"/>
              </a:rPr>
              <a:t>Argue for and against the trade so weak ideas are challenged</a:t>
            </a:r>
          </a:p>
        </p:txBody>
      </p:sp>
      <p:sp>
        <p:nvSpPr>
          <p:cNvPr id="35" name="Rectangle 34"/>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215384"/>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Trader</a:t>
            </a:r>
          </a:p>
          <a:p>
            <a:pPr algn="l">
              <a:spcAft>
                <a:spcPts val="300"/>
              </a:spcAft>
            </a:pPr>
            <a:r>
              <a:rPr sz="1000" b="0">
                <a:solidFill>
                  <a:srgbClr val="5B6372"/>
                </a:solidFill>
                <a:latin typeface="Arial"/>
              </a:rPr>
              <a:t>Combines the reports into a buy, sell or hold call with timing and size</a:t>
            </a:r>
          </a:p>
        </p:txBody>
      </p:sp>
      <p:sp>
        <p:nvSpPr>
          <p:cNvPr id="40" name="Rectangle 39"/>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4" name="TextBox 43"/>
          <p:cNvSpPr txBox="1"/>
          <p:nvPr/>
        </p:nvSpPr>
        <p:spPr>
          <a:xfrm>
            <a:off x="1764792" y="536752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Risk Manager</a:t>
            </a:r>
          </a:p>
          <a:p>
            <a:pPr algn="l">
              <a:spcAft>
                <a:spcPts val="300"/>
              </a:spcAft>
            </a:pPr>
            <a:r>
              <a:rPr sz="1000" b="0">
                <a:solidFill>
                  <a:srgbClr val="5B6372"/>
                </a:solidFill>
                <a:latin typeface="Arial"/>
              </a:rPr>
              <a:t>Checks volatility, liquidity, exposure and drawdown limits</a:t>
            </a:r>
          </a:p>
        </p:txBody>
      </p:sp>
      <p:sp>
        <p:nvSpPr>
          <p:cNvPr id="45" name="Rectangle 44"/>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87668"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9" name="TextBox 48"/>
          <p:cNvSpPr txBox="1"/>
          <p:nvPr/>
        </p:nvSpPr>
        <p:spPr>
          <a:xfrm>
            <a:off x="7219188" y="536752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Portfolio Manager</a:t>
            </a:r>
          </a:p>
          <a:p>
            <a:pPr algn="l">
              <a:spcAft>
                <a:spcPts val="300"/>
              </a:spcAft>
            </a:pPr>
            <a:r>
              <a:rPr sz="1000" b="0">
                <a:solidFill>
                  <a:srgbClr val="5B6372"/>
                </a:solidFill>
                <a:latin typeface="Arial"/>
              </a:rPr>
              <a:t>Approves or rejects the proposal and fits it into the whole portfolio</a:t>
            </a:r>
          </a:p>
        </p:txBody>
      </p:sp>
      <p:sp>
        <p:nvSpPr>
          <p:cNvPr id="50" name="TextBox 4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1" name="TextBox 5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MULTI-AGENT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Stock-Trading Agent Frameworks (1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731520"/>
          </a:xfrm>
          <a:prstGeom prst="rect">
            <a:avLst/>
          </a:prstGeom>
          <a:noFill/>
        </p:spPr>
        <p:txBody>
          <a:bodyPr wrap="square" anchor="ctr">
            <a:spAutoFit/>
          </a:bodyPr>
          <a:lstStyle/>
          <a:p>
            <a:pPr algn="l">
              <a:spcAft>
                <a:spcPts val="300"/>
              </a:spcAft>
            </a:pPr>
            <a:r>
              <a:rPr sz="1350" b="1">
                <a:solidFill>
                  <a:srgbClr val="161B26"/>
                </a:solidFill>
                <a:latin typeface="Arial"/>
              </a:rPr>
              <a:t>TradingAgents (Xiao et al., 2024)</a:t>
            </a:r>
          </a:p>
          <a:p>
            <a:pPr algn="l">
              <a:spcAft>
                <a:spcPts val="300"/>
              </a:spcAft>
            </a:pPr>
            <a:r>
              <a:rPr sz="950" b="0">
                <a:solidFill>
                  <a:srgbClr val="5B6372"/>
                </a:solidFill>
                <a:latin typeface="Arial"/>
              </a:rPr>
              <a:t>Simulated stock-trading firm: fundamental, sentiment, news and technical analysts, bull/bear debate, trader, risk team</a:t>
            </a:r>
          </a:p>
        </p:txBody>
      </p:sp>
      <p:sp>
        <p:nvSpPr>
          <p:cNvPr id="15" name="Rectangle 14"/>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063240"/>
            <a:ext cx="9427464" cy="731520"/>
          </a:xfrm>
          <a:prstGeom prst="rect">
            <a:avLst/>
          </a:prstGeom>
          <a:noFill/>
        </p:spPr>
        <p:txBody>
          <a:bodyPr wrap="square" anchor="ctr">
            <a:spAutoFit/>
          </a:bodyPr>
          <a:lstStyle/>
          <a:p>
            <a:pPr algn="l">
              <a:spcAft>
                <a:spcPts val="300"/>
              </a:spcAft>
            </a:pPr>
            <a:r>
              <a:rPr sz="1350" b="1">
                <a:solidFill>
                  <a:srgbClr val="161B26"/>
                </a:solidFill>
                <a:latin typeface="Arial"/>
              </a:rPr>
              <a:t>FinMem (Yu et al., 2023)</a:t>
            </a:r>
          </a:p>
          <a:p>
            <a:pPr algn="l">
              <a:spcAft>
                <a:spcPts val="300"/>
              </a:spcAft>
            </a:pPr>
            <a:r>
              <a:rPr sz="950" b="0">
                <a:solidFill>
                  <a:srgbClr val="5B6372"/>
                </a:solidFill>
                <a:latin typeface="Arial"/>
              </a:rPr>
              <a:t>LLM trading agent with profiling and layered memory making Buy / Sell / Hold decisions on individual stocks</a:t>
            </a:r>
          </a:p>
        </p:txBody>
      </p:sp>
      <p:sp>
        <p:nvSpPr>
          <p:cNvPr id="20" name="Rectangle 19"/>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9427464" cy="731520"/>
          </a:xfrm>
          <a:prstGeom prst="rect">
            <a:avLst/>
          </a:prstGeom>
          <a:noFill/>
        </p:spPr>
        <p:txBody>
          <a:bodyPr wrap="square" anchor="ctr">
            <a:spAutoFit/>
          </a:bodyPr>
          <a:lstStyle/>
          <a:p>
            <a:pPr algn="l">
              <a:spcAft>
                <a:spcPts val="300"/>
              </a:spcAft>
            </a:pPr>
            <a:r>
              <a:rPr sz="1350" b="1">
                <a:solidFill>
                  <a:srgbClr val="161B26"/>
                </a:solidFill>
                <a:latin typeface="Arial"/>
              </a:rPr>
              <a:t>FinAgent (Zhang et al., 2024)</a:t>
            </a:r>
          </a:p>
          <a:p>
            <a:pPr algn="l">
              <a:spcAft>
                <a:spcPts val="300"/>
              </a:spcAft>
            </a:pPr>
            <a:r>
              <a:rPr sz="950" b="0">
                <a:solidFill>
                  <a:srgbClr val="5B6372"/>
                </a:solidFill>
                <a:latin typeface="Arial"/>
              </a:rPr>
              <a:t>Multimodal agent reading prices, news and chart images, with dual-level reflection; tested on stocks and crypto</a:t>
            </a:r>
          </a:p>
        </p:txBody>
      </p:sp>
      <p:sp>
        <p:nvSpPr>
          <p:cNvPr id="25" name="Rectangle 24"/>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5367528"/>
            <a:ext cx="9427464" cy="731520"/>
          </a:xfrm>
          <a:prstGeom prst="rect">
            <a:avLst/>
          </a:prstGeom>
          <a:noFill/>
        </p:spPr>
        <p:txBody>
          <a:bodyPr wrap="square" anchor="ctr">
            <a:spAutoFit/>
          </a:bodyPr>
          <a:lstStyle/>
          <a:p>
            <a:pPr algn="l">
              <a:spcAft>
                <a:spcPts val="300"/>
              </a:spcAft>
            </a:pPr>
            <a:r>
              <a:rPr sz="1350" b="1">
                <a:solidFill>
                  <a:srgbClr val="161B26"/>
                </a:solidFill>
                <a:latin typeface="Arial"/>
              </a:rPr>
              <a:t>StockAgent (2024)</a:t>
            </a:r>
          </a:p>
          <a:p>
            <a:pPr algn="l">
              <a:spcAft>
                <a:spcPts val="300"/>
              </a:spcAft>
            </a:pPr>
            <a:r>
              <a:rPr sz="950" b="0">
                <a:solidFill>
                  <a:srgbClr val="5B6372"/>
                </a:solidFill>
                <a:latin typeface="Arial"/>
              </a:rPr>
              <a:t>LLM investor agents trade a simulated stock market under macro, policy and event shocks; avoids test-set leakage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MULTI-AGENT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Stock-Trading Agent Frameworks (2 of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1115568"/>
          </a:xfrm>
          <a:prstGeom prst="rect">
            <a:avLst/>
          </a:prstGeom>
          <a:noFill/>
        </p:spPr>
        <p:txBody>
          <a:bodyPr wrap="square" anchor="ctr">
            <a:spAutoFit/>
          </a:bodyPr>
          <a:lstStyle/>
          <a:p>
            <a:pPr algn="l">
              <a:spcAft>
                <a:spcPts val="300"/>
              </a:spcAft>
            </a:pPr>
            <a:r>
              <a:rPr sz="1350" b="1">
                <a:solidFill>
                  <a:srgbClr val="161B26"/>
                </a:solidFill>
                <a:latin typeface="Arial"/>
              </a:rPr>
              <a:t>QuantAgent (2025)</a:t>
            </a:r>
          </a:p>
          <a:p>
            <a:pPr algn="l">
              <a:spcAft>
                <a:spcPts val="300"/>
              </a:spcAft>
            </a:pPr>
            <a:r>
              <a:rPr sz="950" b="0">
                <a:solidFill>
                  <a:srgbClr val="5B6372"/>
                </a:solidFill>
                <a:latin typeface="Arial"/>
              </a:rPr>
              <a:t>Price-driven multi-agent system for high-frequency trading: Indicator, Pattern, Trend and Risk agents</a:t>
            </a:r>
          </a:p>
        </p:txBody>
      </p:sp>
      <p:sp>
        <p:nvSpPr>
          <p:cNvPr id="15" name="Rectangle 14"/>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447288"/>
            <a:ext cx="9427464" cy="1115568"/>
          </a:xfrm>
          <a:prstGeom prst="rect">
            <a:avLst/>
          </a:prstGeom>
          <a:noFill/>
        </p:spPr>
        <p:txBody>
          <a:bodyPr wrap="square" anchor="ctr">
            <a:spAutoFit/>
          </a:bodyPr>
          <a:lstStyle/>
          <a:p>
            <a:pPr algn="l">
              <a:spcAft>
                <a:spcPts val="300"/>
              </a:spcAft>
            </a:pPr>
            <a:r>
              <a:rPr sz="1350" b="1">
                <a:solidFill>
                  <a:srgbClr val="161B26"/>
                </a:solidFill>
                <a:latin typeface="Arial"/>
              </a:rPr>
              <a:t>AI Hedge Fund (open source)</a:t>
            </a:r>
          </a:p>
          <a:p>
            <a:pPr algn="l">
              <a:spcAft>
                <a:spcPts val="300"/>
              </a:spcAft>
            </a:pPr>
            <a:r>
              <a:rPr sz="950" b="0">
                <a:solidFill>
                  <a:srgbClr val="5B6372"/>
                </a:solidFill>
                <a:latin typeface="Arial"/>
              </a:rPr>
              <a:t>Investor-persona agents (e.g. Warren Buffett), a risk manager and a portfolio manager decide trades for chosen tickers</a:t>
            </a:r>
          </a:p>
        </p:txBody>
      </p:sp>
      <p:sp>
        <p:nvSpPr>
          <p:cNvPr id="20" name="Rectangle 19"/>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983480"/>
            <a:ext cx="9427464" cy="1115568"/>
          </a:xfrm>
          <a:prstGeom prst="rect">
            <a:avLst/>
          </a:prstGeom>
          <a:noFill/>
        </p:spPr>
        <p:txBody>
          <a:bodyPr wrap="square" anchor="ctr">
            <a:spAutoFit/>
          </a:bodyPr>
          <a:lstStyle/>
          <a:p>
            <a:pPr algn="l">
              <a:spcAft>
                <a:spcPts val="300"/>
              </a:spcAft>
            </a:pPr>
            <a:r>
              <a:rPr sz="1350" b="1">
                <a:solidFill>
                  <a:srgbClr val="161B26"/>
                </a:solidFill>
                <a:latin typeface="Arial"/>
              </a:rPr>
              <a:t>Agentic Trading Lab (Open-Finance-Lab)</a:t>
            </a:r>
          </a:p>
          <a:p>
            <a:pPr algn="l">
              <a:spcAft>
                <a:spcPts val="300"/>
              </a:spcAft>
            </a:pPr>
            <a:r>
              <a:rPr sz="950" b="0">
                <a:solidFill>
                  <a:srgbClr val="5B6372"/>
                </a:solidFill>
                <a:latin typeface="Arial"/>
              </a:rPr>
              <a:t>Agent-run stock portfolios with backtests and paper trading through the Alpaca API</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 · GOVERNANCE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Risks and Controls for AI Agents in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What goes wrong</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Control</a:t>
            </a:r>
          </a:p>
        </p:txBody>
      </p:sp>
      <p:sp>
        <p:nvSpPr>
          <p:cNvPr id="14" name="Rectangle 13"/>
          <p:cNvSpPr/>
          <p:nvPr/>
        </p:nvSpPr>
        <p:spPr>
          <a:xfrm>
            <a:off x="777240" y="2286000"/>
            <a:ext cx="10634472" cy="6355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Hallucination</a:t>
            </a:r>
          </a:p>
        </p:txBody>
      </p:sp>
      <p:sp>
        <p:nvSpPr>
          <p:cNvPr id="16" name="TextBox 15"/>
          <p:cNvSpPr txBox="1"/>
          <p:nvPr/>
        </p:nvSpPr>
        <p:spPr>
          <a:xfrm>
            <a:off x="3017520" y="228600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An LLM states a wrong earnings figure or invents a signal with confidence</a:t>
            </a:r>
          </a:p>
        </p:txBody>
      </p:sp>
      <p:sp>
        <p:nvSpPr>
          <p:cNvPr id="17" name="TextBox 16"/>
          <p:cNvSpPr txBox="1"/>
          <p:nvPr/>
        </p:nvSpPr>
        <p:spPr>
          <a:xfrm>
            <a:off x="7260336" y="228600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Ground answers in tool or RAG data, log the reasoning, review unusual calls</a:t>
            </a:r>
          </a:p>
        </p:txBody>
      </p:sp>
      <p:sp>
        <p:nvSpPr>
          <p:cNvPr id="18" name="TextBox 17"/>
          <p:cNvSpPr txBox="1"/>
          <p:nvPr/>
        </p:nvSpPr>
        <p:spPr>
          <a:xfrm>
            <a:off x="886968" y="294894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Prompt injection</a:t>
            </a:r>
          </a:p>
        </p:txBody>
      </p:sp>
      <p:sp>
        <p:nvSpPr>
          <p:cNvPr id="19" name="TextBox 18"/>
          <p:cNvSpPr txBox="1"/>
          <p:nvPr/>
        </p:nvSpPr>
        <p:spPr>
          <a:xfrm>
            <a:off x="3017520" y="294894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Malicious text in news, web pages or files hijacks the agent's instructions</a:t>
            </a:r>
          </a:p>
        </p:txBody>
      </p:sp>
      <p:sp>
        <p:nvSpPr>
          <p:cNvPr id="20" name="TextBox 19"/>
          <p:cNvSpPr txBox="1"/>
          <p:nvPr/>
        </p:nvSpPr>
        <p:spPr>
          <a:xfrm>
            <a:off x="7260336" y="294894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Input and output guardrails, least-privilege API keys, no secrets in prompts</a:t>
            </a:r>
          </a:p>
        </p:txBody>
      </p:sp>
      <p:sp>
        <p:nvSpPr>
          <p:cNvPr id="21" name="Rectangle 20"/>
          <p:cNvSpPr/>
          <p:nvPr/>
        </p:nvSpPr>
        <p:spPr>
          <a:xfrm>
            <a:off x="777240" y="3611880"/>
            <a:ext cx="10634472" cy="6355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61188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Overtrading and runaway loops</a:t>
            </a:r>
          </a:p>
        </p:txBody>
      </p:sp>
      <p:sp>
        <p:nvSpPr>
          <p:cNvPr id="23" name="TextBox 22"/>
          <p:cNvSpPr txBox="1"/>
          <p:nvPr/>
        </p:nvSpPr>
        <p:spPr>
          <a:xfrm>
            <a:off x="3017520" y="361188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Agents trade too often or amplify each other, compounding losses</a:t>
            </a:r>
          </a:p>
        </p:txBody>
      </p:sp>
      <p:sp>
        <p:nvSpPr>
          <p:cNvPr id="24" name="TextBox 23"/>
          <p:cNvSpPr txBox="1"/>
          <p:nvPr/>
        </p:nvSpPr>
        <p:spPr>
          <a:xfrm>
            <a:off x="7260336" y="361188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Order and position caps, daily-loss circuit breaker, kill switch</a:t>
            </a:r>
          </a:p>
        </p:txBody>
      </p:sp>
      <p:sp>
        <p:nvSpPr>
          <p:cNvPr id="25" name="TextBox 24"/>
          <p:cNvSpPr txBox="1"/>
          <p:nvPr/>
        </p:nvSpPr>
        <p:spPr>
          <a:xfrm>
            <a:off x="886968" y="427482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Model and backtest risk</a:t>
            </a:r>
          </a:p>
        </p:txBody>
      </p:sp>
      <p:sp>
        <p:nvSpPr>
          <p:cNvPr id="26" name="TextBox 25"/>
          <p:cNvSpPr txBox="1"/>
          <p:nvPr/>
        </p:nvSpPr>
        <p:spPr>
          <a:xfrm>
            <a:off x="3017520" y="427482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Overfitting, look-ahead bias and regime change: strong backtests, weak live results</a:t>
            </a:r>
          </a:p>
        </p:txBody>
      </p:sp>
      <p:sp>
        <p:nvSpPr>
          <p:cNvPr id="27" name="TextBox 26"/>
          <p:cNvSpPr txBox="1"/>
          <p:nvPr/>
        </p:nvSpPr>
        <p:spPr>
          <a:xfrm>
            <a:off x="7260336" y="427482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Walk-forward tests, paper trade first, monitor drift and costs</a:t>
            </a:r>
          </a:p>
        </p:txBody>
      </p:sp>
      <p:sp>
        <p:nvSpPr>
          <p:cNvPr id="28" name="Rectangle 27"/>
          <p:cNvSpPr/>
          <p:nvPr/>
        </p:nvSpPr>
        <p:spPr>
          <a:xfrm>
            <a:off x="777240" y="4937760"/>
            <a:ext cx="10634472" cy="6355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93776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Accountability</a:t>
            </a:r>
          </a:p>
        </p:txBody>
      </p:sp>
      <p:sp>
        <p:nvSpPr>
          <p:cNvPr id="30" name="TextBox 29"/>
          <p:cNvSpPr txBox="1"/>
          <p:nvPr/>
        </p:nvSpPr>
        <p:spPr>
          <a:xfrm>
            <a:off x="3017520" y="493776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Unclear who answers for an autonomous agent's trade or a vendor's AI</a:t>
            </a:r>
          </a:p>
        </p:txBody>
      </p:sp>
      <p:sp>
        <p:nvSpPr>
          <p:cNvPr id="31" name="TextBox 30"/>
          <p:cNvSpPr txBox="1"/>
          <p:nvPr/>
        </p:nvSpPr>
        <p:spPr>
          <a:xfrm>
            <a:off x="7260336" y="493776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The firm stays accountable: human sign-off, audit trails, clear owners</a:t>
            </a:r>
          </a:p>
        </p:txBody>
      </p:sp>
      <p:sp>
        <p:nvSpPr>
          <p:cNvPr id="32" name="TextBox 31"/>
          <p:cNvSpPr txBox="1"/>
          <p:nvPr/>
        </p:nvSpPr>
        <p:spPr>
          <a:xfrm>
            <a:off x="886968" y="5600700"/>
            <a:ext cx="1965960" cy="635508"/>
          </a:xfrm>
          <a:prstGeom prst="rect">
            <a:avLst/>
          </a:prstGeom>
          <a:noFill/>
        </p:spPr>
        <p:txBody>
          <a:bodyPr wrap="square" anchor="ctr">
            <a:spAutoFit/>
          </a:bodyPr>
          <a:lstStyle/>
          <a:p>
            <a:pPr algn="l">
              <a:spcAft>
                <a:spcPts val="400"/>
              </a:spcAft>
            </a:pPr>
            <a:r>
              <a:rPr sz="1150" b="1">
                <a:solidFill>
                  <a:srgbClr val="161B26"/>
                </a:solidFill>
                <a:latin typeface="Arial"/>
              </a:rPr>
              <a:t>Regulation (MAS)</a:t>
            </a:r>
          </a:p>
        </p:txBody>
      </p:sp>
      <p:sp>
        <p:nvSpPr>
          <p:cNvPr id="33" name="TextBox 32"/>
          <p:cNvSpPr txBox="1"/>
          <p:nvPr/>
        </p:nvSpPr>
        <p:spPr>
          <a:xfrm>
            <a:off x="3017520" y="5600700"/>
            <a:ext cx="4014216" cy="635508"/>
          </a:xfrm>
          <a:prstGeom prst="rect">
            <a:avLst/>
          </a:prstGeom>
          <a:noFill/>
        </p:spPr>
        <p:txBody>
          <a:bodyPr wrap="square" anchor="ctr">
            <a:spAutoFit/>
          </a:bodyPr>
          <a:lstStyle/>
          <a:p>
            <a:pPr algn="l">
              <a:spcAft>
                <a:spcPts val="400"/>
              </a:spcAft>
            </a:pPr>
            <a:r>
              <a:rPr sz="1050" b="0">
                <a:solidFill>
                  <a:srgbClr val="161B26"/>
                </a:solidFill>
                <a:latin typeface="Arial"/>
              </a:rPr>
              <a:t>FEAT principles (2018) and MAS AI Risk Management Guidelines (issued Oct 2026)</a:t>
            </a:r>
          </a:p>
        </p:txBody>
      </p:sp>
      <p:sp>
        <p:nvSpPr>
          <p:cNvPr id="34" name="TextBox 33"/>
          <p:cNvSpPr txBox="1"/>
          <p:nvPr/>
        </p:nvSpPr>
        <p:spPr>
          <a:xfrm>
            <a:off x="7260336" y="5600700"/>
            <a:ext cx="4059936" cy="635508"/>
          </a:xfrm>
          <a:prstGeom prst="rect">
            <a:avLst/>
          </a:prstGeom>
          <a:noFill/>
        </p:spPr>
        <p:txBody>
          <a:bodyPr wrap="square" anchor="ctr">
            <a:spAutoFit/>
          </a:bodyPr>
          <a:lstStyle/>
          <a:p>
            <a:pPr algn="l">
              <a:spcAft>
                <a:spcPts val="400"/>
              </a:spcAft>
            </a:pPr>
            <a:r>
              <a:rPr sz="1050" b="0">
                <a:solidFill>
                  <a:srgbClr val="161B26"/>
                </a:solidFill>
                <a:latin typeface="Arial"/>
              </a:rPr>
              <a:t>Board oversight, AI inventory, materiality assessment and lifecycle controls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K9</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Forms of Data within Financial Services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K9</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Market data</a:t>
            </a:r>
          </a:p>
          <a:p>
            <a:pPr algn="l">
              <a:spcAft>
                <a:spcPts val="300"/>
              </a:spcAft>
            </a:pPr>
            <a:r>
              <a:rPr sz="1150" b="0">
                <a:solidFill>
                  <a:srgbClr val="5B6372"/>
                </a:solidFill>
                <a:latin typeface="Arial"/>
              </a:rPr>
              <a:t>OHLCV bars, quotes, trades, order-book depth — Alpaca serves bars, quotes, trades, news.</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Reference &amp; corporate actions</a:t>
            </a:r>
          </a:p>
          <a:p>
            <a:pPr algn="l">
              <a:spcAft>
                <a:spcPts val="300"/>
              </a:spcAft>
            </a:pPr>
            <a:r>
              <a:rPr sz="1150" b="0">
                <a:solidFill>
                  <a:srgbClr val="5B6372"/>
                </a:solidFill>
                <a:latin typeface="Arial"/>
              </a:rPr>
              <a:t>Symbols, calendars, splits, dividends — unadjusted splits fake a crash.</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Fundamental &amp; macro</a:t>
            </a:r>
          </a:p>
          <a:p>
            <a:pPr algn="l">
              <a:spcAft>
                <a:spcPts val="300"/>
              </a:spcAft>
            </a:pPr>
            <a:r>
              <a:rPr sz="1150" b="0">
                <a:solidFill>
                  <a:srgbClr val="5B6372"/>
                </a:solidFill>
                <a:latin typeface="Arial"/>
              </a:rPr>
              <a:t>Statements, ratios, earnings; rates, inflation, central-bank decisions.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Alternative data</a:t>
            </a:r>
          </a:p>
          <a:p>
            <a:pPr algn="l">
              <a:spcAft>
                <a:spcPts val="300"/>
              </a:spcAft>
            </a:pPr>
            <a:r>
              <a:rPr sz="1150" b="0">
                <a:solidFill>
                  <a:srgbClr val="5B6372"/>
                </a:solidFill>
                <a:latin typeface="Arial"/>
              </a:rPr>
              <a:t>News and social sentiment, web traffic, satellite, card spend, ESG.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Big Data in Trading — the Four Vs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A6</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Volume</a:t>
            </a:r>
          </a:p>
          <a:p>
            <a:pPr algn="l">
              <a:spcAft>
                <a:spcPts val="300"/>
              </a:spcAft>
            </a:pPr>
            <a:r>
              <a:rPr sz="1150" b="0">
                <a:solidFill>
                  <a:srgbClr val="5B6372"/>
                </a:solidFill>
                <a:latin typeface="Arial"/>
              </a:rPr>
              <a:t>Tick data runs to billions of rows per year for one exchange.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Velocity</a:t>
            </a:r>
          </a:p>
          <a:p>
            <a:pPr algn="l">
              <a:spcAft>
                <a:spcPts val="300"/>
              </a:spcAft>
            </a:pPr>
            <a:r>
              <a:rPr sz="1150" b="0">
                <a:solidFill>
                  <a:srgbClr val="5B6372"/>
                </a:solidFill>
                <a:latin typeface="Arial"/>
              </a:rPr>
              <a:t>Streaming quotes and news arrive in milliseconds.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Variety</a:t>
            </a:r>
          </a:p>
          <a:p>
            <a:pPr algn="l">
              <a:spcAft>
                <a:spcPts val="300"/>
              </a:spcAft>
            </a:pPr>
            <a:r>
              <a:rPr sz="1150" b="0">
                <a:solidFill>
                  <a:srgbClr val="5B6372"/>
                </a:solidFill>
                <a:latin typeface="Arial"/>
              </a:rPr>
              <a:t>Prices, text, images, transcripts — structured and unstructured.</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Veracity</a:t>
            </a:r>
          </a:p>
          <a:p>
            <a:pPr algn="l">
              <a:spcAft>
                <a:spcPts val="300"/>
              </a:spcAft>
            </a:pPr>
            <a:r>
              <a:rPr sz="1150" b="0">
                <a:solidFill>
                  <a:srgbClr val="5B6372"/>
                </a:solidFill>
                <a:latin typeface="Arial"/>
              </a:rPr>
              <a:t>Bad ticks, survivorship, restatements — verify before you trust.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Big Data Applications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A6</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Execution analytics</a:t>
            </a:r>
          </a:p>
          <a:p>
            <a:pPr algn="l">
              <a:spcAft>
                <a:spcPts val="300"/>
              </a:spcAft>
            </a:pPr>
            <a:r>
              <a:rPr sz="1150" b="0">
                <a:solidFill>
                  <a:srgbClr val="5B6372"/>
                </a:solidFill>
                <a:latin typeface="Arial"/>
              </a:rPr>
              <a:t>Tick and quote data to measure and cut slippage.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Sentiment and event trading</a:t>
            </a:r>
          </a:p>
          <a:p>
            <a:pPr algn="l">
              <a:spcAft>
                <a:spcPts val="300"/>
              </a:spcAft>
            </a:pPr>
            <a:r>
              <a:rPr sz="1150" b="0">
                <a:solidFill>
                  <a:srgbClr val="5B6372"/>
                </a:solidFill>
                <a:latin typeface="Arial"/>
              </a:rPr>
              <a:t>News and social text scored by NLP and LLMs.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Regime detection</a:t>
            </a:r>
          </a:p>
          <a:p>
            <a:pPr algn="l">
              <a:spcAft>
                <a:spcPts val="300"/>
              </a:spcAft>
            </a:pPr>
            <a:r>
              <a:rPr sz="1150" b="0">
                <a:solidFill>
                  <a:srgbClr val="5B6372"/>
                </a:solidFill>
                <a:latin typeface="Arial"/>
              </a:rPr>
              <a:t>Cross-asset returns clustered into market states.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Surveillance and risk</a:t>
            </a:r>
          </a:p>
          <a:p>
            <a:pPr algn="l">
              <a:spcAft>
                <a:spcPts val="300"/>
              </a:spcAft>
            </a:pPr>
            <a:r>
              <a:rPr sz="1150" b="0">
                <a:solidFill>
                  <a:srgbClr val="5B6372"/>
                </a:solidFill>
                <a:latin typeface="Arial"/>
              </a:rPr>
              <a:t>Order and trade data scanned for market abuse; intraday risk.</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 Analytics and Modelling Use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K1</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Signal generation</a:t>
            </a:r>
          </a:p>
          <a:p>
            <a:pPr algn="l">
              <a:spcAft>
                <a:spcPts val="300"/>
              </a:spcAft>
            </a:pPr>
            <a:r>
              <a:rPr sz="1150" b="0">
                <a:solidFill>
                  <a:srgbClr val="5B6372"/>
                </a:solidFill>
                <a:latin typeface="Arial"/>
              </a:rPr>
              <a:t>Find repeatable return — judged by out-of-sample, net Sharpe.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Execution</a:t>
            </a:r>
          </a:p>
          <a:p>
            <a:pPr algn="l">
              <a:spcAft>
                <a:spcPts val="300"/>
              </a:spcAft>
            </a:pPr>
            <a:r>
              <a:rPr sz="1150" b="0">
                <a:solidFill>
                  <a:srgbClr val="5B6372"/>
                </a:solidFill>
                <a:latin typeface="Arial"/>
              </a:rPr>
              <a:t>VWAP / TWAP / shortfall — judged by slippage in basis points.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Risk forecasting &amp; sizing</a:t>
            </a:r>
          </a:p>
          <a:p>
            <a:pPr algn="l">
              <a:spcAft>
                <a:spcPts val="300"/>
              </a:spcAft>
            </a:pPr>
            <a:r>
              <a:rPr sz="1150" b="0">
                <a:solidFill>
                  <a:srgbClr val="5B6372"/>
                </a:solidFill>
                <a:latin typeface="Arial"/>
              </a:rPr>
              <a:t>Volatility and VaR models — judged by limit breaches.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Research at scale</a:t>
            </a:r>
          </a:p>
          <a:p>
            <a:pPr algn="l">
              <a:spcAft>
                <a:spcPts val="300"/>
              </a:spcAft>
            </a:pPr>
            <a:r>
              <a:rPr sz="1150" b="0">
                <a:solidFill>
                  <a:srgbClr val="5B6372"/>
                </a:solidFill>
                <a:latin typeface="Arial"/>
              </a:rPr>
              <a:t>LLMs read filings and news — judged by accuracy and hours saved.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Makes a Hypothesis Testable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A1</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Instrument and universe</a:t>
            </a:r>
          </a:p>
          <a:p>
            <a:pPr algn="l">
              <a:spcAft>
                <a:spcPts val="300"/>
              </a:spcAft>
            </a:pPr>
            <a:r>
              <a:rPr sz="1150" b="0">
                <a:solidFill>
                  <a:srgbClr val="5B6372"/>
                </a:solidFill>
                <a:latin typeface="Arial"/>
              </a:rPr>
              <a:t>e.g. SPY, daily bars, 2018 – 2025.</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Signal and holding period</a:t>
            </a:r>
          </a:p>
          <a:p>
            <a:pPr algn="l">
              <a:spcAft>
                <a:spcPts val="300"/>
              </a:spcAft>
            </a:pPr>
            <a:r>
              <a:rPr sz="1150" b="0">
                <a:solidFill>
                  <a:srgbClr val="5B6372"/>
                </a:solidFill>
                <a:latin typeface="Arial"/>
              </a:rPr>
              <a:t>e.g. three down closes in a row; hold 5 days.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Expected effect and benchmark</a:t>
            </a:r>
          </a:p>
          <a:p>
            <a:pPr algn="l">
              <a:spcAft>
                <a:spcPts val="300"/>
              </a:spcAft>
            </a:pPr>
            <a:r>
              <a:rPr sz="1150" b="0">
                <a:solidFill>
                  <a:srgbClr val="5B6372"/>
                </a:solidFill>
                <a:latin typeface="Arial"/>
              </a:rPr>
              <a:t>Forward return exceeds the unconditional 5-day return.</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Written BEFORE the test</a:t>
            </a:r>
          </a:p>
          <a:p>
            <a:pPr algn="l">
              <a:spcAft>
                <a:spcPts val="300"/>
              </a:spcAft>
            </a:pPr>
            <a:r>
              <a:rPr sz="1150" b="0">
                <a:solidFill>
                  <a:srgbClr val="5B6372"/>
                </a:solidFill>
                <a:latin typeface="Arial"/>
              </a:rPr>
              <a:t>H0, H1 and the significance level chosen first.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A1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Machine Learning Implementation Steps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F6FEB"/>
                </a:solidFill>
                <a:latin typeface="Arial"/>
              </a:rPr>
              <a:t>A1</a:t>
            </a:r>
          </a:p>
        </p:txBody>
      </p:sp>
      <p:sp>
        <p:nvSpPr>
          <p:cNvPr id="10" name="Rectangle 9"/>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92530"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Frame the problem and hypothesis</a:t>
            </a:r>
          </a:p>
        </p:txBody>
      </p:sp>
      <p:sp>
        <p:nvSpPr>
          <p:cNvPr id="15" name="TextBox 14"/>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16" name="Rectangle 15"/>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95372"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010662"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Collect and clean the data</a:t>
            </a:r>
          </a:p>
        </p:txBody>
      </p:sp>
      <p:sp>
        <p:nvSpPr>
          <p:cNvPr id="21" name="TextBox 20"/>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2" name="Rectangle 21"/>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13504"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828794"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Define target and features</a:t>
            </a:r>
          </a:p>
        </p:txBody>
      </p:sp>
      <p:sp>
        <p:nvSpPr>
          <p:cNvPr id="27" name="TextBox 26"/>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28" name="Rectangle 27"/>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1636"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46926"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Split by time; train and validate</a:t>
            </a:r>
          </a:p>
        </p:txBody>
      </p:sp>
      <p:sp>
        <p:nvSpPr>
          <p:cNvPr id="33" name="TextBox 32"/>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34" name="Rectangle 33"/>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49768"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465058"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Test out of sample</a:t>
            </a:r>
          </a:p>
        </p:txBody>
      </p:sp>
      <p:sp>
        <p:nvSpPr>
          <p:cNvPr id="39" name="TextBox 38"/>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1F6FEB"/>
                </a:solidFill>
                <a:latin typeface="Arial"/>
              </a:rPr>
              <a:t>▶</a:t>
            </a:r>
          </a:p>
        </p:txBody>
      </p:sp>
      <p:sp>
        <p:nvSpPr>
          <p:cNvPr id="40" name="Rectangle 39"/>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867900" y="2240280"/>
            <a:ext cx="154381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283190" y="2569464"/>
            <a:ext cx="713232" cy="71323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Paper trade, then review</a:t>
            </a:r>
          </a:p>
        </p:txBody>
      </p:sp>
      <p:sp>
        <p:nvSpPr>
          <p:cNvPr id="45" name="Rectangle 44"/>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7240" y="525780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A model that skips the out-of-sample test and the paper trade has not been tested.</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Pipeline Skeleton, Configuration and the Alpaca Paper Account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K5</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01</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Create the pipeline package and its config.yaml (universe, strategy parameters, risk limits, costs, secret names), build a validating configuration loader and a market-clock module, and run `python -m pipeline check` against the Alpaca paper account or the offline simulator.</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Set up Python and your AI coding assistant</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Store Alpaca PAPER keys outside the code</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Write the pipeline configuration</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configuration loader with safety validation</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the market clock for US and Singapore time</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The pipeline skeleton: config.yaml, risk limits and a verified Alpaca paper account (or simulator).</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Data-Validation Stage: Cross-Check Pipeline Bars against TradingView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A3  K5  K9</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02</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Read daily bars for SGX:D05 and NASDAQ:AAPL from the TradingView Data Window, record them, and build a validation stage that compares TradingView with the pipeline's raw and dividend-adjusted bars and writes a validation report.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the data-check panel to SGX:D05</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Repeat for NASDAQ:AAPL and switch the adjustment</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Record what TradingView shows</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validation stage</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validation stage</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data-validation report reconciling pipeline bars with TradingView for SGX:D05 and AAPL.</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02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02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2_validation.png"/>
          <p:cNvPicPr>
            <a:picLocks noChangeAspect="1"/>
          </p:cNvPicPr>
          <p:nvPr/>
        </p:nvPicPr>
        <p:blipFill>
          <a:blip r:embed="rId2"/>
          <a:stretch>
            <a:fillRect/>
          </a:stretch>
        </p:blipFill>
        <p:spPr>
          <a:xfrm>
            <a:off x="778611" y="1828800"/>
            <a:ext cx="10634472" cy="3517681"/>
          </a:xfrm>
          <a:prstGeom prst="rect">
            <a:avLst/>
          </a:prstGeom>
        </p:spPr>
      </p:pic>
      <p:sp>
        <p:nvSpPr>
          <p:cNvPr id="8" name="Rectangle 7"/>
          <p:cNvSpPr/>
          <p:nvPr/>
        </p:nvSpPr>
        <p:spPr>
          <a:xfrm>
            <a:off x="767638" y="1817827"/>
            <a:ext cx="10656417" cy="3539626"/>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492785"/>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492785"/>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492785"/>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Lab02-tradingview-charts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Ingestion Stage: Multi-Timeframe Bars, Headlines and Data Quality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A6  K9</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03</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`python -m pipeline ingest` to fetch and cache daily, weekly, monthly and hourly bars for the universe, run automated data-quality checks, ingest headlines as unstructured data, and describe the forms of data and the 3 Vs of big data.</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Understand how bars are requested</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cache and load_bars()</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automated data-quality checks</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Ingest an unstructured source: news headlines</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ingest run with the report</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ingestion stage caching multi-timeframe bars and headlines with automated data-quality checks.</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03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03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3_market_data.png"/>
          <p:cNvPicPr>
            <a:picLocks noChangeAspect="1"/>
          </p:cNvPicPr>
          <p:nvPr/>
        </p:nvPicPr>
        <p:blipFill>
          <a:blip r:embed="rId2"/>
          <a:stretch>
            <a:fillRect/>
          </a:stretch>
        </p:blipFill>
        <p:spPr>
          <a:xfrm>
            <a:off x="3102867" y="1828800"/>
            <a:ext cx="5985960" cy="3794760"/>
          </a:xfrm>
          <a:prstGeom prst="rect">
            <a:avLst/>
          </a:prstGeom>
        </p:spPr>
      </p:pic>
      <p:sp>
        <p:nvSpPr>
          <p:cNvPr id="8" name="Rectangle 7"/>
          <p:cNvSpPr/>
          <p:nvPr/>
        </p:nvSpPr>
        <p:spPr>
          <a:xfrm>
            <a:off x="3091894" y="1817827"/>
            <a:ext cx="6007905"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Lab03-alpaca-market-data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5B6372"/>
                </a:solidFill>
                <a:latin typeface="Arial"/>
              </a:rPr>
              <a:t>1 hour  ·  see you at 13:30</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Hypothesis Stage: from a Written Card to an Automated Statistical Test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A1  A6  K1</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04</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Write a falsifiable hypothesis card in YAML (H1, H0, signal known at the close, outcome, test, decision rule, big-data use case) and build `python -m pipeline hypothesis` to test it with a Welch t-test, a bootstrap confidence interval and a robustness grid.</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hypothesis card</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Write a card for your own idea</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test engine</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the robustness grid, chart and result file</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test on the desk's card</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hypothesis card and an automated statistical test of the SPY dip-after-streak hypothesis.</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15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04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04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4_hypothesis.png"/>
          <p:cNvPicPr>
            <a:picLocks noChangeAspect="1"/>
          </p:cNvPicPr>
          <p:nvPr/>
        </p:nvPicPr>
        <p:blipFill>
          <a:blip r:embed="rId2"/>
          <a:stretch>
            <a:fillRect/>
          </a:stretch>
        </p:blipFill>
        <p:spPr>
          <a:xfrm>
            <a:off x="2265950" y="1828800"/>
            <a:ext cx="7659793" cy="3794760"/>
          </a:xfrm>
          <a:prstGeom prst="rect">
            <a:avLst/>
          </a:prstGeom>
        </p:spPr>
      </p:pic>
      <p:sp>
        <p:nvSpPr>
          <p:cNvPr id="8" name="Rectangle 7"/>
          <p:cNvSpPr/>
          <p:nvPr/>
        </p:nvSpPr>
        <p:spPr>
          <a:xfrm>
            <a:off x="2254978" y="1817827"/>
            <a:ext cx="7681738"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Lab04-trading-hypothesis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WHAT YOU COVERED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1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91472" y="475488"/>
            <a:ext cx="1920240"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491472" y="475488"/>
            <a:ext cx="54864" cy="3108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91472" y="475488"/>
            <a:ext cx="1920240" cy="310896"/>
          </a:xfrm>
          <a:prstGeom prst="rect">
            <a:avLst/>
          </a:prstGeom>
          <a:noFill/>
        </p:spPr>
        <p:txBody>
          <a:bodyPr wrap="square" anchor="ctr">
            <a:spAutoFit/>
          </a:bodyPr>
          <a:lstStyle/>
          <a:p>
            <a:pPr algn="ctr">
              <a:spcAft>
                <a:spcPts val="400"/>
              </a:spcAft>
            </a:pPr>
            <a:r>
              <a:rPr sz="1100" b="1">
                <a:solidFill>
                  <a:srgbClr val="1F6FEB"/>
                </a:solidFill>
                <a:latin typeface="Arial"/>
              </a:rPr>
              <a:t>A1  A6  K1  K9</a:t>
            </a:r>
          </a:p>
        </p:txBody>
      </p:sp>
      <p:sp>
        <p:nvSpPr>
          <p:cNvPr id="10" name="Rectangle 9"/>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A1</a:t>
            </a:r>
          </a:p>
          <a:p>
            <a:pPr algn="l">
              <a:spcAft>
                <a:spcPts val="300"/>
              </a:spcAft>
            </a:pPr>
            <a:r>
              <a:rPr sz="1000" b="0">
                <a:solidFill>
                  <a:srgbClr val="5B6372"/>
                </a:solidFill>
                <a:latin typeface="Arial"/>
              </a:rPr>
              <a:t>Develop hypotheses for implementing data analytics and computational modelling activities</a:t>
            </a:r>
          </a:p>
        </p:txBody>
      </p:sp>
      <p:sp>
        <p:nvSpPr>
          <p:cNvPr id="15" name="Rectangle 14"/>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A6</a:t>
            </a:r>
          </a:p>
          <a:p>
            <a:pPr algn="l">
              <a:spcAft>
                <a:spcPts val="300"/>
              </a:spcAft>
            </a:pPr>
            <a:r>
              <a:rPr sz="1000" b="0">
                <a:solidFill>
                  <a:srgbClr val="5B6372"/>
                </a:solidFill>
                <a:latin typeface="Arial"/>
              </a:rPr>
              <a:t>Identify possible big data applications</a:t>
            </a:r>
          </a:p>
        </p:txBody>
      </p:sp>
      <p:sp>
        <p:nvSpPr>
          <p:cNvPr id="20" name="Rectangle 19"/>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K1</a:t>
            </a:r>
          </a:p>
          <a:p>
            <a:pPr algn="l">
              <a:spcAft>
                <a:spcPts val="300"/>
              </a:spcAft>
            </a:pPr>
            <a:r>
              <a:rPr sz="1000" b="0">
                <a:solidFill>
                  <a:srgbClr val="5B6372"/>
                </a:solidFill>
                <a:latin typeface="Arial"/>
              </a:rPr>
              <a:t>Data analytics and modelling business use cases</a:t>
            </a:r>
          </a:p>
        </p:txBody>
      </p:sp>
      <p:sp>
        <p:nvSpPr>
          <p:cNvPr id="25" name="Rectangle 24"/>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K9</a:t>
            </a:r>
          </a:p>
          <a:p>
            <a:pPr algn="l">
              <a:spcAft>
                <a:spcPts val="300"/>
              </a:spcAft>
            </a:pPr>
            <a:r>
              <a:rPr sz="1000" b="0">
                <a:solidFill>
                  <a:srgbClr val="5B6372"/>
                </a:solidFill>
                <a:latin typeface="Arial"/>
              </a:rPr>
              <a:t>Forms of data within financial services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10B981"/>
                </a:solidFill>
                <a:latin typeface="Arial"/>
              </a:rPr>
              <a:t>TOPIC 2</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Indicators, Strategies and Metrics</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10B981"/>
                </a:solidFill>
                <a:latin typeface="Arial"/>
              </a:rPr>
              <a:t>LEARNING OUTCOME</a:t>
            </a:r>
          </a:p>
          <a:p>
            <a:pPr algn="l">
              <a:spcAft>
                <a:spcPts val="400"/>
              </a:spcAft>
            </a:pPr>
            <a:r>
              <a:rPr sz="1350" b="0">
                <a:solidFill>
                  <a:srgbClr val="161B26"/>
                </a:solidFill>
                <a:latin typeface="Arial"/>
              </a:rPr>
              <a:t>Identify appropriate statistical algorithms and data models to test trading hypotheses, and use appropriate analytics platforms, analytical tools and statistical methods given specific analytics and reporting requirements.</a:t>
            </a:r>
          </a:p>
        </p:txBody>
      </p:sp>
      <p:sp>
        <p:nvSpPr>
          <p:cNvPr id="9" name="TextBox 8"/>
          <p:cNvSpPr txBox="1"/>
          <p:nvPr/>
        </p:nvSpPr>
        <p:spPr>
          <a:xfrm>
            <a:off x="1188720" y="4892040"/>
            <a:ext cx="9509760" cy="457200"/>
          </a:xfrm>
          <a:prstGeom prst="rect">
            <a:avLst/>
          </a:prstGeom>
          <a:noFill/>
        </p:spPr>
        <p:txBody>
          <a:bodyPr wrap="square" anchor="t">
            <a:spAutoFit/>
          </a:bodyPr>
          <a:lstStyle/>
          <a:p>
            <a:pPr algn="l">
              <a:spcAft>
                <a:spcPts val="400"/>
              </a:spcAft>
            </a:pPr>
            <a:r>
              <a:rPr sz="1150" b="0">
                <a:solidFill>
                  <a:srgbClr val="5B6372"/>
                </a:solidFill>
                <a:latin typeface="Arial"/>
              </a:rPr>
              <a:t>Abilities A2, A3  ·  Knowledge K3, K5, K7   ·   Day 1   ·   Labs 5–9   ·   Assessed by PP Task 2 and WA Q3, Q5, Q7</a:t>
            </a:r>
          </a:p>
        </p:txBody>
      </p:sp>
      <p:sp>
        <p:nvSpPr>
          <p:cNvPr id="10" name="TextBox 9"/>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02</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Trend and Momentum Indicators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SMA / EMA</a:t>
            </a:r>
          </a:p>
          <a:p>
            <a:pPr algn="l">
              <a:spcAft>
                <a:spcPts val="300"/>
              </a:spcAft>
            </a:pPr>
            <a:r>
              <a:rPr sz="1150" b="0">
                <a:solidFill>
                  <a:srgbClr val="5B6372"/>
                </a:solidFill>
                <a:latin typeface="Arial"/>
              </a:rPr>
              <a:t>Average close over n bars; EMA weights recent bars by 2/(n+1).</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MACD</a:t>
            </a:r>
          </a:p>
          <a:p>
            <a:pPr algn="l">
              <a:spcAft>
                <a:spcPts val="300"/>
              </a:spcAft>
            </a:pPr>
            <a:r>
              <a:rPr sz="1150" b="0">
                <a:solidFill>
                  <a:srgbClr val="5B6372"/>
                </a:solidFill>
                <a:latin typeface="Arial"/>
              </a:rPr>
              <a:t>EMA12 − EMA26 with a 9-EMA signal line; crosses flag momentum.</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RSI (14)</a:t>
            </a:r>
          </a:p>
          <a:p>
            <a:pPr algn="l">
              <a:spcAft>
                <a:spcPts val="300"/>
              </a:spcAft>
            </a:pPr>
            <a:r>
              <a:rPr sz="1150" b="0">
                <a:solidFill>
                  <a:srgbClr val="5B6372"/>
                </a:solidFill>
                <a:latin typeface="Arial"/>
              </a:rPr>
              <a:t>100 − 100/(1+RS); above 70 overbought, below 30 oversold.</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Donchian channel</a:t>
            </a:r>
          </a:p>
          <a:p>
            <a:pPr algn="l">
              <a:spcAft>
                <a:spcPts val="300"/>
              </a:spcAft>
            </a:pPr>
            <a:r>
              <a:rPr sz="1150" b="0">
                <a:solidFill>
                  <a:srgbClr val="5B6372"/>
                </a:solidFill>
                <a:latin typeface="Arial"/>
              </a:rPr>
              <a:t>Highest high / lowest low of n bars — the breakout level.</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Volatility and Volume Indicators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Bollinger Bands</a:t>
            </a:r>
          </a:p>
          <a:p>
            <a:pPr algn="l">
              <a:spcAft>
                <a:spcPts val="300"/>
              </a:spcAft>
            </a:pPr>
            <a:r>
              <a:rPr sz="1150" b="0">
                <a:solidFill>
                  <a:srgbClr val="5B6372"/>
                </a:solidFill>
                <a:latin typeface="Arial"/>
              </a:rPr>
              <a:t>SMA20 ± 2 standard deviations; width tracks volatility.</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ATR (14)</a:t>
            </a:r>
          </a:p>
          <a:p>
            <a:pPr algn="l">
              <a:spcAft>
                <a:spcPts val="300"/>
              </a:spcAft>
            </a:pPr>
            <a:r>
              <a:rPr sz="1150" b="0">
                <a:solidFill>
                  <a:srgbClr val="5B6372"/>
                </a:solidFill>
                <a:latin typeface="Arial"/>
              </a:rPr>
              <a:t>Average true range — position sizing and volatility stops.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VWAP</a:t>
            </a:r>
          </a:p>
          <a:p>
            <a:pPr algn="l">
              <a:spcAft>
                <a:spcPts val="300"/>
              </a:spcAft>
            </a:pPr>
            <a:r>
              <a:rPr sz="1150" b="0">
                <a:solidFill>
                  <a:srgbClr val="5B6372"/>
                </a:solidFill>
                <a:latin typeface="Arial"/>
              </a:rPr>
              <a:t>Volume-weighted average price — the execution benchmark.</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OBV</a:t>
            </a:r>
          </a:p>
          <a:p>
            <a:pPr algn="l">
              <a:spcAft>
                <a:spcPts val="300"/>
              </a:spcAft>
            </a:pPr>
            <a:r>
              <a:rPr sz="1150" b="0">
                <a:solidFill>
                  <a:srgbClr val="5B6372"/>
                </a:solidFill>
                <a:latin typeface="Arial"/>
              </a:rPr>
              <a:t>Adds volume on up days, subtracts on down days.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A2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Matching the Method to the Hypothesis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A2</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'Does the signal beat the benchmark?'</a:t>
            </a:r>
          </a:p>
          <a:p>
            <a:pPr algn="l">
              <a:spcAft>
                <a:spcPts val="300"/>
              </a:spcAft>
            </a:pPr>
            <a:r>
              <a:rPr sz="1150" b="0">
                <a:solidFill>
                  <a:srgbClr val="5B6372"/>
                </a:solidFill>
                <a:latin typeface="Arial"/>
              </a:rPr>
              <a:t>Backtest + t-test or bootstrap on returns.</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'Will tomorrow be up?'</a:t>
            </a:r>
          </a:p>
          <a:p>
            <a:pPr algn="l">
              <a:spcAft>
                <a:spcPts val="300"/>
              </a:spcAft>
            </a:pPr>
            <a:r>
              <a:rPr sz="1150" b="0">
                <a:solidFill>
                  <a:srgbClr val="5B6372"/>
                </a:solidFill>
                <a:latin typeface="Arial"/>
              </a:rPr>
              <a:t>Classifier: logistic regression, random forest, XGBoost.</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'What state is the market in?'</a:t>
            </a:r>
          </a:p>
          <a:p>
            <a:pPr algn="l">
              <a:spcAft>
                <a:spcPts val="300"/>
              </a:spcAft>
            </a:pPr>
            <a:r>
              <a:rPr sz="1150" b="0">
                <a:solidFill>
                  <a:srgbClr val="5B6372"/>
                </a:solidFill>
                <a:latin typeface="Arial"/>
              </a:rPr>
              <a:t>Clustering: K-means on return and volatility features.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'Which parameters?'</a:t>
            </a:r>
          </a:p>
          <a:p>
            <a:pPr algn="l">
              <a:spcAft>
                <a:spcPts val="300"/>
              </a:spcAft>
            </a:pPr>
            <a:r>
              <a:rPr sz="1150" b="0">
                <a:solidFill>
                  <a:srgbClr val="5B6372"/>
                </a:solidFill>
                <a:latin typeface="Arial"/>
              </a:rPr>
              <a:t>Grid search in-sample, confirm out-of-sample.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Coding Languages for Algorithms and Signals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K7</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Pine Script v6</a:t>
            </a:r>
          </a:p>
          <a:p>
            <a:pPr algn="l">
              <a:spcAft>
                <a:spcPts val="300"/>
              </a:spcAft>
            </a:pPr>
            <a:r>
              <a:rPr sz="1150" b="0">
                <a:solidFill>
                  <a:srgbClr val="5B6372"/>
                </a:solidFill>
                <a:latin typeface="Arial"/>
              </a:rPr>
              <a:t>//@version=6 · ta.ema · ta.crossover · strategy.entry.</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Python</a:t>
            </a:r>
          </a:p>
          <a:p>
            <a:pPr algn="l">
              <a:spcAft>
                <a:spcPts val="300"/>
              </a:spcAft>
            </a:pPr>
            <a:r>
              <a:rPr sz="1150" b="0">
                <a:solidFill>
                  <a:srgbClr val="5B6372"/>
                </a:solidFill>
                <a:latin typeface="Arial"/>
              </a:rPr>
              <a:t>Signals as pandas Series of +1 / 0 / −1 aligned to bars.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 / Java</a:t>
            </a:r>
          </a:p>
          <a:p>
            <a:pPr algn="l">
              <a:spcAft>
                <a:spcPts val="300"/>
              </a:spcAft>
            </a:pPr>
            <a:r>
              <a:rPr sz="1150" b="0">
                <a:solidFill>
                  <a:srgbClr val="5B6372"/>
                </a:solidFill>
                <a:latin typeface="Arial"/>
              </a:rPr>
              <a:t>Low-latency execution engines and exchange gateways.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 SQL, MQL</a:t>
            </a:r>
          </a:p>
          <a:p>
            <a:pPr algn="l">
              <a:spcAft>
                <a:spcPts val="300"/>
              </a:spcAft>
            </a:pPr>
            <a:r>
              <a:rPr sz="1150" b="0">
                <a:solidFill>
                  <a:srgbClr val="5B6372"/>
                </a:solidFill>
                <a:latin typeface="Arial"/>
              </a:rPr>
              <a:t>Statistics, data stores, MetaTrader expert advisors.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Order Types and Time in Force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K7</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Market and limit</a:t>
            </a:r>
          </a:p>
          <a:p>
            <a:pPr algn="l">
              <a:spcAft>
                <a:spcPts val="300"/>
              </a:spcAft>
            </a:pPr>
            <a:r>
              <a:rPr sz="1150" b="0">
                <a:solidFill>
                  <a:srgbClr val="5B6372"/>
                </a:solidFill>
                <a:latin typeface="Arial"/>
              </a:rPr>
              <a:t>Certainty of fill versus control of price.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Stop, stop-limit, trailing stop</a:t>
            </a:r>
          </a:p>
          <a:p>
            <a:pPr algn="l">
              <a:spcAft>
                <a:spcPts val="300"/>
              </a:spcAft>
            </a:pPr>
            <a:r>
              <a:rPr sz="1150" b="0">
                <a:solidFill>
                  <a:srgbClr val="5B6372"/>
                </a:solidFill>
                <a:latin typeface="Arial"/>
              </a:rPr>
              <a:t>Trigger on a price; protect or enter on breaks.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Bracket / OCO / OTO</a:t>
            </a:r>
          </a:p>
          <a:p>
            <a:pPr algn="l">
              <a:spcAft>
                <a:spcPts val="300"/>
              </a:spcAft>
            </a:pPr>
            <a:r>
              <a:rPr sz="1150" b="0">
                <a:solidFill>
                  <a:srgbClr val="5B6372"/>
                </a:solidFill>
                <a:latin typeface="Arial"/>
              </a:rPr>
              <a:t>Entry with attached take-profit and stop-loss.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day · gtc · opg · cls · ioc · fok</a:t>
            </a:r>
          </a:p>
          <a:p>
            <a:pPr algn="l">
              <a:spcAft>
                <a:spcPts val="300"/>
              </a:spcAft>
            </a:pPr>
            <a:r>
              <a:rPr sz="1150" b="0">
                <a:solidFill>
                  <a:srgbClr val="5B6372"/>
                </a:solidFill>
                <a:latin typeface="Arial"/>
              </a:rPr>
              <a:t>How long an order stays working.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Performance and Risk Metrics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Return</a:t>
            </a:r>
          </a:p>
          <a:p>
            <a:pPr algn="l">
              <a:spcAft>
                <a:spcPts val="300"/>
              </a:spcAft>
            </a:pPr>
            <a:r>
              <a:rPr sz="1150" b="0">
                <a:solidFill>
                  <a:srgbClr val="5B6372"/>
                </a:solidFill>
                <a:latin typeface="Arial"/>
              </a:rPr>
              <a:t>Total return · CAGR = (end/start)^(1/years) − 1.</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Risk</a:t>
            </a:r>
          </a:p>
          <a:p>
            <a:pPr algn="l">
              <a:spcAft>
                <a:spcPts val="300"/>
              </a:spcAft>
            </a:pPr>
            <a:r>
              <a:rPr sz="1150" b="0">
                <a:solidFill>
                  <a:srgbClr val="5B6372"/>
                </a:solidFill>
                <a:latin typeface="Arial"/>
              </a:rPr>
              <a:t>Volatility = σ(daily) × √252 · maximum drawdown.</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Risk-adjusted</a:t>
            </a:r>
          </a:p>
          <a:p>
            <a:pPr algn="l">
              <a:spcAft>
                <a:spcPts val="300"/>
              </a:spcAft>
            </a:pPr>
            <a:r>
              <a:rPr sz="1150" b="0">
                <a:solidFill>
                  <a:srgbClr val="5B6372"/>
                </a:solidFill>
                <a:latin typeface="Arial"/>
              </a:rPr>
              <a:t>Sharpe · Sortino · Calmar = CAGR / |MaxDD|.</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Trade quality</a:t>
            </a:r>
          </a:p>
          <a:p>
            <a:pPr algn="l">
              <a:spcAft>
                <a:spcPts val="300"/>
              </a:spcAft>
            </a:pPr>
            <a:r>
              <a:rPr sz="1150" b="0">
                <a:solidFill>
                  <a:srgbClr val="5B6372"/>
                </a:solidFill>
                <a:latin typeface="Arial"/>
              </a:rPr>
              <a:t>Win rate · profit factor · expectancy · turnover · exposure.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 · CLASSIFICATION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Classification of Trading Algorithms by Purpose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Purpose</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Examples</a:t>
            </a:r>
          </a:p>
        </p:txBody>
      </p:sp>
      <p:sp>
        <p:nvSpPr>
          <p:cNvPr id="14" name="Rectangle 13"/>
          <p:cNvSpPr/>
          <p:nvPr/>
        </p:nvSpPr>
        <p:spPr>
          <a:xfrm>
            <a:off x="777240" y="2286000"/>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Execution algorithms</a:t>
            </a:r>
          </a:p>
        </p:txBody>
      </p:sp>
      <p:sp>
        <p:nvSpPr>
          <p:cNvPr id="16" name="TextBox 15"/>
          <p:cNvSpPr txBox="1"/>
          <p:nvPr/>
        </p:nvSpPr>
        <p:spPr>
          <a:xfrm>
            <a:off x="3017520" y="2286000"/>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Work a large order at low cost and market impact</a:t>
            </a:r>
          </a:p>
        </p:txBody>
      </p:sp>
      <p:sp>
        <p:nvSpPr>
          <p:cNvPr id="17" name="TextBox 16"/>
          <p:cNvSpPr txBox="1"/>
          <p:nvPr/>
        </p:nvSpPr>
        <p:spPr>
          <a:xfrm>
            <a:off x="7260336" y="2286000"/>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VWAP, TWAP, POV, implementation shortfall, iceberg, smart order routing</a:t>
            </a:r>
          </a:p>
        </p:txBody>
      </p:sp>
      <p:sp>
        <p:nvSpPr>
          <p:cNvPr id="18" name="TextBox 17"/>
          <p:cNvSpPr txBox="1"/>
          <p:nvPr/>
        </p:nvSpPr>
        <p:spPr>
          <a:xfrm>
            <a:off x="886968" y="2854234"/>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Market making</a:t>
            </a:r>
          </a:p>
        </p:txBody>
      </p:sp>
      <p:sp>
        <p:nvSpPr>
          <p:cNvPr id="19" name="TextBox 18"/>
          <p:cNvSpPr txBox="1"/>
          <p:nvPr/>
        </p:nvSpPr>
        <p:spPr>
          <a:xfrm>
            <a:off x="3017520" y="2854234"/>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Quote bids and offers, earn the spread, manage inventory</a:t>
            </a:r>
          </a:p>
        </p:txBody>
      </p:sp>
      <p:sp>
        <p:nvSpPr>
          <p:cNvPr id="20" name="TextBox 19"/>
          <p:cNvSpPr txBox="1"/>
          <p:nvPr/>
        </p:nvSpPr>
        <p:spPr>
          <a:xfrm>
            <a:off x="7260336" y="2854234"/>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Passive market making with resting limit orders</a:t>
            </a:r>
          </a:p>
        </p:txBody>
      </p:sp>
      <p:sp>
        <p:nvSpPr>
          <p:cNvPr id="21" name="Rectangle 20"/>
          <p:cNvSpPr/>
          <p:nvPr/>
        </p:nvSpPr>
        <p:spPr>
          <a:xfrm>
            <a:off x="777240" y="3422468"/>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422468"/>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Arbitrage</a:t>
            </a:r>
          </a:p>
        </p:txBody>
      </p:sp>
      <p:sp>
        <p:nvSpPr>
          <p:cNvPr id="23" name="TextBox 22"/>
          <p:cNvSpPr txBox="1"/>
          <p:nvPr/>
        </p:nvSpPr>
        <p:spPr>
          <a:xfrm>
            <a:off x="3017520" y="3422468"/>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Capture mispricing between related products or markets</a:t>
            </a:r>
          </a:p>
        </p:txBody>
      </p:sp>
      <p:sp>
        <p:nvSpPr>
          <p:cNvPr id="24" name="TextBox 23"/>
          <p:cNvSpPr txBox="1"/>
          <p:nvPr/>
        </p:nvSpPr>
        <p:spPr>
          <a:xfrm>
            <a:off x="7260336" y="3422468"/>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ETF versus its basket, index futures versus stocks</a:t>
            </a:r>
          </a:p>
        </p:txBody>
      </p:sp>
      <p:sp>
        <p:nvSpPr>
          <p:cNvPr id="25" name="TextBox 24"/>
          <p:cNvSpPr txBox="1"/>
          <p:nvPr/>
        </p:nvSpPr>
        <p:spPr>
          <a:xfrm>
            <a:off x="886968" y="3990702"/>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Directional / alpha</a:t>
            </a:r>
          </a:p>
        </p:txBody>
      </p:sp>
      <p:sp>
        <p:nvSpPr>
          <p:cNvPr id="26" name="TextBox 25"/>
          <p:cNvSpPr txBox="1"/>
          <p:nvPr/>
        </p:nvSpPr>
        <p:spPr>
          <a:xfrm>
            <a:off x="3017520" y="3990702"/>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Take a view on the direction of price</a:t>
            </a:r>
          </a:p>
        </p:txBody>
      </p:sp>
      <p:sp>
        <p:nvSpPr>
          <p:cNvPr id="27" name="TextBox 26"/>
          <p:cNvSpPr txBox="1"/>
          <p:nvPr/>
        </p:nvSpPr>
        <p:spPr>
          <a:xfrm>
            <a:off x="7260336" y="3990702"/>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Trend following, momentum, breakout, mean reversion, news</a:t>
            </a:r>
          </a:p>
        </p:txBody>
      </p:sp>
      <p:sp>
        <p:nvSpPr>
          <p:cNvPr id="28" name="Rectangle 27"/>
          <p:cNvSpPr/>
          <p:nvPr/>
        </p:nvSpPr>
        <p:spPr>
          <a:xfrm>
            <a:off x="777240" y="4558937"/>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558937"/>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Statistical arbitrage and pairs</a:t>
            </a:r>
          </a:p>
        </p:txBody>
      </p:sp>
      <p:sp>
        <p:nvSpPr>
          <p:cNvPr id="30" name="TextBox 29"/>
          <p:cNvSpPr txBox="1"/>
          <p:nvPr/>
        </p:nvSpPr>
        <p:spPr>
          <a:xfrm>
            <a:off x="3017520" y="4558937"/>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Hedged: long one asset, short a related one; trade the spread</a:t>
            </a:r>
          </a:p>
        </p:txBody>
      </p:sp>
      <p:sp>
        <p:nvSpPr>
          <p:cNvPr id="31" name="TextBox 30"/>
          <p:cNvSpPr txBox="1"/>
          <p:nvPr/>
        </p:nvSpPr>
        <p:spPr>
          <a:xfrm>
            <a:off x="7260336" y="4558937"/>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Pairs trading, cointegration, market-neutral baskets</a:t>
            </a:r>
          </a:p>
        </p:txBody>
      </p:sp>
      <p:sp>
        <p:nvSpPr>
          <p:cNvPr id="32" name="TextBox 31"/>
          <p:cNvSpPr txBox="1"/>
          <p:nvPr/>
        </p:nvSpPr>
        <p:spPr>
          <a:xfrm>
            <a:off x="886968" y="5127171"/>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Factor and portfolio</a:t>
            </a:r>
          </a:p>
        </p:txBody>
      </p:sp>
      <p:sp>
        <p:nvSpPr>
          <p:cNvPr id="33" name="TextBox 32"/>
          <p:cNvSpPr txBox="1"/>
          <p:nvPr/>
        </p:nvSpPr>
        <p:spPr>
          <a:xfrm>
            <a:off x="3017520" y="5127171"/>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Build and rebalance portfolios from return drivers and risk</a:t>
            </a:r>
          </a:p>
        </p:txBody>
      </p:sp>
      <p:sp>
        <p:nvSpPr>
          <p:cNvPr id="34" name="TextBox 33"/>
          <p:cNvSpPr txBox="1"/>
          <p:nvPr/>
        </p:nvSpPr>
        <p:spPr>
          <a:xfrm>
            <a:off x="7260336" y="5127171"/>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Value, momentum, size factors; mean-variance optimisation</a:t>
            </a:r>
          </a:p>
        </p:txBody>
      </p:sp>
      <p:sp>
        <p:nvSpPr>
          <p:cNvPr id="35" name="Rectangle 34"/>
          <p:cNvSpPr/>
          <p:nvPr/>
        </p:nvSpPr>
        <p:spPr>
          <a:xfrm>
            <a:off x="777240" y="5695405"/>
            <a:ext cx="10634472" cy="54080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 y="5695405"/>
            <a:ext cx="1965960" cy="540802"/>
          </a:xfrm>
          <a:prstGeom prst="rect">
            <a:avLst/>
          </a:prstGeom>
          <a:noFill/>
        </p:spPr>
        <p:txBody>
          <a:bodyPr wrap="square" anchor="ctr">
            <a:spAutoFit/>
          </a:bodyPr>
          <a:lstStyle/>
          <a:p>
            <a:pPr algn="l">
              <a:spcAft>
                <a:spcPts val="400"/>
              </a:spcAft>
            </a:pPr>
            <a:r>
              <a:rPr sz="1150" b="1">
                <a:solidFill>
                  <a:srgbClr val="161B26"/>
                </a:solidFill>
                <a:latin typeface="Arial"/>
              </a:rPr>
              <a:t>Hedging and risk</a:t>
            </a:r>
          </a:p>
        </p:txBody>
      </p:sp>
      <p:sp>
        <p:nvSpPr>
          <p:cNvPr id="37" name="TextBox 36"/>
          <p:cNvSpPr txBox="1"/>
          <p:nvPr/>
        </p:nvSpPr>
        <p:spPr>
          <a:xfrm>
            <a:off x="3017520" y="5695405"/>
            <a:ext cx="4014216" cy="540802"/>
          </a:xfrm>
          <a:prstGeom prst="rect">
            <a:avLst/>
          </a:prstGeom>
          <a:noFill/>
        </p:spPr>
        <p:txBody>
          <a:bodyPr wrap="square" anchor="ctr">
            <a:spAutoFit/>
          </a:bodyPr>
          <a:lstStyle/>
          <a:p>
            <a:pPr algn="l">
              <a:spcAft>
                <a:spcPts val="400"/>
              </a:spcAft>
            </a:pPr>
            <a:r>
              <a:rPr sz="1050" b="0">
                <a:solidFill>
                  <a:srgbClr val="161B26"/>
                </a:solidFill>
                <a:latin typeface="Arial"/>
              </a:rPr>
              <a:t>Offset unwanted exposure and enforce limits</a:t>
            </a:r>
          </a:p>
        </p:txBody>
      </p:sp>
      <p:sp>
        <p:nvSpPr>
          <p:cNvPr id="38" name="TextBox 37"/>
          <p:cNvSpPr txBox="1"/>
          <p:nvPr/>
        </p:nvSpPr>
        <p:spPr>
          <a:xfrm>
            <a:off x="7260336" y="5695405"/>
            <a:ext cx="4059936" cy="540802"/>
          </a:xfrm>
          <a:prstGeom prst="rect">
            <a:avLst/>
          </a:prstGeom>
          <a:noFill/>
        </p:spPr>
        <p:txBody>
          <a:bodyPr wrap="square" anchor="ctr">
            <a:spAutoFit/>
          </a:bodyPr>
          <a:lstStyle/>
          <a:p>
            <a:pPr algn="l">
              <a:spcAft>
                <a:spcPts val="400"/>
              </a:spcAft>
            </a:pPr>
            <a:r>
              <a:rPr sz="1050" b="0">
                <a:solidFill>
                  <a:srgbClr val="161B26"/>
                </a:solidFill>
                <a:latin typeface="Arial"/>
              </a:rPr>
              <a:t>Delta hedging, beta hedging, pairs hedge, kill switch</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 · CLASSIFICATION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SEC Classification of High-Frequency Strategies (2010)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450" b="1">
                <a:solidFill>
                  <a:srgbClr val="161B26"/>
                </a:solidFill>
                <a:latin typeface="Arial"/>
              </a:rPr>
              <a:t>Passive market making</a:t>
            </a:r>
          </a:p>
          <a:p>
            <a:pPr algn="l">
              <a:spcAft>
                <a:spcPts val="300"/>
              </a:spcAft>
            </a:pPr>
            <a:r>
              <a:rPr sz="1050" b="0">
                <a:solidFill>
                  <a:srgbClr val="5B6372"/>
                </a:solidFill>
                <a:latin typeface="Arial"/>
              </a:rPr>
              <a:t>Submits non-marketable resting bids and offers that provide liquidity at specified prices</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450" b="1">
                <a:solidFill>
                  <a:srgbClr val="161B26"/>
                </a:solidFill>
                <a:latin typeface="Arial"/>
              </a:rPr>
              <a:t>Arbitrage</a:t>
            </a:r>
          </a:p>
          <a:p>
            <a:pPr algn="l">
              <a:spcAft>
                <a:spcPts val="300"/>
              </a:spcAft>
            </a:pPr>
            <a:r>
              <a:rPr sz="1050" b="0">
                <a:solidFill>
                  <a:srgbClr val="5B6372"/>
                </a:solidFill>
                <a:latin typeface="Arial"/>
              </a:rPr>
              <a:t>Captures pricing inefficiencies between related products or markets, e.g. an ETF and its basket</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450" b="1">
                <a:solidFill>
                  <a:srgbClr val="161B26"/>
                </a:solidFill>
                <a:latin typeface="Arial"/>
              </a:rPr>
              <a:t>Structural</a:t>
            </a:r>
          </a:p>
          <a:p>
            <a:pPr algn="l">
              <a:spcAft>
                <a:spcPts val="300"/>
              </a:spcAft>
            </a:pPr>
            <a:r>
              <a:rPr sz="1050" b="0">
                <a:solidFill>
                  <a:srgbClr val="5B6372"/>
                </a:solidFill>
                <a:latin typeface="Arial"/>
              </a:rPr>
              <a:t>Exploits structural vulnerabilities in the market or its participants, e.g. stale quotes via faster data</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450" b="1">
                <a:solidFill>
                  <a:srgbClr val="161B26"/>
                </a:solidFill>
                <a:latin typeface="Arial"/>
              </a:rPr>
              <a:t>Directional</a:t>
            </a:r>
          </a:p>
          <a:p>
            <a:pPr algn="l">
              <a:spcAft>
                <a:spcPts val="300"/>
              </a:spcAft>
            </a:pPr>
            <a:r>
              <a:rPr sz="1050" b="0">
                <a:solidFill>
                  <a:srgbClr val="5B6372"/>
                </a:solidFill>
                <a:latin typeface="Arial"/>
              </a:rPr>
              <a:t>Takes a short-term position anticipating an intraday price move in a particular direction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 · CLASSIFICATION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Classification by Holding Period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Horizon</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Typical algorithms</a:t>
            </a:r>
          </a:p>
        </p:txBody>
      </p:sp>
      <p:sp>
        <p:nvSpPr>
          <p:cNvPr id="14" name="Rectangle 13"/>
          <p:cNvSpPr/>
          <p:nvPr/>
        </p:nvSpPr>
        <p:spPr>
          <a:xfrm>
            <a:off x="777240" y="2286000"/>
            <a:ext cx="10634472" cy="9669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966977"/>
          </a:xfrm>
          <a:prstGeom prst="rect">
            <a:avLst/>
          </a:prstGeom>
          <a:noFill/>
        </p:spPr>
        <p:txBody>
          <a:bodyPr wrap="square" anchor="ctr">
            <a:spAutoFit/>
          </a:bodyPr>
          <a:lstStyle/>
          <a:p>
            <a:pPr algn="l">
              <a:spcAft>
                <a:spcPts val="400"/>
              </a:spcAft>
            </a:pPr>
            <a:r>
              <a:rPr sz="1150" b="1">
                <a:solidFill>
                  <a:srgbClr val="161B26"/>
                </a:solidFill>
                <a:latin typeface="Arial"/>
              </a:rPr>
              <a:t>High-frequency</a:t>
            </a:r>
          </a:p>
        </p:txBody>
      </p:sp>
      <p:sp>
        <p:nvSpPr>
          <p:cNvPr id="16" name="TextBox 15"/>
          <p:cNvSpPr txBox="1"/>
          <p:nvPr/>
        </p:nvSpPr>
        <p:spPr>
          <a:xfrm>
            <a:off x="3017520" y="2286000"/>
            <a:ext cx="4014216" cy="966977"/>
          </a:xfrm>
          <a:prstGeom prst="rect">
            <a:avLst/>
          </a:prstGeom>
          <a:noFill/>
        </p:spPr>
        <p:txBody>
          <a:bodyPr wrap="square" anchor="ctr">
            <a:spAutoFit/>
          </a:bodyPr>
          <a:lstStyle/>
          <a:p>
            <a:pPr algn="l">
              <a:spcAft>
                <a:spcPts val="400"/>
              </a:spcAft>
            </a:pPr>
            <a:r>
              <a:rPr sz="1050" b="0">
                <a:solidFill>
                  <a:srgbClr val="161B26"/>
                </a:solidFill>
                <a:latin typeface="Arial"/>
              </a:rPr>
              <a:t>Microseconds to seconds</a:t>
            </a:r>
          </a:p>
        </p:txBody>
      </p:sp>
      <p:sp>
        <p:nvSpPr>
          <p:cNvPr id="17" name="TextBox 16"/>
          <p:cNvSpPr txBox="1"/>
          <p:nvPr/>
        </p:nvSpPr>
        <p:spPr>
          <a:xfrm>
            <a:off x="7260336" y="2286000"/>
            <a:ext cx="4059936" cy="966977"/>
          </a:xfrm>
          <a:prstGeom prst="rect">
            <a:avLst/>
          </a:prstGeom>
          <a:noFill/>
        </p:spPr>
        <p:txBody>
          <a:bodyPr wrap="square" anchor="ctr">
            <a:spAutoFit/>
          </a:bodyPr>
          <a:lstStyle/>
          <a:p>
            <a:pPr algn="l">
              <a:spcAft>
                <a:spcPts val="400"/>
              </a:spcAft>
            </a:pPr>
            <a:r>
              <a:rPr sz="1050" b="0">
                <a:solidFill>
                  <a:srgbClr val="161B26"/>
                </a:solidFill>
                <a:latin typeface="Arial"/>
              </a:rPr>
              <a:t>Market making, ETF and latency arbitrage</a:t>
            </a:r>
          </a:p>
        </p:txBody>
      </p:sp>
      <p:sp>
        <p:nvSpPr>
          <p:cNvPr id="18" name="TextBox 17"/>
          <p:cNvSpPr txBox="1"/>
          <p:nvPr/>
        </p:nvSpPr>
        <p:spPr>
          <a:xfrm>
            <a:off x="886968" y="3280410"/>
            <a:ext cx="1965960" cy="966977"/>
          </a:xfrm>
          <a:prstGeom prst="rect">
            <a:avLst/>
          </a:prstGeom>
          <a:noFill/>
        </p:spPr>
        <p:txBody>
          <a:bodyPr wrap="square" anchor="ctr">
            <a:spAutoFit/>
          </a:bodyPr>
          <a:lstStyle/>
          <a:p>
            <a:pPr algn="l">
              <a:spcAft>
                <a:spcPts val="400"/>
              </a:spcAft>
            </a:pPr>
            <a:r>
              <a:rPr sz="1150" b="1">
                <a:solidFill>
                  <a:srgbClr val="161B26"/>
                </a:solidFill>
                <a:latin typeface="Arial"/>
              </a:rPr>
              <a:t>Intraday</a:t>
            </a:r>
          </a:p>
        </p:txBody>
      </p:sp>
      <p:sp>
        <p:nvSpPr>
          <p:cNvPr id="19" name="TextBox 18"/>
          <p:cNvSpPr txBox="1"/>
          <p:nvPr/>
        </p:nvSpPr>
        <p:spPr>
          <a:xfrm>
            <a:off x="3017520" y="3280410"/>
            <a:ext cx="4014216" cy="966977"/>
          </a:xfrm>
          <a:prstGeom prst="rect">
            <a:avLst/>
          </a:prstGeom>
          <a:noFill/>
        </p:spPr>
        <p:txBody>
          <a:bodyPr wrap="square" anchor="ctr">
            <a:spAutoFit/>
          </a:bodyPr>
          <a:lstStyle/>
          <a:p>
            <a:pPr algn="l">
              <a:spcAft>
                <a:spcPts val="400"/>
              </a:spcAft>
            </a:pPr>
            <a:r>
              <a:rPr sz="1050" b="0">
                <a:solidFill>
                  <a:srgbClr val="161B26"/>
                </a:solidFill>
                <a:latin typeface="Arial"/>
              </a:rPr>
              <a:t>Minutes to hours</a:t>
            </a:r>
          </a:p>
        </p:txBody>
      </p:sp>
      <p:sp>
        <p:nvSpPr>
          <p:cNvPr id="20" name="TextBox 19"/>
          <p:cNvSpPr txBox="1"/>
          <p:nvPr/>
        </p:nvSpPr>
        <p:spPr>
          <a:xfrm>
            <a:off x="7260336" y="3280410"/>
            <a:ext cx="4059936" cy="966977"/>
          </a:xfrm>
          <a:prstGeom prst="rect">
            <a:avLst/>
          </a:prstGeom>
          <a:noFill/>
        </p:spPr>
        <p:txBody>
          <a:bodyPr wrap="square" anchor="ctr">
            <a:spAutoFit/>
          </a:bodyPr>
          <a:lstStyle/>
          <a:p>
            <a:pPr algn="l">
              <a:spcAft>
                <a:spcPts val="400"/>
              </a:spcAft>
            </a:pPr>
            <a:r>
              <a:rPr sz="1050" b="0">
                <a:solidFill>
                  <a:srgbClr val="161B26"/>
                </a:solidFill>
                <a:latin typeface="Arial"/>
              </a:rPr>
              <a:t>VWAP / TWAP execution, intraday momentum</a:t>
            </a:r>
          </a:p>
        </p:txBody>
      </p:sp>
      <p:sp>
        <p:nvSpPr>
          <p:cNvPr id="21" name="Rectangle 20"/>
          <p:cNvSpPr/>
          <p:nvPr/>
        </p:nvSpPr>
        <p:spPr>
          <a:xfrm>
            <a:off x="777240" y="4274820"/>
            <a:ext cx="10634472" cy="96697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274820"/>
            <a:ext cx="1965960" cy="966977"/>
          </a:xfrm>
          <a:prstGeom prst="rect">
            <a:avLst/>
          </a:prstGeom>
          <a:noFill/>
        </p:spPr>
        <p:txBody>
          <a:bodyPr wrap="square" anchor="ctr">
            <a:spAutoFit/>
          </a:bodyPr>
          <a:lstStyle/>
          <a:p>
            <a:pPr algn="l">
              <a:spcAft>
                <a:spcPts val="400"/>
              </a:spcAft>
            </a:pPr>
            <a:r>
              <a:rPr sz="1150" b="1">
                <a:solidFill>
                  <a:srgbClr val="161B26"/>
                </a:solidFill>
                <a:latin typeface="Arial"/>
              </a:rPr>
              <a:t>Swing</a:t>
            </a:r>
          </a:p>
        </p:txBody>
      </p:sp>
      <p:sp>
        <p:nvSpPr>
          <p:cNvPr id="23" name="TextBox 22"/>
          <p:cNvSpPr txBox="1"/>
          <p:nvPr/>
        </p:nvSpPr>
        <p:spPr>
          <a:xfrm>
            <a:off x="3017520" y="4274820"/>
            <a:ext cx="4014216" cy="966977"/>
          </a:xfrm>
          <a:prstGeom prst="rect">
            <a:avLst/>
          </a:prstGeom>
          <a:noFill/>
        </p:spPr>
        <p:txBody>
          <a:bodyPr wrap="square" anchor="ctr">
            <a:spAutoFit/>
          </a:bodyPr>
          <a:lstStyle/>
          <a:p>
            <a:pPr algn="l">
              <a:spcAft>
                <a:spcPts val="400"/>
              </a:spcAft>
            </a:pPr>
            <a:r>
              <a:rPr sz="1050" b="0">
                <a:solidFill>
                  <a:srgbClr val="161B26"/>
                </a:solidFill>
                <a:latin typeface="Arial"/>
              </a:rPr>
              <a:t>Days to weeks</a:t>
            </a:r>
          </a:p>
        </p:txBody>
      </p:sp>
      <p:sp>
        <p:nvSpPr>
          <p:cNvPr id="24" name="TextBox 23"/>
          <p:cNvSpPr txBox="1"/>
          <p:nvPr/>
        </p:nvSpPr>
        <p:spPr>
          <a:xfrm>
            <a:off x="7260336" y="4274820"/>
            <a:ext cx="4059936" cy="966977"/>
          </a:xfrm>
          <a:prstGeom prst="rect">
            <a:avLst/>
          </a:prstGeom>
          <a:noFill/>
        </p:spPr>
        <p:txBody>
          <a:bodyPr wrap="square" anchor="ctr">
            <a:spAutoFit/>
          </a:bodyPr>
          <a:lstStyle/>
          <a:p>
            <a:pPr algn="l">
              <a:spcAft>
                <a:spcPts val="400"/>
              </a:spcAft>
            </a:pPr>
            <a:r>
              <a:rPr sz="1050" b="0">
                <a:solidFill>
                  <a:srgbClr val="161B26"/>
                </a:solidFill>
                <a:latin typeface="Arial"/>
              </a:rPr>
              <a:t>Mean reversion, pairs trading</a:t>
            </a:r>
          </a:p>
        </p:txBody>
      </p:sp>
      <p:sp>
        <p:nvSpPr>
          <p:cNvPr id="25" name="TextBox 24"/>
          <p:cNvSpPr txBox="1"/>
          <p:nvPr/>
        </p:nvSpPr>
        <p:spPr>
          <a:xfrm>
            <a:off x="886968" y="5269229"/>
            <a:ext cx="1965960" cy="966977"/>
          </a:xfrm>
          <a:prstGeom prst="rect">
            <a:avLst/>
          </a:prstGeom>
          <a:noFill/>
        </p:spPr>
        <p:txBody>
          <a:bodyPr wrap="square" anchor="ctr">
            <a:spAutoFit/>
          </a:bodyPr>
          <a:lstStyle/>
          <a:p>
            <a:pPr algn="l">
              <a:spcAft>
                <a:spcPts val="400"/>
              </a:spcAft>
            </a:pPr>
            <a:r>
              <a:rPr sz="1150" b="1">
                <a:solidFill>
                  <a:srgbClr val="161B26"/>
                </a:solidFill>
                <a:latin typeface="Arial"/>
              </a:rPr>
              <a:t>Position</a:t>
            </a:r>
          </a:p>
        </p:txBody>
      </p:sp>
      <p:sp>
        <p:nvSpPr>
          <p:cNvPr id="26" name="TextBox 25"/>
          <p:cNvSpPr txBox="1"/>
          <p:nvPr/>
        </p:nvSpPr>
        <p:spPr>
          <a:xfrm>
            <a:off x="3017520" y="5269229"/>
            <a:ext cx="4014216" cy="966977"/>
          </a:xfrm>
          <a:prstGeom prst="rect">
            <a:avLst/>
          </a:prstGeom>
          <a:noFill/>
        </p:spPr>
        <p:txBody>
          <a:bodyPr wrap="square" anchor="ctr">
            <a:spAutoFit/>
          </a:bodyPr>
          <a:lstStyle/>
          <a:p>
            <a:pPr algn="l">
              <a:spcAft>
                <a:spcPts val="400"/>
              </a:spcAft>
            </a:pPr>
            <a:r>
              <a:rPr sz="1050" b="0">
                <a:solidFill>
                  <a:srgbClr val="161B26"/>
                </a:solidFill>
                <a:latin typeface="Arial"/>
              </a:rPr>
              <a:t>Weeks to months</a:t>
            </a:r>
          </a:p>
        </p:txBody>
      </p:sp>
      <p:sp>
        <p:nvSpPr>
          <p:cNvPr id="27" name="TextBox 26"/>
          <p:cNvSpPr txBox="1"/>
          <p:nvPr/>
        </p:nvSpPr>
        <p:spPr>
          <a:xfrm>
            <a:off x="7260336" y="5269229"/>
            <a:ext cx="4059936" cy="966977"/>
          </a:xfrm>
          <a:prstGeom prst="rect">
            <a:avLst/>
          </a:prstGeom>
          <a:noFill/>
        </p:spPr>
        <p:txBody>
          <a:bodyPr wrap="square" anchor="ctr">
            <a:spAutoFit/>
          </a:bodyPr>
          <a:lstStyle/>
          <a:p>
            <a:pPr algn="l">
              <a:spcAft>
                <a:spcPts val="400"/>
              </a:spcAft>
            </a:pPr>
            <a:r>
              <a:rPr sz="1050" b="0">
                <a:solidFill>
                  <a:srgbClr val="161B26"/>
                </a:solidFill>
                <a:latin typeface="Arial"/>
              </a:rPr>
              <a:t>Trend following, factor portfolios</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 · CLASSIFICATION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Classification by Model Type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Rule-based</a:t>
            </a:r>
          </a:p>
          <a:p>
            <a:pPr algn="l">
              <a:spcAft>
                <a:spcPts val="300"/>
              </a:spcAft>
            </a:pPr>
            <a:r>
              <a:rPr sz="1050" b="0">
                <a:solidFill>
                  <a:srgbClr val="5B6372"/>
                </a:solidFill>
                <a:latin typeface="Arial"/>
              </a:rPr>
              <a:t>Fixed if-then rules on indicators, e.g. a moving-average crossover</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Statistical</a:t>
            </a:r>
          </a:p>
          <a:p>
            <a:pPr algn="l">
              <a:spcAft>
                <a:spcPts val="300"/>
              </a:spcAft>
            </a:pPr>
            <a:r>
              <a:rPr sz="1050" b="0">
                <a:solidFill>
                  <a:srgbClr val="5B6372"/>
                </a:solidFill>
                <a:latin typeface="Arial"/>
              </a:rPr>
              <a:t>Econometric tests and models: cointegration, regression, t-tests</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Machine learning</a:t>
            </a:r>
          </a:p>
          <a:p>
            <a:pPr algn="l">
              <a:spcAft>
                <a:spcPts val="300"/>
              </a:spcAft>
            </a:pPr>
            <a:r>
              <a:rPr sz="1050" b="0">
                <a:solidFill>
                  <a:srgbClr val="5B6372"/>
                </a:solidFill>
                <a:latin typeface="Arial"/>
              </a:rPr>
              <a:t>Models learn from labelled data: logistic regression, random forest, XGBoost</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Reinforcement learning</a:t>
            </a:r>
          </a:p>
          <a:p>
            <a:pPr algn="l">
              <a:spcAft>
                <a:spcPts val="300"/>
              </a:spcAft>
            </a:pPr>
            <a:r>
              <a:rPr sz="1050" b="0">
                <a:solidFill>
                  <a:srgbClr val="5B6372"/>
                </a:solidFill>
                <a:latin typeface="Arial"/>
              </a:rPr>
              <a:t>Learns a policy from rewards, e.g. order-execution research</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50" b="1">
                <a:solidFill>
                  <a:srgbClr val="161B26"/>
                </a:solidFill>
                <a:latin typeface="Arial"/>
              </a:rPr>
              <a:t>LLM and agentic</a:t>
            </a:r>
          </a:p>
          <a:p>
            <a:pPr algn="l">
              <a:spcAft>
                <a:spcPts val="300"/>
              </a:spcAft>
            </a:pPr>
            <a:r>
              <a:rPr sz="1050" b="0">
                <a:solidFill>
                  <a:srgbClr val="5B6372"/>
                </a:solidFill>
                <a:latin typeface="Arial"/>
              </a:rPr>
              <a:t>Language models read text and agents plan, code and act under limits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Strategy Families at a Glance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Trend following</a:t>
            </a:r>
          </a:p>
          <a:p>
            <a:pPr algn="l">
              <a:spcAft>
                <a:spcPts val="300"/>
              </a:spcAft>
            </a:pPr>
            <a:r>
              <a:rPr sz="1000" b="0">
                <a:solidFill>
                  <a:srgbClr val="5B6372"/>
                </a:solidFill>
                <a:latin typeface="Arial"/>
              </a:rPr>
              <a:t>Rides sustained moves in the direction of the trend; cuts losers quickly  -  e.g. Buy when the 50-day moving average crosses above the 200-day</a:t>
            </a:r>
          </a:p>
        </p:txBody>
      </p:sp>
      <p:sp>
        <p:nvSpPr>
          <p:cNvPr id="15" name="Rectangle 14"/>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Mean reversion</a:t>
            </a:r>
          </a:p>
          <a:p>
            <a:pPr algn="l">
              <a:spcAft>
                <a:spcPts val="300"/>
              </a:spcAft>
            </a:pPr>
            <a:r>
              <a:rPr sz="1000" b="0">
                <a:solidFill>
                  <a:srgbClr val="5B6372"/>
                </a:solidFill>
                <a:latin typeface="Arial"/>
              </a:rPr>
              <a:t>Bets that prices stretched far from their average will snap back  -  e.g. Buy when price closes below the lower Bollinger Band (20-day, 2 std dev)</a:t>
            </a:r>
          </a:p>
        </p:txBody>
      </p:sp>
      <p:sp>
        <p:nvSpPr>
          <p:cNvPr id="20" name="Rectangle 19"/>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Momentum and breakout</a:t>
            </a:r>
          </a:p>
          <a:p>
            <a:pPr algn="l">
              <a:spcAft>
                <a:spcPts val="300"/>
              </a:spcAft>
            </a:pPr>
            <a:r>
              <a:rPr sz="1000" b="0">
                <a:solidFill>
                  <a:srgbClr val="5B6372"/>
                </a:solidFill>
                <a:latin typeface="Arial"/>
              </a:rPr>
              <a:t>Buys recent winners or prices breaking out of a range, expecting them to keep going  -  e.g. Buy on a close above the 20-day high (Donchian channel breakout)</a:t>
            </a:r>
          </a:p>
        </p:txBody>
      </p:sp>
      <p:sp>
        <p:nvSpPr>
          <p:cNvPr id="25" name="Rectangle 24"/>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Statistical / pairs arbitrage</a:t>
            </a:r>
          </a:p>
          <a:p>
            <a:pPr algn="l">
              <a:spcAft>
                <a:spcPts val="300"/>
              </a:spcAft>
            </a:pPr>
            <a:r>
              <a:rPr sz="1000" b="0">
                <a:solidFill>
                  <a:srgbClr val="5B6372"/>
                </a:solidFill>
                <a:latin typeface="Arial"/>
              </a:rPr>
              <a:t>Trades the spread between two related assets when it drifts from its normal level  -  e.g. Short the rich leg, buy the cheap leg when the spread z-score exceeds 2</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Strategy Families at a Glance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sp>
        <p:nvSpPr>
          <p:cNvPr id="10" name="Rectangle 9"/>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Execution algorithms</a:t>
            </a:r>
          </a:p>
          <a:p>
            <a:pPr algn="l">
              <a:spcAft>
                <a:spcPts val="300"/>
              </a:spcAft>
            </a:pPr>
            <a:r>
              <a:rPr sz="1000" b="0">
                <a:solidFill>
                  <a:srgbClr val="5B6372"/>
                </a:solidFill>
                <a:latin typeface="Arial"/>
              </a:rPr>
              <a:t>Split a large order to minimise cost and market impact: VWAP, TWAP, POV, implementation shortfall  -  e.g. POV: trade 10% of market volume until the order is filled</a:t>
            </a:r>
          </a:p>
        </p:txBody>
      </p:sp>
      <p:sp>
        <p:nvSpPr>
          <p:cNvPr id="15" name="Rectangle 14"/>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3063240"/>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Market making</a:t>
            </a:r>
          </a:p>
          <a:p>
            <a:pPr algn="l">
              <a:spcAft>
                <a:spcPts val="300"/>
              </a:spcAft>
            </a:pPr>
            <a:r>
              <a:rPr sz="1000" b="0">
                <a:solidFill>
                  <a:srgbClr val="5B6372"/>
                </a:solidFill>
                <a:latin typeface="Arial"/>
              </a:rPr>
              <a:t>Continuously quotes buy and sell prices, earning the spread while managing inventory  -  e.g. Quote bid and ask around mid-price; skew quotes as inventory builds</a:t>
            </a:r>
          </a:p>
        </p:txBody>
      </p:sp>
      <p:sp>
        <p:nvSpPr>
          <p:cNvPr id="20" name="Rectangle 19"/>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Index rebalancing / event-driven</a:t>
            </a:r>
          </a:p>
          <a:p>
            <a:pPr algn="l">
              <a:spcAft>
                <a:spcPts val="300"/>
              </a:spcAft>
            </a:pPr>
            <a:r>
              <a:rPr sz="1000" b="0">
                <a:solidFill>
                  <a:srgbClr val="5B6372"/>
                </a:solidFill>
                <a:latin typeface="Arial"/>
              </a:rPr>
              <a:t>Trades predictable flows around index changes, earnings and corporate events  -  e.g. Position ahead of announced index inclusions on the rebalance date</a:t>
            </a:r>
          </a:p>
        </p:txBody>
      </p:sp>
      <p:sp>
        <p:nvSpPr>
          <p:cNvPr id="25" name="Rectangle 24"/>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5367528"/>
            <a:ext cx="9427464" cy="731520"/>
          </a:xfrm>
          <a:prstGeom prst="rect">
            <a:avLst/>
          </a:prstGeom>
          <a:noFill/>
        </p:spPr>
        <p:txBody>
          <a:bodyPr wrap="square" anchor="ctr">
            <a:spAutoFit/>
          </a:bodyPr>
          <a:lstStyle/>
          <a:p>
            <a:pPr algn="l">
              <a:spcAft>
                <a:spcPts val="300"/>
              </a:spcAft>
            </a:pPr>
            <a:r>
              <a:rPr sz="1400" b="1">
                <a:solidFill>
                  <a:srgbClr val="161B26"/>
                </a:solidFill>
                <a:latin typeface="Arial"/>
              </a:rPr>
              <a:t>Sentiment / NLP</a:t>
            </a:r>
          </a:p>
          <a:p>
            <a:pPr algn="l">
              <a:spcAft>
                <a:spcPts val="300"/>
              </a:spcAft>
            </a:pPr>
            <a:r>
              <a:rPr sz="1000" b="0">
                <a:solidFill>
                  <a:srgbClr val="5B6372"/>
                </a:solidFill>
                <a:latin typeface="Arial"/>
              </a:rPr>
              <a:t>Turns news, filings and social media text into trading signals using NLP or LLMs  -  e.g. Go long when the average FinBERT headline sentiment is strongly positive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Algorithm: Moving-Average Crossover (Trend Following)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ma_crossover.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Two moving averages of the close: a fast one reacts quickly, a slow one shows the trend.</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Fast crosses ABOVE slow (golden cross): buy. Fast crosses BELOW (death cross): sell or go flat.</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Markets trend for months - it rides the move and cuts losers when the trend turns.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Whipsaws in sideways markets; signals lag; trade on the next bar, not the crossing bar.</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Bollinger Band Mean Reversion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bollinger.png"/>
          <p:cNvPicPr>
            <a:picLocks noChangeAspect="1"/>
          </p:cNvPicPr>
          <p:nvPr/>
        </p:nvPicPr>
        <p:blipFill>
          <a:blip r:embed="rId2"/>
          <a:stretch>
            <a:fillRect/>
          </a:stretch>
        </p:blipFill>
        <p:spPr>
          <a:xfrm>
            <a:off x="777240" y="2394160"/>
            <a:ext cx="6172200" cy="3212678"/>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Bands = 20-day mean +/- 2 standard deviations. A close outside the band is 'stretched'.</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Close below the lower band: buy. Exit when the price returns to the middle band (the mean).</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Range-bound markets where over-reactions snap back, e.g. a defensive stock such as KO.</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Strong trends keep 'stretching' - add a stop-loss or a trend filter; many small wins, rare big losses.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RSI and MACD Momentum Oscillators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rsi_macd.png"/>
          <p:cNvPicPr>
            <a:picLocks noChangeAspect="1"/>
          </p:cNvPicPr>
          <p:nvPr/>
        </p:nvPicPr>
        <p:blipFill>
          <a:blip r:embed="rId2"/>
          <a:stretch>
            <a:fillRect/>
          </a:stretch>
        </p:blipFill>
        <p:spPr>
          <a:xfrm>
            <a:off x="777240" y="2012079"/>
            <a:ext cx="6172200" cy="3976840"/>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RSI = 100 - 100/(1+RS), RS = average gain / average loss over 14 bars. MACD = EMA12 - EMA26.</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RSI &lt; 30 oversold / &gt; 70 overbought. MACD crossing above its 9-EMA signal line = momentum buy.</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As filters or confirmation for a trend or mean-reversion rule, not as stand-alone predictors.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Oscillators can stay overbought in strong trends; RSI and MACD are highly correlated with price.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Cross-Sectional Momentum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momentum.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Rank a universe by past return (e.g. 12 months, skipping the last month) each month.</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Hold the top-ranked assets, avoid or short the bottom-ranked; rebalance monthly.</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Information spreads slowly and winners keep winning for several months.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Sharp 'momentum crashes' when markets reverse; turnover costs at every rebalance.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Donchian Channel Breakout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breakout.png"/>
          <p:cNvPicPr>
            <a:picLocks noChangeAspect="1"/>
          </p:cNvPicPr>
          <p:nvPr/>
        </p:nvPicPr>
        <p:blipFill>
          <a:blip r:embed="rId2"/>
          <a:stretch>
            <a:fillRect/>
          </a:stretch>
        </p:blipFill>
        <p:spPr>
          <a:xfrm>
            <a:off x="777240" y="2395728"/>
            <a:ext cx="6172200" cy="3209544"/>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Track the highest high and lowest low of the last n bars (n = 20 here).</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Close above the 20-day high: buy the breakout. Exit below the 20-day low (or a trailing stop).</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New trends start with a break of a range - the rule used by the 1980s 'Turtle Traders'.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False breakouts in choppy markets; the channel must use PREVIOUS bars only (no look-ahead).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VWAP and TWAP Execution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vwap_twap.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Split a large parent order into child orders through the day to reduce market impact.</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TWAP: equal slices per time interval. VWAP: slices proportional to the typical volume curve.</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Working client or fund orders too large to trade at once; benchmarked to the day's VWAP.</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VWAP relies on a volume forecast; both are predictable to other traders - add randomisation.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Market Making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K3</a:t>
            </a:r>
          </a:p>
        </p:txBody>
      </p:sp>
      <p:pic>
        <p:nvPicPr>
          <p:cNvPr id="10" name="Picture 9" descr="algo_market_making.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Quote a bid below and an ask above the mid price at the same time.</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Earn the spread when both sides fill; skew quotes down when long, up when short, to cut inventory.</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Liquid markets with steady two-way flow - the business of quant market makers.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Adverse selection by better-informed traders; inventory risk in fast moves; needs low latency.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K5 · PLATFORMS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TradingView versus Alpaca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K5</a:t>
            </a:r>
          </a:p>
        </p:txBody>
      </p:sp>
      <p:sp>
        <p:nvSpPr>
          <p:cNvPr id="10" name="Rectangle 9"/>
          <p:cNvSpPr/>
          <p:nvPr/>
        </p:nvSpPr>
        <p:spPr>
          <a:xfrm>
            <a:off x="2926080" y="1810512"/>
            <a:ext cx="42062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68896" y="1810512"/>
            <a:ext cx="4242816"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810512"/>
            <a:ext cx="4206240" cy="420624"/>
          </a:xfrm>
          <a:prstGeom prst="rect">
            <a:avLst/>
          </a:prstGeom>
          <a:noFill/>
        </p:spPr>
        <p:txBody>
          <a:bodyPr wrap="square" anchor="ctr">
            <a:spAutoFit/>
          </a:bodyPr>
          <a:lstStyle/>
          <a:p>
            <a:pPr algn="ctr">
              <a:spcAft>
                <a:spcPts val="400"/>
              </a:spcAft>
            </a:pPr>
            <a:r>
              <a:rPr sz="1400" b="1">
                <a:solidFill>
                  <a:srgbClr val="FFFFFF"/>
                </a:solidFill>
                <a:latin typeface="Arial"/>
              </a:rPr>
              <a:t>TradingView</a:t>
            </a:r>
          </a:p>
        </p:txBody>
      </p:sp>
      <p:sp>
        <p:nvSpPr>
          <p:cNvPr id="13" name="TextBox 12"/>
          <p:cNvSpPr txBox="1"/>
          <p:nvPr/>
        </p:nvSpPr>
        <p:spPr>
          <a:xfrm>
            <a:off x="7168896" y="1810512"/>
            <a:ext cx="4242816" cy="420624"/>
          </a:xfrm>
          <a:prstGeom prst="rect">
            <a:avLst/>
          </a:prstGeom>
          <a:noFill/>
        </p:spPr>
        <p:txBody>
          <a:bodyPr wrap="square" anchor="ctr">
            <a:spAutoFit/>
          </a:bodyPr>
          <a:lstStyle/>
          <a:p>
            <a:pPr algn="ctr">
              <a:spcAft>
                <a:spcPts val="400"/>
              </a:spcAft>
            </a:pPr>
            <a:r>
              <a:rPr sz="1400" b="1">
                <a:solidFill>
                  <a:srgbClr val="FFFFFF"/>
                </a:solidFill>
                <a:latin typeface="Arial"/>
              </a:rPr>
              <a:t>Alpaca</a:t>
            </a:r>
          </a:p>
        </p:txBody>
      </p:sp>
      <p:sp>
        <p:nvSpPr>
          <p:cNvPr id="14" name="Rectangle 13"/>
          <p:cNvSpPr/>
          <p:nvPr/>
        </p:nvSpPr>
        <p:spPr>
          <a:xfrm>
            <a:off x="777240" y="2286000"/>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228600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What it is</a:t>
            </a:r>
          </a:p>
        </p:txBody>
      </p:sp>
      <p:sp>
        <p:nvSpPr>
          <p:cNvPr id="16" name="TextBox 15"/>
          <p:cNvSpPr txBox="1"/>
          <p:nvPr/>
        </p:nvSpPr>
        <p:spPr>
          <a:xfrm>
            <a:off x="3017520" y="228600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Charting and strategy-design platform</a:t>
            </a:r>
          </a:p>
        </p:txBody>
      </p:sp>
      <p:sp>
        <p:nvSpPr>
          <p:cNvPr id="17" name="TextBox 16"/>
          <p:cNvSpPr txBox="1"/>
          <p:nvPr/>
        </p:nvSpPr>
        <p:spPr>
          <a:xfrm>
            <a:off x="7260336" y="228600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API-first US broker for automated trading</a:t>
            </a:r>
          </a:p>
        </p:txBody>
      </p:sp>
      <p:sp>
        <p:nvSpPr>
          <p:cNvPr id="18" name="TextBox 17"/>
          <p:cNvSpPr txBox="1"/>
          <p:nvPr/>
        </p:nvSpPr>
        <p:spPr>
          <a:xfrm>
            <a:off x="886968" y="272796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Markets</a:t>
            </a:r>
          </a:p>
        </p:txBody>
      </p:sp>
      <p:sp>
        <p:nvSpPr>
          <p:cNvPr id="19" name="TextBox 18"/>
          <p:cNvSpPr txBox="1"/>
          <p:nvPr/>
        </p:nvSpPr>
        <p:spPr>
          <a:xfrm>
            <a:off x="3017520" y="272796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Global charts incl. SGX, US, FX, crypto</a:t>
            </a:r>
          </a:p>
        </p:txBody>
      </p:sp>
      <p:sp>
        <p:nvSpPr>
          <p:cNvPr id="20" name="TextBox 19"/>
          <p:cNvSpPr txBox="1"/>
          <p:nvPr/>
        </p:nvSpPr>
        <p:spPr>
          <a:xfrm>
            <a:off x="7260336" y="272796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US stocks and ETFs, options, crypto</a:t>
            </a:r>
          </a:p>
        </p:txBody>
      </p:sp>
      <p:sp>
        <p:nvSpPr>
          <p:cNvPr id="21" name="Rectangle 20"/>
          <p:cNvSpPr/>
          <p:nvPr/>
        </p:nvSpPr>
        <p:spPr>
          <a:xfrm>
            <a:off x="777240" y="3169920"/>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16992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Strategy design</a:t>
            </a:r>
          </a:p>
        </p:txBody>
      </p:sp>
      <p:sp>
        <p:nvSpPr>
          <p:cNvPr id="23" name="TextBox 22"/>
          <p:cNvSpPr txBox="1"/>
          <p:nvPr/>
        </p:nvSpPr>
        <p:spPr>
          <a:xfrm>
            <a:off x="3017520" y="316992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Pine Script v6 indicators and strategies</a:t>
            </a:r>
          </a:p>
        </p:txBody>
      </p:sp>
      <p:sp>
        <p:nvSpPr>
          <p:cNvPr id="24" name="TextBox 23"/>
          <p:cNvSpPr txBox="1"/>
          <p:nvPr/>
        </p:nvSpPr>
        <p:spPr>
          <a:xfrm>
            <a:off x="7260336" y="316992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Write it yourself in Python (alpaca-py)</a:t>
            </a:r>
          </a:p>
        </p:txBody>
      </p:sp>
      <p:sp>
        <p:nvSpPr>
          <p:cNvPr id="25" name="TextBox 24"/>
          <p:cNvSpPr txBox="1"/>
          <p:nvPr/>
        </p:nvSpPr>
        <p:spPr>
          <a:xfrm>
            <a:off x="886968" y="3611879"/>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Backtesting</a:t>
            </a:r>
          </a:p>
        </p:txBody>
      </p:sp>
      <p:sp>
        <p:nvSpPr>
          <p:cNvPr id="26" name="TextBox 25"/>
          <p:cNvSpPr txBox="1"/>
          <p:nvPr/>
        </p:nvSpPr>
        <p:spPr>
          <a:xfrm>
            <a:off x="3017520" y="3611879"/>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Strategy Tester (simplified costs and fills)</a:t>
            </a:r>
          </a:p>
        </p:txBody>
      </p:sp>
      <p:sp>
        <p:nvSpPr>
          <p:cNvPr id="27" name="TextBox 26"/>
          <p:cNvSpPr txBox="1"/>
          <p:nvPr/>
        </p:nvSpPr>
        <p:spPr>
          <a:xfrm>
            <a:off x="7260336" y="3611879"/>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None built in - you build a cost-aware backtest</a:t>
            </a:r>
          </a:p>
        </p:txBody>
      </p:sp>
      <p:sp>
        <p:nvSpPr>
          <p:cNvPr id="28" name="Rectangle 27"/>
          <p:cNvSpPr/>
          <p:nvPr/>
        </p:nvSpPr>
        <p:spPr>
          <a:xfrm>
            <a:off x="777240" y="4053840"/>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 y="405384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Paper trading</a:t>
            </a:r>
          </a:p>
        </p:txBody>
      </p:sp>
      <p:sp>
        <p:nvSpPr>
          <p:cNvPr id="30" name="TextBox 29"/>
          <p:cNvSpPr txBox="1"/>
          <p:nvPr/>
        </p:nvSpPr>
        <p:spPr>
          <a:xfrm>
            <a:off x="3017520" y="405384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Built-in Paper Trading account from the chart</a:t>
            </a:r>
          </a:p>
        </p:txBody>
      </p:sp>
      <p:sp>
        <p:nvSpPr>
          <p:cNvPr id="31" name="TextBox 30"/>
          <p:cNvSpPr txBox="1"/>
          <p:nvPr/>
        </p:nvSpPr>
        <p:spPr>
          <a:xfrm>
            <a:off x="7260336" y="405384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Paper account mirroring the live API</a:t>
            </a:r>
          </a:p>
        </p:txBody>
      </p:sp>
      <p:sp>
        <p:nvSpPr>
          <p:cNvPr id="32" name="TextBox 31"/>
          <p:cNvSpPr txBox="1"/>
          <p:nvPr/>
        </p:nvSpPr>
        <p:spPr>
          <a:xfrm>
            <a:off x="886968" y="4495799"/>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Automation</a:t>
            </a:r>
          </a:p>
        </p:txBody>
      </p:sp>
      <p:sp>
        <p:nvSpPr>
          <p:cNvPr id="33" name="TextBox 32"/>
          <p:cNvSpPr txBox="1"/>
          <p:nvPr/>
        </p:nvSpPr>
        <p:spPr>
          <a:xfrm>
            <a:off x="3017520" y="4495799"/>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Alerts; webhooks on paid plans</a:t>
            </a:r>
          </a:p>
        </p:txBody>
      </p:sp>
      <p:sp>
        <p:nvSpPr>
          <p:cNvPr id="34" name="TextBox 33"/>
          <p:cNvSpPr txBox="1"/>
          <p:nvPr/>
        </p:nvSpPr>
        <p:spPr>
          <a:xfrm>
            <a:off x="7260336" y="4495799"/>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Trading API: orders, positions, clock; 24/5 trading</a:t>
            </a:r>
          </a:p>
        </p:txBody>
      </p:sp>
      <p:sp>
        <p:nvSpPr>
          <p:cNvPr id="35" name="Rectangle 34"/>
          <p:cNvSpPr/>
          <p:nvPr/>
        </p:nvSpPr>
        <p:spPr>
          <a:xfrm>
            <a:off x="777240" y="4937759"/>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 y="4937759"/>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Data</a:t>
            </a:r>
          </a:p>
        </p:txBody>
      </p:sp>
      <p:sp>
        <p:nvSpPr>
          <p:cNvPr id="37" name="TextBox 36"/>
          <p:cNvSpPr txBox="1"/>
          <p:nvPr/>
        </p:nvSpPr>
        <p:spPr>
          <a:xfrm>
            <a:off x="3017520" y="4937759"/>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Charts and Data Window</a:t>
            </a:r>
          </a:p>
        </p:txBody>
      </p:sp>
      <p:sp>
        <p:nvSpPr>
          <p:cNvPr id="38" name="TextBox 37"/>
          <p:cNvSpPr txBox="1"/>
          <p:nvPr/>
        </p:nvSpPr>
        <p:spPr>
          <a:xfrm>
            <a:off x="7260336" y="4937759"/>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Market Data API: bars, quotes, trades, news (IEX free)</a:t>
            </a:r>
          </a:p>
        </p:txBody>
      </p:sp>
      <p:sp>
        <p:nvSpPr>
          <p:cNvPr id="39" name="TextBox 38"/>
          <p:cNvSpPr txBox="1"/>
          <p:nvPr/>
        </p:nvSpPr>
        <p:spPr>
          <a:xfrm>
            <a:off x="886968" y="537972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Machine learning</a:t>
            </a:r>
          </a:p>
        </p:txBody>
      </p:sp>
      <p:sp>
        <p:nvSpPr>
          <p:cNvPr id="40" name="TextBox 39"/>
          <p:cNvSpPr txBox="1"/>
          <p:nvPr/>
        </p:nvSpPr>
        <p:spPr>
          <a:xfrm>
            <a:off x="3017520" y="537972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Not supported</a:t>
            </a:r>
          </a:p>
        </p:txBody>
      </p:sp>
      <p:sp>
        <p:nvSpPr>
          <p:cNvPr id="41" name="TextBox 40"/>
          <p:cNvSpPr txBox="1"/>
          <p:nvPr/>
        </p:nvSpPr>
        <p:spPr>
          <a:xfrm>
            <a:off x="7260336" y="537972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Any Python library (scikit-learn, XGBoost)</a:t>
            </a:r>
          </a:p>
        </p:txBody>
      </p:sp>
      <p:sp>
        <p:nvSpPr>
          <p:cNvPr id="42" name="Rectangle 41"/>
          <p:cNvSpPr/>
          <p:nvPr/>
        </p:nvSpPr>
        <p:spPr>
          <a:xfrm>
            <a:off x="777240" y="5821680"/>
            <a:ext cx="10634472" cy="41452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86968" y="5821680"/>
            <a:ext cx="1965960" cy="414527"/>
          </a:xfrm>
          <a:prstGeom prst="rect">
            <a:avLst/>
          </a:prstGeom>
          <a:noFill/>
        </p:spPr>
        <p:txBody>
          <a:bodyPr wrap="square" anchor="ctr">
            <a:spAutoFit/>
          </a:bodyPr>
          <a:lstStyle/>
          <a:p>
            <a:pPr algn="l">
              <a:spcAft>
                <a:spcPts val="400"/>
              </a:spcAft>
            </a:pPr>
            <a:r>
              <a:rPr sz="1150" b="1">
                <a:solidFill>
                  <a:srgbClr val="161B26"/>
                </a:solidFill>
                <a:latin typeface="Arial"/>
              </a:rPr>
              <a:t>Best used for</a:t>
            </a:r>
          </a:p>
        </p:txBody>
      </p:sp>
      <p:sp>
        <p:nvSpPr>
          <p:cNvPr id="44" name="TextBox 43"/>
          <p:cNvSpPr txBox="1"/>
          <p:nvPr/>
        </p:nvSpPr>
        <p:spPr>
          <a:xfrm>
            <a:off x="3017520" y="5821680"/>
            <a:ext cx="4014216" cy="414527"/>
          </a:xfrm>
          <a:prstGeom prst="rect">
            <a:avLst/>
          </a:prstGeom>
          <a:noFill/>
        </p:spPr>
        <p:txBody>
          <a:bodyPr wrap="square" anchor="ctr">
            <a:spAutoFit/>
          </a:bodyPr>
          <a:lstStyle/>
          <a:p>
            <a:pPr algn="l">
              <a:spcAft>
                <a:spcPts val="400"/>
              </a:spcAft>
            </a:pPr>
            <a:r>
              <a:rPr sz="1050" b="0">
                <a:solidFill>
                  <a:srgbClr val="161B26"/>
                </a:solidFill>
                <a:latin typeface="Arial"/>
              </a:rPr>
              <a:t>Designing, visualising and first-testing a rule</a:t>
            </a:r>
          </a:p>
        </p:txBody>
      </p:sp>
      <p:sp>
        <p:nvSpPr>
          <p:cNvPr id="45" name="TextBox 44"/>
          <p:cNvSpPr txBox="1"/>
          <p:nvPr/>
        </p:nvSpPr>
        <p:spPr>
          <a:xfrm>
            <a:off x="7260336" y="5821680"/>
            <a:ext cx="4059936" cy="414527"/>
          </a:xfrm>
          <a:prstGeom prst="rect">
            <a:avLst/>
          </a:prstGeom>
          <a:noFill/>
        </p:spPr>
        <p:txBody>
          <a:bodyPr wrap="square" anchor="ctr">
            <a:spAutoFit/>
          </a:bodyPr>
          <a:lstStyle/>
          <a:p>
            <a:pPr algn="l">
              <a:spcAft>
                <a:spcPts val="400"/>
              </a:spcAft>
            </a:pPr>
            <a:r>
              <a:rPr sz="1050" b="0">
                <a:solidFill>
                  <a:srgbClr val="161B26"/>
                </a:solidFill>
                <a:latin typeface="Arial"/>
              </a:rPr>
              <a:t>Executing and forward-testing it automatically</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K7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Order Lifecycle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K7</a:t>
            </a:r>
          </a:p>
        </p:txBody>
      </p:sp>
      <p:sp>
        <p:nvSpPr>
          <p:cNvPr id="10" name="TextBox 9"/>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A program must read the status — never assume a fill.</a:t>
            </a:r>
          </a:p>
        </p:txBody>
      </p:sp>
      <p:sp>
        <p:nvSpPr>
          <p:cNvPr id="11" name="Rectangle 10"/>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374343"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5" name="TextBox 14"/>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new</a:t>
            </a:r>
          </a:p>
        </p:txBody>
      </p:sp>
      <p:sp>
        <p:nvSpPr>
          <p:cNvPr id="16" name="TextBox 15"/>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7" name="Rectangle 16"/>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958998"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556101"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1" name="TextBox 20"/>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accepted</a:t>
            </a:r>
          </a:p>
        </p:txBody>
      </p:sp>
      <p:sp>
        <p:nvSpPr>
          <p:cNvPr id="22" name="TextBox 21"/>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3" name="Rectangle 22"/>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40756"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737859"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7" name="TextBox 26"/>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partially filled</a:t>
            </a:r>
          </a:p>
        </p:txBody>
      </p:sp>
      <p:sp>
        <p:nvSpPr>
          <p:cNvPr id="28" name="TextBox 27"/>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9" name="Rectangle 28"/>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22514"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919617"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3" name="TextBox 32"/>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filled</a:t>
            </a:r>
          </a:p>
        </p:txBody>
      </p:sp>
      <p:sp>
        <p:nvSpPr>
          <p:cNvPr id="34" name="TextBox 33"/>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5" name="Rectangle 34"/>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04272"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101375"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9" name="TextBox 38"/>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cancelled / expired / rejected</a:t>
            </a:r>
          </a:p>
        </p:txBody>
      </p:sp>
      <p:sp>
        <p:nvSpPr>
          <p:cNvPr id="40" name="Rectangle 39"/>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Bracket orders protect a position even if your program stops running.</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A3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From Idea to Tested Rule on TradingView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10B981"/>
                </a:solidFill>
                <a:latin typeface="Arial"/>
              </a:rPr>
              <a:t>A3</a:t>
            </a:r>
          </a:p>
        </p:txBody>
      </p:sp>
      <p:sp>
        <p:nvSpPr>
          <p:cNvPr id="10" name="Rectangle 9"/>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9253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Chart the instrument and timeframe</a:t>
            </a:r>
          </a:p>
        </p:txBody>
      </p:sp>
      <p:sp>
        <p:nvSpPr>
          <p:cNvPr id="15" name="TextBox 14"/>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16" name="Rectangle 15"/>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95372"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010662"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Add indicators (Pine)</a:t>
            </a:r>
          </a:p>
        </p:txBody>
      </p:sp>
      <p:sp>
        <p:nvSpPr>
          <p:cNvPr id="21" name="TextBox 20"/>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2" name="Rectangle 21"/>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13504"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828794"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Write the strategy() script</a:t>
            </a:r>
          </a:p>
        </p:txBody>
      </p:sp>
      <p:sp>
        <p:nvSpPr>
          <p:cNvPr id="27" name="TextBox 26"/>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28" name="Rectangle 27"/>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1636"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46926"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Set commission and slippage</a:t>
            </a:r>
          </a:p>
        </p:txBody>
      </p:sp>
      <p:sp>
        <p:nvSpPr>
          <p:cNvPr id="33" name="TextBox 32"/>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34" name="Rectangle 33"/>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49768"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465058"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Read the Strategy Tester</a:t>
            </a:r>
          </a:p>
        </p:txBody>
      </p:sp>
      <p:sp>
        <p:nvSpPr>
          <p:cNvPr id="39" name="TextBox 38"/>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10B981"/>
                </a:solidFill>
                <a:latin typeface="Arial"/>
              </a:rPr>
              <a:t>▶</a:t>
            </a:r>
          </a:p>
        </p:txBody>
      </p:sp>
      <p:sp>
        <p:nvSpPr>
          <p:cNvPr id="40" name="Rectangle 39"/>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867900" y="2240280"/>
            <a:ext cx="154381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283190" y="2569464"/>
            <a:ext cx="713232" cy="71323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Compare with buy-and-hold</a:t>
            </a:r>
          </a:p>
        </p:txBody>
      </p:sp>
      <p:sp>
        <p:nvSpPr>
          <p:cNvPr id="45" name="Rectangle 44"/>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The Strategy Tester is a first filter; the full test with costs runs in Python.</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Indicator Stage: Pine Script v6 Indicators and their Python Twins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A3  K3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05</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Add the desk's Pine Script v6 indicators to a TradingView chart, build pipeline/indicators.py with twins of ta.ema, ta.sma, ta.rsi, ta.bb, ta.atr, ta.macd, ta.crossover and ta.crossunder, and cross-check the values against the TradingView Data Window.</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the trend and bands indicator</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the RSI pane</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Record the TradingView values</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Pine twins</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cross-check run</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Pine Script v6 indicators on TradingView and their Python twins, cross-checked value by value.</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05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05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5_pine_preview.png"/>
          <p:cNvPicPr>
            <a:picLocks noChangeAspect="1"/>
          </p:cNvPicPr>
          <p:nvPr/>
        </p:nvPicPr>
        <p:blipFill>
          <a:blip r:embed="rId2"/>
          <a:stretch>
            <a:fillRect/>
          </a:stretch>
        </p:blipFill>
        <p:spPr>
          <a:xfrm>
            <a:off x="2870033" y="1828800"/>
            <a:ext cx="6451628" cy="3794760"/>
          </a:xfrm>
          <a:prstGeom prst="rect">
            <a:avLst/>
          </a:prstGeom>
        </p:spPr>
      </p:pic>
      <p:sp>
        <p:nvSpPr>
          <p:cNvPr id="8" name="Rectangle 7"/>
          <p:cNvSpPr/>
          <p:nvPr/>
        </p:nvSpPr>
        <p:spPr>
          <a:xfrm>
            <a:off x="2859060" y="1817827"/>
            <a:ext cx="6473574"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Lab05-pine-indicators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Strategy Prototype: TradingView Strategy Tester, Paper Trading from the Chart and Pipeline Reconciliation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91472" y="475488"/>
            <a:ext cx="1920240"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491472"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91472" y="475488"/>
            <a:ext cx="1920240" cy="310896"/>
          </a:xfrm>
          <a:prstGeom prst="rect">
            <a:avLst/>
          </a:prstGeom>
          <a:noFill/>
        </p:spPr>
        <p:txBody>
          <a:bodyPr wrap="square" anchor="ctr">
            <a:spAutoFit/>
          </a:bodyPr>
          <a:lstStyle/>
          <a:p>
            <a:pPr algn="ctr">
              <a:spcAft>
                <a:spcPts val="400"/>
              </a:spcAft>
            </a:pPr>
            <a:r>
              <a:rPr sz="1100" b="1">
                <a:solidFill>
                  <a:srgbClr val="10B981"/>
                </a:solidFill>
                <a:latin typeface="Arial"/>
              </a:rPr>
              <a:t>A2  A3  K3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06</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Configure a Pine Script v6 strategy with costs, read the Strategy Tester, build `python -m pipeline reconcile` to check the Pine settings and reproduce the results, and place and manage paper trades from the chart with TradingView Paper Trading (and optionally an Alpaca paper account).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strategy code</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it in the Strategy Tester and record the results</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reconciliation stage</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Reconcile TradingView with the pipeline</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Explain the differences</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+5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Pine MA-crossover strategy with costs, reconciled with the pipeline and paper-traded from the chart.</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30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06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06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6_crosscheck.png"/>
          <p:cNvPicPr>
            <a:picLocks noChangeAspect="1"/>
          </p:cNvPicPr>
          <p:nvPr/>
        </p:nvPicPr>
        <p:blipFill>
          <a:blip r:embed="rId2"/>
          <a:stretch>
            <a:fillRect/>
          </a:stretch>
        </p:blipFill>
        <p:spPr>
          <a:xfrm>
            <a:off x="2918027" y="1828800"/>
            <a:ext cx="6355640" cy="3794760"/>
          </a:xfrm>
          <a:prstGeom prst="rect">
            <a:avLst/>
          </a:prstGeom>
        </p:spPr>
      </p:pic>
      <p:sp>
        <p:nvSpPr>
          <p:cNvPr id="8" name="Rectangle 7"/>
          <p:cNvSpPr/>
          <p:nvPr/>
        </p:nvSpPr>
        <p:spPr>
          <a:xfrm>
            <a:off x="2907054" y="1817827"/>
            <a:ext cx="6377586"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Lab06-pine-strategy-tester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5B6372"/>
                </a:solidFill>
                <a:latin typeface="Arial"/>
              </a:rPr>
              <a:t>15 minutes  ·  see you at 15:40</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Signal Stage: a Library of Trend, Mean-Reversion, Momentum and Breakout Signals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A2  K3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07</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pipeline/signals.py with trend, mean-reversion, momentum and breakout signals that return target positions with next-bar alignment, a registry, an automated look-ahead test and a universe target file for the execution stage.</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Agree the signal contract</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trend signals</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mean-reversion, momentum and breakout signals</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the registry, next-bar alignment and the look-ahead test</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signals command</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signal library (trend, mean reversion, momentum, breakout) with next-bar alignment and look-ahead tests.</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07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07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7_signals.png"/>
          <p:cNvPicPr>
            <a:picLocks noChangeAspect="1"/>
          </p:cNvPicPr>
          <p:nvPr/>
        </p:nvPicPr>
        <p:blipFill>
          <a:blip r:embed="rId2"/>
          <a:stretch>
            <a:fillRect/>
          </a:stretch>
        </p:blipFill>
        <p:spPr>
          <a:xfrm>
            <a:off x="3635598" y="1828800"/>
            <a:ext cx="4920497" cy="3794760"/>
          </a:xfrm>
          <a:prstGeom prst="rect">
            <a:avLst/>
          </a:prstGeom>
        </p:spPr>
      </p:pic>
      <p:sp>
        <p:nvSpPr>
          <p:cNvPr id="8" name="Rectangle 7"/>
          <p:cNvSpPr/>
          <p:nvPr/>
        </p:nvSpPr>
        <p:spPr>
          <a:xfrm>
            <a:off x="3624625" y="1817827"/>
            <a:ext cx="4942443"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Lab07-python-indicators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Execution Stage: an Order Manager that Trades the Paper Account in Any Session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A3  K5</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08</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pipeline/execution.py: a session-aware, idempotent order manager that sizes orders from target weights, sends market, extended-hours limit, GTC-queued or bracket PAPER orders, polls their lifecycle, cancels protective legs before exits, and falls back safely when an order is rejected.</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Learn the order rules for each session</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planning logic: target vs actual</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session-aware, idempotent order submission</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polling, protective-order handling and safe fallbacks</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order manager in the current session</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+5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order manager that turns target positions into paper orders in regular or extended hours.</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30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Evaluation Stage: Performance and Risk Metrics with a Benchmark Table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A3  K3</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09</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`python -m pipeline evaluate` to compute total return, CAGR, volatility, Sharpe, Sortino, maximum drawdown, Calmar, win rate, profit factor, exposure, turnover, alpha and beta for every signal against a buy-and-hold benchmark, and interpret the ranking.</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metric formulas</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evaluation stage</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evaluation</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Check one metric by hand</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Interpret trade and market metrics</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+2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evaluation stage producing the metrics and benchmark table for every strategy.</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09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09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09_metrics.png"/>
          <p:cNvPicPr>
            <a:picLocks noChangeAspect="1"/>
          </p:cNvPicPr>
          <p:nvPr/>
        </p:nvPicPr>
        <p:blipFill>
          <a:blip r:embed="rId2"/>
          <a:stretch>
            <a:fillRect/>
          </a:stretch>
        </p:blipFill>
        <p:spPr>
          <a:xfrm>
            <a:off x="2918027" y="1828800"/>
            <a:ext cx="6355640" cy="3794760"/>
          </a:xfrm>
          <a:prstGeom prst="rect">
            <a:avLst/>
          </a:prstGeom>
        </p:spPr>
      </p:pic>
      <p:sp>
        <p:nvSpPr>
          <p:cNvPr id="8" name="Rectangle 7"/>
          <p:cNvSpPr/>
          <p:nvPr/>
        </p:nvSpPr>
        <p:spPr>
          <a:xfrm>
            <a:off x="2907054" y="1817827"/>
            <a:ext cx="6377586"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Lab09-performance-metrics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WHAT YOU COVERED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2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07424" y="475488"/>
            <a:ext cx="2304288"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07424"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07424" y="475488"/>
            <a:ext cx="2304288" cy="310896"/>
          </a:xfrm>
          <a:prstGeom prst="rect">
            <a:avLst/>
          </a:prstGeom>
          <a:noFill/>
        </p:spPr>
        <p:txBody>
          <a:bodyPr wrap="square" anchor="ctr">
            <a:spAutoFit/>
          </a:bodyPr>
          <a:lstStyle/>
          <a:p>
            <a:pPr algn="ctr">
              <a:spcAft>
                <a:spcPts val="400"/>
              </a:spcAft>
            </a:pPr>
            <a:r>
              <a:rPr sz="1100" b="1">
                <a:solidFill>
                  <a:srgbClr val="10B981"/>
                </a:solidFill>
                <a:latin typeface="Arial"/>
              </a:rPr>
              <a:t>A2  A3  K3  K5  K7</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A2</a:t>
            </a:r>
          </a:p>
          <a:p>
            <a:pPr algn="l">
              <a:spcAft>
                <a:spcPts val="300"/>
              </a:spcAft>
            </a:pPr>
            <a:r>
              <a:rPr sz="1000" b="0">
                <a:solidFill>
                  <a:srgbClr val="5B6372"/>
                </a:solidFill>
                <a:latin typeface="Arial"/>
              </a:rPr>
              <a:t>Identify appropriate statistical algorithms and data models to test hypotheses and/or theories</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A3</a:t>
            </a:r>
          </a:p>
          <a:p>
            <a:pPr algn="l">
              <a:spcAft>
                <a:spcPts val="300"/>
              </a:spcAft>
            </a:pPr>
            <a:r>
              <a:rPr sz="1000" b="0">
                <a:solidFill>
                  <a:srgbClr val="5B6372"/>
                </a:solidFill>
                <a:latin typeface="Arial"/>
              </a:rPr>
              <a:t>Use appropriate analytics platforms, analytical tools, statistical methods and analytical approaches given specific analytics and reporting requirements</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K3</a:t>
            </a:r>
          </a:p>
          <a:p>
            <a:pPr algn="l">
              <a:spcAft>
                <a:spcPts val="300"/>
              </a:spcAft>
            </a:pPr>
            <a:r>
              <a:rPr sz="1000" b="0">
                <a:solidFill>
                  <a:srgbClr val="5B6372"/>
                </a:solidFill>
                <a:latin typeface="Arial"/>
              </a:rPr>
              <a:t>Range and application of various statistical methods and algorithms</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K5</a:t>
            </a:r>
          </a:p>
          <a:p>
            <a:pPr algn="l">
              <a:spcAft>
                <a:spcPts val="300"/>
              </a:spcAft>
            </a:pPr>
            <a:r>
              <a:rPr sz="1000" b="0">
                <a:solidFill>
                  <a:srgbClr val="5B6372"/>
                </a:solidFill>
                <a:latin typeface="Arial"/>
              </a:rPr>
              <a:t>Usage of analytics platforms and tools</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K7</a:t>
            </a:r>
          </a:p>
          <a:p>
            <a:pPr algn="l">
              <a:spcAft>
                <a:spcPts val="300"/>
              </a:spcAft>
            </a:pPr>
            <a:r>
              <a:rPr sz="1000" b="0">
                <a:solidFill>
                  <a:srgbClr val="5B6372"/>
                </a:solidFill>
                <a:latin typeface="Arial"/>
              </a:rPr>
              <a:t>Coding languages for programming of algorithms and signals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End of Day 1</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5B6372"/>
                </a:solidFill>
                <a:latin typeface="Arial"/>
              </a:rPr>
              <a:t>See you at 09:00 tomorrow</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7C3AED"/>
                </a:solidFill>
                <a:latin typeface="Arial"/>
              </a:rPr>
              <a:t>TOPIC 3</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ML Models and A/B Testing</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7C3AED"/>
                </a:solidFill>
                <a:latin typeface="Arial"/>
              </a:rPr>
              <a:t>LEARNING OUTCOME</a:t>
            </a:r>
          </a:p>
          <a:p>
            <a:pPr algn="l">
              <a:spcAft>
                <a:spcPts val="400"/>
              </a:spcAft>
            </a:pPr>
            <a:r>
              <a:rPr sz="1350" b="0">
                <a:solidFill>
                  <a:srgbClr val="161B26"/>
                </a:solidFill>
                <a:latin typeface="Arial"/>
              </a:rPr>
              <a:t>Conduct statistical modelling of market data with machine learning models to derive patterns and solutions, and perform A/B testing of trading strategies based on different hypotheses.</a:t>
            </a:r>
          </a:p>
        </p:txBody>
      </p:sp>
      <p:sp>
        <p:nvSpPr>
          <p:cNvPr id="9" name="TextBox 8"/>
          <p:cNvSpPr txBox="1"/>
          <p:nvPr/>
        </p:nvSpPr>
        <p:spPr>
          <a:xfrm>
            <a:off x="1188720" y="4892040"/>
            <a:ext cx="9509760" cy="457200"/>
          </a:xfrm>
          <a:prstGeom prst="rect">
            <a:avLst/>
          </a:prstGeom>
          <a:noFill/>
        </p:spPr>
        <p:txBody>
          <a:bodyPr wrap="square" anchor="t">
            <a:spAutoFit/>
          </a:bodyPr>
          <a:lstStyle/>
          <a:p>
            <a:pPr algn="l">
              <a:spcAft>
                <a:spcPts val="400"/>
              </a:spcAft>
            </a:pPr>
            <a:r>
              <a:rPr sz="1150" b="0">
                <a:solidFill>
                  <a:srgbClr val="5B6372"/>
                </a:solidFill>
                <a:latin typeface="Arial"/>
              </a:rPr>
              <a:t>Abilities A4, A5  ·  Knowledge K2, K4, K6   ·   Day 2   ·   Labs 10–14   ·   Assessed by PP Task 3 and WA Q2, Q4, Q6</a:t>
            </a:r>
          </a:p>
        </p:txBody>
      </p:sp>
      <p:sp>
        <p:nvSpPr>
          <p:cNvPr id="10" name="TextBox 9"/>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03</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Types of Statistical Analyses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K2</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Descriptive</a:t>
            </a:r>
          </a:p>
          <a:p>
            <a:pPr algn="l">
              <a:spcAft>
                <a:spcPts val="300"/>
              </a:spcAft>
            </a:pPr>
            <a:r>
              <a:rPr sz="1150" b="0">
                <a:solidFill>
                  <a:srgbClr val="5B6372"/>
                </a:solidFill>
                <a:latin typeface="Arial"/>
              </a:rPr>
              <a:t>What happened — mean return, volatility, skew, correlation.</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Inferential</a:t>
            </a:r>
          </a:p>
          <a:p>
            <a:pPr algn="l">
              <a:spcAft>
                <a:spcPts val="300"/>
              </a:spcAft>
            </a:pPr>
            <a:r>
              <a:rPr sz="1150" b="0">
                <a:solidFill>
                  <a:srgbClr val="5B6372"/>
                </a:solidFill>
                <a:latin typeface="Arial"/>
              </a:rPr>
              <a:t>Is it real? — t-test, bootstrap, confidence intervals.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Predictive</a:t>
            </a:r>
          </a:p>
          <a:p>
            <a:pPr algn="l">
              <a:spcAft>
                <a:spcPts val="300"/>
              </a:spcAft>
            </a:pPr>
            <a:r>
              <a:rPr sz="1150" b="0">
                <a:solidFill>
                  <a:srgbClr val="5B6372"/>
                </a:solidFill>
                <a:latin typeface="Arial"/>
              </a:rPr>
              <a:t>What next? — regression, classification.</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Prescriptive</a:t>
            </a:r>
          </a:p>
          <a:p>
            <a:pPr algn="l">
              <a:spcAft>
                <a:spcPts val="300"/>
              </a:spcAft>
            </a:pPr>
            <a:r>
              <a:rPr sz="1150" b="0">
                <a:solidFill>
                  <a:srgbClr val="5B6372"/>
                </a:solidFill>
                <a:latin typeface="Arial"/>
              </a:rPr>
              <a:t>What to do? — optimisation, position sizing.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Families of Learning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K2</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Supervised</a:t>
            </a:r>
          </a:p>
          <a:p>
            <a:pPr algn="l">
              <a:spcAft>
                <a:spcPts val="300"/>
              </a:spcAft>
            </a:pPr>
            <a:r>
              <a:rPr sz="1150" b="0">
                <a:solidFill>
                  <a:srgbClr val="5B6372"/>
                </a:solidFill>
                <a:latin typeface="Arial"/>
              </a:rPr>
              <a:t>Features → known target: up/down, next return.</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Unsupervised</a:t>
            </a:r>
          </a:p>
          <a:p>
            <a:pPr algn="l">
              <a:spcAft>
                <a:spcPts val="300"/>
              </a:spcAft>
            </a:pPr>
            <a:r>
              <a:rPr sz="1150" b="0">
                <a:solidFill>
                  <a:srgbClr val="5B6372"/>
                </a:solidFill>
                <a:latin typeface="Arial"/>
              </a:rPr>
              <a:t>Structure without a target: regimes, PCA factors.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Reinforcement</a:t>
            </a:r>
          </a:p>
          <a:p>
            <a:pPr algn="l">
              <a:spcAft>
                <a:spcPts val="300"/>
              </a:spcAft>
            </a:pPr>
            <a:r>
              <a:rPr sz="1150" b="0">
                <a:solidFill>
                  <a:srgbClr val="5B6372"/>
                </a:solidFill>
                <a:latin typeface="Arial"/>
              </a:rPr>
              <a:t>Learn a policy from rewards — execution research.</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Search &amp; simulation</a:t>
            </a:r>
          </a:p>
          <a:p>
            <a:pPr algn="l">
              <a:spcAft>
                <a:spcPts val="300"/>
              </a:spcAft>
            </a:pPr>
            <a:r>
              <a:rPr sz="1150" b="0">
                <a:solidFill>
                  <a:srgbClr val="5B6372"/>
                </a:solidFill>
                <a:latin typeface="Arial"/>
              </a:rPr>
              <a:t>Grid search, Monte Carlo, bootstrap, walk-forward.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Supervised Models for Trading Signals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Linear / logistic regression</a:t>
            </a:r>
          </a:p>
          <a:p>
            <a:pPr algn="l">
              <a:spcAft>
                <a:spcPts val="300"/>
              </a:spcAft>
            </a:pPr>
            <a:r>
              <a:rPr sz="1150" b="0">
                <a:solidFill>
                  <a:srgbClr val="5B6372"/>
                </a:solidFill>
                <a:latin typeface="Arial"/>
              </a:rPr>
              <a:t>Interpretable baselines; P(up) from a weighted sum.</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Decision tree &amp; random forest</a:t>
            </a:r>
          </a:p>
          <a:p>
            <a:pPr algn="l">
              <a:spcAft>
                <a:spcPts val="300"/>
              </a:spcAft>
            </a:pPr>
            <a:r>
              <a:rPr sz="1150" b="0">
                <a:solidFill>
                  <a:srgbClr val="5B6372"/>
                </a:solidFill>
                <a:latin typeface="Arial"/>
              </a:rPr>
              <a:t>Threshold splits; averaged trees reduce variance.</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XGBoost</a:t>
            </a:r>
          </a:p>
          <a:p>
            <a:pPr algn="l">
              <a:spcAft>
                <a:spcPts val="300"/>
              </a:spcAft>
            </a:pPr>
            <a:r>
              <a:rPr sz="1150" b="0">
                <a:solidFill>
                  <a:srgbClr val="5B6372"/>
                </a:solidFill>
                <a:latin typeface="Arial"/>
              </a:rPr>
              <a:t>Sequential boosted trees — strongest on tabular features.</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Neural networks</a:t>
            </a:r>
          </a:p>
          <a:p>
            <a:pPr algn="l">
              <a:spcAft>
                <a:spcPts val="300"/>
              </a:spcAft>
            </a:pPr>
            <a:r>
              <a:rPr sz="1150" b="0">
                <a:solidFill>
                  <a:srgbClr val="5B6372"/>
                </a:solidFill>
                <a:latin typeface="Arial"/>
              </a:rPr>
              <a:t>MLP, LSTM, Transformer — data-hungry, easy to overfit.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Unsupervised Models for Regimes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K-means</a:t>
            </a:r>
          </a:p>
          <a:p>
            <a:pPr algn="l">
              <a:spcAft>
                <a:spcPts val="300"/>
              </a:spcAft>
            </a:pPr>
            <a:r>
              <a:rPr sz="1150" b="0">
                <a:solidFill>
                  <a:srgbClr val="5B6372"/>
                </a:solidFill>
                <a:latin typeface="Arial"/>
              </a:rPr>
              <a:t>Minimise within-cluster variance; choose k by elbow or silhouette.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Hierarchical clustering</a:t>
            </a:r>
          </a:p>
          <a:p>
            <a:pPr algn="l">
              <a:spcAft>
                <a:spcPts val="300"/>
              </a:spcAft>
            </a:pPr>
            <a:r>
              <a:rPr sz="1150" b="0">
                <a:solidFill>
                  <a:srgbClr val="5B6372"/>
                </a:solidFill>
                <a:latin typeface="Arial"/>
              </a:rPr>
              <a:t>Dendrogram of similar assets for diversification.</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PCA</a:t>
            </a:r>
          </a:p>
          <a:p>
            <a:pPr algn="l">
              <a:spcAft>
                <a:spcPts val="300"/>
              </a:spcAft>
            </a:pPr>
            <a:r>
              <a:rPr sz="1150" b="0">
                <a:solidFill>
                  <a:srgbClr val="5B6372"/>
                </a:solidFill>
                <a:latin typeface="Arial"/>
              </a:rPr>
              <a:t>First component ≈ the market; yield curve = level, slope, curvature.</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Fit on the past only</a:t>
            </a:r>
          </a:p>
          <a:p>
            <a:pPr algn="l">
              <a:spcAft>
                <a:spcPts val="300"/>
              </a:spcAft>
            </a:pPr>
            <a:r>
              <a:rPr sz="1150" b="0">
                <a:solidFill>
                  <a:srgbClr val="5B6372"/>
                </a:solidFill>
                <a:latin typeface="Arial"/>
              </a:rPr>
              <a:t>Assign new days to regimes as they arrive.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Statistical Modelling Techniques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K6</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Returns, not prices</a:t>
            </a:r>
          </a:p>
          <a:p>
            <a:pPr algn="l">
              <a:spcAft>
                <a:spcPts val="300"/>
              </a:spcAft>
            </a:pPr>
            <a:r>
              <a:rPr sz="1150" b="0">
                <a:solidFill>
                  <a:srgbClr val="5B6372"/>
                </a:solidFill>
                <a:latin typeface="Arial"/>
              </a:rPr>
              <a:t>Closer to stationary; avoids spurious regression.</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Time-ordered validation</a:t>
            </a:r>
          </a:p>
          <a:p>
            <a:pPr algn="l">
              <a:spcAft>
                <a:spcPts val="300"/>
              </a:spcAft>
            </a:pPr>
            <a:r>
              <a:rPr sz="1150" b="0">
                <a:solidFill>
                  <a:srgbClr val="5B6372"/>
                </a:solidFill>
                <a:latin typeface="Arial"/>
              </a:rPr>
              <a:t>TimeSeriesSplit and walk-forward — never shuffle.</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Leak-free features</a:t>
            </a:r>
          </a:p>
          <a:p>
            <a:pPr algn="l">
              <a:spcAft>
                <a:spcPts val="300"/>
              </a:spcAft>
            </a:pPr>
            <a:r>
              <a:rPr sz="1150" b="0">
                <a:solidFill>
                  <a:srgbClr val="5B6372"/>
                </a:solidFill>
                <a:latin typeface="Arial"/>
              </a:rPr>
              <a:t>Lags and rolling windows known at decision time.</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Regularise</a:t>
            </a:r>
          </a:p>
          <a:p>
            <a:pPr algn="l">
              <a:spcAft>
                <a:spcPts val="300"/>
              </a:spcAft>
            </a:pPr>
            <a:r>
              <a:rPr sz="1150" b="0">
                <a:solidFill>
                  <a:srgbClr val="5B6372"/>
                </a:solidFill>
                <a:latin typeface="Arial"/>
              </a:rPr>
              <a:t>L1/L2, depth limits, early stopping, fewer features.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A5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 Testing Two Strategy Variants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A5</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State H0 and H1 first</a:t>
            </a:r>
          </a:p>
          <a:p>
            <a:pPr algn="l">
              <a:spcAft>
                <a:spcPts val="300"/>
              </a:spcAft>
            </a:pPr>
            <a:r>
              <a:rPr sz="1150" b="0">
                <a:solidFill>
                  <a:srgbClr val="5B6372"/>
                </a:solidFill>
                <a:latin typeface="Arial"/>
              </a:rPr>
              <a:t>H0: equal mean returns; H1: B is higher. α = 5%.</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Welch's t-test</a:t>
            </a:r>
          </a:p>
          <a:p>
            <a:pPr algn="l">
              <a:spcAft>
                <a:spcPts val="300"/>
              </a:spcAft>
            </a:pPr>
            <a:r>
              <a:rPr sz="1150" b="0">
                <a:solidFill>
                  <a:srgbClr val="5B6372"/>
                </a:solidFill>
                <a:latin typeface="Arial"/>
              </a:rPr>
              <a:t>Compare mean daily returns with unequal variances.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Bootstrap the Sharpe difference</a:t>
            </a:r>
          </a:p>
          <a:p>
            <a:pPr algn="l">
              <a:spcAft>
                <a:spcPts val="300"/>
              </a:spcAft>
            </a:pPr>
            <a:r>
              <a:rPr sz="1150" b="0">
                <a:solidFill>
                  <a:srgbClr val="5B6372"/>
                </a:solidFill>
                <a:latin typeface="Arial"/>
              </a:rPr>
              <a:t>Resample returns; 95% CI excluding 0?</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Mind multiple testing</a:t>
            </a:r>
          </a:p>
          <a:p>
            <a:pPr algn="l">
              <a:spcAft>
                <a:spcPts val="300"/>
              </a:spcAft>
            </a:pPr>
            <a:r>
              <a:rPr sz="1150" b="0">
                <a:solidFill>
                  <a:srgbClr val="5B6372"/>
                </a:solidFill>
                <a:latin typeface="Arial"/>
              </a:rPr>
              <a:t>100 variants → ~5 false 'winners' by chance.</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Logistic Regression for Direction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logistic.png"/>
          <p:cNvPicPr>
            <a:picLocks noChangeAspect="1"/>
          </p:cNvPicPr>
          <p:nvPr/>
        </p:nvPicPr>
        <p:blipFill>
          <a:blip r:embed="rId2"/>
          <a:stretch>
            <a:fillRect/>
          </a:stretch>
        </p:blipFill>
        <p:spPr>
          <a:xfrm>
            <a:off x="777240" y="2529219"/>
            <a:ext cx="6172200" cy="2942560"/>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Fits P(up tomorrow) = 1 / (1 + e^-(b0 + b1 x1 + ...)) from features known today.</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Go long when P(up) exceeds a threshold such as 0.55; otherwise stay flat.</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A transparent baseline: each coefficient shows how a feature moves the probability.</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Only linear effects unless you engineer features; daily direction is close to a coin toss.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Decision Tree and Random Forest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tree.png"/>
          <p:cNvPicPr>
            <a:picLocks noChangeAspect="1"/>
          </p:cNvPicPr>
          <p:nvPr/>
        </p:nvPicPr>
        <p:blipFill>
          <a:blip r:embed="rId2"/>
          <a:stretch>
            <a:fillRect/>
          </a:stretch>
        </p:blipFill>
        <p:spPr>
          <a:xfrm>
            <a:off x="777240" y="2508173"/>
            <a:ext cx="6172200" cy="298465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A tree splits the data on feature thresholds (e.g. RSI &lt; 30) into leaves with an up/down share.</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A random forest averages hundreds of trees, each grown on a random sample of rows and features.</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Non-linear, interacting signals - e.g. oversold AND low volatility.</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Deep trees memorise noise; limit depth and leaf size and validate walk-forward.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Gradient Boosting (XGBoost)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boosting.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Builds trees one after another; each new tree corrects the errors of the ensemble so far.</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Prediction = sum of many small trees x learning rate; stop early when test loss stops falling.</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Tabular features such as returns, indicators and volatility - usually the strongest model.</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Training loss keeps falling while test loss rises: classic overfitting (see the chart).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K-Means Clustering for Market Regimes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kmeans.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Groups days into k clusters by minimising the distance of each day to its cluster centre.</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Features: rolling return and volatility (standardised). Name clusters by their averages.</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Switching or sizing strategies by regime: trend in calm markets, cut risk when stressed.</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Fit on past data only; choose k with the elbow or silhouette method; regimes shift.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Algorithm: Principal Component Analysis (PCA)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K4</a:t>
            </a:r>
          </a:p>
        </p:txBody>
      </p:sp>
      <p:pic>
        <p:nvPicPr>
          <p:cNvPr id="10" name="Picture 9" descr="algo_pca.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Finds uncorrelated combinations of assets that explain the most variance of returns.</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PC1 of a stock universe is 'the market'; later PCs are sector or style factors.</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Reducing many correlated features; building factor-neutral and pairs portfolios.</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Standardise first; components change over time; PCs are statistical, not economic, factors.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Method: Walk-Forward Validation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K6</a:t>
            </a:r>
          </a:p>
        </p:txBody>
      </p:sp>
      <p:pic>
        <p:nvPicPr>
          <p:cNvPr id="10" name="Picture 9" descr="algo_walk_forward.png"/>
          <p:cNvPicPr>
            <a:picLocks noChangeAspect="1"/>
          </p:cNvPicPr>
          <p:nvPr/>
        </p:nvPicPr>
        <p:blipFill>
          <a:blip r:embed="rId2"/>
          <a:stretch>
            <a:fillRect/>
          </a:stretch>
        </p:blipFill>
        <p:spPr>
          <a:xfrm>
            <a:off x="777240" y="2633240"/>
            <a:ext cx="6172200" cy="2734518"/>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Train on a past window, test on the next unseen block, then roll forward and repeat.</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Never shuffle time series; each test block is genuinely out of sample.</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Estimating how a model or parameter set would really have performed live.</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Overlapping targets leak information - leave a gap between train and test.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A5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Method: A/B Testing Two Strategy Variants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A5</a:t>
            </a:r>
          </a:p>
        </p:txBody>
      </p:sp>
      <p:pic>
        <p:nvPicPr>
          <p:cNvPr id="10" name="Picture 9" descr="algo_ab_test.png"/>
          <p:cNvPicPr>
            <a:picLocks noChangeAspect="1"/>
          </p:cNvPicPr>
          <p:nvPr/>
        </p:nvPicPr>
        <p:blipFill>
          <a:blip r:embed="rId2"/>
          <a:stretch>
            <a:fillRect/>
          </a:stretch>
        </p:blipFill>
        <p:spPr>
          <a:xfrm>
            <a:off x="777240" y="2398853"/>
            <a:ext cx="6172200" cy="3203293"/>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Compare variant A and B on the same days: H0 'no difference' vs H1 'B is better'.</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Welch / paired t-test on daily returns; bootstrap a 95% CI of the Sharpe difference.</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Deciding which parameter set or filter to promote to paper trading.</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If the CI contains 0, do not reject H0; testing 100 variants gives ~5 false winners.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A4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From Probability to Position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A4</a:t>
            </a:r>
          </a:p>
        </p:txBody>
      </p:sp>
      <p:sp>
        <p:nvSpPr>
          <p:cNvPr id="10" name="Rectangle 9"/>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374343"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Build leak-free features</a:t>
            </a:r>
          </a:p>
        </p:txBody>
      </p:sp>
      <p:sp>
        <p:nvSpPr>
          <p:cNvPr id="15" name="TextBox 14"/>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6" name="Rectangle 15"/>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8998"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556101"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Train on past window</a:t>
            </a:r>
          </a:p>
        </p:txBody>
      </p:sp>
      <p:sp>
        <p:nvSpPr>
          <p:cNvPr id="21" name="TextBox 20"/>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2" name="Rectangle 21"/>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40756"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737859"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Predict P(up) for tomorrow</a:t>
            </a:r>
          </a:p>
        </p:txBody>
      </p:sp>
      <p:sp>
        <p:nvSpPr>
          <p:cNvPr id="27" name="TextBox 26"/>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8" name="Rectangle 27"/>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22514"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19617"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Long if P(up) &gt; 0.55, else flat</a:t>
            </a:r>
          </a:p>
        </p:txBody>
      </p:sp>
      <p:sp>
        <p:nvSpPr>
          <p:cNvPr id="33" name="TextBox 32"/>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34" name="Rectangle 33"/>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01375"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Backtest net of costs</a:t>
            </a:r>
          </a:p>
        </p:txBody>
      </p:sp>
      <p:sp>
        <p:nvSpPr>
          <p:cNvPr id="39" name="Rectangle 38"/>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5257800"/>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Judge the model by the net-of-cost strategy, not by accuracy alone.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K6 · PAIRS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Pairs Trading: a Hedging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K6</a:t>
            </a:r>
          </a:p>
        </p:txBody>
      </p:sp>
      <p:sp>
        <p:nvSpPr>
          <p:cNvPr id="10" name="Rectangle 9"/>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Why it is a hedge</a:t>
            </a:r>
          </a:p>
          <a:p>
            <a:pPr algn="l">
              <a:spcAft>
                <a:spcPts val="300"/>
              </a:spcAft>
            </a:pPr>
            <a:r>
              <a:rPr sz="1000" b="0">
                <a:solidFill>
                  <a:srgbClr val="5B6372"/>
                </a:solidFill>
                <a:latin typeface="Arial"/>
              </a:rPr>
              <a:t>Long the cheap stock, short the rich one in hedge-ratio proportion: market moves largely cancel</a:t>
            </a:r>
          </a:p>
        </p:txBody>
      </p:sp>
      <p:sp>
        <p:nvSpPr>
          <p:cNvPr id="15" name="Rectangle 14"/>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Choose the pair</a:t>
            </a:r>
          </a:p>
          <a:p>
            <a:pPr algn="l">
              <a:spcAft>
                <a:spcPts val="300"/>
              </a:spcAft>
            </a:pPr>
            <a:r>
              <a:rPr sz="1000" b="0">
                <a:solidFill>
                  <a:srgbClr val="5B6372"/>
                </a:solidFill>
                <a:latin typeface="Arial"/>
              </a:rPr>
              <a:t>Economically linked stocks (e.g. KO and PEP) that are cointegrated, not merely correlated</a:t>
            </a:r>
          </a:p>
        </p:txBody>
      </p:sp>
      <p:sp>
        <p:nvSpPr>
          <p:cNvPr id="20" name="Rectangle 19"/>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Hedge ratio and spread</a:t>
            </a:r>
          </a:p>
          <a:p>
            <a:pPr algn="l">
              <a:spcAft>
                <a:spcPts val="300"/>
              </a:spcAft>
            </a:pPr>
            <a:r>
              <a:rPr sz="1000" b="0">
                <a:solidFill>
                  <a:srgbClr val="5B6372"/>
                </a:solidFill>
                <a:latin typeface="Arial"/>
              </a:rPr>
              <a:t>Regress log price A on log price B: slope = hedge ratio, residual = the spread (Engle-Granger)</a:t>
            </a:r>
          </a:p>
        </p:txBody>
      </p:sp>
      <p:sp>
        <p:nvSpPr>
          <p:cNvPr id="25" name="Rectangle 24"/>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Test the spread</a:t>
            </a:r>
          </a:p>
          <a:p>
            <a:pPr algn="l">
              <a:spcAft>
                <a:spcPts val="300"/>
              </a:spcAft>
            </a:pPr>
            <a:r>
              <a:rPr sz="1000" b="0">
                <a:solidFill>
                  <a:srgbClr val="5B6372"/>
                </a:solidFill>
                <a:latin typeface="Arial"/>
              </a:rPr>
              <a:t>ADF test on the residual: a stationary spread tends to revert to its mean</a:t>
            </a:r>
          </a:p>
        </p:txBody>
      </p:sp>
      <p:sp>
        <p:nvSpPr>
          <p:cNvPr id="30" name="Rectangle 29"/>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Trade the z-score</a:t>
            </a:r>
          </a:p>
          <a:p>
            <a:pPr algn="l">
              <a:spcAft>
                <a:spcPts val="300"/>
              </a:spcAft>
            </a:pPr>
            <a:r>
              <a:rPr sz="1000" b="0">
                <a:solidFill>
                  <a:srgbClr val="5B6372"/>
                </a:solidFill>
                <a:latin typeface="Arial"/>
              </a:rPr>
              <a:t>Enter when |z| &gt; 2, exit as z returns towards 0; trade both legs on the next bar</a:t>
            </a:r>
          </a:p>
        </p:txBody>
      </p:sp>
      <p:sp>
        <p:nvSpPr>
          <p:cNvPr id="35" name="Rectangle 34"/>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7219188"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Risks</a:t>
            </a:r>
          </a:p>
          <a:p>
            <a:pPr algn="l">
              <a:spcAft>
                <a:spcPts val="300"/>
              </a:spcAft>
            </a:pPr>
            <a:r>
              <a:rPr sz="1000" b="0">
                <a:solidFill>
                  <a:srgbClr val="5B6372"/>
                </a:solidFill>
                <a:latin typeface="Arial"/>
              </a:rPr>
              <a:t>Cointegration breaks, hedge ratio drifts, double costs, short-borrow, multiple testing</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A4 · PAIRS TRADING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Pairs-Trading Algorithm Step by Step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A4</a:t>
            </a:r>
          </a:p>
        </p:txBody>
      </p:sp>
      <p:sp>
        <p:nvSpPr>
          <p:cNvPr id="10" name="Rectangle 9"/>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92530"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Select an economically linked pair</a:t>
            </a:r>
          </a:p>
        </p:txBody>
      </p:sp>
      <p:sp>
        <p:nvSpPr>
          <p:cNvPr id="15" name="TextBox 14"/>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6" name="Rectangle 15"/>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95372"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010662"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Estimate the hedge ratio (OLS)</a:t>
            </a:r>
          </a:p>
        </p:txBody>
      </p:sp>
      <p:sp>
        <p:nvSpPr>
          <p:cNvPr id="21" name="TextBox 20"/>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2" name="Rectangle 21"/>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13504"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828794"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Test cointegration (ADF on residual)</a:t>
            </a:r>
          </a:p>
        </p:txBody>
      </p:sp>
      <p:sp>
        <p:nvSpPr>
          <p:cNvPr id="27" name="TextBox 26"/>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8" name="Rectangle 27"/>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31636"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46926"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Compute the spread z-score</a:t>
            </a:r>
          </a:p>
        </p:txBody>
      </p:sp>
      <p:sp>
        <p:nvSpPr>
          <p:cNvPr id="33" name="TextBox 32"/>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34" name="Rectangle 33"/>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49768"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465058"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Enter / exit both legs</a:t>
            </a:r>
          </a:p>
        </p:txBody>
      </p:sp>
      <p:sp>
        <p:nvSpPr>
          <p:cNvPr id="39" name="TextBox 38"/>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40" name="Rectangle 39"/>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867900" y="2240280"/>
            <a:ext cx="154381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283190"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Monitor and re-test</a:t>
            </a:r>
          </a:p>
        </p:txBody>
      </p:sp>
      <p:sp>
        <p:nvSpPr>
          <p:cNvPr id="45" name="Rectangle 44"/>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7240" y="5257800"/>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Gatev, Goetzmann and Rouwenhorst (2006): a simple pairs rule on US stocks earned average annualised excess returns of up to 11% (1962-2002); later studies find smaller and less consistent profits.</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K6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Algorithm: Pairs Trading (Hedged Statistical Arbitrage)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7C3AED"/>
                </a:solidFill>
                <a:latin typeface="Arial"/>
              </a:rPr>
              <a:t>K6</a:t>
            </a:r>
          </a:p>
        </p:txBody>
      </p:sp>
      <p:pic>
        <p:nvPicPr>
          <p:cNvPr id="10" name="Picture 9" descr="algo_pairs.png"/>
          <p:cNvPicPr>
            <a:picLocks noChangeAspect="1"/>
          </p:cNvPicPr>
          <p:nvPr/>
        </p:nvPicPr>
        <p:blipFill>
          <a:blip r:embed="rId2"/>
          <a:stretch>
            <a:fillRect/>
          </a:stretch>
        </p:blipFill>
        <p:spPr>
          <a:xfrm>
            <a:off x="777240" y="2083742"/>
            <a:ext cx="6172200" cy="3833514"/>
          </a:xfrm>
          <a:prstGeom prst="rect">
            <a:avLst/>
          </a:prstGeom>
        </p:spPr>
      </p:pic>
      <p:sp>
        <p:nvSpPr>
          <p:cNvPr id="11" name="Rectangle 10"/>
          <p:cNvSpPr/>
          <p:nvPr/>
        </p:nvSpPr>
        <p:spPr>
          <a:xfrm>
            <a:off x="7178040" y="182880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178040" y="1828800"/>
            <a:ext cx="73152" cy="9829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828800"/>
            <a:ext cx="3913632" cy="982980"/>
          </a:xfrm>
          <a:prstGeom prst="rect">
            <a:avLst/>
          </a:prstGeom>
          <a:noFill/>
        </p:spPr>
        <p:txBody>
          <a:bodyPr wrap="square" anchor="ctr">
            <a:spAutoFit/>
          </a:bodyPr>
          <a:lstStyle/>
          <a:p>
            <a:pPr algn="l">
              <a:spcAft>
                <a:spcPts val="200"/>
              </a:spcAft>
            </a:pPr>
            <a:r>
              <a:rPr sz="1050" b="1">
                <a:solidFill>
                  <a:srgbClr val="1F6FEB"/>
                </a:solidFill>
                <a:latin typeface="Arial"/>
              </a:rPr>
              <a:t>HOW IT WORKS</a:t>
            </a:r>
          </a:p>
          <a:p>
            <a:pPr algn="l">
              <a:spcAft>
                <a:spcPts val="200"/>
              </a:spcAft>
            </a:pPr>
            <a:r>
              <a:rPr sz="1150" b="0">
                <a:solidFill>
                  <a:srgbClr val="161B26"/>
                </a:solidFill>
                <a:latin typeface="Arial"/>
              </a:rPr>
              <a:t>Long one stock, short a cointegrated partner in hedge-ratio proportion: market moves cancel.</a:t>
            </a:r>
          </a:p>
        </p:txBody>
      </p:sp>
      <p:sp>
        <p:nvSpPr>
          <p:cNvPr id="14" name="Rectangle 13"/>
          <p:cNvSpPr/>
          <p:nvPr/>
        </p:nvSpPr>
        <p:spPr>
          <a:xfrm>
            <a:off x="7178040" y="294893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78040" y="2948939"/>
            <a:ext cx="73152" cy="9829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948939"/>
            <a:ext cx="3913632" cy="982980"/>
          </a:xfrm>
          <a:prstGeom prst="rect">
            <a:avLst/>
          </a:prstGeom>
          <a:noFill/>
        </p:spPr>
        <p:txBody>
          <a:bodyPr wrap="square" anchor="ctr">
            <a:spAutoFit/>
          </a:bodyPr>
          <a:lstStyle/>
          <a:p>
            <a:pPr algn="l">
              <a:spcAft>
                <a:spcPts val="200"/>
              </a:spcAft>
            </a:pPr>
            <a:r>
              <a:rPr sz="1050" b="1">
                <a:solidFill>
                  <a:srgbClr val="10B981"/>
                </a:solidFill>
                <a:latin typeface="Arial"/>
              </a:rPr>
              <a:t>RULE</a:t>
            </a:r>
          </a:p>
          <a:p>
            <a:pPr algn="l">
              <a:spcAft>
                <a:spcPts val="200"/>
              </a:spcAft>
            </a:pPr>
            <a:r>
              <a:rPr sz="1150" b="0">
                <a:solidFill>
                  <a:srgbClr val="161B26"/>
                </a:solidFill>
                <a:latin typeface="Arial"/>
              </a:rPr>
              <a:t>Spread z &gt; +2: short A / long B. z &lt; -2: long A / short B. Exit as z returns to 0.</a:t>
            </a:r>
          </a:p>
        </p:txBody>
      </p:sp>
      <p:sp>
        <p:nvSpPr>
          <p:cNvPr id="17" name="Rectangle 16"/>
          <p:cNvSpPr/>
          <p:nvPr/>
        </p:nvSpPr>
        <p:spPr>
          <a:xfrm>
            <a:off x="7178040" y="4069079"/>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78040" y="4069079"/>
            <a:ext cx="73152" cy="9829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4069079"/>
            <a:ext cx="3913632" cy="982980"/>
          </a:xfrm>
          <a:prstGeom prst="rect">
            <a:avLst/>
          </a:prstGeom>
          <a:noFill/>
        </p:spPr>
        <p:txBody>
          <a:bodyPr wrap="square" anchor="ctr">
            <a:spAutoFit/>
          </a:bodyPr>
          <a:lstStyle/>
          <a:p>
            <a:pPr algn="l">
              <a:spcAft>
                <a:spcPts val="200"/>
              </a:spcAft>
            </a:pPr>
            <a:r>
              <a:rPr sz="1050" b="1">
                <a:solidFill>
                  <a:srgbClr val="7C3AED"/>
                </a:solidFill>
                <a:latin typeface="Arial"/>
              </a:rPr>
              <a:t>WORKS BEST WHEN</a:t>
            </a:r>
          </a:p>
          <a:p>
            <a:pPr algn="l">
              <a:spcAft>
                <a:spcPts val="200"/>
              </a:spcAft>
            </a:pPr>
            <a:r>
              <a:rPr sz="1150" b="0">
                <a:solidFill>
                  <a:srgbClr val="161B26"/>
                </a:solidFill>
                <a:latin typeface="Arial"/>
              </a:rPr>
              <a:t>Economically linked stocks (KO/PEP) whose spread has a stable mean.</a:t>
            </a:r>
          </a:p>
        </p:txBody>
      </p:sp>
      <p:sp>
        <p:nvSpPr>
          <p:cNvPr id="20" name="Rectangle 19"/>
          <p:cNvSpPr/>
          <p:nvPr/>
        </p:nvSpPr>
        <p:spPr>
          <a:xfrm>
            <a:off x="7178040" y="5189220"/>
            <a:ext cx="4233672" cy="9829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78040" y="5189220"/>
            <a:ext cx="73152" cy="9829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5189220"/>
            <a:ext cx="3913632" cy="982980"/>
          </a:xfrm>
          <a:prstGeom prst="rect">
            <a:avLst/>
          </a:prstGeom>
          <a:noFill/>
        </p:spPr>
        <p:txBody>
          <a:bodyPr wrap="square" anchor="ctr">
            <a:spAutoFit/>
          </a:bodyPr>
          <a:lstStyle/>
          <a:p>
            <a:pPr algn="l">
              <a:spcAft>
                <a:spcPts val="200"/>
              </a:spcAft>
            </a:pPr>
            <a:r>
              <a:rPr sz="1050" b="1">
                <a:solidFill>
                  <a:srgbClr val="F59E0B"/>
                </a:solidFill>
                <a:latin typeface="Arial"/>
              </a:rPr>
              <a:t>WATCH OUT FOR</a:t>
            </a:r>
          </a:p>
          <a:p>
            <a:pPr algn="l">
              <a:spcAft>
                <a:spcPts val="200"/>
              </a:spcAft>
            </a:pPr>
            <a:r>
              <a:rPr sz="1150" b="0">
                <a:solidFill>
                  <a:srgbClr val="161B26"/>
                </a:solidFill>
                <a:latin typeface="Arial"/>
              </a:rPr>
              <a:t>Cointegration can break; costs on both legs; short-borrow; screening many pairs.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Strategy-Search Stage: Grid Search, Out-of-Sample Ranking and Decay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A2  A4  K2</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10</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`python -m pipeline search` to grid-search three signal families, rank parameter sets in sample, measure out-of-sample decay, prefer a robust parameter region, and decide whether anything deserves promotion into config.yaml.</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Define the search space</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grid search</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ranking, robustness and the decay report</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search</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overfitting evidence</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+2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strategy-search stage: grid search, out-of-sample ranking and the decay report.</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10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0_grid_heatmap.png"/>
          <p:cNvPicPr>
            <a:picLocks noChangeAspect="1"/>
          </p:cNvPicPr>
          <p:nvPr/>
        </p:nvPicPr>
        <p:blipFill>
          <a:blip r:embed="rId2"/>
          <a:stretch>
            <a:fillRect/>
          </a:stretch>
        </p:blipFill>
        <p:spPr>
          <a:xfrm>
            <a:off x="1212295" y="1828800"/>
            <a:ext cx="9767103" cy="3794760"/>
          </a:xfrm>
          <a:prstGeom prst="rect">
            <a:avLst/>
          </a:prstGeom>
        </p:spPr>
      </p:pic>
      <p:sp>
        <p:nvSpPr>
          <p:cNvPr id="8" name="Rectangle 7"/>
          <p:cNvSpPr/>
          <p:nvPr/>
        </p:nvSpPr>
        <p:spPr>
          <a:xfrm>
            <a:off x="1201322" y="1817827"/>
            <a:ext cx="9789049"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Lab10-strategy-grid-search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ML-Signal Stage: a Walk-Forward Classifier from Probability to Position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A4  K4  K6</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11</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pipeline/ml.py: engineer causal features, train logistic regression, random forest and XGBoost with walk-forward TimeSeriesSplit validation, turn P(up) into a target position and backtest it after costs.</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causal features and the label</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walk-forward validation</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Turn probability into a position and backtest it</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ML stage</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strategy result</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walk-forward ML signal stage from predicted probability to position, with a leakage check.</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11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1_ml_strategy.png"/>
          <p:cNvPicPr>
            <a:picLocks noChangeAspect="1"/>
          </p:cNvPicPr>
          <p:nvPr/>
        </p:nvPicPr>
        <p:blipFill>
          <a:blip r:embed="rId2"/>
          <a:stretch>
            <a:fillRect/>
          </a:stretch>
        </p:blipFill>
        <p:spPr>
          <a:xfrm>
            <a:off x="984220" y="1828800"/>
            <a:ext cx="10223254" cy="3794760"/>
          </a:xfrm>
          <a:prstGeom prst="rect">
            <a:avLst/>
          </a:prstGeom>
        </p:spPr>
      </p:pic>
      <p:sp>
        <p:nvSpPr>
          <p:cNvPr id="8" name="Rectangle 7"/>
          <p:cNvSpPr/>
          <p:nvPr/>
        </p:nvSpPr>
        <p:spPr>
          <a:xfrm>
            <a:off x="973247" y="1817827"/>
            <a:ext cx="10245200"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Lab11-ml-signal-classifier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Regime-Filter Stage: PCA and K-Means as a Gate on the Signals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A4  K4  K6</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12</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pipeline/regime.py: PCA on the universe's returns, K-means regimes on backward-looking SPY features, walk-forward regime labels, and a gate that forces signals flat in the stress regime, evaluated after costs.</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PCA and the regime features</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walk-forward labels and the gate</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regime stage and read the PCA</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regime profiles</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Check the walk-forward labels</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+2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PCA / K-means regime gate applied to the signals, with before-and-after performance.</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15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12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2_regimes.png"/>
          <p:cNvPicPr>
            <a:picLocks noChangeAspect="1"/>
          </p:cNvPicPr>
          <p:nvPr/>
        </p:nvPicPr>
        <p:blipFill>
          <a:blip r:embed="rId2"/>
          <a:stretch>
            <a:fillRect/>
          </a:stretch>
        </p:blipFill>
        <p:spPr>
          <a:xfrm>
            <a:off x="778611" y="1828800"/>
            <a:ext cx="10634472" cy="3011589"/>
          </a:xfrm>
          <a:prstGeom prst="rect">
            <a:avLst/>
          </a:prstGeom>
        </p:spPr>
      </p:pic>
      <p:sp>
        <p:nvSpPr>
          <p:cNvPr id="8" name="Rectangle 7"/>
          <p:cNvSpPr/>
          <p:nvPr/>
        </p:nvSpPr>
        <p:spPr>
          <a:xfrm>
            <a:off x="767638" y="1817827"/>
            <a:ext cx="10656417" cy="3033534"/>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986693"/>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86693"/>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86693"/>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Lab12-market-regimes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A/B-Test Stage: a Statistical Decision before Capital Moves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A5  K2</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13</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`python -m pipeline abtest` to compare any two library signals with a Welch t-test, a paired t-test and a block-bootstrap confidence interval for the Sharpe difference, and to record an accept or reject decision with a multiple-testing caution.</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State the hypotheses</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statistics</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A/B command</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A/B test</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Compare the independent and paired tests</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+2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A/B-test stage that issues a statistical decision before capital moves.</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15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13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3_ab_test.png"/>
          <p:cNvPicPr>
            <a:picLocks noChangeAspect="1"/>
          </p:cNvPicPr>
          <p:nvPr/>
        </p:nvPicPr>
        <p:blipFill>
          <a:blip r:embed="rId2"/>
          <a:stretch>
            <a:fillRect/>
          </a:stretch>
        </p:blipFill>
        <p:spPr>
          <a:xfrm>
            <a:off x="778611" y="1828800"/>
            <a:ext cx="10634472" cy="3679916"/>
          </a:xfrm>
          <a:prstGeom prst="rect">
            <a:avLst/>
          </a:prstGeom>
        </p:spPr>
      </p:pic>
      <p:sp>
        <p:nvSpPr>
          <p:cNvPr id="8" name="Rectangle 7"/>
          <p:cNvSpPr/>
          <p:nvPr/>
        </p:nvSpPr>
        <p:spPr>
          <a:xfrm>
            <a:off x="767638" y="1817827"/>
            <a:ext cx="10656417" cy="3701861"/>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655020"/>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655020"/>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655020"/>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Lab13-ab-testing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Pairs Stage: a Hedged, Market-Neutral Statistical-Arbitrage Sleeve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A4  K6</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14</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pipeline/pairs.py: screen pairs with the Engle-Granger cointegration test, estimate the hedge ratio, trade the spread z-score out of sample with next-bar execution and costs on both legs, confirm market neutrality and output leg targets.</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method</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cointegration tools</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spread trading rules and leg targets</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pair screen</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Interpret the hedge ratio</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hedged pairs sleeve: cointegration screen, hedge ratio and a market-neutral spread strategy.</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14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4_pairs_trading.png"/>
          <p:cNvPicPr>
            <a:picLocks noChangeAspect="1"/>
          </p:cNvPicPr>
          <p:nvPr/>
        </p:nvPicPr>
        <p:blipFill>
          <a:blip r:embed="rId2"/>
          <a:stretch>
            <a:fillRect/>
          </a:stretch>
        </p:blipFill>
        <p:spPr>
          <a:xfrm>
            <a:off x="3860746" y="1828800"/>
            <a:ext cx="4470202" cy="3794760"/>
          </a:xfrm>
          <a:prstGeom prst="rect">
            <a:avLst/>
          </a:prstGeom>
        </p:spPr>
      </p:pic>
      <p:sp>
        <p:nvSpPr>
          <p:cNvPr id="8" name="Rectangle 7"/>
          <p:cNvSpPr/>
          <p:nvPr/>
        </p:nvSpPr>
        <p:spPr>
          <a:xfrm>
            <a:off x="3849773" y="1817827"/>
            <a:ext cx="4492148"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Lab14-pairs-trading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WHAT YOU COVERED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3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07424" y="475488"/>
            <a:ext cx="2304288"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07424" y="475488"/>
            <a:ext cx="54864" cy="3108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07424" y="475488"/>
            <a:ext cx="2304288" cy="310896"/>
          </a:xfrm>
          <a:prstGeom prst="rect">
            <a:avLst/>
          </a:prstGeom>
          <a:noFill/>
        </p:spPr>
        <p:txBody>
          <a:bodyPr wrap="square" anchor="ctr">
            <a:spAutoFit/>
          </a:bodyPr>
          <a:lstStyle/>
          <a:p>
            <a:pPr algn="ctr">
              <a:spcAft>
                <a:spcPts val="400"/>
              </a:spcAft>
            </a:pPr>
            <a:r>
              <a:rPr sz="1100" b="1">
                <a:solidFill>
                  <a:srgbClr val="7C3AED"/>
                </a:solidFill>
                <a:latin typeface="Arial"/>
              </a:rPr>
              <a:t>A4  A5  K2  K4  K6</a:t>
            </a:r>
          </a:p>
        </p:txBody>
      </p:sp>
      <p:sp>
        <p:nvSpPr>
          <p:cNvPr id="10" name="Rectangle 9"/>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A4</a:t>
            </a:r>
          </a:p>
          <a:p>
            <a:pPr algn="l">
              <a:spcAft>
                <a:spcPts val="300"/>
              </a:spcAft>
            </a:pPr>
            <a:r>
              <a:rPr sz="1000" b="0">
                <a:solidFill>
                  <a:srgbClr val="5B6372"/>
                </a:solidFill>
                <a:latin typeface="Arial"/>
              </a:rPr>
              <a:t>Conduct statistical modelling of data to derive patterns and solutions</a:t>
            </a:r>
          </a:p>
        </p:txBody>
      </p:sp>
      <p:sp>
        <p:nvSpPr>
          <p:cNvPr id="15" name="Rectangle 14"/>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A5</a:t>
            </a:r>
          </a:p>
          <a:p>
            <a:pPr algn="l">
              <a:spcAft>
                <a:spcPts val="300"/>
              </a:spcAft>
            </a:pPr>
            <a:r>
              <a:rPr sz="1000" b="0">
                <a:solidFill>
                  <a:srgbClr val="5B6372"/>
                </a:solidFill>
                <a:latin typeface="Arial"/>
              </a:rPr>
              <a:t>Perform A/B testing based on different hypotheses</a:t>
            </a:r>
          </a:p>
        </p:txBody>
      </p:sp>
      <p:sp>
        <p:nvSpPr>
          <p:cNvPr id="20" name="Rectangle 19"/>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K2</a:t>
            </a:r>
          </a:p>
          <a:p>
            <a:pPr algn="l">
              <a:spcAft>
                <a:spcPts val="300"/>
              </a:spcAft>
            </a:pPr>
            <a:r>
              <a:rPr sz="1000" b="0">
                <a:solidFill>
                  <a:srgbClr val="5B6372"/>
                </a:solidFill>
                <a:latin typeface="Arial"/>
              </a:rPr>
              <a:t>Types of statistical analyses, data models, algorithms and advanced computational methods</a:t>
            </a:r>
          </a:p>
        </p:txBody>
      </p:sp>
      <p:sp>
        <p:nvSpPr>
          <p:cNvPr id="25" name="Rectangle 24"/>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K4</a:t>
            </a:r>
          </a:p>
          <a:p>
            <a:pPr algn="l">
              <a:spcAft>
                <a:spcPts val="300"/>
              </a:spcAft>
            </a:pPr>
            <a:r>
              <a:rPr sz="1000" b="0">
                <a:solidFill>
                  <a:srgbClr val="5B6372"/>
                </a:solidFill>
                <a:latin typeface="Arial"/>
              </a:rPr>
              <a:t>Range and application of various types of data models</a:t>
            </a:r>
          </a:p>
        </p:txBody>
      </p:sp>
      <p:sp>
        <p:nvSpPr>
          <p:cNvPr id="30" name="Rectangle 29"/>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K6</a:t>
            </a:r>
          </a:p>
          <a:p>
            <a:pPr algn="l">
              <a:spcAft>
                <a:spcPts val="300"/>
              </a:spcAft>
            </a:pPr>
            <a:r>
              <a:rPr sz="1000" b="0">
                <a:solidFill>
                  <a:srgbClr val="5B6372"/>
                </a:solidFill>
                <a:latin typeface="Arial"/>
              </a:rPr>
              <a:t>Statistical modelling techniques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84048"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74519"/>
            <a:ext cx="8778240" cy="457200"/>
          </a:xfrm>
          <a:prstGeom prst="rect">
            <a:avLst/>
          </a:prstGeom>
          <a:noFill/>
        </p:spPr>
        <p:txBody>
          <a:bodyPr wrap="square" anchor="t">
            <a:spAutoFit/>
          </a:bodyPr>
          <a:lstStyle/>
          <a:p>
            <a:pPr algn="l">
              <a:spcAft>
                <a:spcPts val="400"/>
              </a:spcAft>
            </a:pPr>
            <a:r>
              <a:rPr sz="1600" b="1">
                <a:solidFill>
                  <a:srgbClr val="F59E0B"/>
                </a:solidFill>
                <a:latin typeface="Arial"/>
              </a:rPr>
              <a:t>TOPIC 4</a:t>
            </a:r>
          </a:p>
        </p:txBody>
      </p:sp>
      <p:sp>
        <p:nvSpPr>
          <p:cNvPr id="5" name="TextBox 4"/>
          <p:cNvSpPr txBox="1"/>
          <p:nvPr/>
        </p:nvSpPr>
        <p:spPr>
          <a:xfrm>
            <a:off x="1188720" y="2331720"/>
            <a:ext cx="9509760" cy="914400"/>
          </a:xfrm>
          <a:prstGeom prst="rect">
            <a:avLst/>
          </a:prstGeom>
          <a:noFill/>
        </p:spPr>
        <p:txBody>
          <a:bodyPr wrap="square" anchor="t">
            <a:spAutoFit/>
          </a:bodyPr>
          <a:lstStyle/>
          <a:p>
            <a:pPr algn="l">
              <a:spcAft>
                <a:spcPts val="400"/>
              </a:spcAft>
            </a:pPr>
            <a:r>
              <a:rPr sz="4000" b="1">
                <a:solidFill>
                  <a:srgbClr val="161B26"/>
                </a:solidFill>
                <a:latin typeface="Arial"/>
              </a:rPr>
              <a:t>End-to-End Trading Pipeline</a:t>
            </a:r>
          </a:p>
        </p:txBody>
      </p:sp>
      <p:sp>
        <p:nvSpPr>
          <p:cNvPr id="6" name="Rectangle 5"/>
          <p:cNvSpPr/>
          <p:nvPr/>
        </p:nvSpPr>
        <p:spPr>
          <a:xfrm>
            <a:off x="1188720" y="3429000"/>
            <a:ext cx="95097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88720" y="3429000"/>
            <a:ext cx="82296" cy="1234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81328" y="3429000"/>
            <a:ext cx="9052560" cy="1234440"/>
          </a:xfrm>
          <a:prstGeom prst="rect">
            <a:avLst/>
          </a:prstGeom>
          <a:noFill/>
        </p:spPr>
        <p:txBody>
          <a:bodyPr wrap="square" anchor="ctr">
            <a:spAutoFit/>
          </a:bodyPr>
          <a:lstStyle/>
          <a:p>
            <a:pPr algn="l">
              <a:spcAft>
                <a:spcPts val="400"/>
              </a:spcAft>
            </a:pPr>
            <a:r>
              <a:rPr sz="1050" b="1">
                <a:solidFill>
                  <a:srgbClr val="F59E0B"/>
                </a:solidFill>
                <a:latin typeface="Arial"/>
              </a:rPr>
              <a:t>LEARNING OUTCOME</a:t>
            </a:r>
          </a:p>
          <a:p>
            <a:pPr algn="l">
              <a:spcAft>
                <a:spcPts val="400"/>
              </a:spcAft>
            </a:pPr>
            <a:r>
              <a:rPr sz="1350" b="0">
                <a:solidFill>
                  <a:srgbClr val="161B26"/>
                </a:solidFill>
                <a:latin typeface="Arial"/>
              </a:rPr>
              <a:t>Perform coding and configuration of an automated trading program based on selected models or algorithms, conduct tests on its actions and outcomes, diagnose unintended outcomes, and draw insights from the results to support decisions and report accordingly.</a:t>
            </a:r>
          </a:p>
        </p:txBody>
      </p:sp>
      <p:sp>
        <p:nvSpPr>
          <p:cNvPr id="9" name="TextBox 8"/>
          <p:cNvSpPr txBox="1"/>
          <p:nvPr/>
        </p:nvSpPr>
        <p:spPr>
          <a:xfrm>
            <a:off x="1188720" y="4892040"/>
            <a:ext cx="9509760" cy="457200"/>
          </a:xfrm>
          <a:prstGeom prst="rect">
            <a:avLst/>
          </a:prstGeom>
          <a:noFill/>
        </p:spPr>
        <p:txBody>
          <a:bodyPr wrap="square" anchor="t">
            <a:spAutoFit/>
          </a:bodyPr>
          <a:lstStyle/>
          <a:p>
            <a:pPr algn="l">
              <a:spcAft>
                <a:spcPts val="400"/>
              </a:spcAft>
            </a:pPr>
            <a:r>
              <a:rPr sz="1150" b="0">
                <a:solidFill>
                  <a:srgbClr val="5B6372"/>
                </a:solidFill>
                <a:latin typeface="Arial"/>
              </a:rPr>
              <a:t>Abilities A7, A8, A9, A10  ·  Knowledge K7, K8   ·   Day 2   ·   Labs 15–20   ·   Assessed by PP Task 4 and WA Q7, Q8</a:t>
            </a:r>
          </a:p>
        </p:txBody>
      </p:sp>
      <p:sp>
        <p:nvSpPr>
          <p:cNvPr id="10" name="TextBox 9"/>
          <p:cNvSpPr txBox="1"/>
          <p:nvPr/>
        </p:nvSpPr>
        <p:spPr>
          <a:xfrm>
            <a:off x="9692640" y="914400"/>
            <a:ext cx="2011680" cy="2011680"/>
          </a:xfrm>
          <a:prstGeom prst="rect">
            <a:avLst/>
          </a:prstGeom>
          <a:noFill/>
        </p:spPr>
        <p:txBody>
          <a:bodyPr wrap="square" anchor="t">
            <a:spAutoFit/>
          </a:bodyPr>
          <a:lstStyle/>
          <a:p>
            <a:pPr algn="r">
              <a:spcAft>
                <a:spcPts val="400"/>
              </a:spcAft>
            </a:pPr>
            <a:r>
              <a:rPr sz="9600" b="1">
                <a:solidFill>
                  <a:srgbClr val="F5F8FC"/>
                </a:solidFill>
                <a:latin typeface="Arial"/>
              </a:rPr>
              <a:t>04</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Pre-Trade Risk Controls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A7</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Position and order limits</a:t>
            </a:r>
          </a:p>
          <a:p>
            <a:pPr algn="l">
              <a:spcAft>
                <a:spcPts val="300"/>
              </a:spcAft>
            </a:pPr>
            <a:r>
              <a:rPr sz="1150" b="0">
                <a:solidFill>
                  <a:srgbClr val="5B6372"/>
                </a:solidFill>
                <a:latin typeface="Arial"/>
              </a:rPr>
              <a:t>Maximum shares, maximum order value per symbol.</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Maximum daily loss</a:t>
            </a:r>
          </a:p>
          <a:p>
            <a:pPr algn="l">
              <a:spcAft>
                <a:spcPts val="300"/>
              </a:spcAft>
            </a:pPr>
            <a:r>
              <a:rPr sz="1150" b="0">
                <a:solidFill>
                  <a:srgbClr val="5B6372"/>
                </a:solidFill>
                <a:latin typeface="Arial"/>
              </a:rPr>
              <a:t>Stop trading for the day when breached.</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Market-hours and duplicate checks</a:t>
            </a:r>
          </a:p>
          <a:p>
            <a:pPr algn="l">
              <a:spcAft>
                <a:spcPts val="300"/>
              </a:spcAft>
            </a:pPr>
            <a:r>
              <a:rPr sz="1150" b="0">
                <a:solidFill>
                  <a:srgbClr val="5B6372"/>
                </a:solidFill>
                <a:latin typeface="Arial"/>
              </a:rPr>
              <a:t>Alpaca clock; never resend an open order.</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Kill switch</a:t>
            </a:r>
          </a:p>
          <a:p>
            <a:pPr algn="l">
              <a:spcAft>
                <a:spcPts val="300"/>
              </a:spcAft>
            </a:pPr>
            <a:r>
              <a:rPr sz="1150" b="0">
                <a:solidFill>
                  <a:srgbClr val="5B6372"/>
                </a:solidFill>
                <a:latin typeface="Arial"/>
              </a:rPr>
              <a:t>One file or flag halts all trading immediately.</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K7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Trading Costs You Must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K7</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Commission</a:t>
            </a:r>
          </a:p>
          <a:p>
            <a:pPr algn="l">
              <a:spcAft>
                <a:spcPts val="300"/>
              </a:spcAft>
            </a:pPr>
            <a:r>
              <a:rPr sz="1150" b="0">
                <a:solidFill>
                  <a:srgbClr val="5B6372"/>
                </a:solidFill>
                <a:latin typeface="Arial"/>
              </a:rPr>
              <a:t>Zero on Alpaca US equities — not on most brokers.</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Spread and slippage</a:t>
            </a:r>
          </a:p>
          <a:p>
            <a:pPr algn="l">
              <a:spcAft>
                <a:spcPts val="300"/>
              </a:spcAft>
            </a:pPr>
            <a:r>
              <a:rPr sz="1150" b="0">
                <a:solidFill>
                  <a:srgbClr val="5B6372"/>
                </a:solidFill>
                <a:latin typeface="Arial"/>
              </a:rPr>
              <a:t>Half-spread + slippage on every fill, in bps.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Regulatory fees on sells</a:t>
            </a:r>
          </a:p>
          <a:p>
            <a:pPr algn="l">
              <a:spcAft>
                <a:spcPts val="300"/>
              </a:spcAft>
            </a:pPr>
            <a:r>
              <a:rPr sz="1150" b="0">
                <a:solidFill>
                  <a:srgbClr val="5B6372"/>
                </a:solidFill>
                <a:latin typeface="Arial"/>
              </a:rPr>
              <a:t>SEC Section 31 fee and FINRA TAF.</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Borrow and impact</a:t>
            </a:r>
          </a:p>
          <a:p>
            <a:pPr algn="l">
              <a:spcAft>
                <a:spcPts val="300"/>
              </a:spcAft>
            </a:pPr>
            <a:r>
              <a:rPr sz="1150" b="0">
                <a:solidFill>
                  <a:srgbClr val="5B6372"/>
                </a:solidFill>
                <a:latin typeface="Arial"/>
              </a:rPr>
              <a:t>Short-borrow costs; your own market impact.</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K8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Potential Reasons for Unintended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K8</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Overfitting and data snooping</a:t>
            </a:r>
          </a:p>
          <a:p>
            <a:pPr algn="l">
              <a:spcAft>
                <a:spcPts val="300"/>
              </a:spcAft>
            </a:pPr>
            <a:r>
              <a:rPr sz="1150" b="0">
                <a:solidFill>
                  <a:srgbClr val="5B6372"/>
                </a:solidFill>
                <a:latin typeface="Arial"/>
              </a:rPr>
              <a:t>Great in-sample, collapses out of sample.</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Look-ahead and survivorship bias</a:t>
            </a:r>
          </a:p>
          <a:p>
            <a:pPr algn="l">
              <a:spcAft>
                <a:spcPts val="300"/>
              </a:spcAft>
            </a:pPr>
            <a:r>
              <a:rPr sz="1150" b="0">
                <a:solidFill>
                  <a:srgbClr val="5B6372"/>
                </a:solidFill>
                <a:latin typeface="Arial"/>
              </a:rPr>
              <a:t>Same-bar fills; only today's survivors.</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Cost and execution drag</a:t>
            </a:r>
          </a:p>
          <a:p>
            <a:pPr algn="l">
              <a:spcAft>
                <a:spcPts val="300"/>
              </a:spcAft>
            </a:pPr>
            <a:r>
              <a:rPr sz="1150" b="0">
                <a:solidFill>
                  <a:srgbClr val="5B6372"/>
                </a:solidFill>
                <a:latin typeface="Arial"/>
              </a:rPr>
              <a:t>Live returns trail the backtest by turnover × cost.</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Regime change, data and code errors</a:t>
            </a:r>
          </a:p>
          <a:p>
            <a:pPr algn="l">
              <a:spcAft>
                <a:spcPts val="300"/>
              </a:spcAft>
            </a:pPr>
            <a:r>
              <a:rPr sz="1150" b="0">
                <a:solidFill>
                  <a:srgbClr val="5B6372"/>
                </a:solidFill>
                <a:latin typeface="Arial"/>
              </a:rPr>
              <a:t>Drift, bad splits, time zones, duplicate orders.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A10</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Goes on a Tearsheet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A10</a:t>
            </a:r>
          </a:p>
        </p:txBody>
      </p:sp>
      <p:sp>
        <p:nvSpPr>
          <p:cNvPr id="10" name="Rectangle 9"/>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Equity versus benchmark</a:t>
            </a:r>
          </a:p>
          <a:p>
            <a:pPr algn="l">
              <a:spcAft>
                <a:spcPts val="300"/>
              </a:spcAft>
            </a:pPr>
            <a:r>
              <a:rPr sz="1150" b="0">
                <a:solidFill>
                  <a:srgbClr val="5B6372"/>
                </a:solidFill>
                <a:latin typeface="Arial"/>
              </a:rPr>
              <a:t>Growth of USD 100,000, strategy and buy-and-hold.</a:t>
            </a:r>
          </a:p>
        </p:txBody>
      </p:sp>
      <p:sp>
        <p:nvSpPr>
          <p:cNvPr id="15" name="Rectangle 14"/>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Drawdown and rolling Sharpe</a:t>
            </a:r>
          </a:p>
          <a:p>
            <a:pPr algn="l">
              <a:spcAft>
                <a:spcPts val="300"/>
              </a:spcAft>
            </a:pPr>
            <a:r>
              <a:rPr sz="1150" b="0">
                <a:solidFill>
                  <a:srgbClr val="5B6372"/>
                </a:solidFill>
                <a:latin typeface="Arial"/>
              </a:rPr>
              <a:t>Depth, length and stability of the edge.</a:t>
            </a:r>
          </a:p>
        </p:txBody>
      </p:sp>
      <p:sp>
        <p:nvSpPr>
          <p:cNvPr id="20" name="Rectangle 19"/>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Monthly returns heatmap</a:t>
            </a:r>
          </a:p>
          <a:p>
            <a:pPr algn="l">
              <a:spcAft>
                <a:spcPts val="300"/>
              </a:spcAft>
            </a:pPr>
            <a:r>
              <a:rPr sz="1150" b="0">
                <a:solidFill>
                  <a:srgbClr val="5B6372"/>
                </a:solidFill>
                <a:latin typeface="Arial"/>
              </a:rPr>
              <a:t>When did it make — and lose — money?</a:t>
            </a:r>
          </a:p>
        </p:txBody>
      </p:sp>
      <p:sp>
        <p:nvSpPr>
          <p:cNvPr id="25" name="Rectangle 24"/>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Metrics and cost table</a:t>
            </a:r>
          </a:p>
          <a:p>
            <a:pPr algn="l">
              <a:spcAft>
                <a:spcPts val="300"/>
              </a:spcAft>
            </a:pPr>
            <a:r>
              <a:rPr sz="1150" b="0">
                <a:solidFill>
                  <a:srgbClr val="5B6372"/>
                </a:solidFill>
                <a:latin typeface="Arial"/>
              </a:rPr>
              <a:t>Gross versus net; backtest versus forward.</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End-to-End Algorithmic Trading Pipeline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A7</a:t>
            </a:r>
          </a:p>
        </p:txBody>
      </p:sp>
      <p:sp>
        <p:nvSpPr>
          <p:cNvPr id="10" name="Rectangle 9"/>
          <p:cNvSpPr/>
          <p:nvPr/>
        </p:nvSpPr>
        <p:spPr>
          <a:xfrm>
            <a:off x="777240"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65263"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526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Strategy search</a:t>
            </a:r>
          </a:p>
        </p:txBody>
      </p:sp>
      <p:sp>
        <p:nvSpPr>
          <p:cNvPr id="15" name="TextBox 14"/>
          <p:cNvSpPr txBox="1"/>
          <p:nvPr/>
        </p:nvSpPr>
        <p:spPr>
          <a:xfrm>
            <a:off x="1848231"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16" name="Rectangle 15"/>
          <p:cNvSpPr/>
          <p:nvPr/>
        </p:nvSpPr>
        <p:spPr>
          <a:xfrm>
            <a:off x="2140839"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40839"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328862"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288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2268855"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Data ingestion</a:t>
            </a:r>
          </a:p>
        </p:txBody>
      </p:sp>
      <p:sp>
        <p:nvSpPr>
          <p:cNvPr id="21" name="TextBox 20"/>
          <p:cNvSpPr txBox="1"/>
          <p:nvPr/>
        </p:nvSpPr>
        <p:spPr>
          <a:xfrm>
            <a:off x="321183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2" name="Rectangle 21"/>
          <p:cNvSpPr/>
          <p:nvPr/>
        </p:nvSpPr>
        <p:spPr>
          <a:xfrm>
            <a:off x="3504438"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504438"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692461"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9246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3632454"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Signal</a:t>
            </a:r>
          </a:p>
        </p:txBody>
      </p:sp>
      <p:sp>
        <p:nvSpPr>
          <p:cNvPr id="27" name="TextBox 26"/>
          <p:cNvSpPr txBox="1"/>
          <p:nvPr/>
        </p:nvSpPr>
        <p:spPr>
          <a:xfrm>
            <a:off x="4575429"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8" name="Rectangle 27"/>
          <p:cNvSpPr/>
          <p:nvPr/>
        </p:nvSpPr>
        <p:spPr>
          <a:xfrm>
            <a:off x="4868037"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68037"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056060"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5606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4996053"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Backtest with costs</a:t>
            </a:r>
          </a:p>
        </p:txBody>
      </p:sp>
      <p:sp>
        <p:nvSpPr>
          <p:cNvPr id="33" name="TextBox 32"/>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34" name="Rectangle 33"/>
          <p:cNvSpPr/>
          <p:nvPr/>
        </p:nvSpPr>
        <p:spPr>
          <a:xfrm>
            <a:off x="6231636"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31636"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419659"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96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6359652"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Risk checks</a:t>
            </a:r>
          </a:p>
        </p:txBody>
      </p:sp>
      <p:sp>
        <p:nvSpPr>
          <p:cNvPr id="39" name="TextBox 38"/>
          <p:cNvSpPr txBox="1"/>
          <p:nvPr/>
        </p:nvSpPr>
        <p:spPr>
          <a:xfrm>
            <a:off x="7302627"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0" name="Rectangle 39"/>
          <p:cNvSpPr/>
          <p:nvPr/>
        </p:nvSpPr>
        <p:spPr>
          <a:xfrm>
            <a:off x="7595235"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95235"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783258"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832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4" name="TextBox 43"/>
          <p:cNvSpPr txBox="1"/>
          <p:nvPr/>
        </p:nvSpPr>
        <p:spPr>
          <a:xfrm>
            <a:off x="7723251"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Order execution</a:t>
            </a:r>
          </a:p>
        </p:txBody>
      </p:sp>
      <p:sp>
        <p:nvSpPr>
          <p:cNvPr id="45" name="TextBox 44"/>
          <p:cNvSpPr txBox="1"/>
          <p:nvPr/>
        </p:nvSpPr>
        <p:spPr>
          <a:xfrm>
            <a:off x="8666226"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6" name="Rectangle 45"/>
          <p:cNvSpPr/>
          <p:nvPr/>
        </p:nvSpPr>
        <p:spPr>
          <a:xfrm>
            <a:off x="8958834"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958834"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146857"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685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7</a:t>
            </a:r>
          </a:p>
        </p:txBody>
      </p:sp>
      <p:sp>
        <p:nvSpPr>
          <p:cNvPr id="50" name="TextBox 49"/>
          <p:cNvSpPr txBox="1"/>
          <p:nvPr/>
        </p:nvSpPr>
        <p:spPr>
          <a:xfrm>
            <a:off x="9086850"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Forward test</a:t>
            </a:r>
          </a:p>
        </p:txBody>
      </p:sp>
      <p:sp>
        <p:nvSpPr>
          <p:cNvPr id="51" name="TextBox 50"/>
          <p:cNvSpPr txBox="1"/>
          <p:nvPr/>
        </p:nvSpPr>
        <p:spPr>
          <a:xfrm>
            <a:off x="10029825"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52" name="Rectangle 51"/>
          <p:cNvSpPr/>
          <p:nvPr/>
        </p:nvSpPr>
        <p:spPr>
          <a:xfrm>
            <a:off x="10322433" y="2240280"/>
            <a:ext cx="1089279"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0322433" y="2240280"/>
            <a:ext cx="1089279"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510456"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51045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8</a:t>
            </a:r>
          </a:p>
        </p:txBody>
      </p:sp>
      <p:sp>
        <p:nvSpPr>
          <p:cNvPr id="56" name="TextBox 55"/>
          <p:cNvSpPr txBox="1"/>
          <p:nvPr/>
        </p:nvSpPr>
        <p:spPr>
          <a:xfrm>
            <a:off x="10450449" y="3483864"/>
            <a:ext cx="833247" cy="1371600"/>
          </a:xfrm>
          <a:prstGeom prst="rect">
            <a:avLst/>
          </a:prstGeom>
          <a:noFill/>
        </p:spPr>
        <p:txBody>
          <a:bodyPr wrap="square" anchor="t">
            <a:spAutoFit/>
          </a:bodyPr>
          <a:lstStyle/>
          <a:p>
            <a:pPr algn="ctr">
              <a:spcAft>
                <a:spcPts val="400"/>
              </a:spcAft>
            </a:pPr>
            <a:r>
              <a:rPr sz="1200" b="0">
                <a:solidFill>
                  <a:srgbClr val="161B26"/>
                </a:solidFill>
                <a:latin typeface="Arial"/>
              </a:rPr>
              <a:t>Monitor and report</a:t>
            </a:r>
          </a:p>
        </p:txBody>
      </p:sp>
      <p:sp>
        <p:nvSpPr>
          <p:cNvPr id="57" name="Rectangle 56"/>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77240" y="5257800"/>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Configuration — symbols, parameters, limits, keys — lives outside the code.</a:t>
            </a:r>
          </a:p>
        </p:txBody>
      </p:sp>
      <p:sp>
        <p:nvSpPr>
          <p:cNvPr id="60" name="TextBox 5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61" name="TextBox 6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62" name="TextBox 6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Automated Paper-Trading Bot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A8</a:t>
            </a:r>
          </a:p>
        </p:txBody>
      </p:sp>
      <p:sp>
        <p:nvSpPr>
          <p:cNvPr id="10" name="TextBox 9"/>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One cycle per closed bar.</a:t>
            </a:r>
          </a:p>
        </p:txBody>
      </p:sp>
      <p:sp>
        <p:nvSpPr>
          <p:cNvPr id="11" name="Rectangle 10"/>
          <p:cNvSpPr/>
          <p:nvPr/>
        </p:nvSpPr>
        <p:spPr>
          <a:xfrm>
            <a:off x="777240"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62663"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266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5" name="TextBox 14"/>
          <p:cNvSpPr txBox="1"/>
          <p:nvPr/>
        </p:nvSpPr>
        <p:spPr>
          <a:xfrm>
            <a:off x="905256"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Bar closes</a:t>
            </a:r>
          </a:p>
        </p:txBody>
      </p:sp>
      <p:sp>
        <p:nvSpPr>
          <p:cNvPr id="16" name="TextBox 15"/>
          <p:cNvSpPr txBox="1"/>
          <p:nvPr/>
        </p:nvSpPr>
        <p:spPr>
          <a:xfrm>
            <a:off x="204303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17" name="Rectangle 16"/>
          <p:cNvSpPr/>
          <p:nvPr/>
        </p:nvSpPr>
        <p:spPr>
          <a:xfrm>
            <a:off x="2335638"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35638"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621061"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2106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1" name="TextBox 20"/>
          <p:cNvSpPr txBox="1"/>
          <p:nvPr/>
        </p:nvSpPr>
        <p:spPr>
          <a:xfrm>
            <a:off x="2463654"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Fetch latest bars</a:t>
            </a:r>
          </a:p>
        </p:txBody>
      </p:sp>
      <p:sp>
        <p:nvSpPr>
          <p:cNvPr id="22" name="TextBox 21"/>
          <p:cNvSpPr txBox="1"/>
          <p:nvPr/>
        </p:nvSpPr>
        <p:spPr>
          <a:xfrm>
            <a:off x="3601428"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3" name="Rectangle 22"/>
          <p:cNvSpPr/>
          <p:nvPr/>
        </p:nvSpPr>
        <p:spPr>
          <a:xfrm>
            <a:off x="3894036"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894036"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179459"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794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7" name="TextBox 26"/>
          <p:cNvSpPr txBox="1"/>
          <p:nvPr/>
        </p:nvSpPr>
        <p:spPr>
          <a:xfrm>
            <a:off x="4022052"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Compute signal</a:t>
            </a:r>
          </a:p>
        </p:txBody>
      </p:sp>
      <p:sp>
        <p:nvSpPr>
          <p:cNvPr id="28" name="TextBox 27"/>
          <p:cNvSpPr txBox="1"/>
          <p:nvPr/>
        </p:nvSpPr>
        <p:spPr>
          <a:xfrm>
            <a:off x="5159826"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9" name="Rectangle 28"/>
          <p:cNvSpPr/>
          <p:nvPr/>
        </p:nvSpPr>
        <p:spPr>
          <a:xfrm>
            <a:off x="5452434"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52434"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737857"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3785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3" name="TextBox 32"/>
          <p:cNvSpPr txBox="1"/>
          <p:nvPr/>
        </p:nvSpPr>
        <p:spPr>
          <a:xfrm>
            <a:off x="5580450"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Run risk checks</a:t>
            </a:r>
          </a:p>
        </p:txBody>
      </p:sp>
      <p:sp>
        <p:nvSpPr>
          <p:cNvPr id="34" name="TextBox 33"/>
          <p:cNvSpPr txBox="1"/>
          <p:nvPr/>
        </p:nvSpPr>
        <p:spPr>
          <a:xfrm>
            <a:off x="6718224"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35" name="Rectangle 34"/>
          <p:cNvSpPr/>
          <p:nvPr/>
        </p:nvSpPr>
        <p:spPr>
          <a:xfrm>
            <a:off x="7010832"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010832"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296255"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9625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9" name="TextBox 38"/>
          <p:cNvSpPr txBox="1"/>
          <p:nvPr/>
        </p:nvSpPr>
        <p:spPr>
          <a:xfrm>
            <a:off x="7138848"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Target vs actual position</a:t>
            </a:r>
          </a:p>
        </p:txBody>
      </p:sp>
      <p:sp>
        <p:nvSpPr>
          <p:cNvPr id="40" name="TextBox 39"/>
          <p:cNvSpPr txBox="1"/>
          <p:nvPr/>
        </p:nvSpPr>
        <p:spPr>
          <a:xfrm>
            <a:off x="8276622"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1" name="Rectangle 40"/>
          <p:cNvSpPr/>
          <p:nvPr/>
        </p:nvSpPr>
        <p:spPr>
          <a:xfrm>
            <a:off x="8569230"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569230"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854653"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5465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5" name="TextBox 44"/>
          <p:cNvSpPr txBox="1"/>
          <p:nvPr/>
        </p:nvSpPr>
        <p:spPr>
          <a:xfrm>
            <a:off x="8697246"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Submit order; read status</a:t>
            </a:r>
          </a:p>
        </p:txBody>
      </p:sp>
      <p:sp>
        <p:nvSpPr>
          <p:cNvPr id="46" name="TextBox 45"/>
          <p:cNvSpPr txBox="1"/>
          <p:nvPr/>
        </p:nvSpPr>
        <p:spPr>
          <a:xfrm>
            <a:off x="983502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7" name="Rectangle 46"/>
          <p:cNvSpPr/>
          <p:nvPr/>
        </p:nvSpPr>
        <p:spPr>
          <a:xfrm>
            <a:off x="10127628" y="2240280"/>
            <a:ext cx="128407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127628" y="2240280"/>
            <a:ext cx="128407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413051"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1305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7</a:t>
            </a:r>
          </a:p>
        </p:txBody>
      </p:sp>
      <p:sp>
        <p:nvSpPr>
          <p:cNvPr id="51" name="TextBox 50"/>
          <p:cNvSpPr txBox="1"/>
          <p:nvPr/>
        </p:nvSpPr>
        <p:spPr>
          <a:xfrm>
            <a:off x="10255644" y="3483864"/>
            <a:ext cx="1028046" cy="1371600"/>
          </a:xfrm>
          <a:prstGeom prst="rect">
            <a:avLst/>
          </a:prstGeom>
          <a:noFill/>
        </p:spPr>
        <p:txBody>
          <a:bodyPr wrap="square" anchor="t">
            <a:spAutoFit/>
          </a:bodyPr>
          <a:lstStyle/>
          <a:p>
            <a:pPr algn="ctr">
              <a:spcAft>
                <a:spcPts val="400"/>
              </a:spcAft>
            </a:pPr>
            <a:r>
              <a:rPr sz="1200" b="0">
                <a:solidFill>
                  <a:srgbClr val="161B26"/>
                </a:solidFill>
                <a:latin typeface="Arial"/>
              </a:rPr>
              <a:t>Log and sleep</a:t>
            </a:r>
          </a:p>
        </p:txBody>
      </p:sp>
      <p:sp>
        <p:nvSpPr>
          <p:cNvPr id="52" name="Rectangle 51"/>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77240" y="5257800"/>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Every cycle writes to the trade log — the evidence for performance and audit.</a:t>
            </a:r>
          </a:p>
        </p:txBody>
      </p:sp>
      <p:sp>
        <p:nvSpPr>
          <p:cNvPr id="55" name="TextBox 5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6" name="TextBox 5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7" name="TextBox 5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TradingView Alert to Alpaca Order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A7</a:t>
            </a:r>
          </a:p>
        </p:txBody>
      </p:sp>
      <p:sp>
        <p:nvSpPr>
          <p:cNvPr id="10" name="TextBox 9"/>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Webhook-driven execution.</a:t>
            </a:r>
          </a:p>
        </p:txBody>
      </p:sp>
      <p:sp>
        <p:nvSpPr>
          <p:cNvPr id="11" name="Rectangle 10"/>
          <p:cNvSpPr/>
          <p:nvPr/>
        </p:nvSpPr>
        <p:spPr>
          <a:xfrm>
            <a:off x="77724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92530"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9253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5" name="TextBox 14"/>
          <p:cNvSpPr txBox="1"/>
          <p:nvPr/>
        </p:nvSpPr>
        <p:spPr>
          <a:xfrm>
            <a:off x="90525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Pine strategy fires alert</a:t>
            </a:r>
          </a:p>
        </p:txBody>
      </p:sp>
      <p:sp>
        <p:nvSpPr>
          <p:cNvPr id="16" name="TextBox 15"/>
          <p:cNvSpPr txBox="1"/>
          <p:nvPr/>
        </p:nvSpPr>
        <p:spPr>
          <a:xfrm>
            <a:off x="2302764"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17" name="Rectangle 16"/>
          <p:cNvSpPr/>
          <p:nvPr/>
        </p:nvSpPr>
        <p:spPr>
          <a:xfrm>
            <a:off x="2595372"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95372"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010662"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0662"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1" name="TextBox 20"/>
          <p:cNvSpPr txBox="1"/>
          <p:nvPr/>
        </p:nvSpPr>
        <p:spPr>
          <a:xfrm>
            <a:off x="2723388"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TradingView POSTs JSON</a:t>
            </a:r>
          </a:p>
        </p:txBody>
      </p:sp>
      <p:sp>
        <p:nvSpPr>
          <p:cNvPr id="22" name="TextBox 21"/>
          <p:cNvSpPr txBox="1"/>
          <p:nvPr/>
        </p:nvSpPr>
        <p:spPr>
          <a:xfrm>
            <a:off x="4120896"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3" name="Rectangle 22"/>
          <p:cNvSpPr/>
          <p:nvPr/>
        </p:nvSpPr>
        <p:spPr>
          <a:xfrm>
            <a:off x="4413504"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13504"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828794"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28794"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7" name="TextBox 26"/>
          <p:cNvSpPr txBox="1"/>
          <p:nvPr/>
        </p:nvSpPr>
        <p:spPr>
          <a:xfrm>
            <a:off x="4541520"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Your server checks secret</a:t>
            </a:r>
          </a:p>
        </p:txBody>
      </p:sp>
      <p:sp>
        <p:nvSpPr>
          <p:cNvPr id="28" name="TextBox 27"/>
          <p:cNvSpPr txBox="1"/>
          <p:nvPr/>
        </p:nvSpPr>
        <p:spPr>
          <a:xfrm>
            <a:off x="5939028"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9" name="Rectangle 28"/>
          <p:cNvSpPr/>
          <p:nvPr/>
        </p:nvSpPr>
        <p:spPr>
          <a:xfrm>
            <a:off x="6231636"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31636"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646926"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46926"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3" name="TextBox 32"/>
          <p:cNvSpPr txBox="1"/>
          <p:nvPr/>
        </p:nvSpPr>
        <p:spPr>
          <a:xfrm>
            <a:off x="6359652"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Risk checks</a:t>
            </a:r>
          </a:p>
        </p:txBody>
      </p:sp>
      <p:sp>
        <p:nvSpPr>
          <p:cNvPr id="34" name="TextBox 33"/>
          <p:cNvSpPr txBox="1"/>
          <p:nvPr/>
        </p:nvSpPr>
        <p:spPr>
          <a:xfrm>
            <a:off x="775716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35" name="Rectangle 34"/>
          <p:cNvSpPr/>
          <p:nvPr/>
        </p:nvSpPr>
        <p:spPr>
          <a:xfrm>
            <a:off x="8049768"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49768"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465058"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65058"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9" name="TextBox 38"/>
          <p:cNvSpPr txBox="1"/>
          <p:nvPr/>
        </p:nvSpPr>
        <p:spPr>
          <a:xfrm>
            <a:off x="8177784"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alpaca-py submits paper order</a:t>
            </a:r>
          </a:p>
        </p:txBody>
      </p:sp>
      <p:sp>
        <p:nvSpPr>
          <p:cNvPr id="40" name="TextBox 39"/>
          <p:cNvSpPr txBox="1"/>
          <p:nvPr/>
        </p:nvSpPr>
        <p:spPr>
          <a:xfrm>
            <a:off x="9575292"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41" name="Rectangle 40"/>
          <p:cNvSpPr/>
          <p:nvPr/>
        </p:nvSpPr>
        <p:spPr>
          <a:xfrm>
            <a:off x="9867900" y="2240280"/>
            <a:ext cx="1543812"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867900" y="2240280"/>
            <a:ext cx="154381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283190"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83190"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6</a:t>
            </a:r>
          </a:p>
        </p:txBody>
      </p:sp>
      <p:sp>
        <p:nvSpPr>
          <p:cNvPr id="45" name="TextBox 44"/>
          <p:cNvSpPr txBox="1"/>
          <p:nvPr/>
        </p:nvSpPr>
        <p:spPr>
          <a:xfrm>
            <a:off x="9995916" y="3483864"/>
            <a:ext cx="1287780" cy="1371600"/>
          </a:xfrm>
          <a:prstGeom prst="rect">
            <a:avLst/>
          </a:prstGeom>
          <a:noFill/>
        </p:spPr>
        <p:txBody>
          <a:bodyPr wrap="square" anchor="t">
            <a:spAutoFit/>
          </a:bodyPr>
          <a:lstStyle/>
          <a:p>
            <a:pPr algn="ctr">
              <a:spcAft>
                <a:spcPts val="400"/>
              </a:spcAft>
            </a:pPr>
            <a:r>
              <a:rPr sz="1200" b="0">
                <a:solidFill>
                  <a:srgbClr val="161B26"/>
                </a:solidFill>
                <a:latin typeface="Arial"/>
              </a:rPr>
              <a:t>Log and respond 200</a:t>
            </a:r>
          </a:p>
        </p:txBody>
      </p:sp>
      <p:sp>
        <p:nvSpPr>
          <p:cNvPr id="46" name="Rectangle 4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77240" y="5257800"/>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Webhook alerts need a paid TradingView plan and a public URL (e.g. a tunnel).</a:t>
            </a:r>
          </a:p>
        </p:txBody>
      </p:sp>
      <p:sp>
        <p:nvSpPr>
          <p:cNvPr id="49" name="TextBox 4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0" name="TextBox 4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1" name="TextBox 5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A9</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Diagnosing an Unintended Outcome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643616" y="475488"/>
            <a:ext cx="76809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4361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43616" y="475488"/>
            <a:ext cx="768096" cy="310896"/>
          </a:xfrm>
          <a:prstGeom prst="rect">
            <a:avLst/>
          </a:prstGeom>
          <a:noFill/>
        </p:spPr>
        <p:txBody>
          <a:bodyPr wrap="square" anchor="ctr">
            <a:spAutoFit/>
          </a:bodyPr>
          <a:lstStyle/>
          <a:p>
            <a:pPr algn="ctr">
              <a:spcAft>
                <a:spcPts val="400"/>
              </a:spcAft>
            </a:pPr>
            <a:r>
              <a:rPr sz="1100" b="1">
                <a:solidFill>
                  <a:srgbClr val="F59E0B"/>
                </a:solidFill>
                <a:latin typeface="Arial"/>
              </a:rPr>
              <a:t>A9</a:t>
            </a:r>
          </a:p>
        </p:txBody>
      </p:sp>
      <p:sp>
        <p:nvSpPr>
          <p:cNvPr id="10" name="Rectangle 9"/>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374343"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4" name="TextBox 13"/>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Reproduce the result</a:t>
            </a:r>
          </a:p>
        </p:txBody>
      </p:sp>
      <p:sp>
        <p:nvSpPr>
          <p:cNvPr id="15" name="TextBox 14"/>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16" name="Rectangle 15"/>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8998"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556101"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20" name="TextBox 19"/>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Isolate the first divergent step</a:t>
            </a:r>
          </a:p>
        </p:txBody>
      </p:sp>
      <p:sp>
        <p:nvSpPr>
          <p:cNvPr id="21" name="TextBox 20"/>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2" name="Rectangle 21"/>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40756"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737859"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6" name="TextBox 25"/>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Data · signal · order · fill?</a:t>
            </a:r>
          </a:p>
        </p:txBody>
      </p:sp>
      <p:sp>
        <p:nvSpPr>
          <p:cNvPr id="27" name="TextBox 26"/>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28" name="Rectangle 27"/>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22514"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19617"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32" name="TextBox 31"/>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Compare with a known-good run</a:t>
            </a:r>
          </a:p>
        </p:txBody>
      </p:sp>
      <p:sp>
        <p:nvSpPr>
          <p:cNvPr id="33" name="TextBox 32"/>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F59E0B"/>
                </a:solidFill>
                <a:latin typeface="Arial"/>
              </a:rPr>
              <a:t>▶</a:t>
            </a:r>
          </a:p>
        </p:txBody>
      </p:sp>
      <p:sp>
        <p:nvSpPr>
          <p:cNvPr id="34" name="Rectangle 33"/>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240280"/>
            <a:ext cx="1907438"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01375" y="2569464"/>
            <a:ext cx="713232" cy="71323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8" name="TextBox 37"/>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Fix and re-test</a:t>
            </a:r>
          </a:p>
        </p:txBody>
      </p:sp>
      <p:sp>
        <p:nvSpPr>
          <p:cNvPr id="39" name="Rectangle 38"/>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5257800"/>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Read the first failure, not the last — everything after it is a consequence.</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5B6372"/>
                </a:solidFill>
                <a:latin typeface="Arial"/>
              </a:rPr>
              <a:t>1 hour  ·  see you at 13:30</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Backtest-Engine Stage: Cost Models, Execution Timing and Break-Even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A7  A8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15</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pipeline/backtest.py around the common backtester: run any library signal under every cost scenario (and a custom one), break the cost into commission, spread, slippage and regulatory fees, find each strategy's break-even cost and test next-open versus next-close execution.</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cost model</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engine helpers</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scenario report</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cost scenarios</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Analyse the cost breakdown</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+2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backtest engine with three cost models, execution timing and break-even cost.</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15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5_costs.png"/>
          <p:cNvPicPr>
            <a:picLocks noChangeAspect="1"/>
          </p:cNvPicPr>
          <p:nvPr/>
        </p:nvPicPr>
        <p:blipFill>
          <a:blip r:embed="rId2"/>
          <a:stretch>
            <a:fillRect/>
          </a:stretch>
        </p:blipFill>
        <p:spPr>
          <a:xfrm>
            <a:off x="984220" y="1828800"/>
            <a:ext cx="10223254" cy="3794760"/>
          </a:xfrm>
          <a:prstGeom prst="rect">
            <a:avLst/>
          </a:prstGeom>
        </p:spPr>
      </p:pic>
      <p:sp>
        <p:nvSpPr>
          <p:cNvPr id="8" name="Rectangle 7"/>
          <p:cNvSpPr/>
          <p:nvPr/>
        </p:nvSpPr>
        <p:spPr>
          <a:xfrm>
            <a:off x="973247" y="1817827"/>
            <a:ext cx="10245200"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Lab15-trading-costs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Automation Stage: a Scheduled, Risk-Checked Forward Test and Live Paper Trading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A7  A8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16</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pipeline/risk.py and pipeline/runner.py: `python -m pipeline run --once | --loop` with the market clock, risk checks, kill switch and trade log; run a 2025 forward test; run the strategy live on the paper account for a few cycles; and schedule it with cron, launchd or Windows Task Scheduler.</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risk layer and the kill switch</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one decision cycle</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forward-test replay and the logs</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the live paper loop and scheduling</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2025 forward test</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+4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 scheduled, risk-checked bot trading the paper account live, with a trade log and kill switch.</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16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16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6_forward_test.png"/>
          <p:cNvPicPr>
            <a:picLocks noChangeAspect="1"/>
          </p:cNvPicPr>
          <p:nvPr/>
        </p:nvPicPr>
        <p:blipFill>
          <a:blip r:embed="rId2"/>
          <a:stretch>
            <a:fillRect/>
          </a:stretch>
        </p:blipFill>
        <p:spPr>
          <a:xfrm>
            <a:off x="1299692" y="1828800"/>
            <a:ext cx="9592310" cy="3794760"/>
          </a:xfrm>
          <a:prstGeom prst="rect">
            <a:avLst/>
          </a:prstGeom>
        </p:spPr>
      </p:pic>
      <p:sp>
        <p:nvSpPr>
          <p:cNvPr id="8" name="Rectangle 7"/>
          <p:cNvSpPr/>
          <p:nvPr/>
        </p:nvSpPr>
        <p:spPr>
          <a:xfrm>
            <a:off x="1288719" y="1817827"/>
            <a:ext cx="9614255"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Lab16-paper-trading-bot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Event-Driven Automation: TradingView Webhook to Signal, Risk and Execution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A7  K5  K7</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17</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pipeline/webhook.py: a webhook receiver that turns TradingView alert JSON into a pipeline decision (validation -&gt; signal -&gt; risk -&gt; execution), test it with a local alert simulator and a self-test, and configure a real TradingView strategy alert.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Set the shared secret</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alert validation</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Route valid alerts through signal, risk and execution</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server, the simulator and the self-test</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self-test</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+4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Event-driven automation: TradingView alert to webhook to signal, risk and paper execution.</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Diagnostics Stage: Automated Bias Checks before Go-Live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A9  K8</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18</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`python -m pipeline diagnose` to run automated look-ahead (features and execution), cost-drag, overfitting and survivorship checks on any strategy and on the junior quant's exhibit, and write a PASS / WARN / FAIL report with a go-live verdict.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suspicious backtest</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Find the problems</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look-ahead checks</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cost, overfitting and survivorship checks</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diagnostics</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Automated bias diagnostics (look-ahead, costs, overfitting, survivorship) before go-live.</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18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18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8_bias_comparison.png"/>
          <p:cNvPicPr>
            <a:picLocks noChangeAspect="1"/>
          </p:cNvPicPr>
          <p:nvPr/>
        </p:nvPicPr>
        <p:blipFill>
          <a:blip r:embed="rId2"/>
          <a:stretch>
            <a:fillRect/>
          </a:stretch>
        </p:blipFill>
        <p:spPr>
          <a:xfrm>
            <a:off x="1841352" y="1828800"/>
            <a:ext cx="8508989" cy="3794760"/>
          </a:xfrm>
          <a:prstGeom prst="rect">
            <a:avLst/>
          </a:prstGeom>
        </p:spPr>
      </p:pic>
      <p:sp>
        <p:nvSpPr>
          <p:cNvPr id="8" name="Rectangle 7"/>
          <p:cNvSpPr/>
          <p:nvPr/>
        </p:nvSpPr>
        <p:spPr>
          <a:xfrm>
            <a:off x="1830380" y="1817827"/>
            <a:ext cx="8530935"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Lab18-diagnose-bias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Monitoring and Reporting Stage: Automated Tearsheet and Backtest-vs-Forward Report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259568" y="475488"/>
            <a:ext cx="1152144"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259568"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475488"/>
            <a:ext cx="1152144" cy="310896"/>
          </a:xfrm>
          <a:prstGeom prst="rect">
            <a:avLst/>
          </a:prstGeom>
          <a:noFill/>
        </p:spPr>
        <p:txBody>
          <a:bodyPr wrap="square" anchor="ctr">
            <a:spAutoFit/>
          </a:bodyPr>
          <a:lstStyle/>
          <a:p>
            <a:pPr algn="ctr">
              <a:spcAft>
                <a:spcPts val="400"/>
              </a:spcAft>
            </a:pPr>
            <a:r>
              <a:rPr sz="1100" b="1">
                <a:solidFill>
                  <a:srgbClr val="10B981"/>
                </a:solidFill>
                <a:latin typeface="Arial"/>
              </a:rPr>
              <a:t>A8  A10</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19</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`python -m pipeline report` to compare the research backtest with the runner's forward-test logs, run monitoring checks with thresholds, and generate a tearsheet and a markdown report with data-driven insights and a recommendation.</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Make sure the forward-test logs exist</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backtest-vs-forward comparison</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Add monitoring checks, the tearsheet and the report</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Generate the report</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monitoring checks</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+3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An automated tearsheet and backtest-versus-forward-test report with monitoring checks.</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25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19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19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19_tearsheet.png"/>
          <p:cNvPicPr>
            <a:picLocks noChangeAspect="1"/>
          </p:cNvPicPr>
          <p:nvPr/>
        </p:nvPicPr>
        <p:blipFill>
          <a:blip r:embed="rId2"/>
          <a:stretch>
            <a:fillRect/>
          </a:stretch>
        </p:blipFill>
        <p:spPr>
          <a:xfrm>
            <a:off x="3832362" y="1828800"/>
            <a:ext cx="4526970" cy="3794760"/>
          </a:xfrm>
          <a:prstGeom prst="rect">
            <a:avLst/>
          </a:prstGeom>
        </p:spPr>
      </p:pic>
      <p:sp>
        <p:nvSpPr>
          <p:cNvPr id="8" name="Rectangle 7"/>
          <p:cNvSpPr/>
          <p:nvPr/>
        </p:nvSpPr>
        <p:spPr>
          <a:xfrm>
            <a:off x="3821389" y="1817827"/>
            <a:ext cx="4548916"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Lab19-performance-report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4 · HANDS-ON LAB</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Capstone: One Command Runs the Pipeline End to End, with an Agentic Layer and Human Approval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75520" y="475488"/>
            <a:ext cx="1536192"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875520" y="475488"/>
            <a:ext cx="54864"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0" y="475488"/>
            <a:ext cx="1536192" cy="310896"/>
          </a:xfrm>
          <a:prstGeom prst="rect">
            <a:avLst/>
          </a:prstGeom>
          <a:noFill/>
        </p:spPr>
        <p:txBody>
          <a:bodyPr wrap="square" anchor="ctr">
            <a:spAutoFit/>
          </a:bodyPr>
          <a:lstStyle/>
          <a:p>
            <a:pPr algn="ctr">
              <a:spcAft>
                <a:spcPts val="400"/>
              </a:spcAft>
            </a:pPr>
            <a:r>
              <a:rPr sz="1100" b="1">
                <a:solidFill>
                  <a:srgbClr val="10B981"/>
                </a:solidFill>
                <a:latin typeface="Arial"/>
              </a:rPr>
              <a:t>A7  A10  K1</a:t>
            </a:r>
          </a:p>
        </p:txBody>
      </p:sp>
      <p:sp>
        <p:nvSpPr>
          <p:cNvPr id="10" name="Rectangle 9"/>
          <p:cNvSpPr/>
          <p:nvPr/>
        </p:nvSpPr>
        <p:spPr>
          <a:xfrm>
            <a:off x="777240" y="1691640"/>
            <a:ext cx="173736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91640"/>
            <a:ext cx="1737360" cy="420624"/>
          </a:xfrm>
          <a:prstGeom prst="rect">
            <a:avLst/>
          </a:prstGeom>
          <a:noFill/>
        </p:spPr>
        <p:txBody>
          <a:bodyPr wrap="square" anchor="ctr">
            <a:spAutoFit/>
          </a:bodyPr>
          <a:lstStyle/>
          <a:p>
            <a:pPr algn="ctr">
              <a:spcAft>
                <a:spcPts val="400"/>
              </a:spcAft>
            </a:pPr>
            <a:r>
              <a:rPr sz="1400" b="1">
                <a:solidFill>
                  <a:srgbClr val="FFFFFF"/>
                </a:solidFill>
                <a:latin typeface="Arial"/>
              </a:rPr>
              <a:t>LAB 20</a:t>
            </a:r>
          </a:p>
        </p:txBody>
      </p:sp>
      <p:sp>
        <p:nvSpPr>
          <p:cNvPr id="12" name="TextBox 11"/>
          <p:cNvSpPr txBox="1"/>
          <p:nvPr/>
        </p:nvSpPr>
        <p:spPr>
          <a:xfrm>
            <a:off x="777240" y="2240280"/>
            <a:ext cx="10698480" cy="868680"/>
          </a:xfrm>
          <a:prstGeom prst="rect">
            <a:avLst/>
          </a:prstGeom>
          <a:noFill/>
        </p:spPr>
        <p:txBody>
          <a:bodyPr wrap="square" anchor="t">
            <a:spAutoFit/>
          </a:bodyPr>
          <a:lstStyle/>
          <a:p>
            <a:pPr algn="l">
              <a:spcAft>
                <a:spcPts val="400"/>
              </a:spcAft>
            </a:pPr>
            <a:r>
              <a:rPr sz="1400" b="0">
                <a:solidFill>
                  <a:srgbClr val="161B26"/>
                </a:solidFill>
                <a:latin typeface="Arial"/>
              </a:rPr>
              <a:t>Build pipeline/agents.py (analyst, researcher, trader and risk agents; rule-based by default, Claude optional) and pipeline/e2e.py (`python -m pipeline e2e`) that runs every stage in order with gates, then evaluate the pipeline and the role of human oversight.</a:t>
            </a:r>
          </a:p>
        </p:txBody>
      </p:sp>
      <p:sp>
        <p:nvSpPr>
          <p:cNvPr id="13" name="TextBox 12"/>
          <p:cNvSpPr txBox="1"/>
          <p:nvPr/>
        </p:nvSpPr>
        <p:spPr>
          <a:xfrm>
            <a:off x="777240" y="3127248"/>
            <a:ext cx="5486400" cy="292608"/>
          </a:xfrm>
          <a:prstGeom prst="rect">
            <a:avLst/>
          </a:prstGeom>
          <a:noFill/>
        </p:spPr>
        <p:txBody>
          <a:bodyPr wrap="square" anchor="t">
            <a:spAutoFit/>
          </a:bodyPr>
          <a:lstStyle/>
          <a:p>
            <a:pPr algn="l">
              <a:spcAft>
                <a:spcPts val="400"/>
              </a:spcAft>
            </a:pPr>
            <a:r>
              <a:rPr sz="1200" b="1">
                <a:solidFill>
                  <a:srgbClr val="10B981"/>
                </a:solidFill>
                <a:latin typeface="Arial"/>
              </a:rPr>
              <a:t>WORKFLOW</a:t>
            </a:r>
          </a:p>
        </p:txBody>
      </p:sp>
      <p:sp>
        <p:nvSpPr>
          <p:cNvPr id="14" name="Rectangle 13"/>
          <p:cNvSpPr/>
          <p:nvPr/>
        </p:nvSpPr>
        <p:spPr>
          <a:xfrm>
            <a:off x="77724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35407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407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8" name="TextBox 17"/>
          <p:cNvSpPr txBox="1"/>
          <p:nvPr/>
        </p:nvSpPr>
        <p:spPr>
          <a:xfrm>
            <a:off x="88696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agent layer</a:t>
            </a:r>
          </a:p>
        </p:txBody>
      </p:sp>
      <p:sp>
        <p:nvSpPr>
          <p:cNvPr id="19" name="TextBox 18"/>
          <p:cNvSpPr txBox="1"/>
          <p:nvPr/>
        </p:nvSpPr>
        <p:spPr>
          <a:xfrm>
            <a:off x="2305812"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0" name="Rectangle 19"/>
          <p:cNvSpPr/>
          <p:nvPr/>
        </p:nvSpPr>
        <p:spPr>
          <a:xfrm>
            <a:off x="2589276"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89276"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166110"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66110"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2699004"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Build the end-to-end orchestrator</a:t>
            </a:r>
          </a:p>
        </p:txBody>
      </p:sp>
      <p:sp>
        <p:nvSpPr>
          <p:cNvPr id="25" name="TextBox 24"/>
          <p:cNvSpPr txBox="1"/>
          <p:nvPr/>
        </p:nvSpPr>
        <p:spPr>
          <a:xfrm>
            <a:off x="4117848"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26" name="Rectangle 25"/>
          <p:cNvSpPr/>
          <p:nvPr/>
        </p:nvSpPr>
        <p:spPr>
          <a:xfrm>
            <a:off x="4401312"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1312"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78146"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78146"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30" name="TextBox 29"/>
          <p:cNvSpPr txBox="1"/>
          <p:nvPr/>
        </p:nvSpPr>
        <p:spPr>
          <a:xfrm>
            <a:off x="4511040"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Run the whole pipeline</a:t>
            </a:r>
          </a:p>
        </p:txBody>
      </p:sp>
      <p:sp>
        <p:nvSpPr>
          <p:cNvPr id="31" name="TextBox 30"/>
          <p:cNvSpPr txBox="1"/>
          <p:nvPr/>
        </p:nvSpPr>
        <p:spPr>
          <a:xfrm>
            <a:off x="5929884"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2" name="Rectangle 31"/>
          <p:cNvSpPr/>
          <p:nvPr/>
        </p:nvSpPr>
        <p:spPr>
          <a:xfrm>
            <a:off x="6213348"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3348"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90182"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90182"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36" name="TextBox 35"/>
          <p:cNvSpPr txBox="1"/>
          <p:nvPr/>
        </p:nvSpPr>
        <p:spPr>
          <a:xfrm>
            <a:off x="6323076"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Trace the run</a:t>
            </a:r>
          </a:p>
        </p:txBody>
      </p:sp>
      <p:sp>
        <p:nvSpPr>
          <p:cNvPr id="37" name="TextBox 36"/>
          <p:cNvSpPr txBox="1"/>
          <p:nvPr/>
        </p:nvSpPr>
        <p:spPr>
          <a:xfrm>
            <a:off x="7741920"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38" name="Rectangle 37"/>
          <p:cNvSpPr/>
          <p:nvPr/>
        </p:nvSpPr>
        <p:spPr>
          <a:xfrm>
            <a:off x="8025384"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25384"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602218"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02218"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5</a:t>
            </a:r>
          </a:p>
        </p:txBody>
      </p:sp>
      <p:sp>
        <p:nvSpPr>
          <p:cNvPr id="42" name="TextBox 41"/>
          <p:cNvSpPr txBox="1"/>
          <p:nvPr/>
        </p:nvSpPr>
        <p:spPr>
          <a:xfrm>
            <a:off x="8135112"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Read the agents' decisions</a:t>
            </a:r>
          </a:p>
        </p:txBody>
      </p:sp>
      <p:sp>
        <p:nvSpPr>
          <p:cNvPr id="43" name="TextBox 42"/>
          <p:cNvSpPr txBox="1"/>
          <p:nvPr/>
        </p:nvSpPr>
        <p:spPr>
          <a:xfrm>
            <a:off x="9553956" y="4041648"/>
            <a:ext cx="329184" cy="457200"/>
          </a:xfrm>
          <a:prstGeom prst="rect">
            <a:avLst/>
          </a:prstGeom>
          <a:noFill/>
        </p:spPr>
        <p:txBody>
          <a:bodyPr wrap="square" anchor="ctr">
            <a:spAutoFit/>
          </a:bodyPr>
          <a:lstStyle/>
          <a:p>
            <a:pPr algn="ctr">
              <a:spcAft>
                <a:spcPts val="400"/>
              </a:spcAft>
            </a:pPr>
            <a:r>
              <a:rPr sz="1100" b="1">
                <a:solidFill>
                  <a:srgbClr val="10B981"/>
                </a:solidFill>
                <a:latin typeface="Arial"/>
              </a:rPr>
              <a:t>▶</a:t>
            </a:r>
          </a:p>
        </p:txBody>
      </p:sp>
      <p:sp>
        <p:nvSpPr>
          <p:cNvPr id="44" name="Rectangle 43"/>
          <p:cNvSpPr/>
          <p:nvPr/>
        </p:nvSpPr>
        <p:spPr>
          <a:xfrm>
            <a:off x="9837420" y="3456432"/>
            <a:ext cx="1574292" cy="16276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837420" y="3456432"/>
            <a:ext cx="1574292"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414254" y="3602736"/>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414254" y="3602736"/>
            <a:ext cx="420624" cy="420624"/>
          </a:xfrm>
          <a:prstGeom prst="rect">
            <a:avLst/>
          </a:prstGeom>
          <a:noFill/>
        </p:spPr>
        <p:txBody>
          <a:bodyPr wrap="square" anchor="ctr">
            <a:spAutoFit/>
          </a:bodyPr>
          <a:lstStyle/>
          <a:p>
            <a:pPr algn="ctr">
              <a:spcAft>
                <a:spcPts val="400"/>
              </a:spcAft>
            </a:pPr>
            <a:r>
              <a:rPr sz="1600" b="1">
                <a:solidFill>
                  <a:srgbClr val="FFFFFF"/>
                </a:solidFill>
                <a:latin typeface="Arial"/>
              </a:rPr>
              <a:t>6</a:t>
            </a:r>
          </a:p>
        </p:txBody>
      </p:sp>
      <p:sp>
        <p:nvSpPr>
          <p:cNvPr id="48" name="TextBox 47"/>
          <p:cNvSpPr txBox="1"/>
          <p:nvPr/>
        </p:nvSpPr>
        <p:spPr>
          <a:xfrm>
            <a:off x="9947148" y="4114800"/>
            <a:ext cx="1354836" cy="877824"/>
          </a:xfrm>
          <a:prstGeom prst="rect">
            <a:avLst/>
          </a:prstGeom>
          <a:noFill/>
        </p:spPr>
        <p:txBody>
          <a:bodyPr wrap="square" anchor="t">
            <a:spAutoFit/>
          </a:bodyPr>
          <a:lstStyle/>
          <a:p>
            <a:pPr algn="ctr">
              <a:spcAft>
                <a:spcPts val="400"/>
              </a:spcAft>
            </a:pPr>
            <a:r>
              <a:rPr sz="1050" b="0">
                <a:solidFill>
                  <a:srgbClr val="161B26"/>
                </a:solidFill>
                <a:latin typeface="Arial"/>
              </a:rPr>
              <a:t>+5 more — see the Learner Guide</a:t>
            </a:r>
          </a:p>
        </p:txBody>
      </p:sp>
      <p:sp>
        <p:nvSpPr>
          <p:cNvPr id="49" name="Rectangle 48"/>
          <p:cNvSpPr/>
          <p:nvPr/>
        </p:nvSpPr>
        <p:spPr>
          <a:xfrm>
            <a:off x="777240" y="5257800"/>
            <a:ext cx="10634472"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257800"/>
            <a:ext cx="91440"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349240"/>
            <a:ext cx="7863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52" name="TextBox 51"/>
          <p:cNvSpPr txBox="1"/>
          <p:nvPr/>
        </p:nvSpPr>
        <p:spPr>
          <a:xfrm>
            <a:off x="1097280" y="5623560"/>
            <a:ext cx="7863840" cy="502920"/>
          </a:xfrm>
          <a:prstGeom prst="rect">
            <a:avLst/>
          </a:prstGeom>
          <a:noFill/>
        </p:spPr>
        <p:txBody>
          <a:bodyPr wrap="square" anchor="t">
            <a:spAutoFit/>
          </a:bodyPr>
          <a:lstStyle/>
          <a:p>
            <a:pPr algn="l">
              <a:spcAft>
                <a:spcPts val="400"/>
              </a:spcAft>
            </a:pPr>
            <a:r>
              <a:rPr sz="1250" b="1">
                <a:solidFill>
                  <a:srgbClr val="161B26"/>
                </a:solidFill>
                <a:latin typeface="Arial"/>
              </a:rPr>
              <a:t>One command running the whole pipeline end to end, with a human-approved agentic layer.</a:t>
            </a:r>
          </a:p>
        </p:txBody>
      </p:sp>
      <p:sp>
        <p:nvSpPr>
          <p:cNvPr id="53" name="TextBox 52"/>
          <p:cNvSpPr txBox="1"/>
          <p:nvPr/>
        </p:nvSpPr>
        <p:spPr>
          <a:xfrm>
            <a:off x="9052560" y="5257800"/>
            <a:ext cx="2148840" cy="896112"/>
          </a:xfrm>
          <a:prstGeom prst="rect">
            <a:avLst/>
          </a:prstGeom>
          <a:noFill/>
        </p:spPr>
        <p:txBody>
          <a:bodyPr wrap="square" anchor="ctr">
            <a:spAutoFit/>
          </a:bodyPr>
          <a:lstStyle/>
          <a:p>
            <a:pPr algn="r">
              <a:spcAft>
                <a:spcPts val="200"/>
              </a:spcAft>
            </a:pPr>
            <a:r>
              <a:rPr sz="1100" b="1">
                <a:solidFill>
                  <a:srgbClr val="5B6372"/>
                </a:solidFill>
                <a:latin typeface="Arial"/>
              </a:rPr>
              <a:t>Duration</a:t>
            </a:r>
          </a:p>
          <a:p>
            <a:pPr algn="r">
              <a:spcAft>
                <a:spcPts val="200"/>
              </a:spcAft>
            </a:pPr>
            <a:r>
              <a:rPr sz="1400" b="1">
                <a:solidFill>
                  <a:srgbClr val="161B26"/>
                </a:solidFill>
                <a:latin typeface="Arial"/>
              </a:rPr>
              <a:t>20 min</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20 · OUTPUT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20 — What You Should See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b20_e2e_pipeline.png"/>
          <p:cNvPicPr>
            <a:picLocks noChangeAspect="1"/>
          </p:cNvPicPr>
          <p:nvPr/>
        </p:nvPicPr>
        <p:blipFill>
          <a:blip r:embed="rId2"/>
          <a:stretch>
            <a:fillRect/>
          </a:stretch>
        </p:blipFill>
        <p:spPr>
          <a:xfrm>
            <a:off x="2388212" y="1828800"/>
            <a:ext cx="7415270" cy="3794760"/>
          </a:xfrm>
          <a:prstGeom prst="rect">
            <a:avLst/>
          </a:prstGeom>
        </p:spPr>
      </p:pic>
      <p:sp>
        <p:nvSpPr>
          <p:cNvPr id="8" name="Rectangle 7"/>
          <p:cNvSpPr/>
          <p:nvPr/>
        </p:nvSpPr>
        <p:spPr>
          <a:xfrm>
            <a:off x="2377239" y="1817827"/>
            <a:ext cx="7437216" cy="3816705"/>
          </a:xfrm>
          <a:prstGeom prst="rect">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69864"/>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769864"/>
            <a:ext cx="9144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769864"/>
            <a:ext cx="10058400" cy="475488"/>
          </a:xfrm>
          <a:prstGeom prst="rect">
            <a:avLst/>
          </a:prstGeom>
          <a:noFill/>
        </p:spPr>
        <p:txBody>
          <a:bodyPr wrap="square" anchor="ctr">
            <a:spAutoFit/>
          </a:bodyPr>
          <a:lstStyle/>
          <a:p>
            <a:pPr algn="l">
              <a:spcAft>
                <a:spcPts val="400"/>
              </a:spcAft>
            </a:pPr>
            <a:r>
              <a:rPr sz="1200" b="0">
                <a:solidFill>
                  <a:srgbClr val="161B26"/>
                </a:solidFill>
                <a:latin typeface="Arial"/>
              </a:rPr>
              <a:t>Output of Lab20-agentic-capstone in offline mode (bundled data). With Alpaca keys set, the same script uses live paper-trading data.</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4 · WHAT YOU COVERED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Topic 4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723376" y="475488"/>
            <a:ext cx="2688336" cy="31089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723376" y="475488"/>
            <a:ext cx="54864"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23376" y="475488"/>
            <a:ext cx="2688336" cy="310896"/>
          </a:xfrm>
          <a:prstGeom prst="rect">
            <a:avLst/>
          </a:prstGeom>
          <a:noFill/>
        </p:spPr>
        <p:txBody>
          <a:bodyPr wrap="square" anchor="ctr">
            <a:spAutoFit/>
          </a:bodyPr>
          <a:lstStyle/>
          <a:p>
            <a:pPr algn="ctr">
              <a:spcAft>
                <a:spcPts val="400"/>
              </a:spcAft>
            </a:pPr>
            <a:r>
              <a:rPr sz="1100" b="1">
                <a:solidFill>
                  <a:srgbClr val="F59E0B"/>
                </a:solidFill>
                <a:latin typeface="Arial"/>
              </a:rPr>
              <a:t>A7  A8  A9  A10  K7  K8</a:t>
            </a:r>
          </a:p>
        </p:txBody>
      </p:sp>
      <p:sp>
        <p:nvSpPr>
          <p:cNvPr id="10" name="Rectangle 9"/>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4" name="TextBox 13"/>
          <p:cNvSpPr txBox="1"/>
          <p:nvPr/>
        </p:nvSpPr>
        <p:spPr>
          <a:xfrm>
            <a:off x="1764792" y="1911096"/>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A7</a:t>
            </a:r>
          </a:p>
          <a:p>
            <a:pPr algn="l">
              <a:spcAft>
                <a:spcPts val="300"/>
              </a:spcAft>
            </a:pPr>
            <a:r>
              <a:rPr sz="900" b="0">
                <a:solidFill>
                  <a:srgbClr val="5B6372"/>
                </a:solidFill>
                <a:latin typeface="Arial"/>
              </a:rPr>
              <a:t>Perform coding and configuration of software agents or programs based on selected models or algorithms</a:t>
            </a:r>
          </a:p>
        </p:txBody>
      </p:sp>
      <p:sp>
        <p:nvSpPr>
          <p:cNvPr id="15" name="Rectangle 14"/>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9" name="TextBox 18"/>
          <p:cNvSpPr txBox="1"/>
          <p:nvPr/>
        </p:nvSpPr>
        <p:spPr>
          <a:xfrm>
            <a:off x="1764792" y="2679192"/>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A8</a:t>
            </a:r>
          </a:p>
          <a:p>
            <a:pPr algn="l">
              <a:spcAft>
                <a:spcPts val="300"/>
              </a:spcAft>
            </a:pPr>
            <a:r>
              <a:rPr sz="900" b="0">
                <a:solidFill>
                  <a:srgbClr val="5B6372"/>
                </a:solidFill>
                <a:latin typeface="Arial"/>
              </a:rPr>
              <a:t>Conduct tests on the actions taken and outcomes to assess effectiveness of the models</a:t>
            </a:r>
          </a:p>
        </p:txBody>
      </p:sp>
      <p:sp>
        <p:nvSpPr>
          <p:cNvPr id="20" name="Rectangle 19"/>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4" name="TextBox 23"/>
          <p:cNvSpPr txBox="1"/>
          <p:nvPr/>
        </p:nvSpPr>
        <p:spPr>
          <a:xfrm>
            <a:off x="1764792" y="3447288"/>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A9</a:t>
            </a:r>
          </a:p>
          <a:p>
            <a:pPr algn="l">
              <a:spcAft>
                <a:spcPts val="300"/>
              </a:spcAft>
            </a:pPr>
            <a:r>
              <a:rPr sz="900" b="0">
                <a:solidFill>
                  <a:srgbClr val="5B6372"/>
                </a:solidFill>
                <a:latin typeface="Arial"/>
              </a:rPr>
              <a:t>Diagnose unintended outcomes produced by statistical models</a:t>
            </a:r>
          </a:p>
        </p:txBody>
      </p:sp>
      <p:sp>
        <p:nvSpPr>
          <p:cNvPr id="25" name="Rectangle 24"/>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9" name="TextBox 28"/>
          <p:cNvSpPr txBox="1"/>
          <p:nvPr/>
        </p:nvSpPr>
        <p:spPr>
          <a:xfrm>
            <a:off x="1764792" y="4215384"/>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A10</a:t>
            </a:r>
          </a:p>
          <a:p>
            <a:pPr algn="l">
              <a:spcAft>
                <a:spcPts val="300"/>
              </a:spcAft>
            </a:pPr>
            <a:r>
              <a:rPr sz="900" b="0">
                <a:solidFill>
                  <a:srgbClr val="5B6372"/>
                </a:solidFill>
                <a:latin typeface="Arial"/>
              </a:rPr>
              <a:t>Draw relevant trends and insights from data analysis to support decisions and report accordingly</a:t>
            </a:r>
          </a:p>
        </p:txBody>
      </p:sp>
      <p:sp>
        <p:nvSpPr>
          <p:cNvPr id="30" name="Rectangle 29"/>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4" name="TextBox 33"/>
          <p:cNvSpPr txBox="1"/>
          <p:nvPr/>
        </p:nvSpPr>
        <p:spPr>
          <a:xfrm>
            <a:off x="1764792" y="4983480"/>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K7</a:t>
            </a:r>
          </a:p>
          <a:p>
            <a:pPr algn="l">
              <a:spcAft>
                <a:spcPts val="300"/>
              </a:spcAft>
            </a:pPr>
            <a:r>
              <a:rPr sz="900" b="0">
                <a:solidFill>
                  <a:srgbClr val="5B6372"/>
                </a:solidFill>
                <a:latin typeface="Arial"/>
              </a:rPr>
              <a:t>Coding languages for programming of algorithms and signals</a:t>
            </a:r>
          </a:p>
        </p:txBody>
      </p:sp>
      <p:sp>
        <p:nvSpPr>
          <p:cNvPr id="35" name="Rectangle 34"/>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9" name="TextBox 38"/>
          <p:cNvSpPr txBox="1"/>
          <p:nvPr/>
        </p:nvSpPr>
        <p:spPr>
          <a:xfrm>
            <a:off x="1764792" y="5751576"/>
            <a:ext cx="9427464" cy="347472"/>
          </a:xfrm>
          <a:prstGeom prst="rect">
            <a:avLst/>
          </a:prstGeom>
          <a:noFill/>
        </p:spPr>
        <p:txBody>
          <a:bodyPr wrap="square" anchor="ctr">
            <a:spAutoFit/>
          </a:bodyPr>
          <a:lstStyle/>
          <a:p>
            <a:pPr algn="l">
              <a:spcAft>
                <a:spcPts val="300"/>
              </a:spcAft>
            </a:pPr>
            <a:r>
              <a:rPr sz="1300" b="1">
                <a:solidFill>
                  <a:srgbClr val="161B26"/>
                </a:solidFill>
                <a:latin typeface="Arial"/>
              </a:rPr>
              <a:t>K8</a:t>
            </a:r>
          </a:p>
          <a:p>
            <a:pPr algn="l">
              <a:spcAft>
                <a:spcPts val="300"/>
              </a:spcAft>
            </a:pPr>
            <a:r>
              <a:rPr sz="900" b="0">
                <a:solidFill>
                  <a:srgbClr val="5B6372"/>
                </a:solidFill>
                <a:latin typeface="Arial"/>
              </a:rPr>
              <a:t>Potential reasons for unintended outcomes</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SUMMARY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Framed testable hypotheses</a:t>
            </a:r>
          </a:p>
          <a:p>
            <a:pPr algn="l">
              <a:spcAft>
                <a:spcPts val="300"/>
              </a:spcAft>
            </a:pPr>
            <a:r>
              <a:rPr sz="1300" b="0">
                <a:solidFill>
                  <a:srgbClr val="5B6372"/>
                </a:solidFill>
                <a:latin typeface="Arial"/>
              </a:rPr>
              <a:t>Instrument, signal, holding period, effect, benchmark.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Coded indicators and strategies</a:t>
            </a:r>
          </a:p>
          <a:p>
            <a:pPr algn="l">
              <a:spcAft>
                <a:spcPts val="300"/>
              </a:spcAft>
            </a:pPr>
            <a:r>
              <a:rPr sz="1300" b="0">
                <a:solidFill>
                  <a:srgbClr val="5B6372"/>
                </a:solidFill>
                <a:latin typeface="Arial"/>
              </a:rPr>
              <a:t>Pine Script on TradingView; Python on Alpaca data.</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Modelled and A/B-tested</a:t>
            </a:r>
          </a:p>
          <a:p>
            <a:pPr algn="l">
              <a:spcAft>
                <a:spcPts val="300"/>
              </a:spcAft>
            </a:pPr>
            <a:r>
              <a:rPr sz="1300" b="0">
                <a:solidFill>
                  <a:srgbClr val="5B6372"/>
                </a:solidFill>
                <a:latin typeface="Arial"/>
              </a:rPr>
              <a:t>ML classifiers, regimes, Welch's t-test and bootstrap.</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Backtested net of costs</a:t>
            </a:r>
          </a:p>
          <a:p>
            <a:pPr algn="l">
              <a:spcAft>
                <a:spcPts val="300"/>
              </a:spcAft>
            </a:pPr>
            <a:r>
              <a:rPr sz="1300" b="0">
                <a:solidFill>
                  <a:srgbClr val="5B6372"/>
                </a:solidFill>
                <a:latin typeface="Arial"/>
              </a:rPr>
              <a:t>Commission, spread, slippage and regulatory fees.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Forward-tested automatically</a:t>
            </a:r>
          </a:p>
          <a:p>
            <a:pPr algn="l">
              <a:spcAft>
                <a:spcPts val="300"/>
              </a:spcAft>
            </a:pPr>
            <a:r>
              <a:rPr sz="1300" b="0">
                <a:solidFill>
                  <a:srgbClr val="5B6372"/>
                </a:solidFill>
                <a:latin typeface="Arial"/>
              </a:rPr>
              <a:t>A paper-trading bot with risk checks and a trade log.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Diagnosed and reported</a:t>
            </a:r>
          </a:p>
          <a:p>
            <a:pPr algn="l">
              <a:spcAft>
                <a:spcPts val="300"/>
              </a:spcAft>
            </a:pPr>
            <a:r>
              <a:rPr sz="1300" b="0">
                <a:solidFill>
                  <a:srgbClr val="5B6372"/>
                </a:solidFill>
                <a:latin typeface="Arial"/>
              </a:rPr>
              <a:t>Found the bias, fixed it, and wrote the recommendation.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Courseware &amp; Assessment on the LMS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Everything for the open-book assessment — slides, Learner Guide and submissions — lives on the LMS.</a:t>
            </a:r>
          </a:p>
        </p:txBody>
      </p:sp>
      <p:sp>
        <p:nvSpPr>
          <p:cNvPr id="8" name="Rectangle 7"/>
          <p:cNvSpPr/>
          <p:nvPr/>
        </p:nvSpPr>
        <p:spPr>
          <a:xfrm>
            <a:off x="777240" y="2148840"/>
            <a:ext cx="3749039" cy="3566160"/>
          </a:xfrm>
          <a:prstGeom prst="rect">
            <a:avLst/>
          </a:prstGeom>
          <a:solidFill>
            <a:srgbClr val="0F2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40279" y="2514600"/>
            <a:ext cx="822960" cy="8229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79" y="2514600"/>
            <a:ext cx="822960" cy="822960"/>
          </a:xfrm>
          <a:prstGeom prst="rect">
            <a:avLst/>
          </a:prstGeom>
          <a:noFill/>
        </p:spPr>
        <p:txBody>
          <a:bodyPr wrap="square" anchor="ctr">
            <a:spAutoFit/>
          </a:bodyPr>
          <a:lstStyle/>
          <a:p>
            <a:pPr algn="ctr">
              <a:spcAft>
                <a:spcPts val="400"/>
              </a:spcAft>
            </a:pPr>
            <a:r>
              <a:rPr sz="3200" b="1">
                <a:solidFill>
                  <a:srgbClr val="0F2A5F"/>
                </a:solidFill>
                <a:latin typeface="Arial"/>
              </a:rPr>
              <a:t>T</a:t>
            </a:r>
          </a:p>
        </p:txBody>
      </p:sp>
      <p:sp>
        <p:nvSpPr>
          <p:cNvPr id="11" name="TextBox 10"/>
          <p:cNvSpPr txBox="1"/>
          <p:nvPr/>
        </p:nvSpPr>
        <p:spPr>
          <a:xfrm>
            <a:off x="777240" y="3520440"/>
            <a:ext cx="3749039" cy="457200"/>
          </a:xfrm>
          <a:prstGeom prst="rect">
            <a:avLst/>
          </a:prstGeom>
          <a:noFill/>
        </p:spPr>
        <p:txBody>
          <a:bodyPr wrap="square" anchor="t">
            <a:spAutoFit/>
          </a:bodyPr>
          <a:lstStyle/>
          <a:p>
            <a:pPr algn="ctr">
              <a:spcAft>
                <a:spcPts val="400"/>
              </a:spcAft>
            </a:pPr>
            <a:r>
              <a:rPr sz="1700" b="1">
                <a:solidFill>
                  <a:srgbClr val="FFFFFF"/>
                </a:solidFill>
                <a:latin typeface="Arial"/>
              </a:rPr>
              <a:t>Tertiary Infotech Academy</a:t>
            </a:r>
          </a:p>
        </p:txBody>
      </p:sp>
      <p:sp>
        <p:nvSpPr>
          <p:cNvPr id="12" name="TextBox 11"/>
          <p:cNvSpPr txBox="1"/>
          <p:nvPr/>
        </p:nvSpPr>
        <p:spPr>
          <a:xfrm>
            <a:off x="777240" y="3977640"/>
            <a:ext cx="3749039" cy="365760"/>
          </a:xfrm>
          <a:prstGeom prst="rect">
            <a:avLst/>
          </a:prstGeom>
          <a:noFill/>
        </p:spPr>
        <p:txBody>
          <a:bodyPr wrap="square" anchor="t">
            <a:spAutoFit/>
          </a:bodyPr>
          <a:lstStyle/>
          <a:p>
            <a:pPr algn="ctr">
              <a:spcAft>
                <a:spcPts val="400"/>
              </a:spcAft>
            </a:pPr>
            <a:r>
              <a:rPr sz="1200" b="0">
                <a:solidFill>
                  <a:srgbClr val="B8C7E0"/>
                </a:solidFill>
                <a:latin typeface="Arial"/>
              </a:rPr>
              <a:t>LMS for IBF-STS courses</a:t>
            </a:r>
          </a:p>
        </p:txBody>
      </p:sp>
      <p:sp>
        <p:nvSpPr>
          <p:cNvPr id="13" name="Rectangle 12"/>
          <p:cNvSpPr/>
          <p:nvPr/>
        </p:nvSpPr>
        <p:spPr>
          <a:xfrm>
            <a:off x="1737360" y="4526280"/>
            <a:ext cx="1828800"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37360" y="4526280"/>
            <a:ext cx="1828800" cy="502920"/>
          </a:xfrm>
          <a:prstGeom prst="rect">
            <a:avLst/>
          </a:prstGeom>
          <a:noFill/>
        </p:spPr>
        <p:txBody>
          <a:bodyPr wrap="square" anchor="ctr">
            <a:spAutoFit/>
          </a:bodyPr>
          <a:lstStyle/>
          <a:p>
            <a:pPr algn="ctr">
              <a:spcAft>
                <a:spcPts val="400"/>
              </a:spcAft>
            </a:pPr>
            <a:r>
              <a:rPr sz="1400" b="1">
                <a:solidFill>
                  <a:srgbClr val="FFFFFF"/>
                </a:solidFill>
                <a:latin typeface="Arial"/>
              </a:rPr>
              <a:t>Sign in / OTP</a:t>
            </a:r>
          </a:p>
        </p:txBody>
      </p:sp>
      <p:sp>
        <p:nvSpPr>
          <p:cNvPr id="15" name="TextBox 14"/>
          <p:cNvSpPr txBox="1"/>
          <p:nvPr/>
        </p:nvSpPr>
        <p:spPr>
          <a:xfrm>
            <a:off x="777240" y="5166360"/>
            <a:ext cx="3749039" cy="365760"/>
          </a:xfrm>
          <a:prstGeom prst="rect">
            <a:avLst/>
          </a:prstGeom>
          <a:noFill/>
        </p:spPr>
        <p:txBody>
          <a:bodyPr wrap="square" anchor="t">
            <a:spAutoFit/>
          </a:bodyPr>
          <a:lstStyle/>
          <a:p>
            <a:pPr algn="ctr">
              <a:spcAft>
                <a:spcPts val="400"/>
              </a:spcAft>
            </a:pPr>
            <a:r>
              <a:rPr sz="1200" b="1">
                <a:solidFill>
                  <a:srgbClr val="9CDCFE"/>
                </a:solidFill>
                <a:latin typeface="Arial"/>
              </a:rPr>
              <a:t>lms-tms.tertiaryinfotech.com</a:t>
            </a:r>
          </a:p>
        </p:txBody>
      </p:sp>
      <p:sp>
        <p:nvSpPr>
          <p:cNvPr id="16" name="Rectangle 15"/>
          <p:cNvSpPr/>
          <p:nvPr/>
        </p:nvSpPr>
        <p:spPr>
          <a:xfrm>
            <a:off x="4846320" y="2148840"/>
            <a:ext cx="656539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46320" y="214884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120640" y="235915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0640" y="2359152"/>
            <a:ext cx="402336" cy="402336"/>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20" name="TextBox 19"/>
          <p:cNvSpPr txBox="1"/>
          <p:nvPr/>
        </p:nvSpPr>
        <p:spPr>
          <a:xfrm>
            <a:off x="5715000" y="2148840"/>
            <a:ext cx="5468112" cy="822960"/>
          </a:xfrm>
          <a:prstGeom prst="rect">
            <a:avLst/>
          </a:prstGeom>
          <a:noFill/>
        </p:spPr>
        <p:txBody>
          <a:bodyPr wrap="square" anchor="ctr">
            <a:spAutoFit/>
          </a:bodyPr>
          <a:lstStyle/>
          <a:p>
            <a:pPr algn="l">
              <a:spcAft>
                <a:spcPts val="200"/>
              </a:spcAft>
            </a:pPr>
            <a:r>
              <a:rPr sz="1400" b="1">
                <a:solidFill>
                  <a:srgbClr val="161B26"/>
                </a:solidFill>
                <a:latin typeface="Arial"/>
              </a:rPr>
              <a:t>Sign in</a:t>
            </a:r>
          </a:p>
          <a:p>
            <a:pPr algn="l">
              <a:spcAft>
                <a:spcPts val="200"/>
              </a:spcAft>
            </a:pPr>
            <a:r>
              <a:rPr sz="1150" b="0">
                <a:solidFill>
                  <a:srgbClr val="5B6372"/>
                </a:solidFill>
                <a:latin typeface="Arial"/>
              </a:rPr>
              <a:t>Log in with your registered email (OTP or password).</a:t>
            </a:r>
          </a:p>
        </p:txBody>
      </p:sp>
      <p:sp>
        <p:nvSpPr>
          <p:cNvPr id="21" name="Rectangle 20"/>
          <p:cNvSpPr/>
          <p:nvPr/>
        </p:nvSpPr>
        <p:spPr>
          <a:xfrm>
            <a:off x="4846320" y="3072384"/>
            <a:ext cx="656539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846320" y="3072384"/>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120640" y="3282696"/>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3282696"/>
            <a:ext cx="402336" cy="402336"/>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5" name="TextBox 24"/>
          <p:cNvSpPr txBox="1"/>
          <p:nvPr/>
        </p:nvSpPr>
        <p:spPr>
          <a:xfrm>
            <a:off x="5715000" y="3072384"/>
            <a:ext cx="5468112" cy="822960"/>
          </a:xfrm>
          <a:prstGeom prst="rect">
            <a:avLst/>
          </a:prstGeom>
          <a:noFill/>
        </p:spPr>
        <p:txBody>
          <a:bodyPr wrap="square" anchor="ctr">
            <a:spAutoFit/>
          </a:bodyPr>
          <a:lstStyle/>
          <a:p>
            <a:pPr algn="l">
              <a:spcAft>
                <a:spcPts val="200"/>
              </a:spcAft>
            </a:pPr>
            <a:r>
              <a:rPr sz="1400" b="1">
                <a:solidFill>
                  <a:srgbClr val="161B26"/>
                </a:solidFill>
                <a:latin typeface="Arial"/>
              </a:rPr>
              <a:t>Download the courseware</a:t>
            </a:r>
          </a:p>
          <a:p>
            <a:pPr algn="l">
              <a:spcAft>
                <a:spcPts val="200"/>
              </a:spcAft>
            </a:pPr>
            <a:r>
              <a:rPr sz="1150" b="0">
                <a:solidFill>
                  <a:srgbClr val="5B6372"/>
                </a:solidFill>
                <a:latin typeface="Arial"/>
              </a:rPr>
              <a:t>Trainer slides, Learner Guide and lab artefacts.</a:t>
            </a:r>
          </a:p>
        </p:txBody>
      </p:sp>
      <p:sp>
        <p:nvSpPr>
          <p:cNvPr id="26" name="Rectangle 25"/>
          <p:cNvSpPr/>
          <p:nvPr/>
        </p:nvSpPr>
        <p:spPr>
          <a:xfrm>
            <a:off x="4846320" y="3995928"/>
            <a:ext cx="656539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846320" y="3995928"/>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20640" y="4206240"/>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20640" y="4206240"/>
            <a:ext cx="402336" cy="402336"/>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30" name="TextBox 29"/>
          <p:cNvSpPr txBox="1"/>
          <p:nvPr/>
        </p:nvSpPr>
        <p:spPr>
          <a:xfrm>
            <a:off x="5715000" y="3995928"/>
            <a:ext cx="5468112" cy="822960"/>
          </a:xfrm>
          <a:prstGeom prst="rect">
            <a:avLst/>
          </a:prstGeom>
          <a:noFill/>
        </p:spPr>
        <p:txBody>
          <a:bodyPr wrap="square" anchor="ctr">
            <a:spAutoFit/>
          </a:bodyPr>
          <a:lstStyle/>
          <a:p>
            <a:pPr algn="l">
              <a:spcAft>
                <a:spcPts val="200"/>
              </a:spcAft>
            </a:pPr>
            <a:r>
              <a:rPr sz="1400" b="1">
                <a:solidFill>
                  <a:srgbClr val="161B26"/>
                </a:solidFill>
                <a:latin typeface="Arial"/>
              </a:rPr>
              <a:t>Mark attendance</a:t>
            </a:r>
          </a:p>
          <a:p>
            <a:pPr algn="l">
              <a:spcAft>
                <a:spcPts val="200"/>
              </a:spcAft>
            </a:pPr>
            <a:r>
              <a:rPr sz="1150" b="0">
                <a:solidFill>
                  <a:srgbClr val="5B6372"/>
                </a:solidFill>
                <a:latin typeface="Arial"/>
              </a:rPr>
              <a:t>Sign in for each session — IBF-STS funding needs 75% attendance.</a:t>
            </a:r>
          </a:p>
        </p:txBody>
      </p:sp>
      <p:sp>
        <p:nvSpPr>
          <p:cNvPr id="31" name="Rectangle 30"/>
          <p:cNvSpPr/>
          <p:nvPr/>
        </p:nvSpPr>
        <p:spPr>
          <a:xfrm>
            <a:off x="4846320" y="4919472"/>
            <a:ext cx="656539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846320" y="4919472"/>
            <a:ext cx="91440" cy="8229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120640" y="5129784"/>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20640" y="5129784"/>
            <a:ext cx="402336" cy="402336"/>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5" name="TextBox 34"/>
          <p:cNvSpPr txBox="1"/>
          <p:nvPr/>
        </p:nvSpPr>
        <p:spPr>
          <a:xfrm>
            <a:off x="5715000" y="4919472"/>
            <a:ext cx="5468112" cy="822960"/>
          </a:xfrm>
          <a:prstGeom prst="rect">
            <a:avLst/>
          </a:prstGeom>
          <a:noFill/>
        </p:spPr>
        <p:txBody>
          <a:bodyPr wrap="square" anchor="ctr">
            <a:spAutoFit/>
          </a:bodyPr>
          <a:lstStyle/>
          <a:p>
            <a:pPr algn="l">
              <a:spcAft>
                <a:spcPts val="200"/>
              </a:spcAft>
            </a:pPr>
            <a:r>
              <a:rPr sz="1400" b="1">
                <a:solidFill>
                  <a:srgbClr val="161B26"/>
                </a:solidFill>
                <a:latin typeface="Arial"/>
              </a:rPr>
              <a:t>Submit the assessment</a:t>
            </a:r>
          </a:p>
          <a:p>
            <a:pPr algn="l">
              <a:spcAft>
                <a:spcPts val="200"/>
              </a:spcAft>
            </a:pPr>
            <a:r>
              <a:rPr sz="1150" b="0">
                <a:solidFill>
                  <a:srgbClr val="5B6372"/>
                </a:solidFill>
                <a:latin typeface="Arial"/>
              </a:rPr>
              <a:t>Upload your WA answers and PP evidence here.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 Reminder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5180076" cy="356616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518007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331720"/>
            <a:ext cx="4741164" cy="548640"/>
          </a:xfrm>
          <a:prstGeom prst="rect">
            <a:avLst/>
          </a:prstGeom>
          <a:noFill/>
        </p:spPr>
        <p:txBody>
          <a:bodyPr wrap="square" anchor="t">
            <a:spAutoFit/>
          </a:bodyPr>
          <a:lstStyle/>
          <a:p>
            <a:pPr algn="l">
              <a:spcAft>
                <a:spcPts val="400"/>
              </a:spcAft>
            </a:pPr>
            <a:r>
              <a:rPr sz="1600" b="1">
                <a:solidFill>
                  <a:srgbClr val="1F6FEB"/>
                </a:solidFill>
                <a:latin typeface="Arial"/>
              </a:rPr>
              <a:t>Written Assessment</a:t>
            </a:r>
          </a:p>
        </p:txBody>
      </p:sp>
      <p:sp>
        <p:nvSpPr>
          <p:cNvPr id="10" name="TextBox 9"/>
          <p:cNvSpPr txBox="1"/>
          <p:nvPr/>
        </p:nvSpPr>
        <p:spPr>
          <a:xfrm>
            <a:off x="996696"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45 minutes · open book · 9 short-answer questions covering K1 - K9.</a:t>
            </a:r>
          </a:p>
        </p:txBody>
      </p:sp>
      <p:sp>
        <p:nvSpPr>
          <p:cNvPr id="11" name="Rectangle 10"/>
          <p:cNvSpPr/>
          <p:nvPr/>
        </p:nvSpPr>
        <p:spPr>
          <a:xfrm>
            <a:off x="6231636" y="1965960"/>
            <a:ext cx="5180076" cy="356616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965960"/>
            <a:ext cx="518007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1092" y="2331720"/>
            <a:ext cx="4741164" cy="548640"/>
          </a:xfrm>
          <a:prstGeom prst="rect">
            <a:avLst/>
          </a:prstGeom>
          <a:noFill/>
        </p:spPr>
        <p:txBody>
          <a:bodyPr wrap="square" anchor="t">
            <a:spAutoFit/>
          </a:bodyPr>
          <a:lstStyle/>
          <a:p>
            <a:pPr algn="l">
              <a:spcAft>
                <a:spcPts val="400"/>
              </a:spcAft>
            </a:pPr>
            <a:r>
              <a:rPr sz="1600" b="1">
                <a:solidFill>
                  <a:srgbClr val="10B981"/>
                </a:solidFill>
                <a:latin typeface="Arial"/>
              </a:rPr>
              <a:t>Practical Performance</a:t>
            </a:r>
          </a:p>
        </p:txBody>
      </p:sp>
      <p:sp>
        <p:nvSpPr>
          <p:cNvPr id="14" name="TextBox 13"/>
          <p:cNvSpPr txBox="1"/>
          <p:nvPr/>
        </p:nvSpPr>
        <p:spPr>
          <a:xfrm>
            <a:off x="6451092" y="2926080"/>
            <a:ext cx="4741164" cy="2377440"/>
          </a:xfrm>
          <a:prstGeom prst="rect">
            <a:avLst/>
          </a:prstGeom>
          <a:noFill/>
        </p:spPr>
        <p:txBody>
          <a:bodyPr wrap="square" anchor="t">
            <a:spAutoFit/>
          </a:bodyPr>
          <a:lstStyle/>
          <a:p>
            <a:pPr algn="l">
              <a:spcAft>
                <a:spcPts val="400"/>
              </a:spcAft>
            </a:pPr>
            <a:r>
              <a:rPr sz="1200" b="0">
                <a:solidFill>
                  <a:srgbClr val="161B26"/>
                </a:solidFill>
                <a:latin typeface="Arial"/>
              </a:rPr>
              <a:t>75 minutes · open book · 4 tasks in Python with Alpaca paper trading, A1 - A10.</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4343"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4343"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1</a:t>
            </a:r>
          </a:p>
        </p:txBody>
      </p:sp>
      <p:sp>
        <p:nvSpPr>
          <p:cNvPr id="11" name="TextBox 10"/>
          <p:cNvSpPr txBox="1"/>
          <p:nvPr/>
        </p:nvSpPr>
        <p:spPr>
          <a:xfrm>
            <a:off x="905256"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the assessment attendance record</a:t>
            </a:r>
          </a:p>
        </p:txBody>
      </p:sp>
      <p:sp>
        <p:nvSpPr>
          <p:cNvPr id="12" name="TextBox 11"/>
          <p:cNvSpPr txBox="1"/>
          <p:nvPr/>
        </p:nvSpPr>
        <p:spPr>
          <a:xfrm>
            <a:off x="2666390"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3" name="Rectangle 12"/>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6101"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6101"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2</a:t>
            </a:r>
          </a:p>
        </p:txBody>
      </p:sp>
      <p:sp>
        <p:nvSpPr>
          <p:cNvPr id="17" name="TextBox 16"/>
          <p:cNvSpPr txBox="1"/>
          <p:nvPr/>
        </p:nvSpPr>
        <p:spPr>
          <a:xfrm>
            <a:off x="3087014"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Assessor briefing (not assessed)</a:t>
            </a:r>
          </a:p>
        </p:txBody>
      </p:sp>
      <p:sp>
        <p:nvSpPr>
          <p:cNvPr id="18" name="TextBox 17"/>
          <p:cNvSpPr txBox="1"/>
          <p:nvPr/>
        </p:nvSpPr>
        <p:spPr>
          <a:xfrm>
            <a:off x="4848148"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19" name="Rectangle 18"/>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37859"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37859"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3</a:t>
            </a:r>
          </a:p>
        </p:txBody>
      </p:sp>
      <p:sp>
        <p:nvSpPr>
          <p:cNvPr id="23" name="TextBox 22"/>
          <p:cNvSpPr txBox="1"/>
          <p:nvPr/>
        </p:nvSpPr>
        <p:spPr>
          <a:xfrm>
            <a:off x="5268772"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Sit the WA (45 min) then the PP (75 min) — open book</a:t>
            </a:r>
          </a:p>
        </p:txBody>
      </p:sp>
      <p:sp>
        <p:nvSpPr>
          <p:cNvPr id="24" name="TextBox 23"/>
          <p:cNvSpPr txBox="1"/>
          <p:nvPr/>
        </p:nvSpPr>
        <p:spPr>
          <a:xfrm>
            <a:off x="7029906"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25" name="Rectangle 24"/>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22514"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19617"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19617"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4</a:t>
            </a:r>
          </a:p>
        </p:txBody>
      </p:sp>
      <p:sp>
        <p:nvSpPr>
          <p:cNvPr id="29" name="TextBox 28"/>
          <p:cNvSpPr txBox="1"/>
          <p:nvPr/>
        </p:nvSpPr>
        <p:spPr>
          <a:xfrm>
            <a:off x="7450530"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Submit your answers on the LMS</a:t>
            </a:r>
          </a:p>
        </p:txBody>
      </p:sp>
      <p:sp>
        <p:nvSpPr>
          <p:cNvPr id="30" name="TextBox 29"/>
          <p:cNvSpPr txBox="1"/>
          <p:nvPr/>
        </p:nvSpPr>
        <p:spPr>
          <a:xfrm>
            <a:off x="9211664" y="3337560"/>
            <a:ext cx="310896" cy="548640"/>
          </a:xfrm>
          <a:prstGeom prst="rect">
            <a:avLst/>
          </a:prstGeom>
          <a:noFill/>
        </p:spPr>
        <p:txBody>
          <a:bodyPr wrap="square" anchor="ctr">
            <a:spAutoFit/>
          </a:bodyPr>
          <a:lstStyle/>
          <a:p>
            <a:pPr algn="ctr">
              <a:spcAft>
                <a:spcPts val="400"/>
              </a:spcAft>
            </a:pPr>
            <a:r>
              <a:rPr sz="1400" b="1">
                <a:solidFill>
                  <a:srgbClr val="7C3AED"/>
                </a:solidFill>
                <a:latin typeface="Arial"/>
              </a:rPr>
              <a:t>▶</a:t>
            </a:r>
          </a:p>
        </p:txBody>
      </p:sp>
      <p:sp>
        <p:nvSpPr>
          <p:cNvPr id="31" name="Rectangle 30"/>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04272"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01375" y="2569464"/>
            <a:ext cx="713232" cy="7132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01375" y="2569464"/>
            <a:ext cx="713232" cy="713232"/>
          </a:xfrm>
          <a:prstGeom prst="rect">
            <a:avLst/>
          </a:prstGeom>
          <a:noFill/>
        </p:spPr>
        <p:txBody>
          <a:bodyPr wrap="square" anchor="ctr">
            <a:spAutoFit/>
          </a:bodyPr>
          <a:lstStyle/>
          <a:p>
            <a:pPr algn="ctr">
              <a:spcAft>
                <a:spcPts val="400"/>
              </a:spcAft>
            </a:pPr>
            <a:r>
              <a:rPr sz="2700" b="1">
                <a:solidFill>
                  <a:srgbClr val="FFFFFF"/>
                </a:solidFill>
                <a:latin typeface="Arial"/>
              </a:rPr>
              <a:t>5</a:t>
            </a:r>
          </a:p>
        </p:txBody>
      </p:sp>
      <p:sp>
        <p:nvSpPr>
          <p:cNvPr id="35" name="TextBox 34"/>
          <p:cNvSpPr txBox="1"/>
          <p:nvPr/>
        </p:nvSpPr>
        <p:spPr>
          <a:xfrm>
            <a:off x="9632288" y="3483864"/>
            <a:ext cx="1651406" cy="1371600"/>
          </a:xfrm>
          <a:prstGeom prst="rect">
            <a:avLst/>
          </a:prstGeom>
          <a:noFill/>
        </p:spPr>
        <p:txBody>
          <a:bodyPr wrap="square" anchor="t">
            <a:spAutoFit/>
          </a:bodyPr>
          <a:lstStyle/>
          <a:p>
            <a:pPr algn="ctr">
              <a:spcAft>
                <a:spcPts val="400"/>
              </a:spcAft>
            </a:pPr>
            <a:r>
              <a:rPr sz="1200" b="0">
                <a:solidFill>
                  <a:srgbClr val="161B26"/>
                </a:solidFill>
                <a:latin typeface="Arial"/>
              </a:rPr>
              <a:t>Sign the Assessment Summary Record</a:t>
            </a:r>
          </a:p>
        </p:txBody>
      </p:sp>
      <p:sp>
        <p:nvSpPr>
          <p:cNvPr id="36" name="Rectangle 35"/>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5257800"/>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Sign the assessment attendance record BEFORE you begin. Submit on the LMS.</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CLOSING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Before You Leave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Make sure every session is signed — 75% is required for IBF-STS funding.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Course feedback</a:t>
            </a:r>
          </a:p>
          <a:p>
            <a:pPr algn="l">
              <a:spcAft>
                <a:spcPts val="300"/>
              </a:spcAft>
            </a:pPr>
            <a:r>
              <a:rPr sz="1300" b="0">
                <a:solidFill>
                  <a:srgbClr val="5B6372"/>
                </a:solidFill>
                <a:latin typeface="Arial"/>
              </a:rPr>
              <a:t>Complete the feedback form on the LMS.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Keep practising on paper</a:t>
            </a:r>
          </a:p>
          <a:p>
            <a:pPr algn="l">
              <a:spcAft>
                <a:spcPts val="300"/>
              </a:spcAft>
            </a:pPr>
            <a:r>
              <a:rPr sz="1300" b="0">
                <a:solidFill>
                  <a:srgbClr val="5B6372"/>
                </a:solidFill>
                <a:latin typeface="Arial"/>
              </a:rPr>
              <a:t>Your Alpaca paper account and lab code are yours to keep.</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Not investment advice</a:t>
            </a:r>
          </a:p>
          <a:p>
            <a:pPr algn="l">
              <a:spcAft>
                <a:spcPts val="300"/>
              </a:spcAft>
            </a:pPr>
            <a:r>
              <a:rPr sz="1300" b="0">
                <a:solidFill>
                  <a:srgbClr val="5B6372"/>
                </a:solidFill>
                <a:latin typeface="Arial"/>
              </a:rPr>
              <a:t>Scenarios are fictitious; trade real money only with proper advice.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651760"/>
            <a:ext cx="12191695" cy="1097280"/>
          </a:xfrm>
          <a:prstGeom prst="rect">
            <a:avLst/>
          </a:prstGeom>
          <a:noFill/>
        </p:spPr>
        <p:txBody>
          <a:bodyPr wrap="square" anchor="t">
            <a:spAutoFit/>
          </a:bodyPr>
          <a:lstStyle/>
          <a:p>
            <a:pPr algn="ctr">
              <a:spcAft>
                <a:spcPts val="400"/>
              </a:spcAft>
            </a:pPr>
            <a:r>
              <a:rPr sz="5400" b="1">
                <a:solidFill>
                  <a:srgbClr val="161B26"/>
                </a:solidFill>
                <a:latin typeface="Arial"/>
              </a:rPr>
              <a:t>Thank You</a:t>
            </a:r>
          </a:p>
        </p:txBody>
      </p:sp>
      <p:sp>
        <p:nvSpPr>
          <p:cNvPr id="6" name="TextBox 5"/>
          <p:cNvSpPr txBox="1"/>
          <p:nvPr/>
        </p:nvSpPr>
        <p:spPr>
          <a:xfrm>
            <a:off x="0" y="3840480"/>
            <a:ext cx="12191695" cy="548640"/>
          </a:xfrm>
          <a:prstGeom prst="rect">
            <a:avLst/>
          </a:prstGeom>
          <a:noFill/>
        </p:spPr>
        <p:txBody>
          <a:bodyPr wrap="square" anchor="t">
            <a:spAutoFit/>
          </a:bodyPr>
          <a:lstStyle/>
          <a:p>
            <a:pPr algn="ctr">
              <a:spcAft>
                <a:spcPts val="400"/>
              </a:spcAft>
            </a:pPr>
            <a:r>
              <a:rPr sz="1600" b="0">
                <a:solidFill>
                  <a:srgbClr val="5B6372"/>
                </a:solidFill>
                <a:latin typeface="Arial"/>
              </a:rPr>
              <a:t>Machine Learning 101 for Financial Trading  ·  FSE-DAT-3019-1.1</a:t>
            </a:r>
          </a:p>
        </p:txBody>
      </p:sp>
      <p:sp>
        <p:nvSpPr>
          <p:cNvPr id="7" name="TextBox 6"/>
          <p:cNvSpPr txBox="1"/>
          <p:nvPr/>
        </p:nvSpPr>
        <p:spPr>
          <a:xfrm>
            <a:off x="0" y="4434840"/>
            <a:ext cx="12191695" cy="548640"/>
          </a:xfrm>
          <a:prstGeom prst="rect">
            <a:avLst/>
          </a:prstGeom>
          <a:noFill/>
        </p:spPr>
        <p:txBody>
          <a:bodyPr wrap="square" anchor="t">
            <a:spAutoFit/>
          </a:bodyPr>
          <a:lstStyle/>
          <a:p>
            <a:pPr algn="ctr">
              <a:spcAft>
                <a:spcPts val="400"/>
              </a:spcAft>
            </a:pPr>
            <a:r>
              <a:rPr sz="1300" b="0">
                <a:solidFill>
                  <a:srgbClr val="5B6372"/>
                </a:solidFill>
                <a:latin typeface="Arial"/>
              </a:rPr>
              <a:t>Tertiary Infotech Academy Pte Ltd  ·  UEN 201200696W</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Machine Learning 101 for Financial Trading  ·  FSE-DAT-3019-1.1  ·  v2.0</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
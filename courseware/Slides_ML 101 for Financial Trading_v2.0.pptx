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31520" y="685800"/>
            <a:ext cx="822960" cy="822960"/>
          </a:xfrm>
          <a:prstGeom prst="ellipse">
            <a:avLst/>
          </a:prstGeom>
          <a:solidFill>
            <a:srgbClr val="0F2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85800"/>
            <a:ext cx="822960" cy="822960"/>
          </a:xfrm>
          <a:prstGeom prst="rect">
            <a:avLst/>
          </a:prstGeom>
          <a:noFill/>
        </p:spPr>
        <p:txBody>
          <a:bodyPr wrap="square" anchor="ctr">
            <a:spAutoFit/>
          </a:bodyPr>
          <a:lstStyle/>
          <a:p>
            <a:pPr algn="ctr">
              <a:spcAft>
                <a:spcPts val="400"/>
              </a:spcAft>
            </a:pPr>
            <a:r>
              <a:rPr sz="3400" b="1">
                <a:solidFill>
                  <a:srgbClr val="FFFFFF"/>
                </a:solidFill>
                <a:latin typeface="Arial"/>
              </a:rPr>
              <a:t>T</a:t>
            </a:r>
          </a:p>
        </p:txBody>
      </p:sp>
      <p:sp>
        <p:nvSpPr>
          <p:cNvPr id="7" name="TextBox 6"/>
          <p:cNvSpPr txBox="1"/>
          <p:nvPr/>
        </p:nvSpPr>
        <p:spPr>
          <a:xfrm>
            <a:off x="731520" y="1874519"/>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TRAINER SLIDES  ·  IBF-STS ACCREDITED</a:t>
            </a:r>
          </a:p>
        </p:txBody>
      </p:sp>
      <p:sp>
        <p:nvSpPr>
          <p:cNvPr id="8" name="TextBox 7"/>
          <p:cNvSpPr txBox="1"/>
          <p:nvPr/>
        </p:nvSpPr>
        <p:spPr>
          <a:xfrm>
            <a:off x="731520" y="2331720"/>
            <a:ext cx="10607040" cy="1097280"/>
          </a:xfrm>
          <a:prstGeom prst="rect">
            <a:avLst/>
          </a:prstGeom>
          <a:noFill/>
        </p:spPr>
        <p:txBody>
          <a:bodyPr wrap="square" anchor="t">
            <a:spAutoFit/>
          </a:bodyPr>
          <a:lstStyle/>
          <a:p>
            <a:pPr algn="l">
              <a:spcAft>
                <a:spcPts val="400"/>
              </a:spcAft>
            </a:pPr>
            <a:r>
              <a:rPr sz="3400" b="1">
                <a:solidFill>
                  <a:srgbClr val="161B26"/>
                </a:solidFill>
                <a:latin typeface="Arial"/>
              </a:rPr>
              <a:t>Machine Learning 101 for Financial Trading</a:t>
            </a:r>
          </a:p>
        </p:txBody>
      </p:sp>
      <p:sp>
        <p:nvSpPr>
          <p:cNvPr id="9" name="Rectangle 8"/>
          <p:cNvSpPr/>
          <p:nvPr/>
        </p:nvSpPr>
        <p:spPr>
          <a:xfrm>
            <a:off x="731520" y="3611880"/>
            <a:ext cx="201168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886200"/>
            <a:ext cx="10607040" cy="1371600"/>
          </a:xfrm>
          <a:prstGeom prst="rect">
            <a:avLst/>
          </a:prstGeom>
          <a:noFill/>
        </p:spPr>
        <p:txBody>
          <a:bodyPr wrap="square" anchor="t">
            <a:spAutoFit/>
          </a:bodyPr>
          <a:lstStyle/>
          <a:p>
            <a:pPr algn="l">
              <a:spcAft>
                <a:spcPts val="700"/>
              </a:spcAft>
            </a:pPr>
            <a:r>
              <a:rPr sz="1500" b="0">
                <a:solidFill>
                  <a:srgbClr val="5B6372"/>
                </a:solidFill>
                <a:latin typeface="Arial"/>
              </a:rPr>
              <a:t>FSE-DAT-3019-1.1  ·  Data Analytics and Computational Modelling  ·  Proficiency Level 3</a:t>
            </a:r>
          </a:p>
          <a:p>
            <a:pPr algn="l">
              <a:spcAft>
                <a:spcPts val="700"/>
              </a:spcAft>
            </a:pPr>
            <a:r>
              <a:rPr sz="1500" b="0">
                <a:solidFill>
                  <a:srgbClr val="5B6372"/>
                </a:solidFill>
                <a:latin typeface="Arial"/>
              </a:rPr>
              <a:t>Conducted by Tertiary Infotech Academy Pte Ltd  ·  UEN 201200696W</a:t>
            </a:r>
          </a:p>
          <a:p>
            <a:pPr algn="l">
              <a:spcAft>
                <a:spcPts val="700"/>
              </a:spcAft>
            </a:pPr>
            <a:r>
              <a:rPr sz="1400" b="1">
                <a:solidFill>
                  <a:srgbClr val="1F6FEB"/>
                </a:solidFill>
                <a:latin typeface="Arial"/>
              </a:rPr>
              <a:t>Version 2.0  ·  18 October 2026</a:t>
            </a:r>
          </a:p>
        </p:txBody>
      </p:sp>
      <p:sp>
        <p:nvSpPr>
          <p:cNvPr id="11" name="TextBox 10"/>
          <p:cNvSpPr txBox="1"/>
          <p:nvPr/>
        </p:nvSpPr>
        <p:spPr>
          <a:xfrm>
            <a:off x="731520" y="5943600"/>
            <a:ext cx="10607040" cy="365760"/>
          </a:xfrm>
          <a:prstGeom prst="rect">
            <a:avLst/>
          </a:prstGeom>
          <a:noFill/>
        </p:spPr>
        <p:txBody>
          <a:bodyPr wrap="square" anchor="t">
            <a:spAutoFit/>
          </a:bodyPr>
          <a:lstStyle/>
          <a:p>
            <a:pPr algn="l">
              <a:spcAft>
                <a:spcPts val="400"/>
              </a:spcAft>
            </a:pPr>
            <a:r>
              <a:rPr sz="1000" b="0">
                <a:solidFill>
                  <a:srgbClr val="5B6372"/>
                </a:solidFill>
                <a:latin typeface="Arial"/>
              </a:rPr>
              <a:t>© Tertiary Infotech Academy Pte Ltd. All rights reserved.  ·  www.tertiarycourses.com.sg</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ATTENDANCE · IBF-STS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Attendance and IBF-STS Funding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Sign in every session</a:t>
            </a:r>
          </a:p>
          <a:p>
            <a:pPr algn="l">
              <a:spcAft>
                <a:spcPts val="300"/>
              </a:spcAft>
            </a:pPr>
            <a:r>
              <a:rPr sz="1300" b="0">
                <a:solidFill>
                  <a:srgbClr val="5B6372"/>
                </a:solidFill>
                <a:latin typeface="Arial"/>
              </a:rPr>
              <a:t>Mark attendance at the start of each session and after lunch.</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75% attendance</a:t>
            </a:r>
          </a:p>
          <a:p>
            <a:pPr algn="l">
              <a:spcAft>
                <a:spcPts val="300"/>
              </a:spcAft>
            </a:pPr>
            <a:r>
              <a:rPr sz="1300" b="0">
                <a:solidFill>
                  <a:srgbClr val="5B6372"/>
                </a:solidFill>
                <a:latin typeface="Arial"/>
              </a:rPr>
              <a:t>IBF-STS funding requires at least 75% attendance.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Pass the assessment</a:t>
            </a:r>
          </a:p>
          <a:p>
            <a:pPr algn="l">
              <a:spcAft>
                <a:spcPts val="300"/>
              </a:spcAft>
            </a:pPr>
            <a:r>
              <a:rPr sz="1300" b="0">
                <a:solidFill>
                  <a:srgbClr val="5B6372"/>
                </a:solidFill>
                <a:latin typeface="Arial"/>
              </a:rPr>
              <a:t>Funding also requires passing both assessment components.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Assessment attendance</a:t>
            </a:r>
          </a:p>
          <a:p>
            <a:pPr algn="l">
              <a:spcAft>
                <a:spcPts val="300"/>
              </a:spcAft>
            </a:pPr>
            <a:r>
              <a:rPr sz="1300" b="0">
                <a:solidFill>
                  <a:srgbClr val="5B6372"/>
                </a:solidFill>
                <a:latin typeface="Arial"/>
              </a:rPr>
              <a:t>A separate record is signed before the assessment begins.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YOUR TRAINER · GENERAL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________________________</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Complete this panel with your own details before delivery.</a:t>
            </a:r>
          </a:p>
        </p:txBody>
      </p:sp>
      <p:sp>
        <p:nvSpPr>
          <p:cNvPr id="13" name="Rectangle 12"/>
          <p:cNvSpPr/>
          <p:nvPr/>
        </p:nvSpPr>
        <p:spPr>
          <a:xfrm>
            <a:off x="4480560" y="17830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NAME</a:t>
            </a:r>
          </a:p>
          <a:p>
            <a:pPr algn="l">
              <a:spcAft>
                <a:spcPts val="300"/>
              </a:spcAft>
            </a:pPr>
            <a:r>
              <a:rPr sz="1300" b="0">
                <a:solidFill>
                  <a:srgbClr val="E2E8F0"/>
                </a:solidFill>
                <a:latin typeface="Arial"/>
              </a:rPr>
              <a:t>____________________________________________</a:t>
            </a:r>
          </a:p>
        </p:txBody>
      </p:sp>
      <p:sp>
        <p:nvSpPr>
          <p:cNvPr id="16" name="Rectangle 15"/>
          <p:cNvSpPr/>
          <p:nvPr/>
        </p:nvSpPr>
        <p:spPr>
          <a:xfrm>
            <a:off x="4480560" y="252984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2984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52984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TITLE / DESIGNATION</a:t>
            </a:r>
          </a:p>
          <a:p>
            <a:pPr algn="l">
              <a:spcAft>
                <a:spcPts val="300"/>
              </a:spcAft>
            </a:pPr>
            <a:r>
              <a:rPr sz="1300" b="0">
                <a:solidFill>
                  <a:srgbClr val="E2E8F0"/>
                </a:solidFill>
                <a:latin typeface="Arial"/>
              </a:rPr>
              <a:t>____________________________________________</a:t>
            </a:r>
          </a:p>
        </p:txBody>
      </p:sp>
      <p:sp>
        <p:nvSpPr>
          <p:cNvPr id="19" name="Rectangle 18"/>
          <p:cNvSpPr/>
          <p:nvPr/>
        </p:nvSpPr>
        <p:spPr>
          <a:xfrm>
            <a:off x="4480560" y="327660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276600"/>
            <a:ext cx="91440" cy="563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276600"/>
            <a:ext cx="6400800" cy="563880"/>
          </a:xfrm>
          <a:prstGeom prst="rect">
            <a:avLst/>
          </a:prstGeom>
          <a:noFill/>
        </p:spPr>
        <p:txBody>
          <a:bodyPr wrap="square" anchor="ctr">
            <a:spAutoFit/>
          </a:bodyPr>
          <a:lstStyle/>
          <a:p>
            <a:pPr algn="l">
              <a:spcAft>
                <a:spcPts val="300"/>
              </a:spcAft>
            </a:pPr>
            <a:r>
              <a:rPr sz="1100" b="1">
                <a:solidFill>
                  <a:srgbClr val="7C3AED"/>
                </a:solidFill>
                <a:latin typeface="Arial"/>
              </a:rPr>
              <a:t>QUALIFICATIONS</a:t>
            </a:r>
          </a:p>
          <a:p>
            <a:pPr algn="l">
              <a:spcAft>
                <a:spcPts val="300"/>
              </a:spcAft>
            </a:pPr>
            <a:r>
              <a:rPr sz="1300" b="0">
                <a:solidFill>
                  <a:srgbClr val="E2E8F0"/>
                </a:solidFill>
                <a:latin typeface="Arial"/>
              </a:rPr>
              <a:t>____________________________________________</a:t>
            </a:r>
          </a:p>
        </p:txBody>
      </p:sp>
      <p:sp>
        <p:nvSpPr>
          <p:cNvPr id="22" name="Rectangle 21"/>
          <p:cNvSpPr/>
          <p:nvPr/>
        </p:nvSpPr>
        <p:spPr>
          <a:xfrm>
            <a:off x="4480560" y="402336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023360"/>
            <a:ext cx="91440" cy="563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023360"/>
            <a:ext cx="6400800" cy="563880"/>
          </a:xfrm>
          <a:prstGeom prst="rect">
            <a:avLst/>
          </a:prstGeom>
          <a:noFill/>
        </p:spPr>
        <p:txBody>
          <a:bodyPr wrap="square" anchor="ctr">
            <a:spAutoFit/>
          </a:bodyPr>
          <a:lstStyle/>
          <a:p>
            <a:pPr algn="l">
              <a:spcAft>
                <a:spcPts val="300"/>
              </a:spcAft>
            </a:pPr>
            <a:r>
              <a:rPr sz="1100" b="1">
                <a:solidFill>
                  <a:srgbClr val="F59E0B"/>
                </a:solidFill>
                <a:latin typeface="Arial"/>
              </a:rPr>
              <a:t>AREAS OF EXPERTISE</a:t>
            </a:r>
          </a:p>
          <a:p>
            <a:pPr algn="l">
              <a:spcAft>
                <a:spcPts val="300"/>
              </a:spcAft>
            </a:pPr>
            <a:r>
              <a:rPr sz="1300" b="0">
                <a:solidFill>
                  <a:srgbClr val="E2E8F0"/>
                </a:solidFill>
                <a:latin typeface="Arial"/>
              </a:rPr>
              <a:t>____________________________________________</a:t>
            </a:r>
          </a:p>
        </p:txBody>
      </p:sp>
      <p:sp>
        <p:nvSpPr>
          <p:cNvPr id="25" name="Rectangle 24"/>
          <p:cNvSpPr/>
          <p:nvPr/>
        </p:nvSpPr>
        <p:spPr>
          <a:xfrm>
            <a:off x="4480560" y="477012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477012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477012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TRAINING &amp; INDUSTRY EXPERIENCE</a:t>
            </a:r>
          </a:p>
          <a:p>
            <a:pPr algn="l">
              <a:spcAft>
                <a:spcPts val="300"/>
              </a:spcAft>
            </a:pPr>
            <a:r>
              <a:rPr sz="1300" b="0">
                <a:solidFill>
                  <a:srgbClr val="E2E8F0"/>
                </a:solidFill>
                <a:latin typeface="Arial"/>
              </a:rPr>
              <a:t>____________________________________________</a:t>
            </a:r>
          </a:p>
        </p:txBody>
      </p:sp>
      <p:sp>
        <p:nvSpPr>
          <p:cNvPr id="28" name="Rectangle 27"/>
          <p:cNvSpPr/>
          <p:nvPr/>
        </p:nvSpPr>
        <p:spPr>
          <a:xfrm>
            <a:off x="4480560" y="55168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551688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73168" y="551688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CONTACT</a:t>
            </a:r>
          </a:p>
          <a:p>
            <a:pPr algn="l">
              <a:spcAft>
                <a:spcPts val="300"/>
              </a:spcAft>
            </a:pPr>
            <a:r>
              <a:rPr sz="1300" b="0">
                <a:solidFill>
                  <a:srgbClr val="E2E8F0"/>
                </a:solidFill>
                <a:latin typeface="Arial"/>
              </a:rPr>
              <a:t>____________________________________________</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TRAINER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Course Developer · Trainer · Assessor for this IBF-STS programme.</a:t>
            </a:r>
          </a:p>
        </p:txBody>
      </p:sp>
      <p:sp>
        <p:nvSpPr>
          <p:cNvPr id="13" name="Rectangle 12"/>
          <p:cNvSpPr/>
          <p:nvPr/>
        </p:nvSpPr>
        <p:spPr>
          <a:xfrm>
            <a:off x="4480560" y="1783080"/>
            <a:ext cx="694944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7132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713232"/>
          </a:xfrm>
          <a:prstGeom prst="rect">
            <a:avLst/>
          </a:prstGeom>
          <a:noFill/>
        </p:spPr>
        <p:txBody>
          <a:bodyPr wrap="square" anchor="ctr">
            <a:spAutoFit/>
          </a:bodyPr>
          <a:lstStyle/>
          <a:p>
            <a:pPr algn="l">
              <a:spcAft>
                <a:spcPts val="300"/>
              </a:spcAft>
            </a:pPr>
            <a:r>
              <a:rPr sz="1100" b="1">
                <a:solidFill>
                  <a:srgbClr val="1F6FEB"/>
                </a:solidFill>
                <a:latin typeface="Arial"/>
              </a:rPr>
              <a:t>ROLE</a:t>
            </a:r>
          </a:p>
          <a:p>
            <a:pPr algn="l">
              <a:spcAft>
                <a:spcPts val="300"/>
              </a:spcAft>
            </a:pPr>
            <a:r>
              <a:rPr sz="1300" b="0">
                <a:solidFill>
                  <a:srgbClr val="161B26"/>
                </a:solidFill>
                <a:latin typeface="Arial"/>
              </a:rPr>
              <a:t>Course Developer, Trainer and Assessor</a:t>
            </a:r>
          </a:p>
        </p:txBody>
      </p:sp>
      <p:sp>
        <p:nvSpPr>
          <p:cNvPr id="16" name="Rectangle 15"/>
          <p:cNvSpPr/>
          <p:nvPr/>
        </p:nvSpPr>
        <p:spPr>
          <a:xfrm>
            <a:off x="4480560" y="2679192"/>
            <a:ext cx="694944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679192"/>
            <a:ext cx="91440" cy="7132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679192"/>
            <a:ext cx="6400800" cy="713232"/>
          </a:xfrm>
          <a:prstGeom prst="rect">
            <a:avLst/>
          </a:prstGeom>
          <a:noFill/>
        </p:spPr>
        <p:txBody>
          <a:bodyPr wrap="square" anchor="ctr">
            <a:spAutoFit/>
          </a:bodyPr>
          <a:lstStyle/>
          <a:p>
            <a:pPr algn="l">
              <a:spcAft>
                <a:spcPts val="300"/>
              </a:spcAft>
            </a:pPr>
            <a:r>
              <a:rPr sz="1100" b="1">
                <a:solidFill>
                  <a:srgbClr val="10B981"/>
                </a:solidFill>
                <a:latin typeface="Arial"/>
              </a:rPr>
              <a:t>CERTIFICATION</a:t>
            </a:r>
          </a:p>
          <a:p>
            <a:pPr algn="l">
              <a:spcAft>
                <a:spcPts val="300"/>
              </a:spcAft>
            </a:pPr>
            <a:r>
              <a:rPr sz="1300" b="0">
                <a:solidFill>
                  <a:srgbClr val="161B26"/>
                </a:solidFill>
                <a:latin typeface="Arial"/>
              </a:rPr>
              <a:t>ACTA · DACE · PhD</a:t>
            </a:r>
          </a:p>
        </p:txBody>
      </p:sp>
      <p:sp>
        <p:nvSpPr>
          <p:cNvPr id="19" name="Rectangle 18"/>
          <p:cNvSpPr/>
          <p:nvPr/>
        </p:nvSpPr>
        <p:spPr>
          <a:xfrm>
            <a:off x="4480560" y="3575304"/>
            <a:ext cx="694944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575304"/>
            <a:ext cx="91440" cy="7132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575304"/>
            <a:ext cx="6400800" cy="713232"/>
          </a:xfrm>
          <a:prstGeom prst="rect">
            <a:avLst/>
          </a:prstGeom>
          <a:noFill/>
        </p:spPr>
        <p:txBody>
          <a:bodyPr wrap="square" anchor="ctr">
            <a:spAutoFit/>
          </a:bodyPr>
          <a:lstStyle/>
          <a:p>
            <a:pPr algn="l">
              <a:spcAft>
                <a:spcPts val="300"/>
              </a:spcAft>
            </a:pPr>
            <a:r>
              <a:rPr sz="1100" b="1">
                <a:solidFill>
                  <a:srgbClr val="7C3AED"/>
                </a:solidFill>
                <a:latin typeface="Arial"/>
              </a:rPr>
              <a:t>FINANCIAL SERVICES</a:t>
            </a:r>
          </a:p>
          <a:p>
            <a:pPr algn="l">
              <a:spcAft>
                <a:spcPts val="300"/>
              </a:spcAft>
            </a:pPr>
            <a:r>
              <a:rPr sz="1300" b="0">
                <a:solidFill>
                  <a:srgbClr val="161B26"/>
                </a:solidFill>
                <a:latin typeface="Arial"/>
              </a:rPr>
              <a:t>IBF-STS programmes in AI, algorithmic trading and fintech</a:t>
            </a:r>
          </a:p>
        </p:txBody>
      </p:sp>
      <p:sp>
        <p:nvSpPr>
          <p:cNvPr id="22" name="Rectangle 21"/>
          <p:cNvSpPr/>
          <p:nvPr/>
        </p:nvSpPr>
        <p:spPr>
          <a:xfrm>
            <a:off x="4480560" y="4471416"/>
            <a:ext cx="694944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471416"/>
            <a:ext cx="91440" cy="7132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471416"/>
            <a:ext cx="6400800" cy="713232"/>
          </a:xfrm>
          <a:prstGeom prst="rect">
            <a:avLst/>
          </a:prstGeom>
          <a:noFill/>
        </p:spPr>
        <p:txBody>
          <a:bodyPr wrap="square" anchor="ctr">
            <a:spAutoFit/>
          </a:bodyPr>
          <a:lstStyle/>
          <a:p>
            <a:pPr algn="l">
              <a:spcAft>
                <a:spcPts val="300"/>
              </a:spcAft>
            </a:pPr>
            <a:r>
              <a:rPr sz="1100" b="1">
                <a:solidFill>
                  <a:srgbClr val="F59E0B"/>
                </a:solidFill>
                <a:latin typeface="Arial"/>
              </a:rPr>
              <a:t>DELIVERS</a:t>
            </a:r>
          </a:p>
          <a:p>
            <a:pPr algn="l">
              <a:spcAft>
                <a:spcPts val="300"/>
              </a:spcAft>
            </a:pPr>
            <a:r>
              <a:rPr sz="1300" b="0">
                <a:solidFill>
                  <a:srgbClr val="161B26"/>
                </a:solidFill>
                <a:latin typeface="Arial"/>
              </a:rPr>
              <a:t>AI, machine learning and data programmes for financial institutions</a:t>
            </a:r>
          </a:p>
        </p:txBody>
      </p:sp>
      <p:sp>
        <p:nvSpPr>
          <p:cNvPr id="25" name="Rectangle 24"/>
          <p:cNvSpPr/>
          <p:nvPr/>
        </p:nvSpPr>
        <p:spPr>
          <a:xfrm>
            <a:off x="4480560" y="5367528"/>
            <a:ext cx="694944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5367528"/>
            <a:ext cx="91440" cy="7132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5367528"/>
            <a:ext cx="6400800" cy="713232"/>
          </a:xfrm>
          <a:prstGeom prst="rect">
            <a:avLst/>
          </a:prstGeom>
          <a:noFill/>
        </p:spPr>
        <p:txBody>
          <a:bodyPr wrap="square" anchor="ctr">
            <a:spAutoFit/>
          </a:bodyPr>
          <a:lstStyle/>
          <a:p>
            <a:pPr algn="l">
              <a:spcAft>
                <a:spcPts val="300"/>
              </a:spcAft>
            </a:pPr>
            <a:r>
              <a:rPr sz="1100" b="1">
                <a:solidFill>
                  <a:srgbClr val="1F6FEB"/>
                </a:solidFill>
                <a:latin typeface="Arial"/>
              </a:rPr>
              <a:t>FOUNDER</a:t>
            </a:r>
          </a:p>
          <a:p>
            <a:pPr algn="l">
              <a:spcAft>
                <a:spcPts val="300"/>
              </a:spcAft>
            </a:pPr>
            <a:r>
              <a:rPr sz="1300" b="0">
                <a:solidFill>
                  <a:srgbClr val="161B26"/>
                </a:solidFill>
                <a:latin typeface="Arial"/>
              </a:rPr>
              <a:t>Tertiary Infotech Academy Pte Ltd</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ICE-BREAKER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Let's Know Each Other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19"/>
            <a:ext cx="10515600" cy="4297680"/>
          </a:xfrm>
          <a:prstGeom prst="rect">
            <a:avLst/>
          </a:prstGeom>
          <a:noFill/>
        </p:spPr>
        <p:txBody>
          <a:bodyPr wrap="square">
            <a:spAutoFit/>
          </a:bodyPr>
          <a:lstStyle/>
          <a:p>
            <a:pPr>
              <a:spcAft>
                <a:spcPts val="1000"/>
              </a:spcAft>
            </a:pPr>
            <a:r>
              <a:rPr sz="1700">
                <a:solidFill>
                  <a:srgbClr val="161B26"/>
                </a:solidFill>
                <a:latin typeface="Arial"/>
              </a:rPr>
              <a:t>•  Your name, your institution and your role.</a:t>
            </a:r>
          </a:p>
          <a:p>
            <a:pPr>
              <a:spcAft>
                <a:spcPts val="1000"/>
              </a:spcAft>
            </a:pPr>
            <a:r>
              <a:rPr sz="1700">
                <a:solidFill>
                  <a:srgbClr val="161B26"/>
                </a:solidFill>
                <a:latin typeface="Arial"/>
              </a:rPr>
              <a:t>•  Do you trade, invest, analyse or build systems for markets today?</a:t>
            </a:r>
          </a:p>
          <a:p>
            <a:pPr>
              <a:spcAft>
                <a:spcPts val="1000"/>
              </a:spcAft>
            </a:pPr>
            <a:r>
              <a:rPr sz="1700">
                <a:solidFill>
                  <a:srgbClr val="161B26"/>
                </a:solidFill>
                <a:latin typeface="Arial"/>
              </a:rPr>
              <a:t>•  Have you used TradingView, a broker API or Python before?</a:t>
            </a:r>
          </a:p>
          <a:p>
            <a:pPr>
              <a:spcAft>
                <a:spcPts val="1000"/>
              </a:spcAft>
            </a:pPr>
            <a:r>
              <a:rPr sz="1700">
                <a:solidFill>
                  <a:srgbClr val="161B26"/>
                </a:solidFill>
                <a:latin typeface="Arial"/>
              </a:rPr>
              <a:t>•  One trading rule you believe works — we will test it this week.</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HOUSEKEEPING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Ground Rules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Be on time</a:t>
            </a:r>
          </a:p>
          <a:p>
            <a:pPr algn="l">
              <a:spcAft>
                <a:spcPts val="300"/>
              </a:spcAft>
            </a:pPr>
            <a:r>
              <a:rPr sz="1300" b="0">
                <a:solidFill>
                  <a:srgbClr val="5B6372"/>
                </a:solidFill>
                <a:latin typeface="Arial"/>
              </a:rPr>
              <a:t>Sessions restart promptly after each break.</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Phones on silent</a:t>
            </a:r>
          </a:p>
          <a:p>
            <a:pPr algn="l">
              <a:spcAft>
                <a:spcPts val="300"/>
              </a:spcAft>
            </a:pPr>
            <a:r>
              <a:rPr sz="1300" b="0">
                <a:solidFill>
                  <a:srgbClr val="5B6372"/>
                </a:solidFill>
                <a:latin typeface="Arial"/>
              </a:rPr>
              <a:t>Take calls outside the room.</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Ask as we go</a:t>
            </a:r>
          </a:p>
          <a:p>
            <a:pPr algn="l">
              <a:spcAft>
                <a:spcPts val="300"/>
              </a:spcAft>
            </a:pPr>
            <a:r>
              <a:rPr sz="1300" b="0">
                <a:solidFill>
                  <a:srgbClr val="5B6372"/>
                </a:solidFill>
                <a:latin typeface="Arial"/>
              </a:rPr>
              <a:t>Questions are welcome at any point.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Hands on the keyboard</a:t>
            </a:r>
          </a:p>
          <a:p>
            <a:pPr algn="l">
              <a:spcAft>
                <a:spcPts val="300"/>
              </a:spcAft>
            </a:pPr>
            <a:r>
              <a:rPr sz="1300" b="0">
                <a:solidFill>
                  <a:srgbClr val="5B6372"/>
                </a:solidFill>
                <a:latin typeface="Arial"/>
              </a:rPr>
              <a:t>Twenty labs — follow along on your own laptop.</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Paper trading only</a:t>
            </a:r>
          </a:p>
          <a:p>
            <a:pPr algn="l">
              <a:spcAft>
                <a:spcPts val="300"/>
              </a:spcAft>
            </a:pPr>
            <a:r>
              <a:rPr sz="1300" b="0">
                <a:solidFill>
                  <a:srgbClr val="5B6372"/>
                </a:solidFill>
                <a:latin typeface="Arial"/>
              </a:rPr>
              <a:t>No real money is used anywhere in this course.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Not investment advice</a:t>
            </a:r>
          </a:p>
          <a:p>
            <a:pPr algn="l">
              <a:spcAft>
                <a:spcPts val="300"/>
              </a:spcAft>
            </a:pPr>
            <a:r>
              <a:rPr sz="1300" b="0">
                <a:solidFill>
                  <a:srgbClr val="5B6372"/>
                </a:solidFill>
                <a:latin typeface="Arial"/>
              </a:rPr>
              <a:t>Lion City Capital and all scenarios are fictitious.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PORTAL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Login to TMS and Download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ms-tms-portal.png"/>
          <p:cNvPicPr>
            <a:picLocks noChangeAspect="1"/>
          </p:cNvPicPr>
          <p:nvPr/>
        </p:nvPicPr>
        <p:blipFill>
          <a:blip r:embed="rId2"/>
          <a:stretch>
            <a:fillRect/>
          </a:stretch>
        </p:blipFill>
        <p:spPr>
          <a:xfrm>
            <a:off x="2557716" y="2057400"/>
            <a:ext cx="7076261" cy="3520440"/>
          </a:xfrm>
          <a:prstGeom prst="rect">
            <a:avLst/>
          </a:prstGeom>
        </p:spPr>
      </p:pic>
      <p:sp>
        <p:nvSpPr>
          <p:cNvPr id="8" name="Rectangle 7"/>
          <p:cNvSpPr/>
          <p:nvPr/>
        </p:nvSpPr>
        <p:spPr>
          <a:xfrm>
            <a:off x="2546744" y="2046427"/>
            <a:ext cx="7098206" cy="354238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2414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724144"/>
            <a:ext cx="9144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72414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Log in at lms-tms.tertiaryinfotech.com with your registered email + the OTP from your inbox, then download the slides, Learner Guide and labs.</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PORTAL · STEPS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Download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40280"/>
            <a:ext cx="190743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4343"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4343"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1" name="TextBox 10"/>
          <p:cNvSpPr txBox="1"/>
          <p:nvPr/>
        </p:nvSpPr>
        <p:spPr>
          <a:xfrm>
            <a:off x="905256"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Go to lms-tms. tertiaryinfotech.com</a:t>
            </a:r>
          </a:p>
        </p:txBody>
      </p:sp>
      <p:sp>
        <p:nvSpPr>
          <p:cNvPr id="12" name="TextBox 11"/>
          <p:cNvSpPr txBox="1"/>
          <p:nvPr/>
        </p:nvSpPr>
        <p:spPr>
          <a:xfrm>
            <a:off x="2666390"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13" name="Rectangle 12"/>
          <p:cNvSpPr/>
          <p:nvPr/>
        </p:nvSpPr>
        <p:spPr>
          <a:xfrm>
            <a:off x="2958998"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58998" y="2240280"/>
            <a:ext cx="190743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56101"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6101"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17" name="TextBox 16"/>
          <p:cNvSpPr txBox="1"/>
          <p:nvPr/>
        </p:nvSpPr>
        <p:spPr>
          <a:xfrm>
            <a:off x="3087014"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Enter your registered email and click Send OTP</a:t>
            </a:r>
          </a:p>
        </p:txBody>
      </p:sp>
      <p:sp>
        <p:nvSpPr>
          <p:cNvPr id="18" name="TextBox 17"/>
          <p:cNvSpPr txBox="1"/>
          <p:nvPr/>
        </p:nvSpPr>
        <p:spPr>
          <a:xfrm>
            <a:off x="4848148"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19" name="Rectangle 18"/>
          <p:cNvSpPr/>
          <p:nvPr/>
        </p:nvSpPr>
        <p:spPr>
          <a:xfrm>
            <a:off x="5140756"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0756" y="2240280"/>
            <a:ext cx="190743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37859"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37859"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3" name="TextBox 22"/>
          <p:cNvSpPr txBox="1"/>
          <p:nvPr/>
        </p:nvSpPr>
        <p:spPr>
          <a:xfrm>
            <a:off x="5268772"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Key in the one-time password from your inbox</a:t>
            </a:r>
          </a:p>
        </p:txBody>
      </p:sp>
      <p:sp>
        <p:nvSpPr>
          <p:cNvPr id="24" name="TextBox 23"/>
          <p:cNvSpPr txBox="1"/>
          <p:nvPr/>
        </p:nvSpPr>
        <p:spPr>
          <a:xfrm>
            <a:off x="7029906"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25" name="Rectangle 24"/>
          <p:cNvSpPr/>
          <p:nvPr/>
        </p:nvSpPr>
        <p:spPr>
          <a:xfrm>
            <a:off x="7322514"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22514" y="2240280"/>
            <a:ext cx="190743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19617"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19617"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29" name="TextBox 28"/>
          <p:cNvSpPr txBox="1"/>
          <p:nvPr/>
        </p:nvSpPr>
        <p:spPr>
          <a:xfrm>
            <a:off x="7450530"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Open this course: download the Learner Slides + Learner Guide PDFs</a:t>
            </a:r>
          </a:p>
        </p:txBody>
      </p:sp>
      <p:sp>
        <p:nvSpPr>
          <p:cNvPr id="30" name="TextBox 29"/>
          <p:cNvSpPr txBox="1"/>
          <p:nvPr/>
        </p:nvSpPr>
        <p:spPr>
          <a:xfrm>
            <a:off x="9211664"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31" name="Rectangle 30"/>
          <p:cNvSpPr/>
          <p:nvPr/>
        </p:nvSpPr>
        <p:spPr>
          <a:xfrm>
            <a:off x="9504272"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04272" y="2240280"/>
            <a:ext cx="190743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101375"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101375"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5" name="TextBox 34"/>
          <p:cNvSpPr txBox="1"/>
          <p:nvPr/>
        </p:nvSpPr>
        <p:spPr>
          <a:xfrm>
            <a:off x="9632288"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Activities / Lab: download the labs folder (lab manuals + code)</a:t>
            </a:r>
          </a:p>
        </p:txBody>
      </p:sp>
      <p:sp>
        <p:nvSpPr>
          <p:cNvPr id="36" name="Rectangle 35"/>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 y="5257800"/>
            <a:ext cx="91440" cy="8229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Keep the Learner Guide open all course — the assessment is open book.</a:t>
            </a:r>
          </a:p>
        </p:txBody>
      </p:sp>
      <p:sp>
        <p:nvSpPr>
          <p:cNvPr id="39" name="TextBox 3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0" name="TextBox 3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1" name="TextBox 4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COURSE PORTAL · GITHUB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Download the Labs and Simulator (GitHub)</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965960"/>
            <a:ext cx="5180076" cy="3566160"/>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965960"/>
            <a:ext cx="5180076"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6696" y="2331720"/>
            <a:ext cx="4741164" cy="548640"/>
          </a:xfrm>
          <a:prstGeom prst="rect">
            <a:avLst/>
          </a:prstGeom>
          <a:noFill/>
        </p:spPr>
        <p:txBody>
          <a:bodyPr wrap="square" anchor="t">
            <a:spAutoFit/>
          </a:bodyPr>
          <a:lstStyle/>
          <a:p>
            <a:pPr algn="l">
              <a:spcAft>
                <a:spcPts val="400"/>
              </a:spcAft>
            </a:pPr>
            <a:r>
              <a:rPr sz="1600" b="1">
                <a:solidFill>
                  <a:srgbClr val="1F6FEB"/>
                </a:solidFill>
                <a:latin typeface="Arial"/>
              </a:rPr>
              <a:t>Course repository</a:t>
            </a:r>
          </a:p>
        </p:txBody>
      </p:sp>
      <p:sp>
        <p:nvSpPr>
          <p:cNvPr id="10" name="TextBox 9"/>
          <p:cNvSpPr txBox="1"/>
          <p:nvPr/>
        </p:nvSpPr>
        <p:spPr>
          <a:xfrm>
            <a:off x="996696" y="2926080"/>
            <a:ext cx="4741164" cy="2377440"/>
          </a:xfrm>
          <a:prstGeom prst="rect">
            <a:avLst/>
          </a:prstGeom>
          <a:noFill/>
        </p:spPr>
        <p:txBody>
          <a:bodyPr wrap="square" anchor="t">
            <a:spAutoFit/>
          </a:bodyPr>
          <a:lstStyle/>
          <a:p>
            <a:pPr algn="l">
              <a:spcAft>
                <a:spcPts val="400"/>
              </a:spcAft>
            </a:pPr>
            <a:r>
              <a:rPr sz="1200" b="0">
                <a:solidFill>
                  <a:srgbClr val="161B26"/>
                </a:solidFill>
                <a:latin typeface="Arial"/>
              </a:rPr>
              <a:t>github.com/tertiarycourses/TGS-2023018794-Machine-Learning-101-for-Financial-Trading
Learner Guide, Learner Slides, Lesson Plan and all 20 lab folders (instruction PDFs, .py and .pine files).
Code &gt; Download ZIP, or git clone.</a:t>
            </a:r>
          </a:p>
        </p:txBody>
      </p:sp>
      <p:sp>
        <p:nvSpPr>
          <p:cNvPr id="11" name="Rectangle 10"/>
          <p:cNvSpPr/>
          <p:nvPr/>
        </p:nvSpPr>
        <p:spPr>
          <a:xfrm>
            <a:off x="6231636" y="1965960"/>
            <a:ext cx="5180076" cy="356616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965960"/>
            <a:ext cx="5180076"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51092" y="2331720"/>
            <a:ext cx="4741164" cy="548640"/>
          </a:xfrm>
          <a:prstGeom prst="rect">
            <a:avLst/>
          </a:prstGeom>
          <a:noFill/>
        </p:spPr>
        <p:txBody>
          <a:bodyPr wrap="square" anchor="t">
            <a:spAutoFit/>
          </a:bodyPr>
          <a:lstStyle/>
          <a:p>
            <a:pPr algn="l">
              <a:spcAft>
                <a:spcPts val="400"/>
              </a:spcAft>
            </a:pPr>
            <a:r>
              <a:rPr sz="1600" b="1">
                <a:solidFill>
                  <a:srgbClr val="10B981"/>
                </a:solidFill>
                <a:latin typeface="Arial"/>
              </a:rPr>
              <a:t>Trading simulator software</a:t>
            </a:r>
          </a:p>
        </p:txBody>
      </p:sp>
      <p:sp>
        <p:nvSpPr>
          <p:cNvPr id="14" name="TextBox 13"/>
          <p:cNvSpPr txBox="1"/>
          <p:nvPr/>
        </p:nvSpPr>
        <p:spPr>
          <a:xfrm>
            <a:off x="6451092" y="2926080"/>
            <a:ext cx="4741164" cy="2377440"/>
          </a:xfrm>
          <a:prstGeom prst="rect">
            <a:avLst/>
          </a:prstGeom>
          <a:noFill/>
        </p:spPr>
        <p:txBody>
          <a:bodyPr wrap="square" anchor="t">
            <a:spAutoFit/>
          </a:bodyPr>
          <a:lstStyle/>
          <a:p>
            <a:pPr algn="l">
              <a:spcAft>
                <a:spcPts val="400"/>
              </a:spcAft>
            </a:pPr>
            <a:r>
              <a:rPr sz="1200" b="0">
                <a:solidFill>
                  <a:srgbClr val="161B26"/>
                </a:solidFill>
                <a:latin typeface="Arial"/>
              </a:rPr>
              <a:t>github.com/alfredang/algorithmic-trader-bot
The quant / algo trading simulator the labs run in: backtest, forward test, paper trading, analytics.
Install steps: next section and the Learner Guide.</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You'll Achieve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LO1  ·  A1, A6</a:t>
            </a:r>
          </a:p>
          <a:p>
            <a:pPr algn="l">
              <a:spcAft>
                <a:spcPts val="300"/>
              </a:spcAft>
            </a:pPr>
            <a:r>
              <a:rPr sz="1000" b="0">
                <a:solidFill>
                  <a:srgbClr val="5B6372"/>
                </a:solidFill>
                <a:latin typeface="Arial"/>
              </a:rPr>
              <a:t>Develop hypotheses for implementing data analytics and computational modelling activities in algorithmic trading, and identify possible big data applications across the forms of data within financial services.</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LO2  ·  A2, A3</a:t>
            </a:r>
          </a:p>
          <a:p>
            <a:pPr algn="l">
              <a:spcAft>
                <a:spcPts val="300"/>
              </a:spcAft>
            </a:pPr>
            <a:r>
              <a:rPr sz="1000" b="0">
                <a:solidFill>
                  <a:srgbClr val="5B6372"/>
                </a:solidFill>
                <a:latin typeface="Arial"/>
              </a:rPr>
              <a:t>Identify appropriate statistical algorithms and data models to test trading hypotheses, and use appropriate analytics platforms, analytical tools and statistical methods given specific analytics and reporting requirements.</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LO3  ·  A4, A5</a:t>
            </a:r>
          </a:p>
          <a:p>
            <a:pPr algn="l">
              <a:spcAft>
                <a:spcPts val="300"/>
              </a:spcAft>
            </a:pPr>
            <a:r>
              <a:rPr sz="1000" b="0">
                <a:solidFill>
                  <a:srgbClr val="5B6372"/>
                </a:solidFill>
                <a:latin typeface="Arial"/>
              </a:rPr>
              <a:t>Conduct statistical modelling of market data with machine learning models to derive patterns and solutions, and perform A/B testing of trading strategies based on different hypotheses.</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LO4  ·  A7, A8, A9, A10</a:t>
            </a:r>
          </a:p>
          <a:p>
            <a:pPr algn="l">
              <a:spcAft>
                <a:spcPts val="300"/>
              </a:spcAft>
            </a:pPr>
            <a:r>
              <a:rPr sz="1000" b="0">
                <a:solidFill>
                  <a:srgbClr val="5B6372"/>
                </a:solidFill>
                <a:latin typeface="Arial"/>
              </a:rPr>
              <a:t>Perform coding and configuration of an automated trading program based on selected models or algorithms, conduct tests on its actions and outcomes, diagnose unintended outcomes, and draw insights from the results to support decisions and report accordingly.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COURSE JOURNEY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Course Journey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500" b="1">
                <a:solidFill>
                  <a:srgbClr val="161B26"/>
                </a:solidFill>
                <a:latin typeface="Arial"/>
              </a:rPr>
              <a:t>Topic 1 — Quant and Algo Trading Foundations</a:t>
            </a:r>
          </a:p>
          <a:p>
            <a:pPr algn="l">
              <a:spcAft>
                <a:spcPts val="300"/>
              </a:spcAft>
            </a:pPr>
            <a:r>
              <a:rPr sz="1100" b="0">
                <a:solidFill>
                  <a:srgbClr val="5B6372"/>
                </a:solidFill>
                <a:latin typeface="Arial"/>
              </a:rPr>
              <a:t>Day 1  ·  Labs 1–4  ·  A1, A6, K1, K9  ·  Foundations of Quant and Algorithmic Trading: From Thorp to AI Agents</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500" b="1">
                <a:solidFill>
                  <a:srgbClr val="161B26"/>
                </a:solidFill>
                <a:latin typeface="Arial"/>
              </a:rPr>
              <a:t>Topic 2 — Indicators, Strategies and Metrics</a:t>
            </a:r>
          </a:p>
          <a:p>
            <a:pPr algn="l">
              <a:spcAft>
                <a:spcPts val="300"/>
              </a:spcAft>
            </a:pPr>
            <a:r>
              <a:rPr sz="1100" b="0">
                <a:solidFill>
                  <a:srgbClr val="5B6372"/>
                </a:solidFill>
                <a:latin typeface="Arial"/>
              </a:rPr>
              <a:t>Day 1  ·  Labs 5–9  ·  A2, A3, K3, K5, K7  ·  Technical Indicators, Trading Strategies and Metrics with TradingView and Alpaca</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500" b="1">
                <a:solidFill>
                  <a:srgbClr val="161B26"/>
                </a:solidFill>
                <a:latin typeface="Arial"/>
              </a:rPr>
              <a:t>Topic 3 — ML Models and A/B Testing</a:t>
            </a:r>
          </a:p>
          <a:p>
            <a:pPr algn="l">
              <a:spcAft>
                <a:spcPts val="300"/>
              </a:spcAft>
            </a:pPr>
            <a:r>
              <a:rPr sz="1100" b="0">
                <a:solidFill>
                  <a:srgbClr val="5B6372"/>
                </a:solidFill>
                <a:latin typeface="Arial"/>
              </a:rPr>
              <a:t>Day 2  ·  Labs 10–14  ·  A4, A5, K2, K4, K6  ·  Machine Learning Models, Statistical Modelling and A/B Testing for Trading Signals</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500" b="1">
                <a:solidFill>
                  <a:srgbClr val="161B26"/>
                </a:solidFill>
                <a:latin typeface="Arial"/>
              </a:rPr>
              <a:t>Topic 4 — End-to-End Trading Pipeline</a:t>
            </a:r>
          </a:p>
          <a:p>
            <a:pPr algn="l">
              <a:spcAft>
                <a:spcPts val="300"/>
              </a:spcAft>
            </a:pPr>
            <a:r>
              <a:rPr sz="1100" b="0">
                <a:solidFill>
                  <a:srgbClr val="5B6372"/>
                </a:solidFill>
                <a:latin typeface="Arial"/>
              </a:rPr>
              <a:t>Day 2  ·  Labs 15–20  ·  A7, A8, A9, A10, K7, K8  ·  Building an End-to-End Algorithmic Trading Pipeline: Backtest, Forward Test and Performance Analysis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84048"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1920240"/>
            <a:ext cx="9692640" cy="365760"/>
          </a:xfrm>
          <a:prstGeom prst="rect">
            <a:avLst/>
          </a:prstGeom>
          <a:noFill/>
        </p:spPr>
        <p:txBody>
          <a:bodyPr wrap="square" anchor="t">
            <a:spAutoFit/>
          </a:bodyPr>
          <a:lstStyle/>
          <a:p>
            <a:pPr algn="l">
              <a:spcAft>
                <a:spcPts val="400"/>
              </a:spcAft>
            </a:pPr>
            <a:r>
              <a:rPr sz="1400" b="1">
                <a:solidFill>
                  <a:srgbClr val="10B981"/>
                </a:solidFill>
                <a:latin typeface="Arial"/>
              </a:rPr>
              <a:t>THE PARADIGM SHIFT · HOW THIS COURSE WORKS</a:t>
            </a:r>
          </a:p>
        </p:txBody>
      </p:sp>
      <p:sp>
        <p:nvSpPr>
          <p:cNvPr id="5" name="TextBox 4"/>
          <p:cNvSpPr txBox="1"/>
          <p:nvPr/>
        </p:nvSpPr>
        <p:spPr>
          <a:xfrm>
            <a:off x="1188720" y="2377440"/>
            <a:ext cx="9692640" cy="1645920"/>
          </a:xfrm>
          <a:prstGeom prst="rect">
            <a:avLst/>
          </a:prstGeom>
          <a:noFill/>
        </p:spPr>
        <p:txBody>
          <a:bodyPr wrap="square" anchor="t">
            <a:spAutoFit/>
          </a:bodyPr>
          <a:lstStyle/>
          <a:p>
            <a:pPr algn="l">
              <a:spcAft>
                <a:spcPts val="400"/>
              </a:spcAft>
            </a:pPr>
            <a:r>
              <a:rPr sz="3400" b="1">
                <a:solidFill>
                  <a:srgbClr val="161B26"/>
                </a:solidFill>
                <a:latin typeface="Arial"/>
              </a:rPr>
              <a:t>AI writes the code. You own the algorithm.</a:t>
            </a:r>
          </a:p>
        </p:txBody>
      </p:sp>
      <p:sp>
        <p:nvSpPr>
          <p:cNvPr id="6" name="TextBox 5"/>
          <p:cNvSpPr txBox="1"/>
          <p:nvPr/>
        </p:nvSpPr>
        <p:spPr>
          <a:xfrm>
            <a:off x="1188720" y="4206240"/>
            <a:ext cx="9692640" cy="1097280"/>
          </a:xfrm>
          <a:prstGeom prst="rect">
            <a:avLst/>
          </a:prstGeom>
          <a:noFill/>
        </p:spPr>
        <p:txBody>
          <a:bodyPr wrap="square" anchor="t">
            <a:spAutoFit/>
          </a:bodyPr>
          <a:lstStyle/>
          <a:p>
            <a:pPr algn="l">
              <a:spcAft>
                <a:spcPts val="400"/>
              </a:spcAft>
            </a:pPr>
            <a:r>
              <a:rPr sz="1600" b="0">
                <a:solidFill>
                  <a:srgbClr val="5B6372"/>
                </a:solidFill>
                <a:latin typeface="Arial"/>
              </a:rPr>
              <a:t>In this course the code is written by AI - AI coding assistants and the simulator software do the programming. What matters is the big concepts: the hypothesis, how each algorithm makes its decision, how it is tested without bias and with costs, how risk is controlled, and how the results are judged.</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THE PARADIGM SHIFT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Your Role versus the AI's Role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Your job: the hypothesis</a:t>
            </a:r>
          </a:p>
          <a:p>
            <a:pPr algn="l">
              <a:spcAft>
                <a:spcPts val="300"/>
              </a:spcAft>
            </a:pPr>
            <a:r>
              <a:rPr sz="1050" b="0">
                <a:solidFill>
                  <a:srgbClr val="5B6372"/>
                </a:solidFill>
                <a:latin typeface="Arial"/>
              </a:rPr>
              <a:t>What edge do you expect, why, and how will you know it is real?</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Your job: the algorithm's logic</a:t>
            </a:r>
          </a:p>
          <a:p>
            <a:pPr algn="l">
              <a:spcAft>
                <a:spcPts val="300"/>
              </a:spcAft>
            </a:pPr>
            <a:r>
              <a:rPr sz="1050" b="0">
                <a:solidFill>
                  <a:srgbClr val="5B6372"/>
                </a:solidFill>
                <a:latin typeface="Arial"/>
              </a:rPr>
              <a:t>The rule or model, its inputs, and when it buys or sells.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Your job: testing and judgement</a:t>
            </a:r>
          </a:p>
          <a:p>
            <a:pPr algn="l">
              <a:spcAft>
                <a:spcPts val="300"/>
              </a:spcAft>
            </a:pPr>
            <a:r>
              <a:rPr sz="1050" b="0">
                <a:solidFill>
                  <a:srgbClr val="5B6372"/>
                </a:solidFill>
                <a:latin typeface="Arial"/>
              </a:rPr>
              <a:t>Out-of-sample, next-bar, net of costs; read the metrics.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Your job: risk and accountability</a:t>
            </a:r>
          </a:p>
          <a:p>
            <a:pPr algn="l">
              <a:spcAft>
                <a:spcPts val="300"/>
              </a:spcAft>
            </a:pPr>
            <a:r>
              <a:rPr sz="1050" b="0">
                <a:solidFill>
                  <a:srgbClr val="5B6372"/>
                </a:solidFill>
                <a:latin typeface="Arial"/>
              </a:rPr>
              <a:t>Limits, kill switch, approval - you answer for every trade.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AI</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AI's job: the code</a:t>
            </a:r>
          </a:p>
          <a:p>
            <a:pPr algn="l">
              <a:spcAft>
                <a:spcPts val="300"/>
              </a:spcAft>
            </a:pPr>
            <a:r>
              <a:rPr sz="1050" b="0">
                <a:solidFill>
                  <a:srgbClr val="5B6372"/>
                </a:solidFill>
                <a:latin typeface="Arial"/>
              </a:rPr>
              <a:t>AI assistants and the simulator write, run and fix the Python and Pine.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AI</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AI's job: the drudgery</a:t>
            </a:r>
          </a:p>
          <a:p>
            <a:pPr algn="l">
              <a:spcAft>
                <a:spcPts val="300"/>
              </a:spcAft>
            </a:pPr>
            <a:r>
              <a:rPr sz="1050" b="0">
                <a:solidFill>
                  <a:srgbClr val="5B6372"/>
                </a:solidFill>
                <a:latin typeface="Arial"/>
              </a:rPr>
              <a:t>Data plumbing, charts, reports - you review what it produces.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FSE-DAT-3019-1.1 · ABILITIES 1-5</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TSC Alignment — Abilities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A1</a:t>
            </a:r>
          </a:p>
          <a:p>
            <a:pPr algn="l">
              <a:spcAft>
                <a:spcPts val="300"/>
              </a:spcAft>
            </a:pPr>
            <a:r>
              <a:rPr sz="1000" b="0">
                <a:solidFill>
                  <a:srgbClr val="5B6372"/>
                </a:solidFill>
                <a:latin typeface="Arial"/>
              </a:rPr>
              <a:t>Develop hypotheses for implementing data analytics and computational modelling activities</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832811"/>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A2</a:t>
            </a:r>
          </a:p>
          <a:p>
            <a:pPr algn="l">
              <a:spcAft>
                <a:spcPts val="300"/>
              </a:spcAft>
            </a:pPr>
            <a:r>
              <a:rPr sz="1000" b="0">
                <a:solidFill>
                  <a:srgbClr val="5B6372"/>
                </a:solidFill>
                <a:latin typeface="Arial"/>
              </a:rPr>
              <a:t>Identify appropriate statistical algorithms and data models to test hypotheses and/or theories</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75452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A3</a:t>
            </a:r>
          </a:p>
          <a:p>
            <a:pPr algn="l">
              <a:spcAft>
                <a:spcPts val="300"/>
              </a:spcAft>
            </a:pPr>
            <a:r>
              <a:rPr sz="1000" b="0">
                <a:solidFill>
                  <a:srgbClr val="5B6372"/>
                </a:solidFill>
                <a:latin typeface="Arial"/>
              </a:rPr>
              <a:t>Use appropriate analytics platforms, analytical tools, statistical methods and analytical approaches given specific analytics and reporting requirements</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676241"/>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A4</a:t>
            </a:r>
          </a:p>
          <a:p>
            <a:pPr algn="l">
              <a:spcAft>
                <a:spcPts val="300"/>
              </a:spcAft>
            </a:pPr>
            <a:r>
              <a:rPr sz="1000" b="0">
                <a:solidFill>
                  <a:srgbClr val="5B6372"/>
                </a:solidFill>
                <a:latin typeface="Arial"/>
              </a:rPr>
              <a:t>Conduct statistical modelling of data to derive patterns and solutions</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559795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A5</a:t>
            </a:r>
          </a:p>
          <a:p>
            <a:pPr algn="l">
              <a:spcAft>
                <a:spcPts val="300"/>
              </a:spcAft>
            </a:pPr>
            <a:r>
              <a:rPr sz="1000" b="0">
                <a:solidFill>
                  <a:srgbClr val="5B6372"/>
                </a:solidFill>
                <a:latin typeface="Arial"/>
              </a:rPr>
              <a:t>Perform A/B testing based on different hypotheses</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FSE-DAT-3019-1.1 · ABILITIES 6-10</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TSC Alignment — Abilities (continued)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A6</a:t>
            </a:r>
          </a:p>
          <a:p>
            <a:pPr algn="l">
              <a:spcAft>
                <a:spcPts val="300"/>
              </a:spcAft>
            </a:pPr>
            <a:r>
              <a:rPr sz="1000" b="0">
                <a:solidFill>
                  <a:srgbClr val="5B6372"/>
                </a:solidFill>
                <a:latin typeface="Arial"/>
              </a:rPr>
              <a:t>Identify possible big data applications</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832811"/>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A7</a:t>
            </a:r>
          </a:p>
          <a:p>
            <a:pPr algn="l">
              <a:spcAft>
                <a:spcPts val="300"/>
              </a:spcAft>
            </a:pPr>
            <a:r>
              <a:rPr sz="1000" b="0">
                <a:solidFill>
                  <a:srgbClr val="5B6372"/>
                </a:solidFill>
                <a:latin typeface="Arial"/>
              </a:rPr>
              <a:t>Perform coding and configuration of software agents or programs based on selected models or algorithms</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75452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A8</a:t>
            </a:r>
          </a:p>
          <a:p>
            <a:pPr algn="l">
              <a:spcAft>
                <a:spcPts val="300"/>
              </a:spcAft>
            </a:pPr>
            <a:r>
              <a:rPr sz="1000" b="0">
                <a:solidFill>
                  <a:srgbClr val="5B6372"/>
                </a:solidFill>
                <a:latin typeface="Arial"/>
              </a:rPr>
              <a:t>Conduct tests on the actions taken and outcomes to assess effectiveness of the models</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676241"/>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A9</a:t>
            </a:r>
          </a:p>
          <a:p>
            <a:pPr algn="l">
              <a:spcAft>
                <a:spcPts val="300"/>
              </a:spcAft>
            </a:pPr>
            <a:r>
              <a:rPr sz="1000" b="0">
                <a:solidFill>
                  <a:srgbClr val="5B6372"/>
                </a:solidFill>
                <a:latin typeface="Arial"/>
              </a:rPr>
              <a:t>Diagnose unintended outcomes produced by statistical models</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559795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A10</a:t>
            </a:r>
          </a:p>
          <a:p>
            <a:pPr algn="l">
              <a:spcAft>
                <a:spcPts val="300"/>
              </a:spcAft>
            </a:pPr>
            <a:r>
              <a:rPr sz="1000" b="0">
                <a:solidFill>
                  <a:srgbClr val="5B6372"/>
                </a:solidFill>
                <a:latin typeface="Arial"/>
              </a:rPr>
              <a:t>Draw relevant trends and insights from data analysis to support decisions and report accordingly</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FSE-DAT-3019-1.1 · KNOWLEDGE 1-5</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TSC Alignment — Knowledge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K1</a:t>
            </a:r>
          </a:p>
          <a:p>
            <a:pPr algn="l">
              <a:spcAft>
                <a:spcPts val="300"/>
              </a:spcAft>
            </a:pPr>
            <a:r>
              <a:rPr sz="1000" b="0">
                <a:solidFill>
                  <a:srgbClr val="5B6372"/>
                </a:solidFill>
                <a:latin typeface="Arial"/>
              </a:rPr>
              <a:t>Data analytics and modelling business use cases</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832811"/>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K2</a:t>
            </a:r>
          </a:p>
          <a:p>
            <a:pPr algn="l">
              <a:spcAft>
                <a:spcPts val="300"/>
              </a:spcAft>
            </a:pPr>
            <a:r>
              <a:rPr sz="1000" b="0">
                <a:solidFill>
                  <a:srgbClr val="5B6372"/>
                </a:solidFill>
                <a:latin typeface="Arial"/>
              </a:rPr>
              <a:t>Types of statistical analyses, data models, algorithms and advanced computational methods</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75452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K3</a:t>
            </a:r>
          </a:p>
          <a:p>
            <a:pPr algn="l">
              <a:spcAft>
                <a:spcPts val="300"/>
              </a:spcAft>
            </a:pPr>
            <a:r>
              <a:rPr sz="1000" b="0">
                <a:solidFill>
                  <a:srgbClr val="5B6372"/>
                </a:solidFill>
                <a:latin typeface="Arial"/>
              </a:rPr>
              <a:t>Range and application of various statistical methods and algorithms</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676241"/>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K4</a:t>
            </a:r>
          </a:p>
          <a:p>
            <a:pPr algn="l">
              <a:spcAft>
                <a:spcPts val="300"/>
              </a:spcAft>
            </a:pPr>
            <a:r>
              <a:rPr sz="1000" b="0">
                <a:solidFill>
                  <a:srgbClr val="5B6372"/>
                </a:solidFill>
                <a:latin typeface="Arial"/>
              </a:rPr>
              <a:t>Range and application of various types of data models</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559795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K5</a:t>
            </a:r>
          </a:p>
          <a:p>
            <a:pPr algn="l">
              <a:spcAft>
                <a:spcPts val="300"/>
              </a:spcAft>
            </a:pPr>
            <a:r>
              <a:rPr sz="1000" b="0">
                <a:solidFill>
                  <a:srgbClr val="5B6372"/>
                </a:solidFill>
                <a:latin typeface="Arial"/>
              </a:rPr>
              <a:t>Usage of analytics platforms and tools</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FSE-DAT-3019-1.1 · KNOWLEDGE 6-9</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TSC Alignment — Knowledge (continued)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K6</a:t>
            </a:r>
          </a:p>
          <a:p>
            <a:pPr algn="l">
              <a:spcAft>
                <a:spcPts val="300"/>
              </a:spcAft>
            </a:pPr>
            <a:r>
              <a:rPr sz="1000" b="0">
                <a:solidFill>
                  <a:srgbClr val="5B6372"/>
                </a:solidFill>
                <a:latin typeface="Arial"/>
              </a:rPr>
              <a:t>Statistical modelling techniques</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K7</a:t>
            </a:r>
          </a:p>
          <a:p>
            <a:pPr algn="l">
              <a:spcAft>
                <a:spcPts val="300"/>
              </a:spcAft>
            </a:pPr>
            <a:r>
              <a:rPr sz="1000" b="0">
                <a:solidFill>
                  <a:srgbClr val="5B6372"/>
                </a:solidFill>
                <a:latin typeface="Arial"/>
              </a:rPr>
              <a:t>Coding languages for programming of algorithms and signals</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K8</a:t>
            </a:r>
          </a:p>
          <a:p>
            <a:pPr algn="l">
              <a:spcAft>
                <a:spcPts val="300"/>
              </a:spcAft>
            </a:pPr>
            <a:r>
              <a:rPr sz="1000" b="0">
                <a:solidFill>
                  <a:srgbClr val="5B6372"/>
                </a:solidFill>
                <a:latin typeface="Arial"/>
              </a:rPr>
              <a:t>Potential reasons for unintended outcomes</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K9</a:t>
            </a:r>
          </a:p>
          <a:p>
            <a:pPr algn="l">
              <a:spcAft>
                <a:spcPts val="300"/>
              </a:spcAft>
            </a:pPr>
            <a:r>
              <a:rPr sz="1000" b="0">
                <a:solidFill>
                  <a:srgbClr val="5B6372"/>
                </a:solidFill>
                <a:latin typeface="Arial"/>
              </a:rPr>
              <a:t>Forms of data within financial services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SCHEDULE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Lesson Plan — Day 1 (1 of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09:00 - 18:30  ·  8 instructional hours  ·  excluding 1-hour lunch and two tea breaks</a:t>
            </a:r>
          </a:p>
        </p:txBody>
      </p:sp>
      <p:sp>
        <p:nvSpPr>
          <p:cNvPr id="8" name="TextBox 7"/>
          <p:cNvSpPr txBox="1"/>
          <p:nvPr/>
        </p:nvSpPr>
        <p:spPr>
          <a:xfrm>
            <a:off x="822960" y="2011680"/>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09:00 - 09:30</a:t>
            </a:r>
          </a:p>
        </p:txBody>
      </p:sp>
      <p:sp>
        <p:nvSpPr>
          <p:cNvPr id="9" name="TextBox 8"/>
          <p:cNvSpPr txBox="1"/>
          <p:nvPr/>
        </p:nvSpPr>
        <p:spPr>
          <a:xfrm>
            <a:off x="2377440" y="2011680"/>
            <a:ext cx="7863840" cy="356616"/>
          </a:xfrm>
          <a:prstGeom prst="rect">
            <a:avLst/>
          </a:prstGeom>
          <a:noFill/>
        </p:spPr>
        <p:txBody>
          <a:bodyPr wrap="square" anchor="ctr">
            <a:spAutoFit/>
          </a:bodyPr>
          <a:lstStyle/>
          <a:p>
            <a:pPr algn="l">
              <a:spcAft>
                <a:spcPts val="400"/>
              </a:spcAft>
            </a:pPr>
            <a:r>
              <a:rPr sz="1050" b="0">
                <a:solidFill>
                  <a:srgbClr val="161B26"/>
                </a:solidFill>
                <a:latin typeface="Arial"/>
              </a:rPr>
              <a:t>Course Overview, Trainer Introduction and Ground Rules</a:t>
            </a:r>
          </a:p>
        </p:txBody>
      </p:sp>
      <p:sp>
        <p:nvSpPr>
          <p:cNvPr id="10" name="TextBox 9"/>
          <p:cNvSpPr txBox="1"/>
          <p:nvPr/>
        </p:nvSpPr>
        <p:spPr>
          <a:xfrm>
            <a:off x="10287000" y="2011680"/>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
            </a:r>
          </a:p>
        </p:txBody>
      </p:sp>
      <p:sp>
        <p:nvSpPr>
          <p:cNvPr id="11" name="TextBox 10"/>
          <p:cNvSpPr txBox="1"/>
          <p:nvPr/>
        </p:nvSpPr>
        <p:spPr>
          <a:xfrm>
            <a:off x="822960" y="2395728"/>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09:30 - 10:45</a:t>
            </a:r>
          </a:p>
        </p:txBody>
      </p:sp>
      <p:sp>
        <p:nvSpPr>
          <p:cNvPr id="12" name="TextBox 11"/>
          <p:cNvSpPr txBox="1"/>
          <p:nvPr/>
        </p:nvSpPr>
        <p:spPr>
          <a:xfrm>
            <a:off x="2377440" y="2395728"/>
            <a:ext cx="7863840" cy="356616"/>
          </a:xfrm>
          <a:prstGeom prst="rect">
            <a:avLst/>
          </a:prstGeom>
          <a:noFill/>
        </p:spPr>
        <p:txBody>
          <a:bodyPr wrap="square" anchor="ctr">
            <a:spAutoFit/>
          </a:bodyPr>
          <a:lstStyle/>
          <a:p>
            <a:pPr algn="l">
              <a:spcAft>
                <a:spcPts val="400"/>
              </a:spcAft>
            </a:pPr>
            <a:r>
              <a:rPr sz="1050" b="0">
                <a:solidFill>
                  <a:srgbClr val="161B26"/>
                </a:solidFill>
                <a:latin typeface="Arial"/>
              </a:rPr>
              <a:t>T1.1-1.3 History of AI, AI Agents versus Agentic AI, and the History of Algorithmic Trading</a:t>
            </a:r>
          </a:p>
        </p:txBody>
      </p:sp>
      <p:sp>
        <p:nvSpPr>
          <p:cNvPr id="13" name="TextBox 12"/>
          <p:cNvSpPr txBox="1"/>
          <p:nvPr/>
        </p:nvSpPr>
        <p:spPr>
          <a:xfrm>
            <a:off x="10287000" y="2395728"/>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K1, K9</a:t>
            </a:r>
          </a:p>
        </p:txBody>
      </p:sp>
      <p:sp>
        <p:nvSpPr>
          <p:cNvPr id="14" name="Rectangle 13"/>
          <p:cNvSpPr/>
          <p:nvPr/>
        </p:nvSpPr>
        <p:spPr>
          <a:xfrm>
            <a:off x="777240" y="2779776"/>
            <a:ext cx="10634472" cy="3566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2779776"/>
            <a:ext cx="10241280" cy="356616"/>
          </a:xfrm>
          <a:prstGeom prst="rect">
            <a:avLst/>
          </a:prstGeom>
          <a:noFill/>
        </p:spPr>
        <p:txBody>
          <a:bodyPr wrap="square" anchor="ctr">
            <a:spAutoFit/>
          </a:bodyPr>
          <a:lstStyle/>
          <a:p>
            <a:pPr algn="l">
              <a:spcAft>
                <a:spcPts val="400"/>
              </a:spcAft>
            </a:pPr>
            <a:r>
              <a:rPr sz="1050" b="1">
                <a:solidFill>
                  <a:srgbClr val="5B6372"/>
                </a:solidFill>
                <a:latin typeface="Arial"/>
              </a:rPr>
              <a:t>10:45 - 11:00      Tea Break</a:t>
            </a:r>
          </a:p>
        </p:txBody>
      </p:sp>
      <p:sp>
        <p:nvSpPr>
          <p:cNvPr id="16" name="TextBox 15"/>
          <p:cNvSpPr txBox="1"/>
          <p:nvPr/>
        </p:nvSpPr>
        <p:spPr>
          <a:xfrm>
            <a:off x="822960" y="3163824"/>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11:00 - 11:30</a:t>
            </a:r>
          </a:p>
        </p:txBody>
      </p:sp>
      <p:sp>
        <p:nvSpPr>
          <p:cNvPr id="17" name="TextBox 16"/>
          <p:cNvSpPr txBox="1"/>
          <p:nvPr/>
        </p:nvSpPr>
        <p:spPr>
          <a:xfrm>
            <a:off x="2377440" y="3163824"/>
            <a:ext cx="7863840" cy="356616"/>
          </a:xfrm>
          <a:prstGeom prst="rect">
            <a:avLst/>
          </a:prstGeom>
          <a:noFill/>
        </p:spPr>
        <p:txBody>
          <a:bodyPr wrap="square" anchor="ctr">
            <a:spAutoFit/>
          </a:bodyPr>
          <a:lstStyle/>
          <a:p>
            <a:pPr algn="l">
              <a:spcAft>
                <a:spcPts val="400"/>
              </a:spcAft>
            </a:pPr>
            <a:r>
              <a:rPr sz="1050" b="0">
                <a:solidFill>
                  <a:srgbClr val="161B26"/>
                </a:solidFill>
                <a:latin typeface="Arial"/>
              </a:rPr>
              <a:t>T1.4-1.5 Forms of Financial Data, Big Data Applications and Trading Hypotheses</a:t>
            </a:r>
          </a:p>
        </p:txBody>
      </p:sp>
      <p:sp>
        <p:nvSpPr>
          <p:cNvPr id="18" name="TextBox 17"/>
          <p:cNvSpPr txBox="1"/>
          <p:nvPr/>
        </p:nvSpPr>
        <p:spPr>
          <a:xfrm>
            <a:off x="10287000" y="3163824"/>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A1, A6, K1, K9</a:t>
            </a:r>
          </a:p>
        </p:txBody>
      </p:sp>
      <p:sp>
        <p:nvSpPr>
          <p:cNvPr id="19" name="TextBox 18"/>
          <p:cNvSpPr txBox="1"/>
          <p:nvPr/>
        </p:nvSpPr>
        <p:spPr>
          <a:xfrm>
            <a:off x="822960" y="3547872"/>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11:30 - 11:50</a:t>
            </a:r>
          </a:p>
        </p:txBody>
      </p:sp>
      <p:sp>
        <p:nvSpPr>
          <p:cNvPr id="20" name="TextBox 19"/>
          <p:cNvSpPr txBox="1"/>
          <p:nvPr/>
        </p:nvSpPr>
        <p:spPr>
          <a:xfrm>
            <a:off x="2377440" y="3547872"/>
            <a:ext cx="7863840" cy="356616"/>
          </a:xfrm>
          <a:prstGeom prst="rect">
            <a:avLst/>
          </a:prstGeom>
          <a:noFill/>
        </p:spPr>
        <p:txBody>
          <a:bodyPr wrap="square" anchor="ctr">
            <a:spAutoFit/>
          </a:bodyPr>
          <a:lstStyle/>
          <a:p>
            <a:pPr algn="l">
              <a:spcAft>
                <a:spcPts val="400"/>
              </a:spcAft>
            </a:pPr>
            <a:r>
              <a:rPr sz="1050" b="1">
                <a:solidFill>
                  <a:srgbClr val="10B981"/>
                </a:solidFill>
                <a:latin typeface="Arial"/>
              </a:rPr>
              <a:t>Lab 1: Pipeline Skeleton, Configuration and the Alpaca Paper Account</a:t>
            </a:r>
          </a:p>
        </p:txBody>
      </p:sp>
      <p:sp>
        <p:nvSpPr>
          <p:cNvPr id="21" name="TextBox 20"/>
          <p:cNvSpPr txBox="1"/>
          <p:nvPr/>
        </p:nvSpPr>
        <p:spPr>
          <a:xfrm>
            <a:off x="10287000" y="3547872"/>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K5</a:t>
            </a:r>
          </a:p>
        </p:txBody>
      </p:sp>
      <p:sp>
        <p:nvSpPr>
          <p:cNvPr id="22" name="TextBox 21"/>
          <p:cNvSpPr txBox="1"/>
          <p:nvPr/>
        </p:nvSpPr>
        <p:spPr>
          <a:xfrm>
            <a:off x="822960" y="3931920"/>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11:50 - 12:10</a:t>
            </a:r>
          </a:p>
        </p:txBody>
      </p:sp>
      <p:sp>
        <p:nvSpPr>
          <p:cNvPr id="23" name="TextBox 22"/>
          <p:cNvSpPr txBox="1"/>
          <p:nvPr/>
        </p:nvSpPr>
        <p:spPr>
          <a:xfrm>
            <a:off x="2377440" y="3931920"/>
            <a:ext cx="7863840" cy="356616"/>
          </a:xfrm>
          <a:prstGeom prst="rect">
            <a:avLst/>
          </a:prstGeom>
          <a:noFill/>
        </p:spPr>
        <p:txBody>
          <a:bodyPr wrap="square" anchor="ctr">
            <a:spAutoFit/>
          </a:bodyPr>
          <a:lstStyle/>
          <a:p>
            <a:pPr algn="l">
              <a:spcAft>
                <a:spcPts val="400"/>
              </a:spcAft>
            </a:pPr>
            <a:r>
              <a:rPr sz="1050" b="1">
                <a:solidFill>
                  <a:srgbClr val="10B981"/>
                </a:solidFill>
                <a:latin typeface="Arial"/>
              </a:rPr>
              <a:t>Lab 2: Data-Validation Stage: Cross-Check Pipeline Bars against TradingView</a:t>
            </a:r>
          </a:p>
        </p:txBody>
      </p:sp>
      <p:sp>
        <p:nvSpPr>
          <p:cNvPr id="24" name="TextBox 23"/>
          <p:cNvSpPr txBox="1"/>
          <p:nvPr/>
        </p:nvSpPr>
        <p:spPr>
          <a:xfrm>
            <a:off x="10287000" y="3931920"/>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A3, K5, K9</a:t>
            </a:r>
          </a:p>
        </p:txBody>
      </p:sp>
      <p:sp>
        <p:nvSpPr>
          <p:cNvPr id="25" name="TextBox 24"/>
          <p:cNvSpPr txBox="1"/>
          <p:nvPr/>
        </p:nvSpPr>
        <p:spPr>
          <a:xfrm>
            <a:off x="822960" y="4315968"/>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12:10 - 12:30</a:t>
            </a:r>
          </a:p>
        </p:txBody>
      </p:sp>
      <p:sp>
        <p:nvSpPr>
          <p:cNvPr id="26" name="TextBox 25"/>
          <p:cNvSpPr txBox="1"/>
          <p:nvPr/>
        </p:nvSpPr>
        <p:spPr>
          <a:xfrm>
            <a:off x="2377440" y="4315968"/>
            <a:ext cx="7863840" cy="356616"/>
          </a:xfrm>
          <a:prstGeom prst="rect">
            <a:avLst/>
          </a:prstGeom>
          <a:noFill/>
        </p:spPr>
        <p:txBody>
          <a:bodyPr wrap="square" anchor="ctr">
            <a:spAutoFit/>
          </a:bodyPr>
          <a:lstStyle/>
          <a:p>
            <a:pPr algn="l">
              <a:spcAft>
                <a:spcPts val="400"/>
              </a:spcAft>
            </a:pPr>
            <a:r>
              <a:rPr sz="1050" b="1">
                <a:solidFill>
                  <a:srgbClr val="10B981"/>
                </a:solidFill>
                <a:latin typeface="Arial"/>
              </a:rPr>
              <a:t>Lab 3: Ingestion Stage: Multi-Timeframe Bars, Headlines and Data Quality</a:t>
            </a:r>
          </a:p>
        </p:txBody>
      </p:sp>
      <p:sp>
        <p:nvSpPr>
          <p:cNvPr id="27" name="TextBox 26"/>
          <p:cNvSpPr txBox="1"/>
          <p:nvPr/>
        </p:nvSpPr>
        <p:spPr>
          <a:xfrm>
            <a:off x="10287000" y="4315968"/>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A6, K9</a:t>
            </a:r>
          </a:p>
        </p:txBody>
      </p:sp>
      <p:sp>
        <p:nvSpPr>
          <p:cNvPr id="28" name="Rectangle 27"/>
          <p:cNvSpPr/>
          <p:nvPr/>
        </p:nvSpPr>
        <p:spPr>
          <a:xfrm>
            <a:off x="777240" y="4700016"/>
            <a:ext cx="10634472" cy="3566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0120" y="4700016"/>
            <a:ext cx="10241280" cy="356616"/>
          </a:xfrm>
          <a:prstGeom prst="rect">
            <a:avLst/>
          </a:prstGeom>
          <a:noFill/>
        </p:spPr>
        <p:txBody>
          <a:bodyPr wrap="square" anchor="ctr">
            <a:spAutoFit/>
          </a:bodyPr>
          <a:lstStyle/>
          <a:p>
            <a:pPr algn="l">
              <a:spcAft>
                <a:spcPts val="400"/>
              </a:spcAft>
            </a:pPr>
            <a:r>
              <a:rPr sz="1050" b="1">
                <a:solidFill>
                  <a:srgbClr val="5B6372"/>
                </a:solidFill>
                <a:latin typeface="Arial"/>
              </a:rPr>
              <a:t>12:30 - 13:30      Lunch Break</a:t>
            </a:r>
          </a:p>
        </p:txBody>
      </p:sp>
      <p:sp>
        <p:nvSpPr>
          <p:cNvPr id="30" name="TextBox 29"/>
          <p:cNvSpPr txBox="1"/>
          <p:nvPr/>
        </p:nvSpPr>
        <p:spPr>
          <a:xfrm>
            <a:off x="822960" y="5084064"/>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13:30 - 13:45</a:t>
            </a:r>
          </a:p>
        </p:txBody>
      </p:sp>
      <p:sp>
        <p:nvSpPr>
          <p:cNvPr id="31" name="TextBox 30"/>
          <p:cNvSpPr txBox="1"/>
          <p:nvPr/>
        </p:nvSpPr>
        <p:spPr>
          <a:xfrm>
            <a:off x="2377440" y="5084064"/>
            <a:ext cx="7863840" cy="356616"/>
          </a:xfrm>
          <a:prstGeom prst="rect">
            <a:avLst/>
          </a:prstGeom>
          <a:noFill/>
        </p:spPr>
        <p:txBody>
          <a:bodyPr wrap="square" anchor="ctr">
            <a:spAutoFit/>
          </a:bodyPr>
          <a:lstStyle/>
          <a:p>
            <a:pPr algn="l">
              <a:spcAft>
                <a:spcPts val="400"/>
              </a:spcAft>
            </a:pPr>
            <a:r>
              <a:rPr sz="1050" b="1">
                <a:solidFill>
                  <a:srgbClr val="10B981"/>
                </a:solidFill>
                <a:latin typeface="Arial"/>
              </a:rPr>
              <a:t>Lab 4: Hypothesis Stage: from a Written Card to an Automated Statistical Test</a:t>
            </a:r>
          </a:p>
        </p:txBody>
      </p:sp>
      <p:sp>
        <p:nvSpPr>
          <p:cNvPr id="32" name="TextBox 31"/>
          <p:cNvSpPr txBox="1"/>
          <p:nvPr/>
        </p:nvSpPr>
        <p:spPr>
          <a:xfrm>
            <a:off x="10287000" y="5084064"/>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A1, A6, K1</a:t>
            </a:r>
          </a:p>
        </p:txBody>
      </p:sp>
      <p:sp>
        <p:nvSpPr>
          <p:cNvPr id="33" name="TextBox 32"/>
          <p:cNvSpPr txBox="1"/>
          <p:nvPr/>
        </p:nvSpPr>
        <p:spPr>
          <a:xfrm>
            <a:off x="822960" y="5468112"/>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13:45 - 14:30</a:t>
            </a:r>
          </a:p>
        </p:txBody>
      </p:sp>
      <p:sp>
        <p:nvSpPr>
          <p:cNvPr id="34" name="TextBox 33"/>
          <p:cNvSpPr txBox="1"/>
          <p:nvPr/>
        </p:nvSpPr>
        <p:spPr>
          <a:xfrm>
            <a:off x="2377440" y="5468112"/>
            <a:ext cx="7863840" cy="356616"/>
          </a:xfrm>
          <a:prstGeom prst="rect">
            <a:avLst/>
          </a:prstGeom>
          <a:noFill/>
        </p:spPr>
        <p:txBody>
          <a:bodyPr wrap="square" anchor="ctr">
            <a:spAutoFit/>
          </a:bodyPr>
          <a:lstStyle/>
          <a:p>
            <a:pPr algn="l">
              <a:spcAft>
                <a:spcPts val="400"/>
              </a:spcAft>
            </a:pPr>
            <a:r>
              <a:rPr sz="1050" b="0">
                <a:solidFill>
                  <a:srgbClr val="161B26"/>
                </a:solidFill>
                <a:latin typeface="Arial"/>
              </a:rPr>
              <a:t>T2.1-2.2 Technical Indicators and Standard Algorithmic Trading Strategies</a:t>
            </a:r>
          </a:p>
        </p:txBody>
      </p:sp>
      <p:sp>
        <p:nvSpPr>
          <p:cNvPr id="35" name="TextBox 34"/>
          <p:cNvSpPr txBox="1"/>
          <p:nvPr/>
        </p:nvSpPr>
        <p:spPr>
          <a:xfrm>
            <a:off x="10287000" y="5468112"/>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A2, K3</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SCHEDULE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Lesson Plan — Day 1 (2 of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09:00 - 18:30  ·  8 instructional hours  ·  excluding 1-hour lunch and two tea breaks</a:t>
            </a:r>
          </a:p>
        </p:txBody>
      </p:sp>
      <p:sp>
        <p:nvSpPr>
          <p:cNvPr id="8" name="TextBox 7"/>
          <p:cNvSpPr txBox="1"/>
          <p:nvPr/>
        </p:nvSpPr>
        <p:spPr>
          <a:xfrm>
            <a:off x="822960" y="2011680"/>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14:30 - 14:55</a:t>
            </a:r>
          </a:p>
        </p:txBody>
      </p:sp>
      <p:sp>
        <p:nvSpPr>
          <p:cNvPr id="9" name="TextBox 8"/>
          <p:cNvSpPr txBox="1"/>
          <p:nvPr/>
        </p:nvSpPr>
        <p:spPr>
          <a:xfrm>
            <a:off x="2377440" y="2011680"/>
            <a:ext cx="7863840" cy="356616"/>
          </a:xfrm>
          <a:prstGeom prst="rect">
            <a:avLst/>
          </a:prstGeom>
          <a:noFill/>
        </p:spPr>
        <p:txBody>
          <a:bodyPr wrap="square" anchor="ctr">
            <a:spAutoFit/>
          </a:bodyPr>
          <a:lstStyle/>
          <a:p>
            <a:pPr algn="l">
              <a:spcAft>
                <a:spcPts val="400"/>
              </a:spcAft>
            </a:pPr>
            <a:r>
              <a:rPr sz="1050" b="1">
                <a:solidFill>
                  <a:srgbClr val="10B981"/>
                </a:solidFill>
                <a:latin typeface="Arial"/>
              </a:rPr>
              <a:t>Lab 5: Indicator Stage: Pine Script v6 Indicators and their Python Twins</a:t>
            </a:r>
          </a:p>
        </p:txBody>
      </p:sp>
      <p:sp>
        <p:nvSpPr>
          <p:cNvPr id="10" name="TextBox 9"/>
          <p:cNvSpPr txBox="1"/>
          <p:nvPr/>
        </p:nvSpPr>
        <p:spPr>
          <a:xfrm>
            <a:off x="10287000" y="2011680"/>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A3, K3, K7</a:t>
            </a:r>
          </a:p>
        </p:txBody>
      </p:sp>
      <p:sp>
        <p:nvSpPr>
          <p:cNvPr id="11" name="TextBox 10"/>
          <p:cNvSpPr txBox="1"/>
          <p:nvPr/>
        </p:nvSpPr>
        <p:spPr>
          <a:xfrm>
            <a:off x="822960" y="2395728"/>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14:55 - 15:25</a:t>
            </a:r>
          </a:p>
        </p:txBody>
      </p:sp>
      <p:sp>
        <p:nvSpPr>
          <p:cNvPr id="12" name="TextBox 11"/>
          <p:cNvSpPr txBox="1"/>
          <p:nvPr/>
        </p:nvSpPr>
        <p:spPr>
          <a:xfrm>
            <a:off x="2377440" y="2395728"/>
            <a:ext cx="7863840" cy="356616"/>
          </a:xfrm>
          <a:prstGeom prst="rect">
            <a:avLst/>
          </a:prstGeom>
          <a:noFill/>
        </p:spPr>
        <p:txBody>
          <a:bodyPr wrap="square" anchor="ctr">
            <a:spAutoFit/>
          </a:bodyPr>
          <a:lstStyle/>
          <a:p>
            <a:pPr algn="l">
              <a:spcAft>
                <a:spcPts val="400"/>
              </a:spcAft>
            </a:pPr>
            <a:r>
              <a:rPr sz="1050" b="1">
                <a:solidFill>
                  <a:srgbClr val="10B981"/>
                </a:solidFill>
                <a:latin typeface="Arial"/>
              </a:rPr>
              <a:t>Lab 6: Strategy Prototype: TradingView Strategy Tester, Paper Trading from the Chart and Pipeline Reconciliation</a:t>
            </a:r>
          </a:p>
        </p:txBody>
      </p:sp>
      <p:sp>
        <p:nvSpPr>
          <p:cNvPr id="13" name="TextBox 12"/>
          <p:cNvSpPr txBox="1"/>
          <p:nvPr/>
        </p:nvSpPr>
        <p:spPr>
          <a:xfrm>
            <a:off x="10287000" y="2395728"/>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A2, A3, K3, K7</a:t>
            </a:r>
          </a:p>
        </p:txBody>
      </p:sp>
      <p:sp>
        <p:nvSpPr>
          <p:cNvPr id="14" name="Rectangle 13"/>
          <p:cNvSpPr/>
          <p:nvPr/>
        </p:nvSpPr>
        <p:spPr>
          <a:xfrm>
            <a:off x="777240" y="2779776"/>
            <a:ext cx="10634472" cy="3566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2779776"/>
            <a:ext cx="10241280" cy="356616"/>
          </a:xfrm>
          <a:prstGeom prst="rect">
            <a:avLst/>
          </a:prstGeom>
          <a:noFill/>
        </p:spPr>
        <p:txBody>
          <a:bodyPr wrap="square" anchor="ctr">
            <a:spAutoFit/>
          </a:bodyPr>
          <a:lstStyle/>
          <a:p>
            <a:pPr algn="l">
              <a:spcAft>
                <a:spcPts val="400"/>
              </a:spcAft>
            </a:pPr>
            <a:r>
              <a:rPr sz="1050" b="1">
                <a:solidFill>
                  <a:srgbClr val="5B6372"/>
                </a:solidFill>
                <a:latin typeface="Arial"/>
              </a:rPr>
              <a:t>15:25 - 15:40      Tea Break</a:t>
            </a:r>
          </a:p>
        </p:txBody>
      </p:sp>
      <p:sp>
        <p:nvSpPr>
          <p:cNvPr id="16" name="TextBox 15"/>
          <p:cNvSpPr txBox="1"/>
          <p:nvPr/>
        </p:nvSpPr>
        <p:spPr>
          <a:xfrm>
            <a:off x="822960" y="3163824"/>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15:40 - 16:05</a:t>
            </a:r>
          </a:p>
        </p:txBody>
      </p:sp>
      <p:sp>
        <p:nvSpPr>
          <p:cNvPr id="17" name="TextBox 16"/>
          <p:cNvSpPr txBox="1"/>
          <p:nvPr/>
        </p:nvSpPr>
        <p:spPr>
          <a:xfrm>
            <a:off x="2377440" y="3163824"/>
            <a:ext cx="7863840" cy="356616"/>
          </a:xfrm>
          <a:prstGeom prst="rect">
            <a:avLst/>
          </a:prstGeom>
          <a:noFill/>
        </p:spPr>
        <p:txBody>
          <a:bodyPr wrap="square" anchor="ctr">
            <a:spAutoFit/>
          </a:bodyPr>
          <a:lstStyle/>
          <a:p>
            <a:pPr algn="l">
              <a:spcAft>
                <a:spcPts val="400"/>
              </a:spcAft>
            </a:pPr>
            <a:r>
              <a:rPr sz="1050" b="1">
                <a:solidFill>
                  <a:srgbClr val="10B981"/>
                </a:solidFill>
                <a:latin typeface="Arial"/>
              </a:rPr>
              <a:t>Lab 7: Signal Stage: a Library of Trend, Mean-Reversion, Momentum and Breakout Signals</a:t>
            </a:r>
          </a:p>
        </p:txBody>
      </p:sp>
      <p:sp>
        <p:nvSpPr>
          <p:cNvPr id="18" name="TextBox 17"/>
          <p:cNvSpPr txBox="1"/>
          <p:nvPr/>
        </p:nvSpPr>
        <p:spPr>
          <a:xfrm>
            <a:off x="10287000" y="3163824"/>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A2, K3, K7</a:t>
            </a:r>
          </a:p>
        </p:txBody>
      </p:sp>
      <p:sp>
        <p:nvSpPr>
          <p:cNvPr id="19" name="TextBox 18"/>
          <p:cNvSpPr txBox="1"/>
          <p:nvPr/>
        </p:nvSpPr>
        <p:spPr>
          <a:xfrm>
            <a:off x="822960" y="3547872"/>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16:05 - 16:50</a:t>
            </a:r>
          </a:p>
        </p:txBody>
      </p:sp>
      <p:sp>
        <p:nvSpPr>
          <p:cNvPr id="20" name="TextBox 19"/>
          <p:cNvSpPr txBox="1"/>
          <p:nvPr/>
        </p:nvSpPr>
        <p:spPr>
          <a:xfrm>
            <a:off x="2377440" y="3547872"/>
            <a:ext cx="7863840" cy="356616"/>
          </a:xfrm>
          <a:prstGeom prst="rect">
            <a:avLst/>
          </a:prstGeom>
          <a:noFill/>
        </p:spPr>
        <p:txBody>
          <a:bodyPr wrap="square" anchor="ctr">
            <a:spAutoFit/>
          </a:bodyPr>
          <a:lstStyle/>
          <a:p>
            <a:pPr algn="l">
              <a:spcAft>
                <a:spcPts val="400"/>
              </a:spcAft>
            </a:pPr>
            <a:r>
              <a:rPr sz="1050" b="0">
                <a:solidFill>
                  <a:srgbClr val="161B26"/>
                </a:solidFill>
                <a:latin typeface="Arial"/>
              </a:rPr>
              <a:t>T2.3-2.4 Analytics Platforms, Coding Languages and Order Placement</a:t>
            </a:r>
          </a:p>
        </p:txBody>
      </p:sp>
      <p:sp>
        <p:nvSpPr>
          <p:cNvPr id="21" name="TextBox 20"/>
          <p:cNvSpPr txBox="1"/>
          <p:nvPr/>
        </p:nvSpPr>
        <p:spPr>
          <a:xfrm>
            <a:off x="10287000" y="3547872"/>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A3, K5, K7</a:t>
            </a:r>
          </a:p>
        </p:txBody>
      </p:sp>
      <p:sp>
        <p:nvSpPr>
          <p:cNvPr id="22" name="TextBox 21"/>
          <p:cNvSpPr txBox="1"/>
          <p:nvPr/>
        </p:nvSpPr>
        <p:spPr>
          <a:xfrm>
            <a:off x="822960" y="3931920"/>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16:50 - 17:20</a:t>
            </a:r>
          </a:p>
        </p:txBody>
      </p:sp>
      <p:sp>
        <p:nvSpPr>
          <p:cNvPr id="23" name="TextBox 22"/>
          <p:cNvSpPr txBox="1"/>
          <p:nvPr/>
        </p:nvSpPr>
        <p:spPr>
          <a:xfrm>
            <a:off x="2377440" y="3931920"/>
            <a:ext cx="7863840" cy="356616"/>
          </a:xfrm>
          <a:prstGeom prst="rect">
            <a:avLst/>
          </a:prstGeom>
          <a:noFill/>
        </p:spPr>
        <p:txBody>
          <a:bodyPr wrap="square" anchor="ctr">
            <a:spAutoFit/>
          </a:bodyPr>
          <a:lstStyle/>
          <a:p>
            <a:pPr algn="l">
              <a:spcAft>
                <a:spcPts val="400"/>
              </a:spcAft>
            </a:pPr>
            <a:r>
              <a:rPr sz="1050" b="1">
                <a:solidFill>
                  <a:srgbClr val="10B981"/>
                </a:solidFill>
                <a:latin typeface="Arial"/>
              </a:rPr>
              <a:t>Lab 8: Execution Stage: an Order Manager that Trades the Paper Account in Any Session</a:t>
            </a:r>
          </a:p>
        </p:txBody>
      </p:sp>
      <p:sp>
        <p:nvSpPr>
          <p:cNvPr id="24" name="TextBox 23"/>
          <p:cNvSpPr txBox="1"/>
          <p:nvPr/>
        </p:nvSpPr>
        <p:spPr>
          <a:xfrm>
            <a:off x="10287000" y="3931920"/>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A3, K5</a:t>
            </a:r>
          </a:p>
        </p:txBody>
      </p:sp>
      <p:sp>
        <p:nvSpPr>
          <p:cNvPr id="25" name="TextBox 24"/>
          <p:cNvSpPr txBox="1"/>
          <p:nvPr/>
        </p:nvSpPr>
        <p:spPr>
          <a:xfrm>
            <a:off x="822960" y="4315968"/>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17:20 - 17:50</a:t>
            </a:r>
          </a:p>
        </p:txBody>
      </p:sp>
      <p:sp>
        <p:nvSpPr>
          <p:cNvPr id="26" name="TextBox 25"/>
          <p:cNvSpPr txBox="1"/>
          <p:nvPr/>
        </p:nvSpPr>
        <p:spPr>
          <a:xfrm>
            <a:off x="2377440" y="4315968"/>
            <a:ext cx="7863840" cy="356616"/>
          </a:xfrm>
          <a:prstGeom prst="rect">
            <a:avLst/>
          </a:prstGeom>
          <a:noFill/>
        </p:spPr>
        <p:txBody>
          <a:bodyPr wrap="square" anchor="ctr">
            <a:spAutoFit/>
          </a:bodyPr>
          <a:lstStyle/>
          <a:p>
            <a:pPr algn="l">
              <a:spcAft>
                <a:spcPts val="400"/>
              </a:spcAft>
            </a:pPr>
            <a:r>
              <a:rPr sz="1050" b="0">
                <a:solidFill>
                  <a:srgbClr val="161B26"/>
                </a:solidFill>
                <a:latin typeface="Arial"/>
              </a:rPr>
              <a:t>T2.5 Performance and Risk Metric Definitions</a:t>
            </a:r>
          </a:p>
        </p:txBody>
      </p:sp>
      <p:sp>
        <p:nvSpPr>
          <p:cNvPr id="27" name="TextBox 26"/>
          <p:cNvSpPr txBox="1"/>
          <p:nvPr/>
        </p:nvSpPr>
        <p:spPr>
          <a:xfrm>
            <a:off x="10287000" y="4315968"/>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A3, K3</a:t>
            </a:r>
          </a:p>
        </p:txBody>
      </p:sp>
      <p:sp>
        <p:nvSpPr>
          <p:cNvPr id="28" name="TextBox 27"/>
          <p:cNvSpPr txBox="1"/>
          <p:nvPr/>
        </p:nvSpPr>
        <p:spPr>
          <a:xfrm>
            <a:off x="822960" y="4700016"/>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17:50 - 18:15</a:t>
            </a:r>
          </a:p>
        </p:txBody>
      </p:sp>
      <p:sp>
        <p:nvSpPr>
          <p:cNvPr id="29" name="TextBox 28"/>
          <p:cNvSpPr txBox="1"/>
          <p:nvPr/>
        </p:nvSpPr>
        <p:spPr>
          <a:xfrm>
            <a:off x="2377440" y="4700016"/>
            <a:ext cx="7863840" cy="356616"/>
          </a:xfrm>
          <a:prstGeom prst="rect">
            <a:avLst/>
          </a:prstGeom>
          <a:noFill/>
        </p:spPr>
        <p:txBody>
          <a:bodyPr wrap="square" anchor="ctr">
            <a:spAutoFit/>
          </a:bodyPr>
          <a:lstStyle/>
          <a:p>
            <a:pPr algn="l">
              <a:spcAft>
                <a:spcPts val="400"/>
              </a:spcAft>
            </a:pPr>
            <a:r>
              <a:rPr sz="1050" b="1">
                <a:solidFill>
                  <a:srgbClr val="10B981"/>
                </a:solidFill>
                <a:latin typeface="Arial"/>
              </a:rPr>
              <a:t>Lab 9: Evaluation Stage: Performance and Risk Metrics with a Benchmark Table</a:t>
            </a:r>
          </a:p>
        </p:txBody>
      </p:sp>
      <p:sp>
        <p:nvSpPr>
          <p:cNvPr id="30" name="TextBox 29"/>
          <p:cNvSpPr txBox="1"/>
          <p:nvPr/>
        </p:nvSpPr>
        <p:spPr>
          <a:xfrm>
            <a:off x="10287000" y="4700016"/>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A3, K3</a:t>
            </a:r>
          </a:p>
        </p:txBody>
      </p:sp>
      <p:sp>
        <p:nvSpPr>
          <p:cNvPr id="31" name="TextBox 30"/>
          <p:cNvSpPr txBox="1"/>
          <p:nvPr/>
        </p:nvSpPr>
        <p:spPr>
          <a:xfrm>
            <a:off x="822960" y="5084064"/>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18:15 - 18:30</a:t>
            </a:r>
          </a:p>
        </p:txBody>
      </p:sp>
      <p:sp>
        <p:nvSpPr>
          <p:cNvPr id="32" name="TextBox 31"/>
          <p:cNvSpPr txBox="1"/>
          <p:nvPr/>
        </p:nvSpPr>
        <p:spPr>
          <a:xfrm>
            <a:off x="2377440" y="5084064"/>
            <a:ext cx="7863840" cy="356616"/>
          </a:xfrm>
          <a:prstGeom prst="rect">
            <a:avLst/>
          </a:prstGeom>
          <a:noFill/>
        </p:spPr>
        <p:txBody>
          <a:bodyPr wrap="square" anchor="ctr">
            <a:spAutoFit/>
          </a:bodyPr>
          <a:lstStyle/>
          <a:p>
            <a:pPr algn="l">
              <a:spcAft>
                <a:spcPts val="400"/>
              </a:spcAft>
            </a:pPr>
            <a:r>
              <a:rPr sz="1050" b="0">
                <a:solidFill>
                  <a:srgbClr val="161B26"/>
                </a:solidFill>
                <a:latin typeface="Arial"/>
              </a:rPr>
              <a:t>Day 1 Recap and Q&amp;A</a:t>
            </a:r>
          </a:p>
        </p:txBody>
      </p:sp>
      <p:sp>
        <p:nvSpPr>
          <p:cNvPr id="33" name="TextBox 32"/>
          <p:cNvSpPr txBox="1"/>
          <p:nvPr/>
        </p:nvSpPr>
        <p:spPr>
          <a:xfrm>
            <a:off x="10287000" y="5084064"/>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SCHEDULE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Lesson Plan — Day 2 (1 of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09:00 - 18:30  ·  8 instructional hours  ·  excluding 1-hour lunch and two tea breaks</a:t>
            </a:r>
          </a:p>
        </p:txBody>
      </p:sp>
      <p:sp>
        <p:nvSpPr>
          <p:cNvPr id="8" name="TextBox 7"/>
          <p:cNvSpPr txBox="1"/>
          <p:nvPr/>
        </p:nvSpPr>
        <p:spPr>
          <a:xfrm>
            <a:off x="822960" y="201168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09:00 - 09:15</a:t>
            </a:r>
          </a:p>
        </p:txBody>
      </p:sp>
      <p:sp>
        <p:nvSpPr>
          <p:cNvPr id="9" name="TextBox 8"/>
          <p:cNvSpPr txBox="1"/>
          <p:nvPr/>
        </p:nvSpPr>
        <p:spPr>
          <a:xfrm>
            <a:off x="2377440" y="2011680"/>
            <a:ext cx="7863840" cy="319277"/>
          </a:xfrm>
          <a:prstGeom prst="rect">
            <a:avLst/>
          </a:prstGeom>
          <a:noFill/>
        </p:spPr>
        <p:txBody>
          <a:bodyPr wrap="square" anchor="ctr">
            <a:spAutoFit/>
          </a:bodyPr>
          <a:lstStyle/>
          <a:p>
            <a:pPr algn="l">
              <a:spcAft>
                <a:spcPts val="400"/>
              </a:spcAft>
            </a:pPr>
            <a:r>
              <a:rPr sz="1050" b="0">
                <a:solidFill>
                  <a:srgbClr val="161B26"/>
                </a:solidFill>
                <a:latin typeface="Arial"/>
              </a:rPr>
              <a:t>Day 1 Recap and Day 2 Overview</a:t>
            </a:r>
          </a:p>
        </p:txBody>
      </p:sp>
      <p:sp>
        <p:nvSpPr>
          <p:cNvPr id="10" name="TextBox 9"/>
          <p:cNvSpPr txBox="1"/>
          <p:nvPr/>
        </p:nvSpPr>
        <p:spPr>
          <a:xfrm>
            <a:off x="10287000" y="201168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
            </a:r>
          </a:p>
        </p:txBody>
      </p:sp>
      <p:sp>
        <p:nvSpPr>
          <p:cNvPr id="11" name="TextBox 10"/>
          <p:cNvSpPr txBox="1"/>
          <p:nvPr/>
        </p:nvSpPr>
        <p:spPr>
          <a:xfrm>
            <a:off x="822960" y="235839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09:15 - 09:40</a:t>
            </a:r>
          </a:p>
        </p:txBody>
      </p:sp>
      <p:sp>
        <p:nvSpPr>
          <p:cNvPr id="12" name="TextBox 11"/>
          <p:cNvSpPr txBox="1"/>
          <p:nvPr/>
        </p:nvSpPr>
        <p:spPr>
          <a:xfrm>
            <a:off x="2377440" y="2358390"/>
            <a:ext cx="7863840" cy="319277"/>
          </a:xfrm>
          <a:prstGeom prst="rect">
            <a:avLst/>
          </a:prstGeom>
          <a:noFill/>
        </p:spPr>
        <p:txBody>
          <a:bodyPr wrap="square" anchor="ctr">
            <a:spAutoFit/>
          </a:bodyPr>
          <a:lstStyle/>
          <a:p>
            <a:pPr algn="l">
              <a:spcAft>
                <a:spcPts val="400"/>
              </a:spcAft>
            </a:pPr>
            <a:r>
              <a:rPr sz="1050" b="0">
                <a:solidFill>
                  <a:srgbClr val="161B26"/>
                </a:solidFill>
                <a:latin typeface="Arial"/>
              </a:rPr>
              <a:t>T3.1-3.2 Statistical Analyses, Algorithms and Supervised Learning Models</a:t>
            </a:r>
          </a:p>
        </p:txBody>
      </p:sp>
      <p:sp>
        <p:nvSpPr>
          <p:cNvPr id="13" name="TextBox 12"/>
          <p:cNvSpPr txBox="1"/>
          <p:nvPr/>
        </p:nvSpPr>
        <p:spPr>
          <a:xfrm>
            <a:off x="10287000" y="235839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A4, K2, K4</a:t>
            </a:r>
          </a:p>
        </p:txBody>
      </p:sp>
      <p:sp>
        <p:nvSpPr>
          <p:cNvPr id="14" name="TextBox 13"/>
          <p:cNvSpPr txBox="1"/>
          <p:nvPr/>
        </p:nvSpPr>
        <p:spPr>
          <a:xfrm>
            <a:off x="822960" y="270510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09:40 - 10:00</a:t>
            </a:r>
          </a:p>
        </p:txBody>
      </p:sp>
      <p:sp>
        <p:nvSpPr>
          <p:cNvPr id="15" name="TextBox 14"/>
          <p:cNvSpPr txBox="1"/>
          <p:nvPr/>
        </p:nvSpPr>
        <p:spPr>
          <a:xfrm>
            <a:off x="2377440" y="2705100"/>
            <a:ext cx="7863840" cy="319277"/>
          </a:xfrm>
          <a:prstGeom prst="rect">
            <a:avLst/>
          </a:prstGeom>
          <a:noFill/>
        </p:spPr>
        <p:txBody>
          <a:bodyPr wrap="square" anchor="ctr">
            <a:spAutoFit/>
          </a:bodyPr>
          <a:lstStyle/>
          <a:p>
            <a:pPr algn="l">
              <a:spcAft>
                <a:spcPts val="400"/>
              </a:spcAft>
            </a:pPr>
            <a:r>
              <a:rPr sz="1050" b="1">
                <a:solidFill>
                  <a:srgbClr val="10B981"/>
                </a:solidFill>
                <a:latin typeface="Arial"/>
              </a:rPr>
              <a:t>Lab 10: Strategy-Search Stage: Grid Search, Out-of-Sample Ranking and Decay</a:t>
            </a:r>
          </a:p>
        </p:txBody>
      </p:sp>
      <p:sp>
        <p:nvSpPr>
          <p:cNvPr id="16" name="TextBox 15"/>
          <p:cNvSpPr txBox="1"/>
          <p:nvPr/>
        </p:nvSpPr>
        <p:spPr>
          <a:xfrm>
            <a:off x="10287000" y="270510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A2, A4, K2</a:t>
            </a:r>
          </a:p>
        </p:txBody>
      </p:sp>
      <p:sp>
        <p:nvSpPr>
          <p:cNvPr id="17" name="TextBox 16"/>
          <p:cNvSpPr txBox="1"/>
          <p:nvPr/>
        </p:nvSpPr>
        <p:spPr>
          <a:xfrm>
            <a:off x="822960" y="305181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10:00 - 10:20</a:t>
            </a:r>
          </a:p>
        </p:txBody>
      </p:sp>
      <p:sp>
        <p:nvSpPr>
          <p:cNvPr id="18" name="TextBox 17"/>
          <p:cNvSpPr txBox="1"/>
          <p:nvPr/>
        </p:nvSpPr>
        <p:spPr>
          <a:xfrm>
            <a:off x="2377440" y="3051810"/>
            <a:ext cx="7863840" cy="319277"/>
          </a:xfrm>
          <a:prstGeom prst="rect">
            <a:avLst/>
          </a:prstGeom>
          <a:noFill/>
        </p:spPr>
        <p:txBody>
          <a:bodyPr wrap="square" anchor="ctr">
            <a:spAutoFit/>
          </a:bodyPr>
          <a:lstStyle/>
          <a:p>
            <a:pPr algn="l">
              <a:spcAft>
                <a:spcPts val="400"/>
              </a:spcAft>
            </a:pPr>
            <a:r>
              <a:rPr sz="1050" b="1">
                <a:solidFill>
                  <a:srgbClr val="10B981"/>
                </a:solidFill>
                <a:latin typeface="Arial"/>
              </a:rPr>
              <a:t>Lab 11: ML-Signal Stage: a Walk-Forward Classifier from Probability to Position</a:t>
            </a:r>
          </a:p>
        </p:txBody>
      </p:sp>
      <p:sp>
        <p:nvSpPr>
          <p:cNvPr id="19" name="TextBox 18"/>
          <p:cNvSpPr txBox="1"/>
          <p:nvPr/>
        </p:nvSpPr>
        <p:spPr>
          <a:xfrm>
            <a:off x="10287000" y="305181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A4, K4, K6</a:t>
            </a:r>
          </a:p>
        </p:txBody>
      </p:sp>
      <p:sp>
        <p:nvSpPr>
          <p:cNvPr id="20" name="Rectangle 19"/>
          <p:cNvSpPr/>
          <p:nvPr/>
        </p:nvSpPr>
        <p:spPr>
          <a:xfrm>
            <a:off x="777240" y="3398520"/>
            <a:ext cx="10634472" cy="31927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0120" y="3398520"/>
            <a:ext cx="10241280" cy="319277"/>
          </a:xfrm>
          <a:prstGeom prst="rect">
            <a:avLst/>
          </a:prstGeom>
          <a:noFill/>
        </p:spPr>
        <p:txBody>
          <a:bodyPr wrap="square" anchor="ctr">
            <a:spAutoFit/>
          </a:bodyPr>
          <a:lstStyle/>
          <a:p>
            <a:pPr algn="l">
              <a:spcAft>
                <a:spcPts val="400"/>
              </a:spcAft>
            </a:pPr>
            <a:r>
              <a:rPr sz="1050" b="1">
                <a:solidFill>
                  <a:srgbClr val="5B6372"/>
                </a:solidFill>
                <a:latin typeface="Arial"/>
              </a:rPr>
              <a:t>10:20 - 10:35      Tea Break</a:t>
            </a:r>
          </a:p>
        </p:txBody>
      </p:sp>
      <p:sp>
        <p:nvSpPr>
          <p:cNvPr id="22" name="TextBox 21"/>
          <p:cNvSpPr txBox="1"/>
          <p:nvPr/>
        </p:nvSpPr>
        <p:spPr>
          <a:xfrm>
            <a:off x="822960" y="374523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10:35 - 10:55</a:t>
            </a:r>
          </a:p>
        </p:txBody>
      </p:sp>
      <p:sp>
        <p:nvSpPr>
          <p:cNvPr id="23" name="TextBox 22"/>
          <p:cNvSpPr txBox="1"/>
          <p:nvPr/>
        </p:nvSpPr>
        <p:spPr>
          <a:xfrm>
            <a:off x="2377440" y="3745230"/>
            <a:ext cx="7863840" cy="319277"/>
          </a:xfrm>
          <a:prstGeom prst="rect">
            <a:avLst/>
          </a:prstGeom>
          <a:noFill/>
        </p:spPr>
        <p:txBody>
          <a:bodyPr wrap="square" anchor="ctr">
            <a:spAutoFit/>
          </a:bodyPr>
          <a:lstStyle/>
          <a:p>
            <a:pPr algn="l">
              <a:spcAft>
                <a:spcPts val="400"/>
              </a:spcAft>
            </a:pPr>
            <a:r>
              <a:rPr sz="1050" b="0">
                <a:solidFill>
                  <a:srgbClr val="161B26"/>
                </a:solidFill>
                <a:latin typeface="Arial"/>
              </a:rPr>
              <a:t>T3.3-3.4 Unsupervised Learning and Statistical Modelling Techniques</a:t>
            </a:r>
          </a:p>
        </p:txBody>
      </p:sp>
      <p:sp>
        <p:nvSpPr>
          <p:cNvPr id="24" name="TextBox 23"/>
          <p:cNvSpPr txBox="1"/>
          <p:nvPr/>
        </p:nvSpPr>
        <p:spPr>
          <a:xfrm>
            <a:off x="10287000" y="374523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A4, K4, K6</a:t>
            </a:r>
          </a:p>
        </p:txBody>
      </p:sp>
      <p:sp>
        <p:nvSpPr>
          <p:cNvPr id="25" name="TextBox 24"/>
          <p:cNvSpPr txBox="1"/>
          <p:nvPr/>
        </p:nvSpPr>
        <p:spPr>
          <a:xfrm>
            <a:off x="822960" y="4091939"/>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10:55 - 11:10</a:t>
            </a:r>
          </a:p>
        </p:txBody>
      </p:sp>
      <p:sp>
        <p:nvSpPr>
          <p:cNvPr id="26" name="TextBox 25"/>
          <p:cNvSpPr txBox="1"/>
          <p:nvPr/>
        </p:nvSpPr>
        <p:spPr>
          <a:xfrm>
            <a:off x="2377440" y="4091939"/>
            <a:ext cx="7863840" cy="319277"/>
          </a:xfrm>
          <a:prstGeom prst="rect">
            <a:avLst/>
          </a:prstGeom>
          <a:noFill/>
        </p:spPr>
        <p:txBody>
          <a:bodyPr wrap="square" anchor="ctr">
            <a:spAutoFit/>
          </a:bodyPr>
          <a:lstStyle/>
          <a:p>
            <a:pPr algn="l">
              <a:spcAft>
                <a:spcPts val="400"/>
              </a:spcAft>
            </a:pPr>
            <a:r>
              <a:rPr sz="1050" b="1">
                <a:solidFill>
                  <a:srgbClr val="10B981"/>
                </a:solidFill>
                <a:latin typeface="Arial"/>
              </a:rPr>
              <a:t>Lab 12: Regime-Filter Stage: PCA and K-Means as a Gate on the Signals</a:t>
            </a:r>
          </a:p>
        </p:txBody>
      </p:sp>
      <p:sp>
        <p:nvSpPr>
          <p:cNvPr id="27" name="TextBox 26"/>
          <p:cNvSpPr txBox="1"/>
          <p:nvPr/>
        </p:nvSpPr>
        <p:spPr>
          <a:xfrm>
            <a:off x="10287000" y="4091939"/>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A4, K4, K6</a:t>
            </a:r>
          </a:p>
        </p:txBody>
      </p:sp>
      <p:sp>
        <p:nvSpPr>
          <p:cNvPr id="28" name="TextBox 27"/>
          <p:cNvSpPr txBox="1"/>
          <p:nvPr/>
        </p:nvSpPr>
        <p:spPr>
          <a:xfrm>
            <a:off x="822960" y="443865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11:10 - 11:25</a:t>
            </a:r>
          </a:p>
        </p:txBody>
      </p:sp>
      <p:sp>
        <p:nvSpPr>
          <p:cNvPr id="29" name="TextBox 28"/>
          <p:cNvSpPr txBox="1"/>
          <p:nvPr/>
        </p:nvSpPr>
        <p:spPr>
          <a:xfrm>
            <a:off x="2377440" y="4438650"/>
            <a:ext cx="7863840" cy="319277"/>
          </a:xfrm>
          <a:prstGeom prst="rect">
            <a:avLst/>
          </a:prstGeom>
          <a:noFill/>
        </p:spPr>
        <p:txBody>
          <a:bodyPr wrap="square" anchor="ctr">
            <a:spAutoFit/>
          </a:bodyPr>
          <a:lstStyle/>
          <a:p>
            <a:pPr algn="l">
              <a:spcAft>
                <a:spcPts val="400"/>
              </a:spcAft>
            </a:pPr>
            <a:r>
              <a:rPr sz="1050" b="0">
                <a:solidFill>
                  <a:srgbClr val="161B26"/>
                </a:solidFill>
                <a:latin typeface="Arial"/>
              </a:rPr>
              <a:t>T3.5-3.6 A/B Testing, and Pairs Trading as a Hedging Algorithm</a:t>
            </a:r>
          </a:p>
        </p:txBody>
      </p:sp>
      <p:sp>
        <p:nvSpPr>
          <p:cNvPr id="30" name="TextBox 29"/>
          <p:cNvSpPr txBox="1"/>
          <p:nvPr/>
        </p:nvSpPr>
        <p:spPr>
          <a:xfrm>
            <a:off x="10287000" y="443865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A4, A5, K2, K6</a:t>
            </a:r>
          </a:p>
        </p:txBody>
      </p:sp>
      <p:sp>
        <p:nvSpPr>
          <p:cNvPr id="31" name="TextBox 30"/>
          <p:cNvSpPr txBox="1"/>
          <p:nvPr/>
        </p:nvSpPr>
        <p:spPr>
          <a:xfrm>
            <a:off x="822960" y="478536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11:25 - 11:40</a:t>
            </a:r>
          </a:p>
        </p:txBody>
      </p:sp>
      <p:sp>
        <p:nvSpPr>
          <p:cNvPr id="32" name="TextBox 31"/>
          <p:cNvSpPr txBox="1"/>
          <p:nvPr/>
        </p:nvSpPr>
        <p:spPr>
          <a:xfrm>
            <a:off x="2377440" y="4785360"/>
            <a:ext cx="7863840" cy="319277"/>
          </a:xfrm>
          <a:prstGeom prst="rect">
            <a:avLst/>
          </a:prstGeom>
          <a:noFill/>
        </p:spPr>
        <p:txBody>
          <a:bodyPr wrap="square" anchor="ctr">
            <a:spAutoFit/>
          </a:bodyPr>
          <a:lstStyle/>
          <a:p>
            <a:pPr algn="l">
              <a:spcAft>
                <a:spcPts val="400"/>
              </a:spcAft>
            </a:pPr>
            <a:r>
              <a:rPr sz="1050" b="1">
                <a:solidFill>
                  <a:srgbClr val="10B981"/>
                </a:solidFill>
                <a:latin typeface="Arial"/>
              </a:rPr>
              <a:t>Lab 13: A/B-Test Stage: a Statistical Decision before Capital Moves</a:t>
            </a:r>
          </a:p>
        </p:txBody>
      </p:sp>
      <p:sp>
        <p:nvSpPr>
          <p:cNvPr id="33" name="TextBox 32"/>
          <p:cNvSpPr txBox="1"/>
          <p:nvPr/>
        </p:nvSpPr>
        <p:spPr>
          <a:xfrm>
            <a:off x="10287000" y="478536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A5, K2</a:t>
            </a:r>
          </a:p>
        </p:txBody>
      </p:sp>
      <p:sp>
        <p:nvSpPr>
          <p:cNvPr id="34" name="TextBox 33"/>
          <p:cNvSpPr txBox="1"/>
          <p:nvPr/>
        </p:nvSpPr>
        <p:spPr>
          <a:xfrm>
            <a:off x="822960" y="513207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11:40 - 12:00</a:t>
            </a:r>
          </a:p>
        </p:txBody>
      </p:sp>
      <p:sp>
        <p:nvSpPr>
          <p:cNvPr id="35" name="TextBox 34"/>
          <p:cNvSpPr txBox="1"/>
          <p:nvPr/>
        </p:nvSpPr>
        <p:spPr>
          <a:xfrm>
            <a:off x="2377440" y="5132070"/>
            <a:ext cx="7863840" cy="319277"/>
          </a:xfrm>
          <a:prstGeom prst="rect">
            <a:avLst/>
          </a:prstGeom>
          <a:noFill/>
        </p:spPr>
        <p:txBody>
          <a:bodyPr wrap="square" anchor="ctr">
            <a:spAutoFit/>
          </a:bodyPr>
          <a:lstStyle/>
          <a:p>
            <a:pPr algn="l">
              <a:spcAft>
                <a:spcPts val="400"/>
              </a:spcAft>
            </a:pPr>
            <a:r>
              <a:rPr sz="1050" b="1">
                <a:solidFill>
                  <a:srgbClr val="10B981"/>
                </a:solidFill>
                <a:latin typeface="Arial"/>
              </a:rPr>
              <a:t>Lab 14: Pairs Stage: a Hedged, Market-Neutral Statistical-Arbitrage Sleeve</a:t>
            </a:r>
          </a:p>
        </p:txBody>
      </p:sp>
      <p:sp>
        <p:nvSpPr>
          <p:cNvPr id="36" name="TextBox 35"/>
          <p:cNvSpPr txBox="1"/>
          <p:nvPr/>
        </p:nvSpPr>
        <p:spPr>
          <a:xfrm>
            <a:off x="10287000" y="513207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A4, K6</a:t>
            </a:r>
          </a:p>
        </p:txBody>
      </p:sp>
      <p:sp>
        <p:nvSpPr>
          <p:cNvPr id="37" name="TextBox 36"/>
          <p:cNvSpPr txBox="1"/>
          <p:nvPr/>
        </p:nvSpPr>
        <p:spPr>
          <a:xfrm>
            <a:off x="822960" y="547878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12:00 - 12:30</a:t>
            </a:r>
          </a:p>
        </p:txBody>
      </p:sp>
      <p:sp>
        <p:nvSpPr>
          <p:cNvPr id="38" name="TextBox 37"/>
          <p:cNvSpPr txBox="1"/>
          <p:nvPr/>
        </p:nvSpPr>
        <p:spPr>
          <a:xfrm>
            <a:off x="2377440" y="5478780"/>
            <a:ext cx="7863840" cy="319277"/>
          </a:xfrm>
          <a:prstGeom prst="rect">
            <a:avLst/>
          </a:prstGeom>
          <a:noFill/>
        </p:spPr>
        <p:txBody>
          <a:bodyPr wrap="square" anchor="ctr">
            <a:spAutoFit/>
          </a:bodyPr>
          <a:lstStyle/>
          <a:p>
            <a:pPr algn="l">
              <a:spcAft>
                <a:spcPts val="400"/>
              </a:spcAft>
            </a:pPr>
            <a:r>
              <a:rPr sz="1050" b="0">
                <a:solidFill>
                  <a:srgbClr val="161B26"/>
                </a:solidFill>
                <a:latin typeface="Arial"/>
              </a:rPr>
              <a:t>T4.1-4.2 Pipeline Architecture and Backtesting with Trading Costs</a:t>
            </a:r>
          </a:p>
        </p:txBody>
      </p:sp>
      <p:sp>
        <p:nvSpPr>
          <p:cNvPr id="39" name="TextBox 38"/>
          <p:cNvSpPr txBox="1"/>
          <p:nvPr/>
        </p:nvSpPr>
        <p:spPr>
          <a:xfrm>
            <a:off x="10287000" y="547878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A7, A8, K7</a:t>
            </a:r>
          </a:p>
        </p:txBody>
      </p:sp>
      <p:sp>
        <p:nvSpPr>
          <p:cNvPr id="40" name="Rectangle 39"/>
          <p:cNvSpPr/>
          <p:nvPr/>
        </p:nvSpPr>
        <p:spPr>
          <a:xfrm>
            <a:off x="777240" y="5825490"/>
            <a:ext cx="10634472" cy="31927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60120" y="5825490"/>
            <a:ext cx="10241280" cy="319277"/>
          </a:xfrm>
          <a:prstGeom prst="rect">
            <a:avLst/>
          </a:prstGeom>
          <a:noFill/>
        </p:spPr>
        <p:txBody>
          <a:bodyPr wrap="square" anchor="ctr">
            <a:spAutoFit/>
          </a:bodyPr>
          <a:lstStyle/>
          <a:p>
            <a:pPr algn="l">
              <a:spcAft>
                <a:spcPts val="400"/>
              </a:spcAft>
            </a:pPr>
            <a:r>
              <a:rPr sz="1050" b="1">
                <a:solidFill>
                  <a:srgbClr val="5B6372"/>
                </a:solidFill>
                <a:latin typeface="Arial"/>
              </a:rPr>
              <a:t>12:30 - 13:30      Lunch Break</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SCHEDULE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Lesson Plan — Day 2 (2 of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09:00 - 18:30  ·  8 instructional hours  ·  excluding 1-hour lunch and two tea breaks</a:t>
            </a:r>
          </a:p>
        </p:txBody>
      </p:sp>
      <p:sp>
        <p:nvSpPr>
          <p:cNvPr id="8" name="TextBox 7"/>
          <p:cNvSpPr txBox="1"/>
          <p:nvPr/>
        </p:nvSpPr>
        <p:spPr>
          <a:xfrm>
            <a:off x="822960" y="201168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13:30 - 13:55</a:t>
            </a:r>
          </a:p>
        </p:txBody>
      </p:sp>
      <p:sp>
        <p:nvSpPr>
          <p:cNvPr id="9" name="TextBox 8"/>
          <p:cNvSpPr txBox="1"/>
          <p:nvPr/>
        </p:nvSpPr>
        <p:spPr>
          <a:xfrm>
            <a:off x="2377440" y="2011680"/>
            <a:ext cx="7863840" cy="319277"/>
          </a:xfrm>
          <a:prstGeom prst="rect">
            <a:avLst/>
          </a:prstGeom>
          <a:noFill/>
        </p:spPr>
        <p:txBody>
          <a:bodyPr wrap="square" anchor="ctr">
            <a:spAutoFit/>
          </a:bodyPr>
          <a:lstStyle/>
          <a:p>
            <a:pPr algn="l">
              <a:spcAft>
                <a:spcPts val="400"/>
              </a:spcAft>
            </a:pPr>
            <a:r>
              <a:rPr sz="1050" b="1">
                <a:solidFill>
                  <a:srgbClr val="10B981"/>
                </a:solidFill>
                <a:latin typeface="Arial"/>
              </a:rPr>
              <a:t>Lab 15: Backtest-Engine Stage: Cost Models, Execution Timing and Break-Even</a:t>
            </a:r>
          </a:p>
        </p:txBody>
      </p:sp>
      <p:sp>
        <p:nvSpPr>
          <p:cNvPr id="10" name="TextBox 9"/>
          <p:cNvSpPr txBox="1"/>
          <p:nvPr/>
        </p:nvSpPr>
        <p:spPr>
          <a:xfrm>
            <a:off x="10287000" y="201168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A7, A8, K7</a:t>
            </a:r>
          </a:p>
        </p:txBody>
      </p:sp>
      <p:sp>
        <p:nvSpPr>
          <p:cNvPr id="11" name="TextBox 10"/>
          <p:cNvSpPr txBox="1"/>
          <p:nvPr/>
        </p:nvSpPr>
        <p:spPr>
          <a:xfrm>
            <a:off x="822960" y="235839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13:55 - 14:05</a:t>
            </a:r>
          </a:p>
        </p:txBody>
      </p:sp>
      <p:sp>
        <p:nvSpPr>
          <p:cNvPr id="12" name="TextBox 11"/>
          <p:cNvSpPr txBox="1"/>
          <p:nvPr/>
        </p:nvSpPr>
        <p:spPr>
          <a:xfrm>
            <a:off x="2377440" y="2358390"/>
            <a:ext cx="7863840" cy="319277"/>
          </a:xfrm>
          <a:prstGeom prst="rect">
            <a:avLst/>
          </a:prstGeom>
          <a:noFill/>
        </p:spPr>
        <p:txBody>
          <a:bodyPr wrap="square" anchor="ctr">
            <a:spAutoFit/>
          </a:bodyPr>
          <a:lstStyle/>
          <a:p>
            <a:pPr algn="l">
              <a:spcAft>
                <a:spcPts val="400"/>
              </a:spcAft>
            </a:pPr>
            <a:r>
              <a:rPr sz="1050" b="0">
                <a:solidFill>
                  <a:srgbClr val="161B26"/>
                </a:solidFill>
                <a:latin typeface="Arial"/>
              </a:rPr>
              <a:t>T4.3 Forward Testing with Automated Paper Trading</a:t>
            </a:r>
          </a:p>
        </p:txBody>
      </p:sp>
      <p:sp>
        <p:nvSpPr>
          <p:cNvPr id="13" name="TextBox 12"/>
          <p:cNvSpPr txBox="1"/>
          <p:nvPr/>
        </p:nvSpPr>
        <p:spPr>
          <a:xfrm>
            <a:off x="10287000" y="235839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A7, A8</a:t>
            </a:r>
          </a:p>
        </p:txBody>
      </p:sp>
      <p:sp>
        <p:nvSpPr>
          <p:cNvPr id="14" name="TextBox 13"/>
          <p:cNvSpPr txBox="1"/>
          <p:nvPr/>
        </p:nvSpPr>
        <p:spPr>
          <a:xfrm>
            <a:off x="822960" y="270510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14:05 - 14:30</a:t>
            </a:r>
          </a:p>
        </p:txBody>
      </p:sp>
      <p:sp>
        <p:nvSpPr>
          <p:cNvPr id="15" name="TextBox 14"/>
          <p:cNvSpPr txBox="1"/>
          <p:nvPr/>
        </p:nvSpPr>
        <p:spPr>
          <a:xfrm>
            <a:off x="2377440" y="2705100"/>
            <a:ext cx="7863840" cy="319277"/>
          </a:xfrm>
          <a:prstGeom prst="rect">
            <a:avLst/>
          </a:prstGeom>
          <a:noFill/>
        </p:spPr>
        <p:txBody>
          <a:bodyPr wrap="square" anchor="ctr">
            <a:spAutoFit/>
          </a:bodyPr>
          <a:lstStyle/>
          <a:p>
            <a:pPr algn="l">
              <a:spcAft>
                <a:spcPts val="400"/>
              </a:spcAft>
            </a:pPr>
            <a:r>
              <a:rPr sz="1050" b="1">
                <a:solidFill>
                  <a:srgbClr val="10B981"/>
                </a:solidFill>
                <a:latin typeface="Arial"/>
              </a:rPr>
              <a:t>Lab 16: Automation Stage: a Scheduled, Risk-Checked Forward Test and Live Paper Trading</a:t>
            </a:r>
          </a:p>
        </p:txBody>
      </p:sp>
      <p:sp>
        <p:nvSpPr>
          <p:cNvPr id="16" name="TextBox 15"/>
          <p:cNvSpPr txBox="1"/>
          <p:nvPr/>
        </p:nvSpPr>
        <p:spPr>
          <a:xfrm>
            <a:off x="10287000" y="270510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A7, A8, K7</a:t>
            </a:r>
          </a:p>
        </p:txBody>
      </p:sp>
      <p:sp>
        <p:nvSpPr>
          <p:cNvPr id="17" name="TextBox 16"/>
          <p:cNvSpPr txBox="1"/>
          <p:nvPr/>
        </p:nvSpPr>
        <p:spPr>
          <a:xfrm>
            <a:off x="822960" y="305181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14:30 - 14:50</a:t>
            </a:r>
          </a:p>
        </p:txBody>
      </p:sp>
      <p:sp>
        <p:nvSpPr>
          <p:cNvPr id="18" name="TextBox 17"/>
          <p:cNvSpPr txBox="1"/>
          <p:nvPr/>
        </p:nvSpPr>
        <p:spPr>
          <a:xfrm>
            <a:off x="2377440" y="3051810"/>
            <a:ext cx="7863840" cy="319277"/>
          </a:xfrm>
          <a:prstGeom prst="rect">
            <a:avLst/>
          </a:prstGeom>
          <a:noFill/>
        </p:spPr>
        <p:txBody>
          <a:bodyPr wrap="square" anchor="ctr">
            <a:spAutoFit/>
          </a:bodyPr>
          <a:lstStyle/>
          <a:p>
            <a:pPr algn="l">
              <a:spcAft>
                <a:spcPts val="400"/>
              </a:spcAft>
            </a:pPr>
            <a:r>
              <a:rPr sz="1050" b="1">
                <a:solidFill>
                  <a:srgbClr val="10B981"/>
                </a:solidFill>
                <a:latin typeface="Arial"/>
              </a:rPr>
              <a:t>Lab 17: Event-Driven Automation: TradingView Webhook to Signal, Risk and Execution</a:t>
            </a:r>
          </a:p>
        </p:txBody>
      </p:sp>
      <p:sp>
        <p:nvSpPr>
          <p:cNvPr id="19" name="TextBox 18"/>
          <p:cNvSpPr txBox="1"/>
          <p:nvPr/>
        </p:nvSpPr>
        <p:spPr>
          <a:xfrm>
            <a:off x="10287000" y="305181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A7, K5, K7</a:t>
            </a:r>
          </a:p>
        </p:txBody>
      </p:sp>
      <p:sp>
        <p:nvSpPr>
          <p:cNvPr id="20" name="TextBox 19"/>
          <p:cNvSpPr txBox="1"/>
          <p:nvPr/>
        </p:nvSpPr>
        <p:spPr>
          <a:xfrm>
            <a:off x="822960" y="339852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14:50 - 15:00</a:t>
            </a:r>
          </a:p>
        </p:txBody>
      </p:sp>
      <p:sp>
        <p:nvSpPr>
          <p:cNvPr id="21" name="TextBox 20"/>
          <p:cNvSpPr txBox="1"/>
          <p:nvPr/>
        </p:nvSpPr>
        <p:spPr>
          <a:xfrm>
            <a:off x="2377440" y="3398520"/>
            <a:ext cx="7863840" cy="319277"/>
          </a:xfrm>
          <a:prstGeom prst="rect">
            <a:avLst/>
          </a:prstGeom>
          <a:noFill/>
        </p:spPr>
        <p:txBody>
          <a:bodyPr wrap="square" anchor="ctr">
            <a:spAutoFit/>
          </a:bodyPr>
          <a:lstStyle/>
          <a:p>
            <a:pPr algn="l">
              <a:spcAft>
                <a:spcPts val="400"/>
              </a:spcAft>
            </a:pPr>
            <a:r>
              <a:rPr sz="1050" b="0">
                <a:solidFill>
                  <a:srgbClr val="161B26"/>
                </a:solidFill>
                <a:latin typeface="Arial"/>
              </a:rPr>
              <a:t>T4.4 Potential Reasons for Unintended Outcomes</a:t>
            </a:r>
          </a:p>
        </p:txBody>
      </p:sp>
      <p:sp>
        <p:nvSpPr>
          <p:cNvPr id="22" name="TextBox 21"/>
          <p:cNvSpPr txBox="1"/>
          <p:nvPr/>
        </p:nvSpPr>
        <p:spPr>
          <a:xfrm>
            <a:off x="10287000" y="339852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A9, K8</a:t>
            </a:r>
          </a:p>
        </p:txBody>
      </p:sp>
      <p:sp>
        <p:nvSpPr>
          <p:cNvPr id="23" name="TextBox 22"/>
          <p:cNvSpPr txBox="1"/>
          <p:nvPr/>
        </p:nvSpPr>
        <p:spPr>
          <a:xfrm>
            <a:off x="822960" y="374523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15:00 - 15:20</a:t>
            </a:r>
          </a:p>
        </p:txBody>
      </p:sp>
      <p:sp>
        <p:nvSpPr>
          <p:cNvPr id="24" name="TextBox 23"/>
          <p:cNvSpPr txBox="1"/>
          <p:nvPr/>
        </p:nvSpPr>
        <p:spPr>
          <a:xfrm>
            <a:off x="2377440" y="3745230"/>
            <a:ext cx="7863840" cy="319277"/>
          </a:xfrm>
          <a:prstGeom prst="rect">
            <a:avLst/>
          </a:prstGeom>
          <a:noFill/>
        </p:spPr>
        <p:txBody>
          <a:bodyPr wrap="square" anchor="ctr">
            <a:spAutoFit/>
          </a:bodyPr>
          <a:lstStyle/>
          <a:p>
            <a:pPr algn="l">
              <a:spcAft>
                <a:spcPts val="400"/>
              </a:spcAft>
            </a:pPr>
            <a:r>
              <a:rPr sz="1050" b="1">
                <a:solidFill>
                  <a:srgbClr val="10B981"/>
                </a:solidFill>
                <a:latin typeface="Arial"/>
              </a:rPr>
              <a:t>Lab 18: Diagnostics Stage: Automated Bias Checks before Go-Live</a:t>
            </a:r>
          </a:p>
        </p:txBody>
      </p:sp>
      <p:sp>
        <p:nvSpPr>
          <p:cNvPr id="25" name="TextBox 24"/>
          <p:cNvSpPr txBox="1"/>
          <p:nvPr/>
        </p:nvSpPr>
        <p:spPr>
          <a:xfrm>
            <a:off x="10287000" y="374523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A9, K8</a:t>
            </a:r>
          </a:p>
        </p:txBody>
      </p:sp>
      <p:sp>
        <p:nvSpPr>
          <p:cNvPr id="26" name="Rectangle 25"/>
          <p:cNvSpPr/>
          <p:nvPr/>
        </p:nvSpPr>
        <p:spPr>
          <a:xfrm>
            <a:off x="777240" y="4091939"/>
            <a:ext cx="10634472" cy="31927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0120" y="4091939"/>
            <a:ext cx="10241280" cy="319277"/>
          </a:xfrm>
          <a:prstGeom prst="rect">
            <a:avLst/>
          </a:prstGeom>
          <a:noFill/>
        </p:spPr>
        <p:txBody>
          <a:bodyPr wrap="square" anchor="ctr">
            <a:spAutoFit/>
          </a:bodyPr>
          <a:lstStyle/>
          <a:p>
            <a:pPr algn="l">
              <a:spcAft>
                <a:spcPts val="400"/>
              </a:spcAft>
            </a:pPr>
            <a:r>
              <a:rPr sz="1050" b="1">
                <a:solidFill>
                  <a:srgbClr val="5B6372"/>
                </a:solidFill>
                <a:latin typeface="Arial"/>
              </a:rPr>
              <a:t>15:20 - 15:35      Tea Break</a:t>
            </a:r>
          </a:p>
        </p:txBody>
      </p:sp>
      <p:sp>
        <p:nvSpPr>
          <p:cNvPr id="28" name="TextBox 27"/>
          <p:cNvSpPr txBox="1"/>
          <p:nvPr/>
        </p:nvSpPr>
        <p:spPr>
          <a:xfrm>
            <a:off x="822960" y="443865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15:35 - 15:45</a:t>
            </a:r>
          </a:p>
        </p:txBody>
      </p:sp>
      <p:sp>
        <p:nvSpPr>
          <p:cNvPr id="29" name="TextBox 28"/>
          <p:cNvSpPr txBox="1"/>
          <p:nvPr/>
        </p:nvSpPr>
        <p:spPr>
          <a:xfrm>
            <a:off x="2377440" y="4438650"/>
            <a:ext cx="7863840" cy="319277"/>
          </a:xfrm>
          <a:prstGeom prst="rect">
            <a:avLst/>
          </a:prstGeom>
          <a:noFill/>
        </p:spPr>
        <p:txBody>
          <a:bodyPr wrap="square" anchor="ctr">
            <a:spAutoFit/>
          </a:bodyPr>
          <a:lstStyle/>
          <a:p>
            <a:pPr algn="l">
              <a:spcAft>
                <a:spcPts val="400"/>
              </a:spcAft>
            </a:pPr>
            <a:r>
              <a:rPr sz="1050" b="0">
                <a:solidFill>
                  <a:srgbClr val="161B26"/>
                </a:solidFill>
                <a:latin typeface="Arial"/>
              </a:rPr>
              <a:t>T4.5 Performance Analysis, Insights and Reporting</a:t>
            </a:r>
          </a:p>
        </p:txBody>
      </p:sp>
      <p:sp>
        <p:nvSpPr>
          <p:cNvPr id="30" name="TextBox 29"/>
          <p:cNvSpPr txBox="1"/>
          <p:nvPr/>
        </p:nvSpPr>
        <p:spPr>
          <a:xfrm>
            <a:off x="10287000" y="443865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A10</a:t>
            </a:r>
          </a:p>
        </p:txBody>
      </p:sp>
      <p:sp>
        <p:nvSpPr>
          <p:cNvPr id="31" name="TextBox 30"/>
          <p:cNvSpPr txBox="1"/>
          <p:nvPr/>
        </p:nvSpPr>
        <p:spPr>
          <a:xfrm>
            <a:off x="822960" y="478536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15:45 - 16:10</a:t>
            </a:r>
          </a:p>
        </p:txBody>
      </p:sp>
      <p:sp>
        <p:nvSpPr>
          <p:cNvPr id="32" name="TextBox 31"/>
          <p:cNvSpPr txBox="1"/>
          <p:nvPr/>
        </p:nvSpPr>
        <p:spPr>
          <a:xfrm>
            <a:off x="2377440" y="4785360"/>
            <a:ext cx="7863840" cy="319277"/>
          </a:xfrm>
          <a:prstGeom prst="rect">
            <a:avLst/>
          </a:prstGeom>
          <a:noFill/>
        </p:spPr>
        <p:txBody>
          <a:bodyPr wrap="square" anchor="ctr">
            <a:spAutoFit/>
          </a:bodyPr>
          <a:lstStyle/>
          <a:p>
            <a:pPr algn="l">
              <a:spcAft>
                <a:spcPts val="400"/>
              </a:spcAft>
            </a:pPr>
            <a:r>
              <a:rPr sz="1050" b="1">
                <a:solidFill>
                  <a:srgbClr val="10B981"/>
                </a:solidFill>
                <a:latin typeface="Arial"/>
              </a:rPr>
              <a:t>Lab 19: Monitoring and Reporting Stage: Automated Tearsheet and Backtest-vs-Forward Report</a:t>
            </a:r>
          </a:p>
        </p:txBody>
      </p:sp>
      <p:sp>
        <p:nvSpPr>
          <p:cNvPr id="33" name="TextBox 32"/>
          <p:cNvSpPr txBox="1"/>
          <p:nvPr/>
        </p:nvSpPr>
        <p:spPr>
          <a:xfrm>
            <a:off x="10287000" y="478536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A8, A10</a:t>
            </a:r>
          </a:p>
        </p:txBody>
      </p:sp>
      <p:sp>
        <p:nvSpPr>
          <p:cNvPr id="34" name="TextBox 33"/>
          <p:cNvSpPr txBox="1"/>
          <p:nvPr/>
        </p:nvSpPr>
        <p:spPr>
          <a:xfrm>
            <a:off x="822960" y="513207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16:10 - 16:30</a:t>
            </a:r>
          </a:p>
        </p:txBody>
      </p:sp>
      <p:sp>
        <p:nvSpPr>
          <p:cNvPr id="35" name="TextBox 34"/>
          <p:cNvSpPr txBox="1"/>
          <p:nvPr/>
        </p:nvSpPr>
        <p:spPr>
          <a:xfrm>
            <a:off x="2377440" y="5132070"/>
            <a:ext cx="7863840" cy="319277"/>
          </a:xfrm>
          <a:prstGeom prst="rect">
            <a:avLst/>
          </a:prstGeom>
          <a:noFill/>
        </p:spPr>
        <p:txBody>
          <a:bodyPr wrap="square" anchor="ctr">
            <a:spAutoFit/>
          </a:bodyPr>
          <a:lstStyle/>
          <a:p>
            <a:pPr algn="l">
              <a:spcAft>
                <a:spcPts val="400"/>
              </a:spcAft>
            </a:pPr>
            <a:r>
              <a:rPr sz="1050" b="1">
                <a:solidFill>
                  <a:srgbClr val="10B981"/>
                </a:solidFill>
                <a:latin typeface="Arial"/>
              </a:rPr>
              <a:t>Lab 20: Capstone: One Command Runs the Pipeline End to End, with an Agentic Layer and Human Approval</a:t>
            </a:r>
          </a:p>
        </p:txBody>
      </p:sp>
      <p:sp>
        <p:nvSpPr>
          <p:cNvPr id="36" name="TextBox 35"/>
          <p:cNvSpPr txBox="1"/>
          <p:nvPr/>
        </p:nvSpPr>
        <p:spPr>
          <a:xfrm>
            <a:off x="10287000" y="513207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A7, A10, K1</a:t>
            </a:r>
          </a:p>
        </p:txBody>
      </p:sp>
      <p:sp>
        <p:nvSpPr>
          <p:cNvPr id="37" name="TextBox 36"/>
          <p:cNvSpPr txBox="1"/>
          <p:nvPr/>
        </p:nvSpPr>
        <p:spPr>
          <a:xfrm>
            <a:off x="822960" y="547878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16:30 - 17:15</a:t>
            </a:r>
          </a:p>
        </p:txBody>
      </p:sp>
      <p:sp>
        <p:nvSpPr>
          <p:cNvPr id="38" name="TextBox 37"/>
          <p:cNvSpPr txBox="1"/>
          <p:nvPr/>
        </p:nvSpPr>
        <p:spPr>
          <a:xfrm>
            <a:off x="2377440" y="5478780"/>
            <a:ext cx="7863840" cy="319277"/>
          </a:xfrm>
          <a:prstGeom prst="rect">
            <a:avLst/>
          </a:prstGeom>
          <a:noFill/>
        </p:spPr>
        <p:txBody>
          <a:bodyPr wrap="square" anchor="ctr">
            <a:spAutoFit/>
          </a:bodyPr>
          <a:lstStyle/>
          <a:p>
            <a:pPr algn="l">
              <a:spcAft>
                <a:spcPts val="400"/>
              </a:spcAft>
            </a:pPr>
            <a:r>
              <a:rPr sz="1050" b="1">
                <a:solidFill>
                  <a:srgbClr val="7C3AED"/>
                </a:solidFill>
                <a:latin typeface="Arial"/>
              </a:rPr>
              <a:t>Written Assessment (Short Answer Questions)</a:t>
            </a:r>
          </a:p>
        </p:txBody>
      </p:sp>
      <p:sp>
        <p:nvSpPr>
          <p:cNvPr id="39" name="TextBox 38"/>
          <p:cNvSpPr txBox="1"/>
          <p:nvPr/>
        </p:nvSpPr>
        <p:spPr>
          <a:xfrm>
            <a:off x="10287000" y="547878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K1 - K9</a:t>
            </a:r>
          </a:p>
        </p:txBody>
      </p:sp>
      <p:sp>
        <p:nvSpPr>
          <p:cNvPr id="40" name="TextBox 39"/>
          <p:cNvSpPr txBox="1"/>
          <p:nvPr/>
        </p:nvSpPr>
        <p:spPr>
          <a:xfrm>
            <a:off x="822960" y="582549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17:15 - 18:30</a:t>
            </a:r>
          </a:p>
        </p:txBody>
      </p:sp>
      <p:sp>
        <p:nvSpPr>
          <p:cNvPr id="41" name="TextBox 40"/>
          <p:cNvSpPr txBox="1"/>
          <p:nvPr/>
        </p:nvSpPr>
        <p:spPr>
          <a:xfrm>
            <a:off x="2377440" y="5825490"/>
            <a:ext cx="7863840" cy="319277"/>
          </a:xfrm>
          <a:prstGeom prst="rect">
            <a:avLst/>
          </a:prstGeom>
          <a:noFill/>
        </p:spPr>
        <p:txBody>
          <a:bodyPr wrap="square" anchor="ctr">
            <a:spAutoFit/>
          </a:bodyPr>
          <a:lstStyle/>
          <a:p>
            <a:pPr algn="l">
              <a:spcAft>
                <a:spcPts val="400"/>
              </a:spcAft>
            </a:pPr>
            <a:r>
              <a:rPr sz="1050" b="1">
                <a:solidFill>
                  <a:srgbClr val="7C3AED"/>
                </a:solidFill>
                <a:latin typeface="Arial"/>
              </a:rPr>
              <a:t>Practical Performance Assessment</a:t>
            </a:r>
          </a:p>
        </p:txBody>
      </p:sp>
      <p:sp>
        <p:nvSpPr>
          <p:cNvPr id="42" name="TextBox 41"/>
          <p:cNvSpPr txBox="1"/>
          <p:nvPr/>
        </p:nvSpPr>
        <p:spPr>
          <a:xfrm>
            <a:off x="10287000" y="582549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A1 - A10</a:t>
            </a:r>
          </a:p>
        </p:txBody>
      </p:sp>
      <p:sp>
        <p:nvSpPr>
          <p:cNvPr id="43" name="TextBox 4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4" name="TextBox 4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5" name="TextBox 4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BEFORE THE ASSESSMENT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Briefing for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Open book</a:t>
            </a:r>
          </a:p>
          <a:p>
            <a:pPr algn="l">
              <a:spcAft>
                <a:spcPts val="300"/>
              </a:spcAft>
            </a:pPr>
            <a:r>
              <a:rPr sz="1300" b="0">
                <a:solidFill>
                  <a:srgbClr val="5B6372"/>
                </a:solidFill>
                <a:latin typeface="Arial"/>
              </a:rPr>
              <a:t>You may use your Learner Guide, lab code and your own notes.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Two components</a:t>
            </a:r>
          </a:p>
          <a:p>
            <a:pPr algn="l">
              <a:spcAft>
                <a:spcPts val="300"/>
              </a:spcAft>
            </a:pPr>
            <a:r>
              <a:rPr sz="1300" b="0">
                <a:solidFill>
                  <a:srgbClr val="5B6372"/>
                </a:solidFill>
                <a:latin typeface="Arial"/>
              </a:rPr>
              <a:t>Written Assessment (45 min) and Practical Performance (75 min).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Both must be passed</a:t>
            </a:r>
          </a:p>
          <a:p>
            <a:pPr algn="l">
              <a:spcAft>
                <a:spcPts val="300"/>
              </a:spcAft>
            </a:pPr>
            <a:r>
              <a:rPr sz="1300" b="0">
                <a:solidFill>
                  <a:srgbClr val="5B6372"/>
                </a:solidFill>
                <a:latin typeface="Arial"/>
              </a:rPr>
              <a:t>Competent in BOTH is required to be awarded the module.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All your own work</a:t>
            </a:r>
          </a:p>
          <a:p>
            <a:pPr algn="l">
              <a:spcAft>
                <a:spcPts val="300"/>
              </a:spcAft>
            </a:pPr>
            <a:r>
              <a:rPr sz="1300" b="0">
                <a:solidFill>
                  <a:srgbClr val="5B6372"/>
                </a:solidFill>
                <a:latin typeface="Arial"/>
              </a:rPr>
              <a:t>Collaboration results in a Not Yet Competent outcome.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Ask if unclear</a:t>
            </a:r>
          </a:p>
          <a:p>
            <a:pPr algn="l">
              <a:spcAft>
                <a:spcPts val="300"/>
              </a:spcAft>
            </a:pPr>
            <a:r>
              <a:rPr sz="1300" b="0">
                <a:solidFill>
                  <a:srgbClr val="5B6372"/>
                </a:solidFill>
                <a:latin typeface="Arial"/>
              </a:rPr>
              <a:t>The assessor can explain a question, but not how to answer it.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Not Yet Competent?</a:t>
            </a:r>
          </a:p>
          <a:p>
            <a:pPr algn="l">
              <a:spcAft>
                <a:spcPts val="300"/>
              </a:spcAft>
            </a:pPr>
            <a:r>
              <a:rPr sz="1300" b="0">
                <a:solidFill>
                  <a:srgbClr val="5B6372"/>
                </a:solidFill>
                <a:latin typeface="Arial"/>
              </a:rPr>
              <a:t>You will be counselled on the gaps and offered a re-assessment.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FINAL ASSESSMENT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Final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965960"/>
            <a:ext cx="5180076" cy="3566160"/>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965960"/>
            <a:ext cx="5180076"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6696" y="2331720"/>
            <a:ext cx="4741164" cy="548640"/>
          </a:xfrm>
          <a:prstGeom prst="rect">
            <a:avLst/>
          </a:prstGeom>
          <a:noFill/>
        </p:spPr>
        <p:txBody>
          <a:bodyPr wrap="square" anchor="t">
            <a:spAutoFit/>
          </a:bodyPr>
          <a:lstStyle/>
          <a:p>
            <a:pPr algn="l">
              <a:spcAft>
                <a:spcPts val="400"/>
              </a:spcAft>
            </a:pPr>
            <a:r>
              <a:rPr sz="1600" b="1">
                <a:solidFill>
                  <a:srgbClr val="1F6FEB"/>
                </a:solidFill>
                <a:latin typeface="Arial"/>
              </a:rPr>
              <a:t>Written Assessment</a:t>
            </a:r>
          </a:p>
        </p:txBody>
      </p:sp>
      <p:sp>
        <p:nvSpPr>
          <p:cNvPr id="10" name="TextBox 9"/>
          <p:cNvSpPr txBox="1"/>
          <p:nvPr/>
        </p:nvSpPr>
        <p:spPr>
          <a:xfrm>
            <a:off x="996696" y="2926080"/>
            <a:ext cx="4741164" cy="2377440"/>
          </a:xfrm>
          <a:prstGeom prst="rect">
            <a:avLst/>
          </a:prstGeom>
          <a:noFill/>
        </p:spPr>
        <p:txBody>
          <a:bodyPr wrap="square" anchor="t">
            <a:spAutoFit/>
          </a:bodyPr>
          <a:lstStyle/>
          <a:p>
            <a:pPr algn="l">
              <a:spcAft>
                <a:spcPts val="400"/>
              </a:spcAft>
            </a:pPr>
            <a:r>
              <a:rPr sz="1200" b="0">
                <a:solidFill>
                  <a:srgbClr val="161B26"/>
                </a:solidFill>
                <a:latin typeface="Arial"/>
              </a:rPr>
              <a:t>Short Answer Questions · 45 minutes · open book.
9 open-ended questions — one for each knowledge statement K1 - K9.
No multiple-choice questions.</a:t>
            </a:r>
          </a:p>
        </p:txBody>
      </p:sp>
      <p:sp>
        <p:nvSpPr>
          <p:cNvPr id="11" name="Rectangle 10"/>
          <p:cNvSpPr/>
          <p:nvPr/>
        </p:nvSpPr>
        <p:spPr>
          <a:xfrm>
            <a:off x="6231636" y="1965960"/>
            <a:ext cx="5180076" cy="356616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965960"/>
            <a:ext cx="5180076"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51092" y="2331720"/>
            <a:ext cx="4741164" cy="548640"/>
          </a:xfrm>
          <a:prstGeom prst="rect">
            <a:avLst/>
          </a:prstGeom>
          <a:noFill/>
        </p:spPr>
        <p:txBody>
          <a:bodyPr wrap="square" anchor="t">
            <a:spAutoFit/>
          </a:bodyPr>
          <a:lstStyle/>
          <a:p>
            <a:pPr algn="l">
              <a:spcAft>
                <a:spcPts val="400"/>
              </a:spcAft>
            </a:pPr>
            <a:r>
              <a:rPr sz="1600" b="1">
                <a:solidFill>
                  <a:srgbClr val="10B981"/>
                </a:solidFill>
                <a:latin typeface="Arial"/>
              </a:rPr>
              <a:t>Practical Performance</a:t>
            </a:r>
          </a:p>
        </p:txBody>
      </p:sp>
      <p:sp>
        <p:nvSpPr>
          <p:cNvPr id="14" name="TextBox 13"/>
          <p:cNvSpPr txBox="1"/>
          <p:nvPr/>
        </p:nvSpPr>
        <p:spPr>
          <a:xfrm>
            <a:off x="6451092" y="2926080"/>
            <a:ext cx="4741164" cy="2377440"/>
          </a:xfrm>
          <a:prstGeom prst="rect">
            <a:avLst/>
          </a:prstGeom>
          <a:noFill/>
        </p:spPr>
        <p:txBody>
          <a:bodyPr wrap="square" anchor="t">
            <a:spAutoFit/>
          </a:bodyPr>
          <a:lstStyle/>
          <a:p>
            <a:pPr algn="l">
              <a:spcAft>
                <a:spcPts val="400"/>
              </a:spcAft>
            </a:pPr>
            <a:r>
              <a:rPr sz="1200" b="0">
                <a:solidFill>
                  <a:srgbClr val="161B26"/>
                </a:solidFill>
                <a:latin typeface="Arial"/>
              </a:rPr>
              <a:t>Python + Alpaca paper trading · 75 minutes · open book.
4 practical tasks covering ability statements A1 - A10.
A new trading scenario, using the same pipeline tool-kit as the labs.</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ON ASSESSMENT DAY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4343"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4343"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1" name="TextBox 10"/>
          <p:cNvSpPr txBox="1"/>
          <p:nvPr/>
        </p:nvSpPr>
        <p:spPr>
          <a:xfrm>
            <a:off x="905256"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Sign the assessment attendance record</a:t>
            </a:r>
          </a:p>
        </p:txBody>
      </p:sp>
      <p:sp>
        <p:nvSpPr>
          <p:cNvPr id="12" name="TextBox 11"/>
          <p:cNvSpPr txBox="1"/>
          <p:nvPr/>
        </p:nvSpPr>
        <p:spPr>
          <a:xfrm>
            <a:off x="2666390"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13" name="Rectangle 12"/>
          <p:cNvSpPr/>
          <p:nvPr/>
        </p:nvSpPr>
        <p:spPr>
          <a:xfrm>
            <a:off x="2958998"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58998"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56101"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6101"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17" name="TextBox 16"/>
          <p:cNvSpPr txBox="1"/>
          <p:nvPr/>
        </p:nvSpPr>
        <p:spPr>
          <a:xfrm>
            <a:off x="3087014"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Assessor briefing (not assessed)</a:t>
            </a:r>
          </a:p>
        </p:txBody>
      </p:sp>
      <p:sp>
        <p:nvSpPr>
          <p:cNvPr id="18" name="TextBox 17"/>
          <p:cNvSpPr txBox="1"/>
          <p:nvPr/>
        </p:nvSpPr>
        <p:spPr>
          <a:xfrm>
            <a:off x="4848148"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19" name="Rectangle 18"/>
          <p:cNvSpPr/>
          <p:nvPr/>
        </p:nvSpPr>
        <p:spPr>
          <a:xfrm>
            <a:off x="5140756"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0756"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37859"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37859"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3" name="TextBox 22"/>
          <p:cNvSpPr txBox="1"/>
          <p:nvPr/>
        </p:nvSpPr>
        <p:spPr>
          <a:xfrm>
            <a:off x="5268772"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Sit the WA (45 min) then the PP (75 min) — open book</a:t>
            </a:r>
          </a:p>
        </p:txBody>
      </p:sp>
      <p:sp>
        <p:nvSpPr>
          <p:cNvPr id="24" name="TextBox 23"/>
          <p:cNvSpPr txBox="1"/>
          <p:nvPr/>
        </p:nvSpPr>
        <p:spPr>
          <a:xfrm>
            <a:off x="7029906"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25" name="Rectangle 24"/>
          <p:cNvSpPr/>
          <p:nvPr/>
        </p:nvSpPr>
        <p:spPr>
          <a:xfrm>
            <a:off x="7322514"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22514"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19617"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19617"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29" name="TextBox 28"/>
          <p:cNvSpPr txBox="1"/>
          <p:nvPr/>
        </p:nvSpPr>
        <p:spPr>
          <a:xfrm>
            <a:off x="7450530"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Submit your answers on the LMS</a:t>
            </a:r>
          </a:p>
        </p:txBody>
      </p:sp>
      <p:sp>
        <p:nvSpPr>
          <p:cNvPr id="30" name="TextBox 29"/>
          <p:cNvSpPr txBox="1"/>
          <p:nvPr/>
        </p:nvSpPr>
        <p:spPr>
          <a:xfrm>
            <a:off x="9211664"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31" name="Rectangle 30"/>
          <p:cNvSpPr/>
          <p:nvPr/>
        </p:nvSpPr>
        <p:spPr>
          <a:xfrm>
            <a:off x="9504272"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04272"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101375"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101375"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5" name="TextBox 34"/>
          <p:cNvSpPr txBox="1"/>
          <p:nvPr/>
        </p:nvSpPr>
        <p:spPr>
          <a:xfrm>
            <a:off x="9632288"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Sign the Assessment Summary Record</a:t>
            </a:r>
          </a:p>
        </p:txBody>
      </p:sp>
      <p:sp>
        <p:nvSpPr>
          <p:cNvPr id="36" name="Rectangle 35"/>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 y="5257800"/>
            <a:ext cx="91440" cy="8229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Both components are open book. You must be Competent in BOTH to be awarded the module.</a:t>
            </a:r>
          </a:p>
        </p:txBody>
      </p:sp>
      <p:sp>
        <p:nvSpPr>
          <p:cNvPr id="39" name="TextBox 3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0" name="TextBox 3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1" name="TextBox 4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84048"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1874519"/>
            <a:ext cx="8778240" cy="457200"/>
          </a:xfrm>
          <a:prstGeom prst="rect">
            <a:avLst/>
          </a:prstGeom>
          <a:noFill/>
        </p:spPr>
        <p:txBody>
          <a:bodyPr wrap="square" anchor="t">
            <a:spAutoFit/>
          </a:bodyPr>
          <a:lstStyle/>
          <a:p>
            <a:pPr algn="l">
              <a:spcAft>
                <a:spcPts val="400"/>
              </a:spcAft>
            </a:pPr>
            <a:r>
              <a:rPr sz="1600" b="1">
                <a:solidFill>
                  <a:srgbClr val="1F6FEB"/>
                </a:solidFill>
                <a:latin typeface="Arial"/>
              </a:rPr>
              <a:t>GETTING STARTED</a:t>
            </a:r>
          </a:p>
        </p:txBody>
      </p:sp>
      <p:sp>
        <p:nvSpPr>
          <p:cNvPr id="5" name="TextBox 4"/>
          <p:cNvSpPr txBox="1"/>
          <p:nvPr/>
        </p:nvSpPr>
        <p:spPr>
          <a:xfrm>
            <a:off x="1188720" y="2331720"/>
            <a:ext cx="9509760" cy="914400"/>
          </a:xfrm>
          <a:prstGeom prst="rect">
            <a:avLst/>
          </a:prstGeom>
          <a:noFill/>
        </p:spPr>
        <p:txBody>
          <a:bodyPr wrap="square" anchor="t">
            <a:spAutoFit/>
          </a:bodyPr>
          <a:lstStyle/>
          <a:p>
            <a:pPr algn="l">
              <a:spcAft>
                <a:spcPts val="400"/>
              </a:spcAft>
            </a:pPr>
            <a:r>
              <a:rPr sz="4000" b="1">
                <a:solidFill>
                  <a:srgbClr val="161B26"/>
                </a:solidFill>
                <a:latin typeface="Arial"/>
              </a:rPr>
              <a:t>Set Up Alpaca and TradingView</a:t>
            </a:r>
          </a:p>
        </p:txBody>
      </p:sp>
      <p:sp>
        <p:nvSpPr>
          <p:cNvPr id="6" name="Rectangle 5"/>
          <p:cNvSpPr/>
          <p:nvPr/>
        </p:nvSpPr>
        <p:spPr>
          <a:xfrm>
            <a:off x="1188720" y="3429000"/>
            <a:ext cx="9509760"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88720" y="3429000"/>
            <a:ext cx="82296" cy="1234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81328" y="3429000"/>
            <a:ext cx="9052560" cy="1234440"/>
          </a:xfrm>
          <a:prstGeom prst="rect">
            <a:avLst/>
          </a:prstGeom>
          <a:noFill/>
        </p:spPr>
        <p:txBody>
          <a:bodyPr wrap="square" anchor="ctr">
            <a:spAutoFit/>
          </a:bodyPr>
          <a:lstStyle/>
          <a:p>
            <a:pPr algn="l">
              <a:spcAft>
                <a:spcPts val="400"/>
              </a:spcAft>
            </a:pPr>
            <a:r>
              <a:rPr sz="1050" b="1">
                <a:solidFill>
                  <a:srgbClr val="1F6FEB"/>
                </a:solidFill>
                <a:latin typeface="Arial"/>
              </a:rPr>
              <a:t>LEARNING OUTCOME</a:t>
            </a:r>
          </a:p>
          <a:p>
            <a:pPr algn="l">
              <a:spcAft>
                <a:spcPts val="400"/>
              </a:spcAft>
            </a:pPr>
            <a:r>
              <a:rPr sz="1350" b="0">
                <a:solidFill>
                  <a:srgbClr val="161B26"/>
                </a:solidFill>
                <a:latin typeface="Arial"/>
              </a:rPr>
              <a:t>Create the free accounts and the Python environment every lab uses. Everything runs on paper — no real money at any point.</a:t>
            </a:r>
          </a:p>
        </p:txBody>
      </p:sp>
      <p:sp>
        <p:nvSpPr>
          <p:cNvPr id="9" name="TextBox 8"/>
          <p:cNvSpPr txBox="1"/>
          <p:nvPr/>
        </p:nvSpPr>
        <p:spPr>
          <a:xfrm>
            <a:off x="9692640" y="914400"/>
            <a:ext cx="2011680" cy="2011680"/>
          </a:xfrm>
          <a:prstGeom prst="rect">
            <a:avLst/>
          </a:prstGeom>
          <a:noFill/>
        </p:spPr>
        <p:txBody>
          <a:bodyPr wrap="square" anchor="t">
            <a:spAutoFit/>
          </a:bodyPr>
          <a:lstStyle/>
          <a:p>
            <a:pPr algn="r">
              <a:spcAft>
                <a:spcPts val="400"/>
              </a:spcAft>
            </a:pPr>
            <a:r>
              <a:rPr sz="9600" b="1">
                <a:solidFill>
                  <a:srgbClr val="F5F8FC"/>
                </a:solidFill>
                <a:latin typeface="Arial"/>
              </a:rPr>
              <a:t>01</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GETTING STARTED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Download, Install and Start the Trading Simulator Software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Full step-by-step guide: Learner Guide, 'Platform Guides'.</a:t>
            </a:r>
          </a:p>
        </p:txBody>
      </p:sp>
      <p:sp>
        <p:nvSpPr>
          <p:cNvPr id="8" name="Rectangle 7"/>
          <p:cNvSpPr/>
          <p:nvPr/>
        </p:nvSpPr>
        <p:spPr>
          <a:xfrm>
            <a:off x="777240"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92530"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92530"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2" name="TextBox 11"/>
          <p:cNvSpPr txBox="1"/>
          <p:nvPr/>
        </p:nvSpPr>
        <p:spPr>
          <a:xfrm>
            <a:off x="905256"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Install Git, Python 3.11+ and uv (or Docker)</a:t>
            </a:r>
          </a:p>
        </p:txBody>
      </p:sp>
      <p:sp>
        <p:nvSpPr>
          <p:cNvPr id="13" name="TextBox 12"/>
          <p:cNvSpPr txBox="1"/>
          <p:nvPr/>
        </p:nvSpPr>
        <p:spPr>
          <a:xfrm>
            <a:off x="2302764"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14" name="Rectangle 13"/>
          <p:cNvSpPr/>
          <p:nvPr/>
        </p:nvSpPr>
        <p:spPr>
          <a:xfrm>
            <a:off x="2595372"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95372"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010662"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10662"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18" name="TextBox 17"/>
          <p:cNvSpPr txBox="1"/>
          <p:nvPr/>
        </p:nvSpPr>
        <p:spPr>
          <a:xfrm>
            <a:off x="2723388"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git clone the simulator - or Download ZIP</a:t>
            </a:r>
          </a:p>
        </p:txBody>
      </p:sp>
      <p:sp>
        <p:nvSpPr>
          <p:cNvPr id="19" name="TextBox 18"/>
          <p:cNvSpPr txBox="1"/>
          <p:nvPr/>
        </p:nvSpPr>
        <p:spPr>
          <a:xfrm>
            <a:off x="4120896"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20" name="Rectangle 19"/>
          <p:cNvSpPr/>
          <p:nvPr/>
        </p:nvSpPr>
        <p:spPr>
          <a:xfrm>
            <a:off x="4413504"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13504"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828794"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28794"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4" name="TextBox 23"/>
          <p:cNvSpPr txBox="1"/>
          <p:nvPr/>
        </p:nvSpPr>
        <p:spPr>
          <a:xfrm>
            <a:off x="4541520"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Copy .env.example to .env</a:t>
            </a:r>
          </a:p>
        </p:txBody>
      </p:sp>
      <p:sp>
        <p:nvSpPr>
          <p:cNvPr id="25" name="TextBox 24"/>
          <p:cNvSpPr txBox="1"/>
          <p:nvPr/>
        </p:nvSpPr>
        <p:spPr>
          <a:xfrm>
            <a:off x="5939028"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26" name="Rectangle 25"/>
          <p:cNvSpPr/>
          <p:nvPr/>
        </p:nvSpPr>
        <p:spPr>
          <a:xfrm>
            <a:off x="6231636"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31636"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646926"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46926"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0" name="TextBox 29"/>
          <p:cNvSpPr txBox="1"/>
          <p:nvPr/>
        </p:nvSpPr>
        <p:spPr>
          <a:xfrm>
            <a:off x="6359652"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uv sync &gt; uv run trader seed &gt; uv run trader serve --with-worker</a:t>
            </a:r>
          </a:p>
        </p:txBody>
      </p:sp>
      <p:sp>
        <p:nvSpPr>
          <p:cNvPr id="31" name="TextBox 30"/>
          <p:cNvSpPr txBox="1"/>
          <p:nvPr/>
        </p:nvSpPr>
        <p:spPr>
          <a:xfrm>
            <a:off x="7757160"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32" name="Rectangle 31"/>
          <p:cNvSpPr/>
          <p:nvPr/>
        </p:nvSpPr>
        <p:spPr>
          <a:xfrm>
            <a:off x="8049768"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49768"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465058"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465058"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6" name="TextBox 35"/>
          <p:cNvSpPr txBox="1"/>
          <p:nvPr/>
        </p:nvSpPr>
        <p:spPr>
          <a:xfrm>
            <a:off x="8177784"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Or: docker compose up -d --build &gt; docker compose exec backend trader seed</a:t>
            </a:r>
          </a:p>
        </p:txBody>
      </p:sp>
      <p:sp>
        <p:nvSpPr>
          <p:cNvPr id="37" name="TextBox 36"/>
          <p:cNvSpPr txBox="1"/>
          <p:nvPr/>
        </p:nvSpPr>
        <p:spPr>
          <a:xfrm>
            <a:off x="9575292"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38" name="Rectangle 37"/>
          <p:cNvSpPr/>
          <p:nvPr/>
        </p:nvSpPr>
        <p:spPr>
          <a:xfrm>
            <a:off x="9867900"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867900"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283190"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283190"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6</a:t>
            </a:r>
          </a:p>
        </p:txBody>
      </p:sp>
      <p:sp>
        <p:nvSpPr>
          <p:cNvPr id="42" name="TextBox 41"/>
          <p:cNvSpPr txBox="1"/>
          <p:nvPr/>
        </p:nvSpPr>
        <p:spPr>
          <a:xfrm>
            <a:off x="9995916"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Open http://localhost:8000 &gt; Course Labs</a:t>
            </a:r>
          </a:p>
        </p:txBody>
      </p:sp>
      <p:sp>
        <p:nvSpPr>
          <p:cNvPr id="43" name="Rectangle 42"/>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257800"/>
            <a:ext cx="91440" cy="8229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Simulator: github.com/alfredang/algorithmic-trader-bot - the README has the full start-up steps and troubleshooting.</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GETTING STARTED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Sign Up for Alpaca and Open the Paper-Trading Account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Full step-by-step guide: Learner Guide, 'Platform Guides'.</a:t>
            </a:r>
          </a:p>
        </p:txBody>
      </p:sp>
      <p:sp>
        <p:nvSpPr>
          <p:cNvPr id="8" name="Rectangle 7"/>
          <p:cNvSpPr/>
          <p:nvPr/>
        </p:nvSpPr>
        <p:spPr>
          <a:xfrm>
            <a:off x="777240"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374343"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74343"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2" name="TextBox 11"/>
          <p:cNvSpPr txBox="1"/>
          <p:nvPr/>
        </p:nvSpPr>
        <p:spPr>
          <a:xfrm>
            <a:off x="905256"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Sign up at alpaca.markets and verify your email</a:t>
            </a:r>
          </a:p>
        </p:txBody>
      </p:sp>
      <p:sp>
        <p:nvSpPr>
          <p:cNvPr id="13" name="TextBox 12"/>
          <p:cNvSpPr txBox="1"/>
          <p:nvPr/>
        </p:nvSpPr>
        <p:spPr>
          <a:xfrm>
            <a:off x="2666390"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14" name="Rectangle 13"/>
          <p:cNvSpPr/>
          <p:nvPr/>
        </p:nvSpPr>
        <p:spPr>
          <a:xfrm>
            <a:off x="2958998"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8998"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56101"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56101"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18" name="TextBox 17"/>
          <p:cNvSpPr txBox="1"/>
          <p:nvPr/>
        </p:nvSpPr>
        <p:spPr>
          <a:xfrm>
            <a:off x="3087014"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Log in; choose 'Paper Trading' (upper left)</a:t>
            </a:r>
          </a:p>
        </p:txBody>
      </p:sp>
      <p:sp>
        <p:nvSpPr>
          <p:cNvPr id="19" name="TextBox 18"/>
          <p:cNvSpPr txBox="1"/>
          <p:nvPr/>
        </p:nvSpPr>
        <p:spPr>
          <a:xfrm>
            <a:off x="4848148"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20" name="Rectangle 19"/>
          <p:cNvSpPr/>
          <p:nvPr/>
        </p:nvSpPr>
        <p:spPr>
          <a:xfrm>
            <a:off x="5140756"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40756"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737859"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737859"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4" name="TextBox 23"/>
          <p:cNvSpPr txBox="1"/>
          <p:nvPr/>
        </p:nvSpPr>
        <p:spPr>
          <a:xfrm>
            <a:off x="5268772"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API section: generate key - copy the secret once</a:t>
            </a:r>
          </a:p>
        </p:txBody>
      </p:sp>
      <p:sp>
        <p:nvSpPr>
          <p:cNvPr id="25" name="TextBox 24"/>
          <p:cNvSpPr txBox="1"/>
          <p:nvPr/>
        </p:nvSpPr>
        <p:spPr>
          <a:xfrm>
            <a:off x="7029906"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26" name="Rectangle 25"/>
          <p:cNvSpPr/>
          <p:nvPr/>
        </p:nvSpPr>
        <p:spPr>
          <a:xfrm>
            <a:off x="7322514"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22514"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919617"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919617"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0" name="TextBox 29"/>
          <p:cNvSpPr txBox="1"/>
          <p:nvPr/>
        </p:nvSpPr>
        <p:spPr>
          <a:xfrm>
            <a:off x="7450530"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Paste keys into labs/.env</a:t>
            </a:r>
          </a:p>
        </p:txBody>
      </p:sp>
      <p:sp>
        <p:nvSpPr>
          <p:cNvPr id="31" name="TextBox 30"/>
          <p:cNvSpPr txBox="1"/>
          <p:nvPr/>
        </p:nvSpPr>
        <p:spPr>
          <a:xfrm>
            <a:off x="9211664"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32" name="Rectangle 31"/>
          <p:cNvSpPr/>
          <p:nvPr/>
        </p:nvSpPr>
        <p:spPr>
          <a:xfrm>
            <a:off x="9504272"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504272"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101375"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101375"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6" name="TextBox 35"/>
          <p:cNvSpPr txBox="1"/>
          <p:nvPr/>
        </p:nvSpPr>
        <p:spPr>
          <a:xfrm>
            <a:off x="9632288"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Run python -m pipeline check - must say ONLINE</a:t>
            </a:r>
          </a:p>
        </p:txBody>
      </p:sp>
      <p:sp>
        <p:nvSpPr>
          <p:cNvPr id="37" name="Rectangle 36"/>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57800"/>
            <a:ext cx="91440" cy="8229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No funding needed. Paper keys only work on paper-api.alpaca.markets. No account? Every lab also runs offline.</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GETTING STARTED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Sign Up for TradingView and Find the Tools You Will Use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Full step-by-step guide: Learner Guide, 'Platform Guides'.</a:t>
            </a:r>
          </a:p>
        </p:txBody>
      </p:sp>
      <p:sp>
        <p:nvSpPr>
          <p:cNvPr id="8" name="Rectangle 7"/>
          <p:cNvSpPr/>
          <p:nvPr/>
        </p:nvSpPr>
        <p:spPr>
          <a:xfrm>
            <a:off x="777240"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374343"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74343"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2" name="TextBox 11"/>
          <p:cNvSpPr txBox="1"/>
          <p:nvPr/>
        </p:nvSpPr>
        <p:spPr>
          <a:xfrm>
            <a:off x="905256"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Sign up at tradingview.com (email, Google or Apple)</a:t>
            </a:r>
          </a:p>
        </p:txBody>
      </p:sp>
      <p:sp>
        <p:nvSpPr>
          <p:cNvPr id="13" name="TextBox 12"/>
          <p:cNvSpPr txBox="1"/>
          <p:nvPr/>
        </p:nvSpPr>
        <p:spPr>
          <a:xfrm>
            <a:off x="2666390"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14" name="Rectangle 13"/>
          <p:cNvSpPr/>
          <p:nvPr/>
        </p:nvSpPr>
        <p:spPr>
          <a:xfrm>
            <a:off x="2958998"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8998"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56101"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56101"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18" name="TextBox 17"/>
          <p:cNvSpPr txBox="1"/>
          <p:nvPr/>
        </p:nvSpPr>
        <p:spPr>
          <a:xfrm>
            <a:off x="3087014"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Keep the free plan</a:t>
            </a:r>
          </a:p>
        </p:txBody>
      </p:sp>
      <p:sp>
        <p:nvSpPr>
          <p:cNvPr id="19" name="TextBox 18"/>
          <p:cNvSpPr txBox="1"/>
          <p:nvPr/>
        </p:nvSpPr>
        <p:spPr>
          <a:xfrm>
            <a:off x="4848148"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20" name="Rectangle 19"/>
          <p:cNvSpPr/>
          <p:nvPr/>
        </p:nvSpPr>
        <p:spPr>
          <a:xfrm>
            <a:off x="5140756"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40756"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737859"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737859"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4" name="TextBox 23"/>
          <p:cNvSpPr txBox="1"/>
          <p:nvPr/>
        </p:nvSpPr>
        <p:spPr>
          <a:xfrm>
            <a:off x="5268772"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Products &gt; Supercharts; search NASDAQ:AAPL or SGX:D05</a:t>
            </a:r>
          </a:p>
        </p:txBody>
      </p:sp>
      <p:sp>
        <p:nvSpPr>
          <p:cNvPr id="25" name="TextBox 24"/>
          <p:cNvSpPr txBox="1"/>
          <p:nvPr/>
        </p:nvSpPr>
        <p:spPr>
          <a:xfrm>
            <a:off x="7029906"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26" name="Rectangle 25"/>
          <p:cNvSpPr/>
          <p:nvPr/>
        </p:nvSpPr>
        <p:spPr>
          <a:xfrm>
            <a:off x="7322514"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22514"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919617"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919617"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0" name="TextBox 29"/>
          <p:cNvSpPr txBox="1"/>
          <p:nvPr/>
        </p:nvSpPr>
        <p:spPr>
          <a:xfrm>
            <a:off x="7450530"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Set time zone to Singapore</a:t>
            </a:r>
          </a:p>
        </p:txBody>
      </p:sp>
      <p:sp>
        <p:nvSpPr>
          <p:cNvPr id="31" name="TextBox 30"/>
          <p:cNvSpPr txBox="1"/>
          <p:nvPr/>
        </p:nvSpPr>
        <p:spPr>
          <a:xfrm>
            <a:off x="9211664"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32" name="Rectangle 31"/>
          <p:cNvSpPr/>
          <p:nvPr/>
        </p:nvSpPr>
        <p:spPr>
          <a:xfrm>
            <a:off x="9504272"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504272"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101375"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101375"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6" name="TextBox 35"/>
          <p:cNvSpPr txBox="1"/>
          <p:nvPr/>
        </p:nvSpPr>
        <p:spPr>
          <a:xfrm>
            <a:off x="9632288"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Find Indicators, Pine Editor, Strategy Tester, Trade</a:t>
            </a:r>
          </a:p>
        </p:txBody>
      </p:sp>
      <p:sp>
        <p:nvSpPr>
          <p:cNvPr id="37" name="Rectangle 36"/>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57800"/>
            <a:ext cx="91440" cy="8229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The free plan covers Labs 2, 5 and 6. Webhook alerts in Lab 17 need a paid plan - the lab includes a local simulator.</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84048"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1920240"/>
            <a:ext cx="9692640" cy="365760"/>
          </a:xfrm>
          <a:prstGeom prst="rect">
            <a:avLst/>
          </a:prstGeom>
          <a:noFill/>
        </p:spPr>
        <p:txBody>
          <a:bodyPr wrap="square" anchor="t">
            <a:spAutoFit/>
          </a:bodyPr>
          <a:lstStyle/>
          <a:p>
            <a:pPr algn="l">
              <a:spcAft>
                <a:spcPts val="400"/>
              </a:spcAft>
            </a:pPr>
            <a:r>
              <a:rPr sz="1400" b="1">
                <a:solidFill>
                  <a:srgbClr val="10B981"/>
                </a:solidFill>
                <a:latin typeface="Arial"/>
              </a:rPr>
              <a:t>PLATFORM · THE IDEA THAT MATTERS MOST</a:t>
            </a:r>
          </a:p>
        </p:txBody>
      </p:sp>
      <p:sp>
        <p:nvSpPr>
          <p:cNvPr id="5" name="TextBox 4"/>
          <p:cNvSpPr txBox="1"/>
          <p:nvPr/>
        </p:nvSpPr>
        <p:spPr>
          <a:xfrm>
            <a:off x="1188720" y="2377440"/>
            <a:ext cx="9692640" cy="1645920"/>
          </a:xfrm>
          <a:prstGeom prst="rect">
            <a:avLst/>
          </a:prstGeom>
          <a:noFill/>
        </p:spPr>
        <p:txBody>
          <a:bodyPr wrap="square" anchor="t">
            <a:spAutoFit/>
          </a:bodyPr>
          <a:lstStyle/>
          <a:p>
            <a:pPr algn="l">
              <a:spcAft>
                <a:spcPts val="400"/>
              </a:spcAft>
            </a:pPr>
            <a:r>
              <a:rPr sz="3400" b="1">
                <a:solidFill>
                  <a:srgbClr val="161B26"/>
                </a:solidFill>
                <a:latin typeface="Arial"/>
              </a:rPr>
              <a:t>Paper first. Always.</a:t>
            </a:r>
          </a:p>
        </p:txBody>
      </p:sp>
      <p:sp>
        <p:nvSpPr>
          <p:cNvPr id="6" name="TextBox 5"/>
          <p:cNvSpPr txBox="1"/>
          <p:nvPr/>
        </p:nvSpPr>
        <p:spPr>
          <a:xfrm>
            <a:off x="1188720" y="4206240"/>
            <a:ext cx="9692640" cy="1097280"/>
          </a:xfrm>
          <a:prstGeom prst="rect">
            <a:avLst/>
          </a:prstGeom>
          <a:noFill/>
        </p:spPr>
        <p:txBody>
          <a:bodyPr wrap="square" anchor="t">
            <a:spAutoFit/>
          </a:bodyPr>
          <a:lstStyle/>
          <a:p>
            <a:pPr algn="l">
              <a:spcAft>
                <a:spcPts val="400"/>
              </a:spcAft>
            </a:pPr>
            <a:r>
              <a:rPr sz="1600" b="0">
                <a:solidFill>
                  <a:srgbClr val="5B6372"/>
                </a:solidFill>
                <a:latin typeface="Arial"/>
              </a:rPr>
              <a:t>Every strategy in this course is tested on history, then forward-tested on a paper account with automatic orders, before anyone would consider real capital. That discipline is the course.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84048"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1874519"/>
            <a:ext cx="8778240" cy="457200"/>
          </a:xfrm>
          <a:prstGeom prst="rect">
            <a:avLst/>
          </a:prstGeom>
          <a:noFill/>
        </p:spPr>
        <p:txBody>
          <a:bodyPr wrap="square" anchor="t">
            <a:spAutoFit/>
          </a:bodyPr>
          <a:lstStyle/>
          <a:p>
            <a:pPr algn="l">
              <a:spcAft>
                <a:spcPts val="400"/>
              </a:spcAft>
            </a:pPr>
            <a:r>
              <a:rPr sz="1600" b="1">
                <a:solidFill>
                  <a:srgbClr val="1F6FEB"/>
                </a:solidFill>
                <a:latin typeface="Arial"/>
              </a:rPr>
              <a:t>TOPIC 1</a:t>
            </a:r>
          </a:p>
        </p:txBody>
      </p:sp>
      <p:sp>
        <p:nvSpPr>
          <p:cNvPr id="5" name="TextBox 4"/>
          <p:cNvSpPr txBox="1"/>
          <p:nvPr/>
        </p:nvSpPr>
        <p:spPr>
          <a:xfrm>
            <a:off x="1188720" y="2331720"/>
            <a:ext cx="9509760" cy="914400"/>
          </a:xfrm>
          <a:prstGeom prst="rect">
            <a:avLst/>
          </a:prstGeom>
          <a:noFill/>
        </p:spPr>
        <p:txBody>
          <a:bodyPr wrap="square" anchor="t">
            <a:spAutoFit/>
          </a:bodyPr>
          <a:lstStyle/>
          <a:p>
            <a:pPr algn="l">
              <a:spcAft>
                <a:spcPts val="400"/>
              </a:spcAft>
            </a:pPr>
            <a:r>
              <a:rPr sz="4000" b="1">
                <a:solidFill>
                  <a:srgbClr val="161B26"/>
                </a:solidFill>
                <a:latin typeface="Arial"/>
              </a:rPr>
              <a:t>Quant and Algo Trading Foundations</a:t>
            </a:r>
          </a:p>
        </p:txBody>
      </p:sp>
      <p:sp>
        <p:nvSpPr>
          <p:cNvPr id="6" name="Rectangle 5"/>
          <p:cNvSpPr/>
          <p:nvPr/>
        </p:nvSpPr>
        <p:spPr>
          <a:xfrm>
            <a:off x="1188720" y="3429000"/>
            <a:ext cx="9509760"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88720" y="3429000"/>
            <a:ext cx="82296" cy="1234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81328" y="3429000"/>
            <a:ext cx="9052560" cy="1234440"/>
          </a:xfrm>
          <a:prstGeom prst="rect">
            <a:avLst/>
          </a:prstGeom>
          <a:noFill/>
        </p:spPr>
        <p:txBody>
          <a:bodyPr wrap="square" anchor="ctr">
            <a:spAutoFit/>
          </a:bodyPr>
          <a:lstStyle/>
          <a:p>
            <a:pPr algn="l">
              <a:spcAft>
                <a:spcPts val="400"/>
              </a:spcAft>
            </a:pPr>
            <a:r>
              <a:rPr sz="1050" b="1">
                <a:solidFill>
                  <a:srgbClr val="1F6FEB"/>
                </a:solidFill>
                <a:latin typeface="Arial"/>
              </a:rPr>
              <a:t>LEARNING OUTCOME</a:t>
            </a:r>
          </a:p>
          <a:p>
            <a:pPr algn="l">
              <a:spcAft>
                <a:spcPts val="400"/>
              </a:spcAft>
            </a:pPr>
            <a:r>
              <a:rPr sz="1350" b="0">
                <a:solidFill>
                  <a:srgbClr val="161B26"/>
                </a:solidFill>
                <a:latin typeface="Arial"/>
              </a:rPr>
              <a:t>Develop hypotheses for implementing data analytics and computational modelling activities in algorithmic trading, and identify possible big data applications across the forms of data within financial services.</a:t>
            </a:r>
          </a:p>
        </p:txBody>
      </p:sp>
      <p:sp>
        <p:nvSpPr>
          <p:cNvPr id="9" name="TextBox 8"/>
          <p:cNvSpPr txBox="1"/>
          <p:nvPr/>
        </p:nvSpPr>
        <p:spPr>
          <a:xfrm>
            <a:off x="1188720" y="4892040"/>
            <a:ext cx="9509760" cy="457200"/>
          </a:xfrm>
          <a:prstGeom prst="rect">
            <a:avLst/>
          </a:prstGeom>
          <a:noFill/>
        </p:spPr>
        <p:txBody>
          <a:bodyPr wrap="square" anchor="t">
            <a:spAutoFit/>
          </a:bodyPr>
          <a:lstStyle/>
          <a:p>
            <a:pPr algn="l">
              <a:spcAft>
                <a:spcPts val="400"/>
              </a:spcAft>
            </a:pPr>
            <a:r>
              <a:rPr sz="1150" b="0">
                <a:solidFill>
                  <a:srgbClr val="5B6372"/>
                </a:solidFill>
                <a:latin typeface="Arial"/>
              </a:rPr>
              <a:t>Abilities A1, A6  ·  Knowledge K1, K9   ·   Day 1   ·   Labs 1–4   ·   Assessed by PP Task 1 and WA Q1, Q9</a:t>
            </a:r>
          </a:p>
        </p:txBody>
      </p:sp>
      <p:sp>
        <p:nvSpPr>
          <p:cNvPr id="10" name="TextBox 9"/>
          <p:cNvSpPr txBox="1"/>
          <p:nvPr/>
        </p:nvSpPr>
        <p:spPr>
          <a:xfrm>
            <a:off x="9692640" y="914400"/>
            <a:ext cx="2011680" cy="2011680"/>
          </a:xfrm>
          <a:prstGeom prst="rect">
            <a:avLst/>
          </a:prstGeom>
          <a:noFill/>
        </p:spPr>
        <p:txBody>
          <a:bodyPr wrap="square" anchor="t">
            <a:spAutoFit/>
          </a:bodyPr>
          <a:lstStyle/>
          <a:p>
            <a:pPr algn="r">
              <a:spcAft>
                <a:spcPts val="400"/>
              </a:spcAft>
            </a:pPr>
            <a:r>
              <a:rPr sz="9600" b="1">
                <a:solidFill>
                  <a:srgbClr val="F5F8FC"/>
                </a:solidFill>
                <a:latin typeface="Arial"/>
              </a:rPr>
              <a:t>01</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QUANT SUCCESS STORIES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Quant Success Stories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Ed Thorp - Princeton Newport  ·  1969</a:t>
            </a:r>
          </a:p>
          <a:p>
            <a:pPr algn="l">
              <a:spcAft>
                <a:spcPts val="300"/>
              </a:spcAft>
            </a:pPr>
            <a:r>
              <a:rPr sz="1000" b="0">
                <a:solidFill>
                  <a:srgbClr val="5B6372"/>
                </a:solidFill>
                <a:latin typeface="Arial"/>
              </a:rPr>
              <a:t>First market-neutral quant fund: about 20% a year after fees for two decades by hedging warrants and convertibles</a:t>
            </a:r>
          </a:p>
        </p:txBody>
      </p:sp>
      <p:sp>
        <p:nvSpPr>
          <p:cNvPr id="15" name="Rectangle 14"/>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Renaissance - Medallion  ·  1988</a:t>
            </a:r>
          </a:p>
          <a:p>
            <a:pPr algn="l">
              <a:spcAft>
                <a:spcPts val="300"/>
              </a:spcAft>
            </a:pPr>
            <a:r>
              <a:rPr sz="1000" b="0">
                <a:solidFill>
                  <a:srgbClr val="5B6372"/>
                </a:solidFill>
                <a:latin typeface="Arial"/>
              </a:rPr>
              <a:t>Purely model-driven; about 66% a year before fees, 39% after (1988-2018); closed to outsiders, employee-owned</a:t>
            </a:r>
          </a:p>
        </p:txBody>
      </p:sp>
      <p:sp>
        <p:nvSpPr>
          <p:cNvPr id="20" name="Rectangle 19"/>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3447288"/>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D.E. Shaw  ·  1988</a:t>
            </a:r>
          </a:p>
          <a:p>
            <a:pPr algn="l">
              <a:spcAft>
                <a:spcPts val="300"/>
              </a:spcAft>
            </a:pPr>
            <a:r>
              <a:rPr sz="1000" b="0">
                <a:solidFill>
                  <a:srgbClr val="5B6372"/>
                </a:solidFill>
                <a:latin typeface="Arial"/>
              </a:rPr>
              <a:t>Founded by a computer-science professor from Morgan Stanley's quant group; models and software; about US$60-65bn</a:t>
            </a:r>
          </a:p>
        </p:txBody>
      </p:sp>
      <p:sp>
        <p:nvSpPr>
          <p:cNvPr id="25" name="Rectangle 24"/>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3447288"/>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Man AHL  ·  1987</a:t>
            </a:r>
          </a:p>
          <a:p>
            <a:pPr algn="l">
              <a:spcAft>
                <a:spcPts val="300"/>
              </a:spcAft>
            </a:pPr>
            <a:r>
              <a:rPr sz="1000" b="0">
                <a:solidFill>
                  <a:srgbClr val="5B6372"/>
                </a:solidFill>
                <a:latin typeface="Arial"/>
              </a:rPr>
              <a:t>Systematic trend following from hand-typed price histories to momentum models across 800+ markets</a:t>
            </a:r>
          </a:p>
        </p:txBody>
      </p:sp>
      <p:sp>
        <p:nvSpPr>
          <p:cNvPr id="30" name="Rectangle 29"/>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4" name="TextBox 33"/>
          <p:cNvSpPr txBox="1"/>
          <p:nvPr/>
        </p:nvSpPr>
        <p:spPr>
          <a:xfrm>
            <a:off x="1764792" y="4983480"/>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Two Sigma  ·  2001</a:t>
            </a:r>
          </a:p>
          <a:p>
            <a:pPr algn="l">
              <a:spcAft>
                <a:spcPts val="300"/>
              </a:spcAft>
            </a:pPr>
            <a:r>
              <a:rPr sz="1000" b="0">
                <a:solidFill>
                  <a:srgbClr val="5B6372"/>
                </a:solidFill>
                <a:latin typeface="Arial"/>
              </a:rPr>
              <a:t>AI, machine learning and distributed computing applied to trading; about US$70bn under management</a:t>
            </a:r>
          </a:p>
        </p:txBody>
      </p:sp>
      <p:sp>
        <p:nvSpPr>
          <p:cNvPr id="35" name="Rectangle 34"/>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9" name="TextBox 38"/>
          <p:cNvSpPr txBox="1"/>
          <p:nvPr/>
        </p:nvSpPr>
        <p:spPr>
          <a:xfrm>
            <a:off x="7219188" y="4983480"/>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Jane Street  ·  2024</a:t>
            </a:r>
          </a:p>
          <a:p>
            <a:pPr algn="l">
              <a:spcAft>
                <a:spcPts val="300"/>
              </a:spcAft>
            </a:pPr>
            <a:r>
              <a:rPr sz="1000" b="0">
                <a:solidFill>
                  <a:srgbClr val="5B6372"/>
                </a:solidFill>
                <a:latin typeface="Arial"/>
              </a:rPr>
              <a:t>Quant market maker: about US$20.5bn net trading revenue; nearly a quarter of primary US ETF activity</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QUANT SUCCESS STORIES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Spotlight: Renaissance Technologies and the Medallion Fund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Founded by a mathematician</a:t>
            </a:r>
          </a:p>
          <a:p>
            <a:pPr algn="l">
              <a:spcAft>
                <a:spcPts val="300"/>
              </a:spcAft>
            </a:pPr>
            <a:r>
              <a:rPr sz="1100" b="0">
                <a:solidFill>
                  <a:srgbClr val="5B6372"/>
                </a:solidFill>
                <a:latin typeface="Arial"/>
              </a:rPr>
              <a:t>Jim Simons founds Monemetrics in 1978; renamed Renaissance Technologies in 1982</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Medallion fund, 1988</a:t>
            </a:r>
          </a:p>
          <a:p>
            <a:pPr algn="l">
              <a:spcAft>
                <a:spcPts val="300"/>
              </a:spcAft>
            </a:pPr>
            <a:r>
              <a:rPr sz="1100" b="0">
                <a:solidFill>
                  <a:srgbClr val="5B6372"/>
                </a:solidFill>
                <a:latin typeface="Arial"/>
              </a:rPr>
              <a:t>The flagship fund trades purely on mathematical models of market data</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About 66% a year before fees</a:t>
            </a:r>
          </a:p>
          <a:p>
            <a:pPr algn="l">
              <a:spcAft>
                <a:spcPts val="300"/>
              </a:spcAft>
            </a:pPr>
            <a:r>
              <a:rPr sz="1100" b="0">
                <a:solidFill>
                  <a:srgbClr val="5B6372"/>
                </a:solidFill>
                <a:latin typeface="Arial"/>
              </a:rPr>
              <a:t>Average gross return 1988-2018, about 39% after its high fees; closed to outsiders, employee-owned</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The lesson for this course</a:t>
            </a:r>
          </a:p>
          <a:p>
            <a:pPr algn="l">
              <a:spcAft>
                <a:spcPts val="300"/>
              </a:spcAft>
            </a:pPr>
            <a:r>
              <a:rPr sz="1100" b="0">
                <a:solidFill>
                  <a:srgbClr val="5B6372"/>
                </a:solidFill>
                <a:latin typeface="Arial"/>
              </a:rPr>
              <a:t>The edge came from data, rigorous testing, costs and risk control - not from one clever indicator</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QUANT SUCCESS STORIES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the Success Stories Have in Common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9427464" cy="501091"/>
          </a:xfrm>
          <a:prstGeom prst="rect">
            <a:avLst/>
          </a:prstGeom>
          <a:noFill/>
        </p:spPr>
        <p:txBody>
          <a:bodyPr wrap="square" anchor="ctr">
            <a:spAutoFit/>
          </a:bodyPr>
          <a:lstStyle/>
          <a:p>
            <a:pPr algn="l">
              <a:spcAft>
                <a:spcPts val="300"/>
              </a:spcAft>
            </a:pPr>
            <a:r>
              <a:rPr sz="1450" b="1">
                <a:solidFill>
                  <a:srgbClr val="161B26"/>
                </a:solidFill>
                <a:latin typeface="Arial"/>
              </a:rPr>
              <a:t>Hypothesis first</a:t>
            </a:r>
          </a:p>
          <a:p>
            <a:pPr algn="l">
              <a:spcAft>
                <a:spcPts val="300"/>
              </a:spcAft>
            </a:pPr>
            <a:r>
              <a:rPr sz="1050" b="0">
                <a:solidFill>
                  <a:srgbClr val="5B6372"/>
                </a:solidFill>
                <a:latin typeface="Arial"/>
              </a:rPr>
              <a:t>Each started from a testable idea about prices, not from a tool</a:t>
            </a:r>
          </a:p>
        </p:txBody>
      </p:sp>
      <p:sp>
        <p:nvSpPr>
          <p:cNvPr id="15" name="Rectangle 14"/>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1764792" y="2832811"/>
            <a:ext cx="9427464" cy="501091"/>
          </a:xfrm>
          <a:prstGeom prst="rect">
            <a:avLst/>
          </a:prstGeom>
          <a:noFill/>
        </p:spPr>
        <p:txBody>
          <a:bodyPr wrap="square" anchor="ctr">
            <a:spAutoFit/>
          </a:bodyPr>
          <a:lstStyle/>
          <a:p>
            <a:pPr algn="l">
              <a:spcAft>
                <a:spcPts val="300"/>
              </a:spcAft>
            </a:pPr>
            <a:r>
              <a:rPr sz="1450" b="1">
                <a:solidFill>
                  <a:srgbClr val="161B26"/>
                </a:solidFill>
                <a:latin typeface="Arial"/>
              </a:rPr>
              <a:t>Data and testing</a:t>
            </a:r>
          </a:p>
          <a:p>
            <a:pPr algn="l">
              <a:spcAft>
                <a:spcPts val="300"/>
              </a:spcAft>
            </a:pPr>
            <a:r>
              <a:rPr sz="1050" b="0">
                <a:solidFill>
                  <a:srgbClr val="5B6372"/>
                </a:solidFill>
                <a:latin typeface="Arial"/>
              </a:rPr>
              <a:t>Clean data and out-of-sample tests before capital</a:t>
            </a:r>
          </a:p>
        </p:txBody>
      </p:sp>
      <p:sp>
        <p:nvSpPr>
          <p:cNvPr id="20" name="Rectangle 19"/>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3754526"/>
            <a:ext cx="9427464" cy="501091"/>
          </a:xfrm>
          <a:prstGeom prst="rect">
            <a:avLst/>
          </a:prstGeom>
          <a:noFill/>
        </p:spPr>
        <p:txBody>
          <a:bodyPr wrap="square" anchor="ctr">
            <a:spAutoFit/>
          </a:bodyPr>
          <a:lstStyle/>
          <a:p>
            <a:pPr algn="l">
              <a:spcAft>
                <a:spcPts val="300"/>
              </a:spcAft>
            </a:pPr>
            <a:r>
              <a:rPr sz="1450" b="1">
                <a:solidFill>
                  <a:srgbClr val="161B26"/>
                </a:solidFill>
                <a:latin typeface="Arial"/>
              </a:rPr>
              <a:t>Many small edges</a:t>
            </a:r>
          </a:p>
          <a:p>
            <a:pPr algn="l">
              <a:spcAft>
                <a:spcPts val="300"/>
              </a:spcAft>
            </a:pPr>
            <a:r>
              <a:rPr sz="1050" b="0">
                <a:solidFill>
                  <a:srgbClr val="5B6372"/>
                </a:solidFill>
                <a:latin typeface="Arial"/>
              </a:rPr>
              <a:t>Diversified, market-neutral bets rather than one big call</a:t>
            </a:r>
          </a:p>
        </p:txBody>
      </p:sp>
      <p:sp>
        <p:nvSpPr>
          <p:cNvPr id="25" name="Rectangle 24"/>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1764792" y="4676241"/>
            <a:ext cx="9427464" cy="501091"/>
          </a:xfrm>
          <a:prstGeom prst="rect">
            <a:avLst/>
          </a:prstGeom>
          <a:noFill/>
        </p:spPr>
        <p:txBody>
          <a:bodyPr wrap="square" anchor="ctr">
            <a:spAutoFit/>
          </a:bodyPr>
          <a:lstStyle/>
          <a:p>
            <a:pPr algn="l">
              <a:spcAft>
                <a:spcPts val="300"/>
              </a:spcAft>
            </a:pPr>
            <a:r>
              <a:rPr sz="1450" b="1">
                <a:solidFill>
                  <a:srgbClr val="161B26"/>
                </a:solidFill>
                <a:latin typeface="Arial"/>
              </a:rPr>
              <a:t>Costs and risk</a:t>
            </a:r>
          </a:p>
          <a:p>
            <a:pPr algn="l">
              <a:spcAft>
                <a:spcPts val="300"/>
              </a:spcAft>
            </a:pPr>
            <a:r>
              <a:rPr sz="1050" b="0">
                <a:solidFill>
                  <a:srgbClr val="5B6372"/>
                </a:solidFill>
                <a:latin typeface="Arial"/>
              </a:rPr>
              <a:t>Execution cost, leverage and risk limits decide survival - see LTCM 1998</a:t>
            </a:r>
          </a:p>
        </p:txBody>
      </p:sp>
      <p:sp>
        <p:nvSpPr>
          <p:cNvPr id="30" name="Rectangle 29"/>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4" name="TextBox 33"/>
          <p:cNvSpPr txBox="1"/>
          <p:nvPr/>
        </p:nvSpPr>
        <p:spPr>
          <a:xfrm>
            <a:off x="1764792" y="5597956"/>
            <a:ext cx="9427464" cy="501091"/>
          </a:xfrm>
          <a:prstGeom prst="rect">
            <a:avLst/>
          </a:prstGeom>
          <a:noFill/>
        </p:spPr>
        <p:txBody>
          <a:bodyPr wrap="square" anchor="ctr">
            <a:spAutoFit/>
          </a:bodyPr>
          <a:lstStyle/>
          <a:p>
            <a:pPr algn="l">
              <a:spcAft>
                <a:spcPts val="300"/>
              </a:spcAft>
            </a:pPr>
            <a:r>
              <a:rPr sz="1450" b="1">
                <a:solidFill>
                  <a:srgbClr val="161B26"/>
                </a:solidFill>
                <a:latin typeface="Arial"/>
              </a:rPr>
              <a:t>Citadel Securities</a:t>
            </a:r>
          </a:p>
          <a:p>
            <a:pPr algn="l">
              <a:spcAft>
                <a:spcPts val="300"/>
              </a:spcAft>
            </a:pPr>
            <a:r>
              <a:rPr sz="1050" b="0">
                <a:solidFill>
                  <a:srgbClr val="5B6372"/>
                </a:solidFill>
                <a:latin typeface="Arial"/>
              </a:rPr>
              <a:t>Quant market maker estimated to handle about a quarter of all US equities trading</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84048"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1920240"/>
            <a:ext cx="9692640" cy="365760"/>
          </a:xfrm>
          <a:prstGeom prst="rect">
            <a:avLst/>
          </a:prstGeom>
          <a:noFill/>
        </p:spPr>
        <p:txBody>
          <a:bodyPr wrap="square" anchor="t">
            <a:spAutoFit/>
          </a:bodyPr>
          <a:lstStyle/>
          <a:p>
            <a:pPr algn="l">
              <a:spcAft>
                <a:spcPts val="400"/>
              </a:spcAft>
            </a:pPr>
            <a:r>
              <a:rPr sz="1400" b="1">
                <a:solidFill>
                  <a:srgbClr val="1F6FEB"/>
                </a:solidFill>
                <a:latin typeface="Arial"/>
              </a:rPr>
              <a:t>TOPIC 1 · DEFINITION</a:t>
            </a:r>
          </a:p>
        </p:txBody>
      </p:sp>
      <p:sp>
        <p:nvSpPr>
          <p:cNvPr id="5" name="TextBox 4"/>
          <p:cNvSpPr txBox="1"/>
          <p:nvPr/>
        </p:nvSpPr>
        <p:spPr>
          <a:xfrm>
            <a:off x="1188720" y="2377440"/>
            <a:ext cx="9692640" cy="1645920"/>
          </a:xfrm>
          <a:prstGeom prst="rect">
            <a:avLst/>
          </a:prstGeom>
          <a:noFill/>
        </p:spPr>
        <p:txBody>
          <a:bodyPr wrap="square" anchor="t">
            <a:spAutoFit/>
          </a:bodyPr>
          <a:lstStyle/>
          <a:p>
            <a:pPr algn="l">
              <a:spcAft>
                <a:spcPts val="400"/>
              </a:spcAft>
            </a:pPr>
            <a:r>
              <a:rPr sz="3400" b="1">
                <a:solidFill>
                  <a:srgbClr val="161B26"/>
                </a:solidFill>
                <a:latin typeface="Arial"/>
              </a:rPr>
              <a:t>Algorithmic trading</a:t>
            </a:r>
          </a:p>
        </p:txBody>
      </p:sp>
      <p:sp>
        <p:nvSpPr>
          <p:cNvPr id="6" name="TextBox 5"/>
          <p:cNvSpPr txBox="1"/>
          <p:nvPr/>
        </p:nvSpPr>
        <p:spPr>
          <a:xfrm>
            <a:off x="1188720" y="4206240"/>
            <a:ext cx="9692640" cy="1097280"/>
          </a:xfrm>
          <a:prstGeom prst="rect">
            <a:avLst/>
          </a:prstGeom>
          <a:noFill/>
        </p:spPr>
        <p:txBody>
          <a:bodyPr wrap="square" anchor="t">
            <a:spAutoFit/>
          </a:bodyPr>
          <a:lstStyle/>
          <a:p>
            <a:pPr algn="l">
              <a:spcAft>
                <a:spcPts val="400"/>
              </a:spcAft>
            </a:pPr>
            <a:r>
              <a:rPr sz="1600" b="0">
                <a:solidFill>
                  <a:srgbClr val="5B6372"/>
                </a:solidFill>
                <a:latin typeface="Arial"/>
              </a:rPr>
              <a:t>Using computer programs that follow predefined rules on price, timing, volume or models to generate and execute orders automatically, with limited or no human intervention.</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EVOLUTION OF QUANT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Evolution of Quant: From Thorp to HFT to AI</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777240" y="2240280"/>
            <a:ext cx="12840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40280"/>
            <a:ext cx="128407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2663"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62663"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4" name="TextBox 13"/>
          <p:cNvSpPr txBox="1"/>
          <p:nvPr/>
        </p:nvSpPr>
        <p:spPr>
          <a:xfrm>
            <a:off x="905256" y="3483864"/>
            <a:ext cx="1028046" cy="1371600"/>
          </a:xfrm>
          <a:prstGeom prst="rect">
            <a:avLst/>
          </a:prstGeom>
          <a:noFill/>
        </p:spPr>
        <p:txBody>
          <a:bodyPr wrap="square" anchor="t">
            <a:spAutoFit/>
          </a:bodyPr>
          <a:lstStyle/>
          <a:p>
            <a:pPr algn="ctr">
              <a:spcAft>
                <a:spcPts val="400"/>
              </a:spcAft>
            </a:pPr>
            <a:r>
              <a:rPr sz="1200" b="0">
                <a:solidFill>
                  <a:srgbClr val="161B26"/>
                </a:solidFill>
                <a:latin typeface="Arial"/>
              </a:rPr>
              <a:t>1950s-70s: portfolio theory, arbitrage and option pricing</a:t>
            </a:r>
          </a:p>
        </p:txBody>
      </p:sp>
      <p:sp>
        <p:nvSpPr>
          <p:cNvPr id="15" name="TextBox 14"/>
          <p:cNvSpPr txBox="1"/>
          <p:nvPr/>
        </p:nvSpPr>
        <p:spPr>
          <a:xfrm>
            <a:off x="2043030"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16" name="Rectangle 15"/>
          <p:cNvSpPr/>
          <p:nvPr/>
        </p:nvSpPr>
        <p:spPr>
          <a:xfrm>
            <a:off x="2335638" y="2240280"/>
            <a:ext cx="12840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335638" y="2240280"/>
            <a:ext cx="128407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2621061"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621061"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20" name="TextBox 19"/>
          <p:cNvSpPr txBox="1"/>
          <p:nvPr/>
        </p:nvSpPr>
        <p:spPr>
          <a:xfrm>
            <a:off x="2463654" y="3483864"/>
            <a:ext cx="1028046" cy="1371600"/>
          </a:xfrm>
          <a:prstGeom prst="rect">
            <a:avLst/>
          </a:prstGeom>
          <a:noFill/>
        </p:spPr>
        <p:txBody>
          <a:bodyPr wrap="square" anchor="t">
            <a:spAutoFit/>
          </a:bodyPr>
          <a:lstStyle/>
          <a:p>
            <a:pPr algn="ctr">
              <a:spcAft>
                <a:spcPts val="400"/>
              </a:spcAft>
            </a:pPr>
            <a:r>
              <a:rPr sz="1200" b="0">
                <a:solidFill>
                  <a:srgbClr val="161B26"/>
                </a:solidFill>
                <a:latin typeface="Arial"/>
              </a:rPr>
              <a:t>1970s-80s: factor risk models and program trading</a:t>
            </a:r>
          </a:p>
        </p:txBody>
      </p:sp>
      <p:sp>
        <p:nvSpPr>
          <p:cNvPr id="21" name="TextBox 20"/>
          <p:cNvSpPr txBox="1"/>
          <p:nvPr/>
        </p:nvSpPr>
        <p:spPr>
          <a:xfrm>
            <a:off x="3601428"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22" name="Rectangle 21"/>
          <p:cNvSpPr/>
          <p:nvPr/>
        </p:nvSpPr>
        <p:spPr>
          <a:xfrm>
            <a:off x="3894036" y="2240280"/>
            <a:ext cx="12840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894036" y="2240280"/>
            <a:ext cx="128407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4179459"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79459"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6" name="TextBox 25"/>
          <p:cNvSpPr txBox="1"/>
          <p:nvPr/>
        </p:nvSpPr>
        <p:spPr>
          <a:xfrm>
            <a:off x="4022052" y="3483864"/>
            <a:ext cx="1028046" cy="1371600"/>
          </a:xfrm>
          <a:prstGeom prst="rect">
            <a:avLst/>
          </a:prstGeom>
          <a:noFill/>
        </p:spPr>
        <p:txBody>
          <a:bodyPr wrap="square" anchor="t">
            <a:spAutoFit/>
          </a:bodyPr>
          <a:lstStyle/>
          <a:p>
            <a:pPr algn="ctr">
              <a:spcAft>
                <a:spcPts val="400"/>
              </a:spcAft>
            </a:pPr>
            <a:r>
              <a:rPr sz="1200" b="0">
                <a:solidFill>
                  <a:srgbClr val="161B26"/>
                </a:solidFill>
                <a:latin typeface="Arial"/>
              </a:rPr>
              <a:t>1980s-90s: statistical arbitrage and pairs trading</a:t>
            </a:r>
          </a:p>
        </p:txBody>
      </p:sp>
      <p:sp>
        <p:nvSpPr>
          <p:cNvPr id="27" name="TextBox 26"/>
          <p:cNvSpPr txBox="1"/>
          <p:nvPr/>
        </p:nvSpPr>
        <p:spPr>
          <a:xfrm>
            <a:off x="5159826"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28" name="Rectangle 27"/>
          <p:cNvSpPr/>
          <p:nvPr/>
        </p:nvSpPr>
        <p:spPr>
          <a:xfrm>
            <a:off x="5452434" y="2240280"/>
            <a:ext cx="12840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452434" y="2240280"/>
            <a:ext cx="128407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737857"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737857"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2" name="TextBox 31"/>
          <p:cNvSpPr txBox="1"/>
          <p:nvPr/>
        </p:nvSpPr>
        <p:spPr>
          <a:xfrm>
            <a:off x="5580450" y="3483864"/>
            <a:ext cx="1028046" cy="1371600"/>
          </a:xfrm>
          <a:prstGeom prst="rect">
            <a:avLst/>
          </a:prstGeom>
          <a:noFill/>
        </p:spPr>
        <p:txBody>
          <a:bodyPr wrap="square" anchor="t">
            <a:spAutoFit/>
          </a:bodyPr>
          <a:lstStyle/>
          <a:p>
            <a:pPr algn="ctr">
              <a:spcAft>
                <a:spcPts val="400"/>
              </a:spcAft>
            </a:pPr>
            <a:r>
              <a:rPr sz="1200" b="0">
                <a:solidFill>
                  <a:srgbClr val="161B26"/>
                </a:solidFill>
                <a:latin typeface="Arial"/>
              </a:rPr>
              <a:t>1988 on: fully systematic signal mining (Renaissance, D.E. Shaw)</a:t>
            </a:r>
          </a:p>
        </p:txBody>
      </p:sp>
      <p:sp>
        <p:nvSpPr>
          <p:cNvPr id="33" name="TextBox 32"/>
          <p:cNvSpPr txBox="1"/>
          <p:nvPr/>
        </p:nvSpPr>
        <p:spPr>
          <a:xfrm>
            <a:off x="6718224"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34" name="Rectangle 33"/>
          <p:cNvSpPr/>
          <p:nvPr/>
        </p:nvSpPr>
        <p:spPr>
          <a:xfrm>
            <a:off x="7010832" y="2240280"/>
            <a:ext cx="12840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010832" y="2240280"/>
            <a:ext cx="128407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296255"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96255"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8" name="TextBox 37"/>
          <p:cNvSpPr txBox="1"/>
          <p:nvPr/>
        </p:nvSpPr>
        <p:spPr>
          <a:xfrm>
            <a:off x="7138848" y="3483864"/>
            <a:ext cx="1028046" cy="1371600"/>
          </a:xfrm>
          <a:prstGeom prst="rect">
            <a:avLst/>
          </a:prstGeom>
          <a:noFill/>
        </p:spPr>
        <p:txBody>
          <a:bodyPr wrap="square" anchor="t">
            <a:spAutoFit/>
          </a:bodyPr>
          <a:lstStyle/>
          <a:p>
            <a:pPr algn="ctr">
              <a:spcAft>
                <a:spcPts val="400"/>
              </a:spcAft>
            </a:pPr>
            <a:r>
              <a:rPr sz="1200" b="0">
                <a:solidFill>
                  <a:srgbClr val="161B26"/>
                </a:solidFill>
                <a:latin typeface="Arial"/>
              </a:rPr>
              <a:t>2000s: electronic market making and HFT</a:t>
            </a:r>
          </a:p>
        </p:txBody>
      </p:sp>
      <p:sp>
        <p:nvSpPr>
          <p:cNvPr id="39" name="TextBox 38"/>
          <p:cNvSpPr txBox="1"/>
          <p:nvPr/>
        </p:nvSpPr>
        <p:spPr>
          <a:xfrm>
            <a:off x="8276622"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40" name="Rectangle 39"/>
          <p:cNvSpPr/>
          <p:nvPr/>
        </p:nvSpPr>
        <p:spPr>
          <a:xfrm>
            <a:off x="8569230" y="2240280"/>
            <a:ext cx="12840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569230" y="2240280"/>
            <a:ext cx="128407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8854653"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854653"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6</a:t>
            </a:r>
          </a:p>
        </p:txBody>
      </p:sp>
      <p:sp>
        <p:nvSpPr>
          <p:cNvPr id="44" name="TextBox 43"/>
          <p:cNvSpPr txBox="1"/>
          <p:nvPr/>
        </p:nvSpPr>
        <p:spPr>
          <a:xfrm>
            <a:off x="8697246" y="3483864"/>
            <a:ext cx="1028046" cy="1371600"/>
          </a:xfrm>
          <a:prstGeom prst="rect">
            <a:avLst/>
          </a:prstGeom>
          <a:noFill/>
        </p:spPr>
        <p:txBody>
          <a:bodyPr wrap="square" anchor="t">
            <a:spAutoFit/>
          </a:bodyPr>
          <a:lstStyle/>
          <a:p>
            <a:pPr algn="ctr">
              <a:spcAft>
                <a:spcPts val="400"/>
              </a:spcAft>
            </a:pPr>
            <a:r>
              <a:rPr sz="1200" b="0">
                <a:solidFill>
                  <a:srgbClr val="161B26"/>
                </a:solidFill>
                <a:latin typeface="Arial"/>
              </a:rPr>
              <a:t>2010s: speed race - co-location, microwave, microseconds</a:t>
            </a:r>
          </a:p>
        </p:txBody>
      </p:sp>
      <p:sp>
        <p:nvSpPr>
          <p:cNvPr id="45" name="TextBox 44"/>
          <p:cNvSpPr txBox="1"/>
          <p:nvPr/>
        </p:nvSpPr>
        <p:spPr>
          <a:xfrm>
            <a:off x="9835020"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46" name="Rectangle 45"/>
          <p:cNvSpPr/>
          <p:nvPr/>
        </p:nvSpPr>
        <p:spPr>
          <a:xfrm>
            <a:off x="10127628" y="2240280"/>
            <a:ext cx="12840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10127628" y="2240280"/>
            <a:ext cx="128407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0413051"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413051"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7</a:t>
            </a:r>
          </a:p>
        </p:txBody>
      </p:sp>
      <p:sp>
        <p:nvSpPr>
          <p:cNvPr id="50" name="TextBox 49"/>
          <p:cNvSpPr txBox="1"/>
          <p:nvPr/>
        </p:nvSpPr>
        <p:spPr>
          <a:xfrm>
            <a:off x="10255644" y="3483864"/>
            <a:ext cx="1028046" cy="1371600"/>
          </a:xfrm>
          <a:prstGeom prst="rect">
            <a:avLst/>
          </a:prstGeom>
          <a:noFill/>
        </p:spPr>
        <p:txBody>
          <a:bodyPr wrap="square" anchor="t">
            <a:spAutoFit/>
          </a:bodyPr>
          <a:lstStyle/>
          <a:p>
            <a:pPr algn="ctr">
              <a:spcAft>
                <a:spcPts val="400"/>
              </a:spcAft>
            </a:pPr>
            <a:r>
              <a:rPr sz="1200" b="0">
                <a:solidFill>
                  <a:srgbClr val="161B26"/>
                </a:solidFill>
                <a:latin typeface="Arial"/>
              </a:rPr>
              <a:t>2020s: ML on alternative data, then LLM and agentic quant</a:t>
            </a:r>
          </a:p>
        </p:txBody>
      </p:sp>
      <p:sp>
        <p:nvSpPr>
          <p:cNvPr id="51" name="Rectangle 50"/>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777240" y="5257800"/>
            <a:ext cx="91440" cy="8229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Each era kept the last era's discipline - hypothesis, data, testing, costs, risk - and added speed or new data.</a:t>
            </a:r>
          </a:p>
        </p:txBody>
      </p:sp>
      <p:sp>
        <p:nvSpPr>
          <p:cNvPr id="54" name="TextBox 5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5" name="TextBox 5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6" name="TextBox 5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HISTORY OF QUANT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The Evolution of Quant and Algorithmic Trading (1 of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868680" y="3954779"/>
            <a:ext cx="10451592"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9808" y="3858768"/>
            <a:ext cx="237744" cy="2377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61364" y="3246120"/>
            <a:ext cx="14630" cy="6126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11680"/>
            <a:ext cx="2148840" cy="1234440"/>
          </a:xfrm>
          <a:prstGeom prst="rect">
            <a:avLst/>
          </a:prstGeom>
          <a:noFill/>
        </p:spPr>
        <p:txBody>
          <a:bodyPr wrap="square" anchor="b">
            <a:spAutoFit/>
          </a:bodyPr>
          <a:lstStyle/>
          <a:p>
            <a:pPr algn="ctr">
              <a:spcAft>
                <a:spcPts val="100"/>
              </a:spcAft>
            </a:pPr>
            <a:r>
              <a:rPr sz="1500" b="1">
                <a:solidFill>
                  <a:srgbClr val="1F6FEB"/>
                </a:solidFill>
                <a:latin typeface="Arial"/>
              </a:rPr>
              <a:t>1952</a:t>
            </a:r>
          </a:p>
          <a:p>
            <a:pPr algn="ctr">
              <a:spcAft>
                <a:spcPts val="100"/>
              </a:spcAft>
            </a:pPr>
            <a:r>
              <a:rPr sz="1150" b="1">
                <a:solidFill>
                  <a:srgbClr val="161B26"/>
                </a:solidFill>
                <a:latin typeface="Arial"/>
              </a:rPr>
              <a:t>Modern portfolio theory</a:t>
            </a:r>
          </a:p>
          <a:p>
            <a:pPr algn="ctr">
              <a:spcAft>
                <a:spcPts val="100"/>
              </a:spcAft>
            </a:pPr>
            <a:r>
              <a:rPr sz="950" b="0">
                <a:solidFill>
                  <a:srgbClr val="5B6372"/>
                </a:solidFill>
                <a:latin typeface="Arial"/>
              </a:rPr>
              <a:t>Markowitz's 'Portfolio Selection' measures risk as variance: diversification becomes maths</a:t>
            </a:r>
          </a:p>
        </p:txBody>
      </p:sp>
      <p:sp>
        <p:nvSpPr>
          <p:cNvPr id="14" name="Oval 13"/>
          <p:cNvSpPr/>
          <p:nvPr/>
        </p:nvSpPr>
        <p:spPr>
          <a:xfrm>
            <a:off x="2840126" y="3858768"/>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1683" y="4096512"/>
            <a:ext cx="14630" cy="6126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884578" y="4754880"/>
            <a:ext cx="2148840" cy="1371600"/>
          </a:xfrm>
          <a:prstGeom prst="rect">
            <a:avLst/>
          </a:prstGeom>
          <a:noFill/>
        </p:spPr>
        <p:txBody>
          <a:bodyPr wrap="square" anchor="t">
            <a:spAutoFit/>
          </a:bodyPr>
          <a:lstStyle/>
          <a:p>
            <a:pPr algn="ctr">
              <a:spcAft>
                <a:spcPts val="100"/>
              </a:spcAft>
            </a:pPr>
            <a:r>
              <a:rPr sz="1500" b="1">
                <a:solidFill>
                  <a:srgbClr val="10B981"/>
                </a:solidFill>
                <a:latin typeface="Arial"/>
              </a:rPr>
              <a:t>1967</a:t>
            </a:r>
          </a:p>
          <a:p>
            <a:pPr algn="ctr">
              <a:spcAft>
                <a:spcPts val="100"/>
              </a:spcAft>
            </a:pPr>
            <a:r>
              <a:rPr sz="1150" b="1">
                <a:solidFill>
                  <a:srgbClr val="161B26"/>
                </a:solidFill>
                <a:latin typeface="Arial"/>
              </a:rPr>
              <a:t>Thorp's 'Beat the Market'</a:t>
            </a:r>
          </a:p>
          <a:p>
            <a:pPr algn="ctr">
              <a:spcAft>
                <a:spcPts val="100"/>
              </a:spcAft>
            </a:pPr>
            <a:r>
              <a:rPr sz="950" b="0">
                <a:solidFill>
                  <a:srgbClr val="5B6372"/>
                </a:solidFill>
                <a:latin typeface="Arial"/>
              </a:rPr>
              <a:t>Ed Thorp applies probability to hedging warrants - an early quant trading playbook</a:t>
            </a:r>
          </a:p>
        </p:txBody>
      </p:sp>
      <p:sp>
        <p:nvSpPr>
          <p:cNvPr id="17" name="Oval 16"/>
          <p:cNvSpPr/>
          <p:nvPr/>
        </p:nvSpPr>
        <p:spPr>
          <a:xfrm>
            <a:off x="4930444" y="3858768"/>
            <a:ext cx="237744" cy="23774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42001" y="3246120"/>
            <a:ext cx="14630" cy="6126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74896" y="2011680"/>
            <a:ext cx="2148840" cy="1234440"/>
          </a:xfrm>
          <a:prstGeom prst="rect">
            <a:avLst/>
          </a:prstGeom>
          <a:noFill/>
        </p:spPr>
        <p:txBody>
          <a:bodyPr wrap="square" anchor="b">
            <a:spAutoFit/>
          </a:bodyPr>
          <a:lstStyle/>
          <a:p>
            <a:pPr algn="ctr">
              <a:spcAft>
                <a:spcPts val="100"/>
              </a:spcAft>
            </a:pPr>
            <a:r>
              <a:rPr sz="1500" b="1">
                <a:solidFill>
                  <a:srgbClr val="7C3AED"/>
                </a:solidFill>
                <a:latin typeface="Arial"/>
              </a:rPr>
              <a:t>1969</a:t>
            </a:r>
          </a:p>
          <a:p>
            <a:pPr algn="ctr">
              <a:spcAft>
                <a:spcPts val="100"/>
              </a:spcAft>
            </a:pPr>
            <a:r>
              <a:rPr sz="1150" b="1">
                <a:solidFill>
                  <a:srgbClr val="161B26"/>
                </a:solidFill>
                <a:latin typeface="Arial"/>
              </a:rPr>
              <a:t>First market-neutral quant fund</a:t>
            </a:r>
          </a:p>
          <a:p>
            <a:pPr algn="ctr">
              <a:spcAft>
                <a:spcPts val="100"/>
              </a:spcAft>
            </a:pPr>
            <a:r>
              <a:rPr sz="950" b="0">
                <a:solidFill>
                  <a:srgbClr val="5B6372"/>
                </a:solidFill>
                <a:latin typeface="Arial"/>
              </a:rPr>
              <a:t>Thorp's fund (Princeton Newport from 1974) earns about 20% a year after fees for two decades</a:t>
            </a:r>
          </a:p>
        </p:txBody>
      </p:sp>
      <p:sp>
        <p:nvSpPr>
          <p:cNvPr id="20" name="Oval 19"/>
          <p:cNvSpPr/>
          <p:nvPr/>
        </p:nvSpPr>
        <p:spPr>
          <a:xfrm>
            <a:off x="7020763" y="3858768"/>
            <a:ext cx="237744" cy="23774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32320" y="4096512"/>
            <a:ext cx="14630" cy="6126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65215" y="4754880"/>
            <a:ext cx="2148840" cy="1371600"/>
          </a:xfrm>
          <a:prstGeom prst="rect">
            <a:avLst/>
          </a:prstGeom>
          <a:noFill/>
        </p:spPr>
        <p:txBody>
          <a:bodyPr wrap="square" anchor="t">
            <a:spAutoFit/>
          </a:bodyPr>
          <a:lstStyle/>
          <a:p>
            <a:pPr algn="ctr">
              <a:spcAft>
                <a:spcPts val="100"/>
              </a:spcAft>
            </a:pPr>
            <a:r>
              <a:rPr sz="1500" b="1">
                <a:solidFill>
                  <a:srgbClr val="F59E0B"/>
                </a:solidFill>
                <a:latin typeface="Arial"/>
              </a:rPr>
              <a:t>1973</a:t>
            </a:r>
          </a:p>
          <a:p>
            <a:pPr algn="ctr">
              <a:spcAft>
                <a:spcPts val="100"/>
              </a:spcAft>
            </a:pPr>
            <a:r>
              <a:rPr sz="1150" b="1">
                <a:solidFill>
                  <a:srgbClr val="161B26"/>
                </a:solidFill>
                <a:latin typeface="Arial"/>
              </a:rPr>
              <a:t>Black-Scholes and the CBOE</a:t>
            </a:r>
          </a:p>
          <a:p>
            <a:pPr algn="ctr">
              <a:spcAft>
                <a:spcPts val="100"/>
              </a:spcAft>
            </a:pPr>
            <a:r>
              <a:rPr sz="950" b="0">
                <a:solidFill>
                  <a:srgbClr val="5B6372"/>
                </a:solidFill>
                <a:latin typeface="Arial"/>
              </a:rPr>
              <a:t>Option-pricing formula published as the CBOE opens (Apr 1973); CBOE adopts it by 1975</a:t>
            </a:r>
          </a:p>
        </p:txBody>
      </p:sp>
      <p:sp>
        <p:nvSpPr>
          <p:cNvPr id="23" name="Oval 22"/>
          <p:cNvSpPr/>
          <p:nvPr/>
        </p:nvSpPr>
        <p:spPr>
          <a:xfrm>
            <a:off x="9111081" y="3858768"/>
            <a:ext cx="237744" cy="2377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22638" y="3246120"/>
            <a:ext cx="14630" cy="6126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55533" y="2011680"/>
            <a:ext cx="2148840" cy="1234440"/>
          </a:xfrm>
          <a:prstGeom prst="rect">
            <a:avLst/>
          </a:prstGeom>
          <a:noFill/>
        </p:spPr>
        <p:txBody>
          <a:bodyPr wrap="square" anchor="b">
            <a:spAutoFit/>
          </a:bodyPr>
          <a:lstStyle/>
          <a:p>
            <a:pPr algn="ctr">
              <a:spcAft>
                <a:spcPts val="100"/>
              </a:spcAft>
            </a:pPr>
            <a:r>
              <a:rPr sz="1500" b="1">
                <a:solidFill>
                  <a:srgbClr val="1F6FEB"/>
                </a:solidFill>
                <a:latin typeface="Arial"/>
              </a:rPr>
              <a:t>Mid-1970s</a:t>
            </a:r>
          </a:p>
          <a:p>
            <a:pPr algn="ctr">
              <a:spcAft>
                <a:spcPts val="100"/>
              </a:spcAft>
            </a:pPr>
            <a:r>
              <a:rPr sz="1150" b="1">
                <a:solidFill>
                  <a:srgbClr val="161B26"/>
                </a:solidFill>
                <a:latin typeface="Arial"/>
              </a:rPr>
              <a:t>Factor risk models</a:t>
            </a:r>
          </a:p>
          <a:p>
            <a:pPr algn="ctr">
              <a:spcAft>
                <a:spcPts val="100"/>
              </a:spcAft>
            </a:pPr>
            <a:r>
              <a:rPr sz="950" b="0">
                <a:solidFill>
                  <a:srgbClr val="5B6372"/>
                </a:solidFill>
                <a:latin typeface="Arial"/>
              </a:rPr>
              <a:t>Barr Rosenberg's Barra models portfolio risk from style, industry and size factors</a:t>
            </a:r>
          </a:p>
        </p:txBody>
      </p:sp>
      <p:sp>
        <p:nvSpPr>
          <p:cNvPr id="26" name="Oval 25"/>
          <p:cNvSpPr/>
          <p:nvPr/>
        </p:nvSpPr>
        <p:spPr>
          <a:xfrm>
            <a:off x="11201400" y="3858768"/>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1312956" y="4096512"/>
            <a:ext cx="14630" cy="6126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491472" y="4754880"/>
            <a:ext cx="2148840" cy="1371600"/>
          </a:xfrm>
          <a:prstGeom prst="rect">
            <a:avLst/>
          </a:prstGeom>
          <a:noFill/>
        </p:spPr>
        <p:txBody>
          <a:bodyPr wrap="square" anchor="t">
            <a:spAutoFit/>
          </a:bodyPr>
          <a:lstStyle/>
          <a:p>
            <a:pPr algn="ctr">
              <a:spcAft>
                <a:spcPts val="100"/>
              </a:spcAft>
            </a:pPr>
            <a:r>
              <a:rPr sz="1500" b="1">
                <a:solidFill>
                  <a:srgbClr val="10B981"/>
                </a:solidFill>
                <a:latin typeface="Arial"/>
              </a:rPr>
              <a:t>1978</a:t>
            </a:r>
          </a:p>
          <a:p>
            <a:pPr algn="ctr">
              <a:spcAft>
                <a:spcPts val="100"/>
              </a:spcAft>
            </a:pPr>
            <a:r>
              <a:rPr sz="1150" b="1">
                <a:solidFill>
                  <a:srgbClr val="161B26"/>
                </a:solidFill>
                <a:latin typeface="Arial"/>
              </a:rPr>
              <a:t>Renaissance is founded</a:t>
            </a:r>
          </a:p>
          <a:p>
            <a:pPr algn="ctr">
              <a:spcAft>
                <a:spcPts val="100"/>
              </a:spcAft>
            </a:pPr>
            <a:r>
              <a:rPr sz="950" b="0">
                <a:solidFill>
                  <a:srgbClr val="5B6372"/>
                </a:solidFill>
                <a:latin typeface="Arial"/>
              </a:rPr>
              <a:t>Mathematician Jim Simons founds Monemetrics; renamed Renaissance Technologies in 1982</a:t>
            </a: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HISTORY OF QUANT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The Evolution of Quant and Algorithmic Trading (2 of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868680" y="3954779"/>
            <a:ext cx="10451592"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9808" y="3858768"/>
            <a:ext cx="237744" cy="2377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61364" y="3246120"/>
            <a:ext cx="14630" cy="6126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11680"/>
            <a:ext cx="2148840" cy="1234440"/>
          </a:xfrm>
          <a:prstGeom prst="rect">
            <a:avLst/>
          </a:prstGeom>
          <a:noFill/>
        </p:spPr>
        <p:txBody>
          <a:bodyPr wrap="square" anchor="b">
            <a:spAutoFit/>
          </a:bodyPr>
          <a:lstStyle/>
          <a:p>
            <a:pPr algn="ctr">
              <a:spcAft>
                <a:spcPts val="100"/>
              </a:spcAft>
            </a:pPr>
            <a:r>
              <a:rPr sz="1500" b="1">
                <a:solidFill>
                  <a:srgbClr val="1F6FEB"/>
                </a:solidFill>
                <a:latin typeface="Arial"/>
              </a:rPr>
              <a:t>1980s</a:t>
            </a:r>
          </a:p>
          <a:p>
            <a:pPr algn="ctr">
              <a:spcAft>
                <a:spcPts val="100"/>
              </a:spcAft>
            </a:pPr>
            <a:r>
              <a:rPr sz="1150" b="1">
                <a:solidFill>
                  <a:srgbClr val="161B26"/>
                </a:solidFill>
                <a:latin typeface="Arial"/>
              </a:rPr>
              <a:t>Statistical arbitrage</a:t>
            </a:r>
          </a:p>
          <a:p>
            <a:pPr algn="ctr">
              <a:spcAft>
                <a:spcPts val="100"/>
              </a:spcAft>
            </a:pPr>
            <a:r>
              <a:rPr sz="950" b="0">
                <a:solidFill>
                  <a:srgbClr val="5B6372"/>
                </a:solidFill>
                <a:latin typeface="Arial"/>
              </a:rPr>
              <a:t>Bamberger and Tartaglia's Morgan Stanley group trades pairs of co-moving stocks by rule</a:t>
            </a:r>
          </a:p>
        </p:txBody>
      </p:sp>
      <p:sp>
        <p:nvSpPr>
          <p:cNvPr id="14" name="Oval 13"/>
          <p:cNvSpPr/>
          <p:nvPr/>
        </p:nvSpPr>
        <p:spPr>
          <a:xfrm>
            <a:off x="2840126" y="3858768"/>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1683" y="4096512"/>
            <a:ext cx="14630" cy="6126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884578" y="4754880"/>
            <a:ext cx="2148840" cy="1371600"/>
          </a:xfrm>
          <a:prstGeom prst="rect">
            <a:avLst/>
          </a:prstGeom>
          <a:noFill/>
        </p:spPr>
        <p:txBody>
          <a:bodyPr wrap="square" anchor="t">
            <a:spAutoFit/>
          </a:bodyPr>
          <a:lstStyle/>
          <a:p>
            <a:pPr algn="ctr">
              <a:spcAft>
                <a:spcPts val="100"/>
              </a:spcAft>
            </a:pPr>
            <a:r>
              <a:rPr sz="1500" b="1">
                <a:solidFill>
                  <a:srgbClr val="10B981"/>
                </a:solidFill>
                <a:latin typeface="Arial"/>
              </a:rPr>
              <a:t>1987</a:t>
            </a:r>
          </a:p>
          <a:p>
            <a:pPr algn="ctr">
              <a:spcAft>
                <a:spcPts val="100"/>
              </a:spcAft>
            </a:pPr>
            <a:r>
              <a:rPr sz="1150" b="1">
                <a:solidFill>
                  <a:srgbClr val="161B26"/>
                </a:solidFill>
                <a:latin typeface="Arial"/>
              </a:rPr>
              <a:t>Black Monday</a:t>
            </a:r>
          </a:p>
          <a:p>
            <a:pPr algn="ctr">
              <a:spcAft>
                <a:spcPts val="100"/>
              </a:spcAft>
            </a:pPr>
            <a:r>
              <a:rPr sz="950" b="0">
                <a:solidFill>
                  <a:srgbClr val="5B6372"/>
                </a:solidFill>
                <a:latin typeface="Arial"/>
              </a:rPr>
              <a:t>Dow falls 22.6% on 19 Oct; portfolio-insurance program selling deepens the crash</a:t>
            </a:r>
          </a:p>
        </p:txBody>
      </p:sp>
      <p:sp>
        <p:nvSpPr>
          <p:cNvPr id="17" name="Oval 16"/>
          <p:cNvSpPr/>
          <p:nvPr/>
        </p:nvSpPr>
        <p:spPr>
          <a:xfrm>
            <a:off x="4930444" y="3858768"/>
            <a:ext cx="237744" cy="23774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42001" y="3246120"/>
            <a:ext cx="14630" cy="6126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74896" y="2011680"/>
            <a:ext cx="2148840" cy="1234440"/>
          </a:xfrm>
          <a:prstGeom prst="rect">
            <a:avLst/>
          </a:prstGeom>
          <a:noFill/>
        </p:spPr>
        <p:txBody>
          <a:bodyPr wrap="square" anchor="b">
            <a:spAutoFit/>
          </a:bodyPr>
          <a:lstStyle/>
          <a:p>
            <a:pPr algn="ctr">
              <a:spcAft>
                <a:spcPts val="100"/>
              </a:spcAft>
            </a:pPr>
            <a:r>
              <a:rPr sz="1500" b="1">
                <a:solidFill>
                  <a:srgbClr val="7C3AED"/>
                </a:solidFill>
                <a:latin typeface="Arial"/>
              </a:rPr>
              <a:t>1988</a:t>
            </a:r>
          </a:p>
          <a:p>
            <a:pPr algn="ctr">
              <a:spcAft>
                <a:spcPts val="100"/>
              </a:spcAft>
            </a:pPr>
            <a:r>
              <a:rPr sz="1150" b="1">
                <a:solidFill>
                  <a:srgbClr val="161B26"/>
                </a:solidFill>
                <a:latin typeface="Arial"/>
              </a:rPr>
              <a:t>Medallion and D.E. Shaw</a:t>
            </a:r>
          </a:p>
          <a:p>
            <a:pPr algn="ctr">
              <a:spcAft>
                <a:spcPts val="100"/>
              </a:spcAft>
            </a:pPr>
            <a:r>
              <a:rPr sz="950" b="0">
                <a:solidFill>
                  <a:srgbClr val="5B6372"/>
                </a:solidFill>
                <a:latin typeface="Arial"/>
              </a:rPr>
              <a:t>Renaissance launches Medallion; ex-Morgan Stanley quant David Shaw founds D.E. Shaw</a:t>
            </a:r>
          </a:p>
        </p:txBody>
      </p:sp>
      <p:sp>
        <p:nvSpPr>
          <p:cNvPr id="20" name="Oval 19"/>
          <p:cNvSpPr/>
          <p:nvPr/>
        </p:nvSpPr>
        <p:spPr>
          <a:xfrm>
            <a:off x="7020763" y="3858768"/>
            <a:ext cx="237744" cy="23774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32320" y="4096512"/>
            <a:ext cx="14630" cy="6126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65215" y="4754880"/>
            <a:ext cx="2148840" cy="1371600"/>
          </a:xfrm>
          <a:prstGeom prst="rect">
            <a:avLst/>
          </a:prstGeom>
          <a:noFill/>
        </p:spPr>
        <p:txBody>
          <a:bodyPr wrap="square" anchor="t">
            <a:spAutoFit/>
          </a:bodyPr>
          <a:lstStyle/>
          <a:p>
            <a:pPr algn="ctr">
              <a:spcAft>
                <a:spcPts val="100"/>
              </a:spcAft>
            </a:pPr>
            <a:r>
              <a:rPr sz="1500" b="1">
                <a:solidFill>
                  <a:srgbClr val="F59E0B"/>
                </a:solidFill>
                <a:latin typeface="Arial"/>
              </a:rPr>
              <a:t>1996</a:t>
            </a:r>
          </a:p>
          <a:p>
            <a:pPr algn="ctr">
              <a:spcAft>
                <a:spcPts val="100"/>
              </a:spcAft>
            </a:pPr>
            <a:r>
              <a:rPr sz="1150" b="1">
                <a:solidFill>
                  <a:srgbClr val="161B26"/>
                </a:solidFill>
                <a:latin typeface="Arial"/>
              </a:rPr>
              <a:t>Island ECN</a:t>
            </a:r>
          </a:p>
          <a:p>
            <a:pPr algn="ctr">
              <a:spcAft>
                <a:spcPts val="100"/>
              </a:spcAft>
            </a:pPr>
            <a:r>
              <a:rPr sz="950" b="0">
                <a:solidFill>
                  <a:srgbClr val="5B6372"/>
                </a:solidFill>
                <a:latin typeface="Arial"/>
              </a:rPr>
              <a:t>Fast electronic order book (trading from 1997) becomes a hub for early HFT firms</a:t>
            </a:r>
          </a:p>
        </p:txBody>
      </p:sp>
      <p:sp>
        <p:nvSpPr>
          <p:cNvPr id="23" name="Oval 22"/>
          <p:cNvSpPr/>
          <p:nvPr/>
        </p:nvSpPr>
        <p:spPr>
          <a:xfrm>
            <a:off x="9111081" y="3858768"/>
            <a:ext cx="237744" cy="2377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22638" y="3246120"/>
            <a:ext cx="14630" cy="6126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55533" y="2011680"/>
            <a:ext cx="2148840" cy="1234440"/>
          </a:xfrm>
          <a:prstGeom prst="rect">
            <a:avLst/>
          </a:prstGeom>
          <a:noFill/>
        </p:spPr>
        <p:txBody>
          <a:bodyPr wrap="square" anchor="b">
            <a:spAutoFit/>
          </a:bodyPr>
          <a:lstStyle/>
          <a:p>
            <a:pPr algn="ctr">
              <a:spcAft>
                <a:spcPts val="100"/>
              </a:spcAft>
            </a:pPr>
            <a:r>
              <a:rPr sz="1500" b="1">
                <a:solidFill>
                  <a:srgbClr val="1F6FEB"/>
                </a:solidFill>
                <a:latin typeface="Arial"/>
              </a:rPr>
              <a:t>1998</a:t>
            </a:r>
          </a:p>
          <a:p>
            <a:pPr algn="ctr">
              <a:spcAft>
                <a:spcPts val="100"/>
              </a:spcAft>
            </a:pPr>
            <a:r>
              <a:rPr sz="1150" b="1">
                <a:solidFill>
                  <a:srgbClr val="161B26"/>
                </a:solidFill>
                <a:latin typeface="Arial"/>
              </a:rPr>
              <a:t>LTCM collapses</a:t>
            </a:r>
          </a:p>
          <a:p>
            <a:pPr algn="ctr">
              <a:spcAft>
                <a:spcPts val="100"/>
              </a:spcAft>
            </a:pPr>
            <a:r>
              <a:rPr sz="950" b="0">
                <a:solidFill>
                  <a:srgbClr val="5B6372"/>
                </a:solidFill>
                <a:latin typeface="Arial"/>
              </a:rPr>
              <a:t>Leveraged relative-value fund loses US$4.6bn; Fed-supervised US$3.65bn recapitalisation</a:t>
            </a:r>
          </a:p>
        </p:txBody>
      </p:sp>
      <p:sp>
        <p:nvSpPr>
          <p:cNvPr id="26" name="Oval 25"/>
          <p:cNvSpPr/>
          <p:nvPr/>
        </p:nvSpPr>
        <p:spPr>
          <a:xfrm>
            <a:off x="11201400" y="3858768"/>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1312956" y="4096512"/>
            <a:ext cx="14630" cy="6126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491472" y="4754880"/>
            <a:ext cx="2148840" cy="1371600"/>
          </a:xfrm>
          <a:prstGeom prst="rect">
            <a:avLst/>
          </a:prstGeom>
          <a:noFill/>
        </p:spPr>
        <p:txBody>
          <a:bodyPr wrap="square" anchor="t">
            <a:spAutoFit/>
          </a:bodyPr>
          <a:lstStyle/>
          <a:p>
            <a:pPr algn="ctr">
              <a:spcAft>
                <a:spcPts val="100"/>
              </a:spcAft>
            </a:pPr>
            <a:r>
              <a:rPr sz="1500" b="1">
                <a:solidFill>
                  <a:srgbClr val="10B981"/>
                </a:solidFill>
                <a:latin typeface="Arial"/>
              </a:rPr>
              <a:t>2001</a:t>
            </a:r>
          </a:p>
          <a:p>
            <a:pPr algn="ctr">
              <a:spcAft>
                <a:spcPts val="100"/>
              </a:spcAft>
            </a:pPr>
            <a:r>
              <a:rPr sz="1150" b="1">
                <a:solidFill>
                  <a:srgbClr val="161B26"/>
                </a:solidFill>
                <a:latin typeface="Arial"/>
              </a:rPr>
              <a:t>Decimalisation</a:t>
            </a:r>
          </a:p>
          <a:p>
            <a:pPr algn="ctr">
              <a:spcAft>
                <a:spcPts val="100"/>
              </a:spcAft>
            </a:pPr>
            <a:r>
              <a:rPr sz="950" b="0">
                <a:solidFill>
                  <a:srgbClr val="5B6372"/>
                </a:solidFill>
                <a:latin typeface="Arial"/>
              </a:rPr>
              <a:t>US stocks quote in cents, not 1/16ths; spreads narrow and electronic market making grows</a:t>
            </a: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HISTORY OF QUANT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The Evolution of Quant and Algorithmic Trading (3 of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868680" y="3954779"/>
            <a:ext cx="10451592"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9808" y="3858768"/>
            <a:ext cx="237744" cy="2377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61364" y="3246120"/>
            <a:ext cx="14630" cy="6126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11680"/>
            <a:ext cx="2148840" cy="1234440"/>
          </a:xfrm>
          <a:prstGeom prst="rect">
            <a:avLst/>
          </a:prstGeom>
          <a:noFill/>
        </p:spPr>
        <p:txBody>
          <a:bodyPr wrap="square" anchor="b">
            <a:spAutoFit/>
          </a:bodyPr>
          <a:lstStyle/>
          <a:p>
            <a:pPr algn="ctr">
              <a:spcAft>
                <a:spcPts val="100"/>
              </a:spcAft>
            </a:pPr>
            <a:r>
              <a:rPr sz="1500" b="1">
                <a:solidFill>
                  <a:srgbClr val="1F6FEB"/>
                </a:solidFill>
                <a:latin typeface="Arial"/>
              </a:rPr>
              <a:t>2005</a:t>
            </a:r>
          </a:p>
          <a:p>
            <a:pPr algn="ctr">
              <a:spcAft>
                <a:spcPts val="100"/>
              </a:spcAft>
            </a:pPr>
            <a:r>
              <a:rPr sz="1150" b="1">
                <a:solidFill>
                  <a:srgbClr val="161B26"/>
                </a:solidFill>
                <a:latin typeface="Arial"/>
              </a:rPr>
              <a:t>Regulation NMS</a:t>
            </a:r>
          </a:p>
          <a:p>
            <a:pPr algn="ctr">
              <a:spcAft>
                <a:spcPts val="100"/>
              </a:spcAft>
            </a:pPr>
            <a:r>
              <a:rPr sz="950" b="0">
                <a:solidFill>
                  <a:srgbClr val="5B6372"/>
                </a:solidFill>
                <a:latin typeface="Arial"/>
              </a:rPr>
              <a:t>SEC rule (in force 2007) links venues; fragmentation rewards speed and smart order routing</a:t>
            </a:r>
          </a:p>
        </p:txBody>
      </p:sp>
      <p:sp>
        <p:nvSpPr>
          <p:cNvPr id="14" name="Oval 13"/>
          <p:cNvSpPr/>
          <p:nvPr/>
        </p:nvSpPr>
        <p:spPr>
          <a:xfrm>
            <a:off x="2840126" y="3858768"/>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1683" y="4096512"/>
            <a:ext cx="14630" cy="6126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884578" y="4754880"/>
            <a:ext cx="2148840" cy="1371600"/>
          </a:xfrm>
          <a:prstGeom prst="rect">
            <a:avLst/>
          </a:prstGeom>
          <a:noFill/>
        </p:spPr>
        <p:txBody>
          <a:bodyPr wrap="square" anchor="t">
            <a:spAutoFit/>
          </a:bodyPr>
          <a:lstStyle/>
          <a:p>
            <a:pPr algn="ctr">
              <a:spcAft>
                <a:spcPts val="100"/>
              </a:spcAft>
            </a:pPr>
            <a:r>
              <a:rPr sz="1500" b="1">
                <a:solidFill>
                  <a:srgbClr val="10B981"/>
                </a:solidFill>
                <a:latin typeface="Arial"/>
              </a:rPr>
              <a:t>2007</a:t>
            </a:r>
          </a:p>
          <a:p>
            <a:pPr algn="ctr">
              <a:spcAft>
                <a:spcPts val="100"/>
              </a:spcAft>
            </a:pPr>
            <a:r>
              <a:rPr sz="1150" b="1">
                <a:solidFill>
                  <a:srgbClr val="161B26"/>
                </a:solidFill>
                <a:latin typeface="Arial"/>
              </a:rPr>
              <a:t>The quant quake</a:t>
            </a:r>
          </a:p>
          <a:p>
            <a:pPr algn="ctr">
              <a:spcAft>
                <a:spcPts val="100"/>
              </a:spcAft>
            </a:pPr>
            <a:r>
              <a:rPr sz="950" b="0">
                <a:solidFill>
                  <a:srgbClr val="5B6372"/>
                </a:solidFill>
                <a:latin typeface="Arial"/>
              </a:rPr>
              <a:t>Week of 6 Aug: crowded quant market-neutral funds suffer sudden losses as positions unwind</a:t>
            </a:r>
          </a:p>
        </p:txBody>
      </p:sp>
      <p:sp>
        <p:nvSpPr>
          <p:cNvPr id="17" name="Oval 16"/>
          <p:cNvSpPr/>
          <p:nvPr/>
        </p:nvSpPr>
        <p:spPr>
          <a:xfrm>
            <a:off x="4930444" y="3858768"/>
            <a:ext cx="237744" cy="23774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42001" y="3246120"/>
            <a:ext cx="14630" cy="6126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74896" y="2011680"/>
            <a:ext cx="2148840" cy="1234440"/>
          </a:xfrm>
          <a:prstGeom prst="rect">
            <a:avLst/>
          </a:prstGeom>
          <a:noFill/>
        </p:spPr>
        <p:txBody>
          <a:bodyPr wrap="square" anchor="b">
            <a:spAutoFit/>
          </a:bodyPr>
          <a:lstStyle/>
          <a:p>
            <a:pPr algn="ctr">
              <a:spcAft>
                <a:spcPts val="100"/>
              </a:spcAft>
            </a:pPr>
            <a:r>
              <a:rPr sz="1500" b="1">
                <a:solidFill>
                  <a:srgbClr val="7C3AED"/>
                </a:solidFill>
                <a:latin typeface="Arial"/>
              </a:rPr>
              <a:t>2010</a:t>
            </a:r>
          </a:p>
          <a:p>
            <a:pPr algn="ctr">
              <a:spcAft>
                <a:spcPts val="100"/>
              </a:spcAft>
            </a:pPr>
            <a:r>
              <a:rPr sz="1150" b="1">
                <a:solidFill>
                  <a:srgbClr val="161B26"/>
                </a:solidFill>
                <a:latin typeface="Arial"/>
              </a:rPr>
              <a:t>Flash Crash</a:t>
            </a:r>
          </a:p>
          <a:p>
            <a:pPr algn="ctr">
              <a:spcAft>
                <a:spcPts val="100"/>
              </a:spcAft>
            </a:pPr>
            <a:r>
              <a:rPr sz="950" b="0">
                <a:solidFill>
                  <a:srgbClr val="5B6372"/>
                </a:solidFill>
                <a:latin typeface="Arial"/>
              </a:rPr>
              <a:t>6 May: the Dow drops nearly 1,000 points in minutes after a large algorithmic sell order</a:t>
            </a:r>
          </a:p>
        </p:txBody>
      </p:sp>
      <p:sp>
        <p:nvSpPr>
          <p:cNvPr id="20" name="Oval 19"/>
          <p:cNvSpPr/>
          <p:nvPr/>
        </p:nvSpPr>
        <p:spPr>
          <a:xfrm>
            <a:off x="7020763" y="3858768"/>
            <a:ext cx="237744" cy="23774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32320" y="4096512"/>
            <a:ext cx="14630" cy="6126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65215" y="4754880"/>
            <a:ext cx="2148840" cy="1371600"/>
          </a:xfrm>
          <a:prstGeom prst="rect">
            <a:avLst/>
          </a:prstGeom>
          <a:noFill/>
        </p:spPr>
        <p:txBody>
          <a:bodyPr wrap="square" anchor="t">
            <a:spAutoFit/>
          </a:bodyPr>
          <a:lstStyle/>
          <a:p>
            <a:pPr algn="ctr">
              <a:spcAft>
                <a:spcPts val="100"/>
              </a:spcAft>
            </a:pPr>
            <a:r>
              <a:rPr sz="1500" b="1">
                <a:solidFill>
                  <a:srgbClr val="F59E0B"/>
                </a:solidFill>
                <a:latin typeface="Arial"/>
              </a:rPr>
              <a:t>2010</a:t>
            </a:r>
          </a:p>
          <a:p>
            <a:pPr algn="ctr">
              <a:spcAft>
                <a:spcPts val="100"/>
              </a:spcAft>
            </a:pPr>
            <a:r>
              <a:rPr sz="1150" b="1">
                <a:solidFill>
                  <a:srgbClr val="161B26"/>
                </a:solidFill>
                <a:latin typeface="Arial"/>
              </a:rPr>
              <a:t>The speed race</a:t>
            </a:r>
          </a:p>
          <a:p>
            <a:pPr algn="ctr">
              <a:spcAft>
                <a:spcPts val="100"/>
              </a:spcAft>
            </a:pPr>
            <a:r>
              <a:rPr sz="950" b="0">
                <a:solidFill>
                  <a:srgbClr val="5B6372"/>
                </a:solidFill>
                <a:latin typeface="Arial"/>
              </a:rPr>
              <a:t>US$300m straight fibre New York-Chicago cuts about 3 ms; microwave links soon beat it</a:t>
            </a:r>
          </a:p>
        </p:txBody>
      </p:sp>
      <p:sp>
        <p:nvSpPr>
          <p:cNvPr id="23" name="Oval 22"/>
          <p:cNvSpPr/>
          <p:nvPr/>
        </p:nvSpPr>
        <p:spPr>
          <a:xfrm>
            <a:off x="9111081" y="3858768"/>
            <a:ext cx="237744" cy="2377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22638" y="3246120"/>
            <a:ext cx="14630" cy="6126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55533" y="2011680"/>
            <a:ext cx="2148840" cy="1234440"/>
          </a:xfrm>
          <a:prstGeom prst="rect">
            <a:avLst/>
          </a:prstGeom>
          <a:noFill/>
        </p:spPr>
        <p:txBody>
          <a:bodyPr wrap="square" anchor="b">
            <a:spAutoFit/>
          </a:bodyPr>
          <a:lstStyle/>
          <a:p>
            <a:pPr algn="ctr">
              <a:spcAft>
                <a:spcPts val="100"/>
              </a:spcAft>
            </a:pPr>
            <a:r>
              <a:rPr sz="1500" b="1">
                <a:solidFill>
                  <a:srgbClr val="1F6FEB"/>
                </a:solidFill>
                <a:latin typeface="Arial"/>
              </a:rPr>
              <a:t>2012</a:t>
            </a:r>
          </a:p>
          <a:p>
            <a:pPr algn="ctr">
              <a:spcAft>
                <a:spcPts val="100"/>
              </a:spcAft>
            </a:pPr>
            <a:r>
              <a:rPr sz="1150" b="1">
                <a:solidFill>
                  <a:srgbClr val="161B26"/>
                </a:solidFill>
                <a:latin typeface="Arial"/>
              </a:rPr>
              <a:t>Knight Capital</a:t>
            </a:r>
          </a:p>
          <a:p>
            <a:pPr algn="ctr">
              <a:spcAft>
                <a:spcPts val="100"/>
              </a:spcAft>
            </a:pPr>
            <a:r>
              <a:rPr sz="950" b="0">
                <a:solidFill>
                  <a:srgbClr val="5B6372"/>
                </a:solidFill>
                <a:latin typeface="Arial"/>
              </a:rPr>
              <a:t>A faulty deployment sends millions of orders in 45 minutes; Knight loses over US$460m</a:t>
            </a:r>
          </a:p>
        </p:txBody>
      </p:sp>
      <p:sp>
        <p:nvSpPr>
          <p:cNvPr id="26" name="Oval 25"/>
          <p:cNvSpPr/>
          <p:nvPr/>
        </p:nvSpPr>
        <p:spPr>
          <a:xfrm>
            <a:off x="11201400" y="3858768"/>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1312956" y="4096512"/>
            <a:ext cx="14630" cy="6126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491472" y="4754880"/>
            <a:ext cx="2148840" cy="1371600"/>
          </a:xfrm>
          <a:prstGeom prst="rect">
            <a:avLst/>
          </a:prstGeom>
          <a:noFill/>
        </p:spPr>
        <p:txBody>
          <a:bodyPr wrap="square" anchor="t">
            <a:spAutoFit/>
          </a:bodyPr>
          <a:lstStyle/>
          <a:p>
            <a:pPr algn="ctr">
              <a:spcAft>
                <a:spcPts val="100"/>
              </a:spcAft>
            </a:pPr>
            <a:r>
              <a:rPr sz="1500" b="1">
                <a:solidFill>
                  <a:srgbClr val="10B981"/>
                </a:solidFill>
                <a:latin typeface="Arial"/>
              </a:rPr>
              <a:t>2016</a:t>
            </a:r>
          </a:p>
          <a:p>
            <a:pPr algn="ctr">
              <a:spcAft>
                <a:spcPts val="100"/>
              </a:spcAft>
            </a:pPr>
            <a:r>
              <a:rPr sz="1150" b="1">
                <a:solidFill>
                  <a:srgbClr val="161B26"/>
                </a:solidFill>
                <a:latin typeface="Arial"/>
              </a:rPr>
              <a:t>IEX speed bump</a:t>
            </a:r>
          </a:p>
          <a:p>
            <a:pPr algn="ctr">
              <a:spcAft>
                <a:spcPts val="100"/>
              </a:spcAft>
            </a:pPr>
            <a:r>
              <a:rPr sz="950" b="0">
                <a:solidFill>
                  <a:srgbClr val="5B6372"/>
                </a:solidFill>
                <a:latin typeface="Arial"/>
              </a:rPr>
              <a:t>SEC approves IEX as an exchange with a 350-microsecond delay against latency arbitrage</a:t>
            </a: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HISTORY OF QUANT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The Evolution of Quant and Algorithmic Trading (4 of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868680" y="3954779"/>
            <a:ext cx="10451592"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9808" y="3858768"/>
            <a:ext cx="237744" cy="2377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61364" y="3246120"/>
            <a:ext cx="14630" cy="6126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11680"/>
            <a:ext cx="2148840" cy="1234440"/>
          </a:xfrm>
          <a:prstGeom prst="rect">
            <a:avLst/>
          </a:prstGeom>
          <a:noFill/>
        </p:spPr>
        <p:txBody>
          <a:bodyPr wrap="square" anchor="b">
            <a:spAutoFit/>
          </a:bodyPr>
          <a:lstStyle/>
          <a:p>
            <a:pPr algn="ctr">
              <a:spcAft>
                <a:spcPts val="100"/>
              </a:spcAft>
            </a:pPr>
            <a:r>
              <a:rPr sz="1500" b="1">
                <a:solidFill>
                  <a:srgbClr val="1F6FEB"/>
                </a:solidFill>
                <a:latin typeface="Arial"/>
              </a:rPr>
              <a:t>2018</a:t>
            </a:r>
          </a:p>
          <a:p>
            <a:pPr algn="ctr">
              <a:spcAft>
                <a:spcPts val="100"/>
              </a:spcAft>
            </a:pPr>
            <a:r>
              <a:rPr sz="1150" b="1">
                <a:solidFill>
                  <a:srgbClr val="161B26"/>
                </a:solidFill>
                <a:latin typeface="Arial"/>
              </a:rPr>
              <a:t>MiFID II</a:t>
            </a:r>
          </a:p>
          <a:p>
            <a:pPr algn="ctr">
              <a:spcAft>
                <a:spcPts val="100"/>
              </a:spcAft>
            </a:pPr>
            <a:r>
              <a:rPr sz="950" b="0">
                <a:solidFill>
                  <a:srgbClr val="5B6372"/>
                </a:solidFill>
                <a:latin typeface="Arial"/>
              </a:rPr>
              <a:t>EU requires algorithm testing, kill switches and records; HFT formally defined</a:t>
            </a:r>
          </a:p>
        </p:txBody>
      </p:sp>
      <p:sp>
        <p:nvSpPr>
          <p:cNvPr id="14" name="Oval 13"/>
          <p:cNvSpPr/>
          <p:nvPr/>
        </p:nvSpPr>
        <p:spPr>
          <a:xfrm>
            <a:off x="2840126" y="3858768"/>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1683" y="4096512"/>
            <a:ext cx="14630" cy="6126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884578" y="4754880"/>
            <a:ext cx="2148840" cy="1371600"/>
          </a:xfrm>
          <a:prstGeom prst="rect">
            <a:avLst/>
          </a:prstGeom>
          <a:noFill/>
        </p:spPr>
        <p:txBody>
          <a:bodyPr wrap="square" anchor="t">
            <a:spAutoFit/>
          </a:bodyPr>
          <a:lstStyle/>
          <a:p>
            <a:pPr algn="ctr">
              <a:spcAft>
                <a:spcPts val="100"/>
              </a:spcAft>
            </a:pPr>
            <a:r>
              <a:rPr sz="1500" b="1">
                <a:solidFill>
                  <a:srgbClr val="10B981"/>
                </a:solidFill>
                <a:latin typeface="Arial"/>
              </a:rPr>
              <a:t>2018</a:t>
            </a:r>
          </a:p>
          <a:p>
            <a:pPr algn="ctr">
              <a:spcAft>
                <a:spcPts val="100"/>
              </a:spcAft>
            </a:pPr>
            <a:r>
              <a:rPr sz="1150" b="1">
                <a:solidFill>
                  <a:srgbClr val="161B26"/>
                </a:solidFill>
                <a:latin typeface="Arial"/>
              </a:rPr>
              <a:t>API-first brokers</a:t>
            </a:r>
          </a:p>
          <a:p>
            <a:pPr algn="ctr">
              <a:spcAft>
                <a:spcPts val="100"/>
              </a:spcAft>
            </a:pPr>
            <a:r>
              <a:rPr sz="950" b="0">
                <a:solidFill>
                  <a:srgbClr val="5B6372"/>
                </a:solidFill>
                <a:latin typeface="Arial"/>
              </a:rPr>
              <a:t>Alpaca's commission-free trading API opens algorithmic stock trading to individuals</a:t>
            </a:r>
          </a:p>
        </p:txBody>
      </p:sp>
      <p:sp>
        <p:nvSpPr>
          <p:cNvPr id="17" name="Oval 16"/>
          <p:cNvSpPr/>
          <p:nvPr/>
        </p:nvSpPr>
        <p:spPr>
          <a:xfrm>
            <a:off x="4930444" y="3858768"/>
            <a:ext cx="237744" cy="23774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42001" y="3246120"/>
            <a:ext cx="14630" cy="6126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74896" y="2011680"/>
            <a:ext cx="2148840" cy="1234440"/>
          </a:xfrm>
          <a:prstGeom prst="rect">
            <a:avLst/>
          </a:prstGeom>
          <a:noFill/>
        </p:spPr>
        <p:txBody>
          <a:bodyPr wrap="square" anchor="b">
            <a:spAutoFit/>
          </a:bodyPr>
          <a:lstStyle/>
          <a:p>
            <a:pPr algn="ctr">
              <a:spcAft>
                <a:spcPts val="100"/>
              </a:spcAft>
            </a:pPr>
            <a:r>
              <a:rPr sz="1500" b="1">
                <a:solidFill>
                  <a:srgbClr val="7C3AED"/>
                </a:solidFill>
                <a:latin typeface="Arial"/>
              </a:rPr>
              <a:t>2020</a:t>
            </a:r>
          </a:p>
          <a:p>
            <a:pPr algn="ctr">
              <a:spcAft>
                <a:spcPts val="100"/>
              </a:spcAft>
            </a:pPr>
            <a:r>
              <a:rPr sz="1150" b="1">
                <a:solidFill>
                  <a:srgbClr val="161B26"/>
                </a:solidFill>
                <a:latin typeface="Arial"/>
              </a:rPr>
              <a:t>SGX RegCo algo guide</a:t>
            </a:r>
          </a:p>
          <a:p>
            <a:pPr algn="ctr">
              <a:spcAft>
                <a:spcPts val="100"/>
              </a:spcAft>
            </a:pPr>
            <a:r>
              <a:rPr sz="950" b="0">
                <a:solidFill>
                  <a:srgbClr val="5B6372"/>
                </a:solidFill>
                <a:latin typeface="Arial"/>
              </a:rPr>
              <a:t>Sets expectations for governance, risk controls and testing of algorithms by SGX members</a:t>
            </a:r>
          </a:p>
        </p:txBody>
      </p:sp>
      <p:sp>
        <p:nvSpPr>
          <p:cNvPr id="20" name="Oval 19"/>
          <p:cNvSpPr/>
          <p:nvPr/>
        </p:nvSpPr>
        <p:spPr>
          <a:xfrm>
            <a:off x="7020763" y="3858768"/>
            <a:ext cx="237744" cy="23774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32320" y="4096512"/>
            <a:ext cx="14630" cy="6126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65215" y="4754880"/>
            <a:ext cx="2148840" cy="1371600"/>
          </a:xfrm>
          <a:prstGeom prst="rect">
            <a:avLst/>
          </a:prstGeom>
          <a:noFill/>
        </p:spPr>
        <p:txBody>
          <a:bodyPr wrap="square" anchor="t">
            <a:spAutoFit/>
          </a:bodyPr>
          <a:lstStyle/>
          <a:p>
            <a:pPr algn="ctr">
              <a:spcAft>
                <a:spcPts val="100"/>
              </a:spcAft>
            </a:pPr>
            <a:r>
              <a:rPr sz="1500" b="1">
                <a:solidFill>
                  <a:srgbClr val="F59E0B"/>
                </a:solidFill>
                <a:latin typeface="Arial"/>
              </a:rPr>
              <a:t>2023</a:t>
            </a:r>
          </a:p>
          <a:p>
            <a:pPr algn="ctr">
              <a:spcAft>
                <a:spcPts val="100"/>
              </a:spcAft>
            </a:pPr>
            <a:r>
              <a:rPr sz="1150" b="1">
                <a:solidFill>
                  <a:srgbClr val="161B26"/>
                </a:solidFill>
                <a:latin typeface="Arial"/>
              </a:rPr>
              <a:t>LLM trading signals</a:t>
            </a:r>
          </a:p>
          <a:p>
            <a:pPr algn="ctr">
              <a:spcAft>
                <a:spcPts val="100"/>
              </a:spcAft>
            </a:pPr>
            <a:r>
              <a:rPr sz="950" b="0">
                <a:solidFill>
                  <a:srgbClr val="5B6372"/>
                </a:solidFill>
                <a:latin typeface="Arial"/>
              </a:rPr>
              <a:t>ChatGPT headline sentiment predicts next-day stock returns (Lopez-Lira and Tang)</a:t>
            </a:r>
          </a:p>
        </p:txBody>
      </p:sp>
      <p:sp>
        <p:nvSpPr>
          <p:cNvPr id="23" name="Oval 22"/>
          <p:cNvSpPr/>
          <p:nvPr/>
        </p:nvSpPr>
        <p:spPr>
          <a:xfrm>
            <a:off x="9111081" y="3858768"/>
            <a:ext cx="237744" cy="2377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22638" y="3246120"/>
            <a:ext cx="14630" cy="6126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55533" y="2011680"/>
            <a:ext cx="2148840" cy="1234440"/>
          </a:xfrm>
          <a:prstGeom prst="rect">
            <a:avLst/>
          </a:prstGeom>
          <a:noFill/>
        </p:spPr>
        <p:txBody>
          <a:bodyPr wrap="square" anchor="b">
            <a:spAutoFit/>
          </a:bodyPr>
          <a:lstStyle/>
          <a:p>
            <a:pPr algn="ctr">
              <a:spcAft>
                <a:spcPts val="100"/>
              </a:spcAft>
            </a:pPr>
            <a:r>
              <a:rPr sz="1500" b="1">
                <a:solidFill>
                  <a:srgbClr val="1F6FEB"/>
                </a:solidFill>
                <a:latin typeface="Arial"/>
              </a:rPr>
              <a:t>2024</a:t>
            </a:r>
          </a:p>
          <a:p>
            <a:pPr algn="ctr">
              <a:spcAft>
                <a:spcPts val="100"/>
              </a:spcAft>
            </a:pPr>
            <a:r>
              <a:rPr sz="1150" b="1">
                <a:solidFill>
                  <a:srgbClr val="161B26"/>
                </a:solidFill>
                <a:latin typeface="Arial"/>
              </a:rPr>
              <a:t>Multi-agent LLM trading</a:t>
            </a:r>
          </a:p>
          <a:p>
            <a:pPr algn="ctr">
              <a:spcAft>
                <a:spcPts val="100"/>
              </a:spcAft>
            </a:pPr>
            <a:r>
              <a:rPr sz="950" b="0">
                <a:solidFill>
                  <a:srgbClr val="5B6372"/>
                </a:solidFill>
                <a:latin typeface="Arial"/>
              </a:rPr>
              <a:t>TradingAgents (Dec 2024): analyst, debate, trader and risk agents trade stocks</a:t>
            </a:r>
          </a:p>
        </p:txBody>
      </p:sp>
      <p:sp>
        <p:nvSpPr>
          <p:cNvPr id="26" name="Oval 25"/>
          <p:cNvSpPr/>
          <p:nvPr/>
        </p:nvSpPr>
        <p:spPr>
          <a:xfrm>
            <a:off x="11201400" y="3858768"/>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1312956" y="4096512"/>
            <a:ext cx="14630" cy="6126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491472" y="4754880"/>
            <a:ext cx="2148840" cy="1371600"/>
          </a:xfrm>
          <a:prstGeom prst="rect">
            <a:avLst/>
          </a:prstGeom>
          <a:noFill/>
        </p:spPr>
        <p:txBody>
          <a:bodyPr wrap="square" anchor="t">
            <a:spAutoFit/>
          </a:bodyPr>
          <a:lstStyle/>
          <a:p>
            <a:pPr algn="ctr">
              <a:spcAft>
                <a:spcPts val="100"/>
              </a:spcAft>
            </a:pPr>
            <a:r>
              <a:rPr sz="1500" b="1">
                <a:solidFill>
                  <a:srgbClr val="10B981"/>
                </a:solidFill>
                <a:latin typeface="Arial"/>
              </a:rPr>
              <a:t>2026</a:t>
            </a:r>
          </a:p>
          <a:p>
            <a:pPr algn="ctr">
              <a:spcAft>
                <a:spcPts val="100"/>
              </a:spcAft>
            </a:pPr>
            <a:r>
              <a:rPr sz="1150" b="1">
                <a:solidFill>
                  <a:srgbClr val="161B26"/>
                </a:solidFill>
                <a:latin typeface="Arial"/>
              </a:rPr>
              <a:t>MAS AI Risk Management</a:t>
            </a:r>
          </a:p>
          <a:p>
            <a:pPr algn="ctr">
              <a:spcAft>
                <a:spcPts val="100"/>
              </a:spcAft>
            </a:pPr>
            <a:r>
              <a:rPr sz="950" b="0">
                <a:solidFill>
                  <a:srgbClr val="5B6372"/>
                </a:solidFill>
                <a:latin typeface="Arial"/>
              </a:rPr>
              <a:t>Guidelines issued 7 Oct 2026, effective 7 Oct 2027: AI inventories and lifecycle controls</a:t>
            </a: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PARADIGM SHIFTS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Six Paradigm Shifts in Quant and Algorithmic Trading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115568"/>
          </a:xfrm>
          <a:prstGeom prst="rect">
            <a:avLst/>
          </a:prstGeom>
          <a:noFill/>
        </p:spPr>
        <p:txBody>
          <a:bodyPr wrap="square" anchor="ctr">
            <a:spAutoFit/>
          </a:bodyPr>
          <a:lstStyle/>
          <a:p>
            <a:pPr algn="l">
              <a:spcAft>
                <a:spcPts val="300"/>
              </a:spcAft>
            </a:pPr>
            <a:r>
              <a:rPr sz="1350" b="1">
                <a:solidFill>
                  <a:srgbClr val="161B26"/>
                </a:solidFill>
                <a:latin typeface="Arial"/>
              </a:rPr>
              <a:t>From intuition to probability  ·  1950s-1970s</a:t>
            </a:r>
          </a:p>
          <a:p>
            <a:pPr algn="l">
              <a:spcAft>
                <a:spcPts val="300"/>
              </a:spcAft>
            </a:pPr>
            <a:r>
              <a:rPr sz="950" b="0">
                <a:solidFill>
                  <a:srgbClr val="5B6372"/>
                </a:solidFill>
                <a:latin typeface="Arial"/>
              </a:rPr>
              <a:t>Markowitz, Thorp and Black-Scholes make risk, hedging and option value mathematical</a:t>
            </a:r>
          </a:p>
        </p:txBody>
      </p:sp>
      <p:sp>
        <p:nvSpPr>
          <p:cNvPr id="15" name="Rectangle 14"/>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115568"/>
          </a:xfrm>
          <a:prstGeom prst="rect">
            <a:avLst/>
          </a:prstGeom>
          <a:noFill/>
        </p:spPr>
        <p:txBody>
          <a:bodyPr wrap="square" anchor="ctr">
            <a:spAutoFit/>
          </a:bodyPr>
          <a:lstStyle/>
          <a:p>
            <a:pPr algn="l">
              <a:spcAft>
                <a:spcPts val="300"/>
              </a:spcAft>
            </a:pPr>
            <a:r>
              <a:rPr sz="1350" b="1">
                <a:solidFill>
                  <a:srgbClr val="161B26"/>
                </a:solidFill>
                <a:latin typeface="Arial"/>
              </a:rPr>
              <a:t>From stocks to factors  ·  1970s-1980s</a:t>
            </a:r>
          </a:p>
          <a:p>
            <a:pPr algn="l">
              <a:spcAft>
                <a:spcPts val="300"/>
              </a:spcAft>
            </a:pPr>
            <a:r>
              <a:rPr sz="950" b="0">
                <a:solidFill>
                  <a:srgbClr val="5B6372"/>
                </a:solidFill>
                <a:latin typeface="Arial"/>
              </a:rPr>
              <a:t>Barra factor models and program trading treat portfolios as baskets of risk exposures</a:t>
            </a:r>
          </a:p>
        </p:txBody>
      </p:sp>
      <p:sp>
        <p:nvSpPr>
          <p:cNvPr id="20" name="Rectangle 19"/>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3447288"/>
            <a:ext cx="3973068" cy="1115568"/>
          </a:xfrm>
          <a:prstGeom prst="rect">
            <a:avLst/>
          </a:prstGeom>
          <a:noFill/>
        </p:spPr>
        <p:txBody>
          <a:bodyPr wrap="square" anchor="ctr">
            <a:spAutoFit/>
          </a:bodyPr>
          <a:lstStyle/>
          <a:p>
            <a:pPr algn="l">
              <a:spcAft>
                <a:spcPts val="300"/>
              </a:spcAft>
            </a:pPr>
            <a:r>
              <a:rPr sz="1350" b="1">
                <a:solidFill>
                  <a:srgbClr val="161B26"/>
                </a:solidFill>
                <a:latin typeface="Arial"/>
              </a:rPr>
              <a:t>From factors to statistical arbitrage  ·  1980s-2000s</a:t>
            </a:r>
          </a:p>
          <a:p>
            <a:pPr algn="l">
              <a:spcAft>
                <a:spcPts val="300"/>
              </a:spcAft>
            </a:pPr>
            <a:r>
              <a:rPr sz="950" b="0">
                <a:solidFill>
                  <a:srgbClr val="5B6372"/>
                </a:solidFill>
                <a:latin typeface="Arial"/>
              </a:rPr>
              <a:t>Morgan Stanley's pairs group, D.E. Shaw and Renaissance harvest many small market-neutral edges</a:t>
            </a:r>
          </a:p>
        </p:txBody>
      </p:sp>
      <p:sp>
        <p:nvSpPr>
          <p:cNvPr id="25" name="Rectangle 24"/>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3447288"/>
            <a:ext cx="3973068" cy="1115568"/>
          </a:xfrm>
          <a:prstGeom prst="rect">
            <a:avLst/>
          </a:prstGeom>
          <a:noFill/>
        </p:spPr>
        <p:txBody>
          <a:bodyPr wrap="square" anchor="ctr">
            <a:spAutoFit/>
          </a:bodyPr>
          <a:lstStyle/>
          <a:p>
            <a:pPr algn="l">
              <a:spcAft>
                <a:spcPts val="300"/>
              </a:spcAft>
            </a:pPr>
            <a:r>
              <a:rPr sz="1350" b="1">
                <a:solidFill>
                  <a:srgbClr val="161B26"/>
                </a:solidFill>
                <a:latin typeface="Arial"/>
              </a:rPr>
              <a:t>From floors to electronic speed  ·  1996-2010s</a:t>
            </a:r>
          </a:p>
          <a:p>
            <a:pPr algn="l">
              <a:spcAft>
                <a:spcPts val="300"/>
              </a:spcAft>
            </a:pPr>
            <a:r>
              <a:rPr sz="950" b="0">
                <a:solidFill>
                  <a:srgbClr val="5B6372"/>
                </a:solidFill>
                <a:latin typeface="Arial"/>
              </a:rPr>
              <a:t>ECNs, decimalisation and Reg NMS enable HFT: co-location, microwave links, microseconds</a:t>
            </a:r>
          </a:p>
        </p:txBody>
      </p:sp>
      <p:sp>
        <p:nvSpPr>
          <p:cNvPr id="30" name="Rectangle 29"/>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4" name="TextBox 33"/>
          <p:cNvSpPr txBox="1"/>
          <p:nvPr/>
        </p:nvSpPr>
        <p:spPr>
          <a:xfrm>
            <a:off x="1764792" y="4983480"/>
            <a:ext cx="3973068" cy="1115568"/>
          </a:xfrm>
          <a:prstGeom prst="rect">
            <a:avLst/>
          </a:prstGeom>
          <a:noFill/>
        </p:spPr>
        <p:txBody>
          <a:bodyPr wrap="square" anchor="ctr">
            <a:spAutoFit/>
          </a:bodyPr>
          <a:lstStyle/>
          <a:p>
            <a:pPr algn="l">
              <a:spcAft>
                <a:spcPts val="300"/>
              </a:spcAft>
            </a:pPr>
            <a:r>
              <a:rPr sz="1350" b="1">
                <a:solidFill>
                  <a:srgbClr val="161B26"/>
                </a:solidFill>
                <a:latin typeface="Arial"/>
              </a:rPr>
              <a:t>From statistics to machine learning  ·  2000s-2010s</a:t>
            </a:r>
          </a:p>
          <a:p>
            <a:pPr algn="l">
              <a:spcAft>
                <a:spcPts val="300"/>
              </a:spcAft>
            </a:pPr>
            <a:r>
              <a:rPr sz="950" b="0">
                <a:solidFill>
                  <a:srgbClr val="5B6372"/>
                </a:solidFill>
                <a:latin typeface="Arial"/>
              </a:rPr>
              <a:t>Models learn non-linear patterns from prices, order books and alternative data</a:t>
            </a:r>
          </a:p>
        </p:txBody>
      </p:sp>
      <p:sp>
        <p:nvSpPr>
          <p:cNvPr id="35" name="Rectangle 34"/>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9" name="TextBox 38"/>
          <p:cNvSpPr txBox="1"/>
          <p:nvPr/>
        </p:nvSpPr>
        <p:spPr>
          <a:xfrm>
            <a:off x="7219188" y="4983480"/>
            <a:ext cx="3973068" cy="1115568"/>
          </a:xfrm>
          <a:prstGeom prst="rect">
            <a:avLst/>
          </a:prstGeom>
          <a:noFill/>
        </p:spPr>
        <p:txBody>
          <a:bodyPr wrap="square" anchor="ctr">
            <a:spAutoFit/>
          </a:bodyPr>
          <a:lstStyle/>
          <a:p>
            <a:pPr algn="l">
              <a:spcAft>
                <a:spcPts val="300"/>
              </a:spcAft>
            </a:pPr>
            <a:r>
              <a:rPr sz="1350" b="1">
                <a:solidFill>
                  <a:srgbClr val="161B26"/>
                </a:solidFill>
                <a:latin typeface="Arial"/>
              </a:rPr>
              <a:t>From writing code to directing AI  ·  2023-present</a:t>
            </a:r>
          </a:p>
          <a:p>
            <a:pPr algn="l">
              <a:spcAft>
                <a:spcPts val="300"/>
              </a:spcAft>
            </a:pPr>
            <a:r>
              <a:rPr sz="950" b="0">
                <a:solidFill>
                  <a:srgbClr val="5B6372"/>
                </a:solidFill>
                <a:latin typeface="Arial"/>
              </a:rPr>
              <a:t>AI writes and runs the code; quants own the big concepts - hypothesis, algorithm logic, testing, risk</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Why Algorithms - and What Can Go Wrong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102352" cy="4206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510235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57400"/>
            <a:ext cx="4645152" cy="365760"/>
          </a:xfrm>
          <a:prstGeom prst="rect">
            <a:avLst/>
          </a:prstGeom>
          <a:noFill/>
        </p:spPr>
        <p:txBody>
          <a:bodyPr wrap="square" anchor="t">
            <a:spAutoFit/>
          </a:bodyPr>
          <a:lstStyle/>
          <a:p>
            <a:pPr algn="l">
              <a:spcAft>
                <a:spcPts val="400"/>
              </a:spcAft>
            </a:pPr>
            <a:r>
              <a:rPr sz="1500" b="1">
                <a:solidFill>
                  <a:srgbClr val="1F6FEB"/>
                </a:solidFill>
                <a:latin typeface="Arial"/>
              </a:rPr>
              <a:t>Benefits</a:t>
            </a:r>
          </a:p>
        </p:txBody>
      </p:sp>
      <p:sp>
        <p:nvSpPr>
          <p:cNvPr id="10" name="TextBox 9"/>
          <p:cNvSpPr txBox="1"/>
          <p:nvPr/>
        </p:nvSpPr>
        <p:spPr>
          <a:xfrm>
            <a:off x="1005840" y="2514600"/>
            <a:ext cx="4645152" cy="3291840"/>
          </a:xfrm>
          <a:prstGeom prst="rect">
            <a:avLst/>
          </a:prstGeom>
          <a:noFill/>
        </p:spPr>
        <p:txBody>
          <a:bodyPr wrap="square">
            <a:spAutoFit/>
          </a:bodyPr>
          <a:lstStyle/>
          <a:p>
            <a:pPr>
              <a:spcAft>
                <a:spcPts val="800"/>
              </a:spcAft>
            </a:pPr>
            <a:r>
              <a:rPr sz="1250">
                <a:solidFill>
                  <a:srgbClr val="161B26"/>
                </a:solidFill>
                <a:latin typeface="Arial"/>
              </a:rPr>
              <a:t>•  Speed: reacts and executes in milliseconds</a:t>
            </a:r>
          </a:p>
          <a:p>
            <a:pPr>
              <a:spcAft>
                <a:spcPts val="800"/>
              </a:spcAft>
            </a:pPr>
            <a:r>
              <a:rPr sz="1250">
                <a:solidFill>
                  <a:srgbClr val="161B26"/>
                </a:solidFill>
                <a:latin typeface="Arial"/>
              </a:rPr>
              <a:t>•  Discipline: rules remove fear, greed and fatigue</a:t>
            </a:r>
          </a:p>
          <a:p>
            <a:pPr>
              <a:spcAft>
                <a:spcPts val="800"/>
              </a:spcAft>
            </a:pPr>
            <a:r>
              <a:rPr sz="1250">
                <a:solidFill>
                  <a:srgbClr val="161B26"/>
                </a:solidFill>
                <a:latin typeface="Arial"/>
              </a:rPr>
              <a:t>•  Backtesting: test ideas on historical data first</a:t>
            </a:r>
          </a:p>
          <a:p>
            <a:pPr>
              <a:spcAft>
                <a:spcPts val="800"/>
              </a:spcAft>
            </a:pPr>
            <a:r>
              <a:rPr sz="1250">
                <a:solidFill>
                  <a:srgbClr val="161B26"/>
                </a:solidFill>
                <a:latin typeface="Arial"/>
              </a:rPr>
              <a:t>•  Lower costs: split large orders to reduce market impact</a:t>
            </a:r>
          </a:p>
          <a:p>
            <a:pPr>
              <a:spcAft>
                <a:spcPts val="800"/>
              </a:spcAft>
            </a:pPr>
            <a:r>
              <a:rPr sz="1250">
                <a:solidFill>
                  <a:srgbClr val="161B26"/>
                </a:solidFill>
                <a:latin typeface="Arial"/>
              </a:rPr>
              <a:t>•  Scale: monitors many markets and assets around the clock</a:t>
            </a:r>
          </a:p>
        </p:txBody>
      </p:sp>
      <p:sp>
        <p:nvSpPr>
          <p:cNvPr id="11" name="Rectangle 10"/>
          <p:cNvSpPr/>
          <p:nvPr/>
        </p:nvSpPr>
        <p:spPr>
          <a:xfrm>
            <a:off x="6309360" y="1828800"/>
            <a:ext cx="5102352" cy="4206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828800"/>
            <a:ext cx="510235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7960" y="2057400"/>
            <a:ext cx="4645152" cy="365760"/>
          </a:xfrm>
          <a:prstGeom prst="rect">
            <a:avLst/>
          </a:prstGeom>
          <a:noFill/>
        </p:spPr>
        <p:txBody>
          <a:bodyPr wrap="square" anchor="t">
            <a:spAutoFit/>
          </a:bodyPr>
          <a:lstStyle/>
          <a:p>
            <a:pPr algn="l">
              <a:spcAft>
                <a:spcPts val="400"/>
              </a:spcAft>
            </a:pPr>
            <a:r>
              <a:rPr sz="1500" b="1">
                <a:solidFill>
                  <a:srgbClr val="10B981"/>
                </a:solidFill>
                <a:latin typeface="Arial"/>
              </a:rPr>
              <a:t>Risks</a:t>
            </a:r>
          </a:p>
        </p:txBody>
      </p:sp>
      <p:sp>
        <p:nvSpPr>
          <p:cNvPr id="14" name="TextBox 13"/>
          <p:cNvSpPr txBox="1"/>
          <p:nvPr/>
        </p:nvSpPr>
        <p:spPr>
          <a:xfrm>
            <a:off x="6537960" y="2514600"/>
            <a:ext cx="4645152" cy="3291840"/>
          </a:xfrm>
          <a:prstGeom prst="rect">
            <a:avLst/>
          </a:prstGeom>
          <a:noFill/>
        </p:spPr>
        <p:txBody>
          <a:bodyPr wrap="square">
            <a:spAutoFit/>
          </a:bodyPr>
          <a:lstStyle/>
          <a:p>
            <a:pPr>
              <a:spcAft>
                <a:spcPts val="800"/>
              </a:spcAft>
            </a:pPr>
            <a:r>
              <a:rPr sz="1250">
                <a:solidFill>
                  <a:srgbClr val="161B26"/>
                </a:solidFill>
                <a:latin typeface="Arial"/>
              </a:rPr>
              <a:t>•  Technical failure: bugs and outages (Knight Capital, 2012)</a:t>
            </a:r>
          </a:p>
          <a:p>
            <a:pPr>
              <a:spcAft>
                <a:spcPts val="800"/>
              </a:spcAft>
            </a:pPr>
            <a:r>
              <a:rPr sz="1250">
                <a:solidFill>
                  <a:srgbClr val="161B26"/>
                </a:solidFill>
                <a:latin typeface="Arial"/>
              </a:rPr>
              <a:t>•  Overfitting: great backtests that fail on live data</a:t>
            </a:r>
          </a:p>
          <a:p>
            <a:pPr>
              <a:spcAft>
                <a:spcPts val="800"/>
              </a:spcAft>
            </a:pPr>
            <a:r>
              <a:rPr sz="1250">
                <a:solidFill>
                  <a:srgbClr val="161B26"/>
                </a:solidFill>
                <a:latin typeface="Arial"/>
              </a:rPr>
              <a:t>•  Black swans and regime change the model has never seen</a:t>
            </a:r>
          </a:p>
          <a:p>
            <a:pPr>
              <a:spcAft>
                <a:spcPts val="800"/>
              </a:spcAft>
            </a:pPr>
            <a:r>
              <a:rPr sz="1250">
                <a:solidFill>
                  <a:srgbClr val="161B26"/>
                </a:solidFill>
                <a:latin typeface="Arial"/>
              </a:rPr>
              <a:t>•  Feedback loops between algorithms (2010 Flash Crash)</a:t>
            </a:r>
          </a:p>
          <a:p>
            <a:pPr>
              <a:spcAft>
                <a:spcPts val="800"/>
              </a:spcAft>
            </a:pPr>
            <a:r>
              <a:rPr sz="1250">
                <a:solidFill>
                  <a:srgbClr val="161B26"/>
                </a:solidFill>
                <a:latin typeface="Arial"/>
              </a:rPr>
              <a:t>•  Set-up, data and compliance costs; no guaranteed profit</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AI IN TRADING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Eras of AI in Trading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Symbolic AI  ·  1956-1980s</a:t>
            </a:r>
          </a:p>
          <a:p>
            <a:pPr algn="l">
              <a:spcAft>
                <a:spcPts val="300"/>
              </a:spcAft>
            </a:pPr>
            <a:r>
              <a:rPr sz="1000" b="0">
                <a:solidFill>
                  <a:srgbClr val="5B6372"/>
                </a:solidFill>
                <a:latin typeface="Arial"/>
              </a:rPr>
              <a:t>Hand-written rules: expert systems and rule-based program trading; brittle when markets change</a:t>
            </a:r>
          </a:p>
        </p:txBody>
      </p:sp>
      <p:sp>
        <p:nvSpPr>
          <p:cNvPr id="15" name="Rectangle 14"/>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1764792" y="2832811"/>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Machine learning  ·  1990s-2000s</a:t>
            </a:r>
          </a:p>
          <a:p>
            <a:pPr algn="l">
              <a:spcAft>
                <a:spcPts val="300"/>
              </a:spcAft>
            </a:pPr>
            <a:r>
              <a:rPr sz="1000" b="0">
                <a:solidFill>
                  <a:srgbClr val="5B6372"/>
                </a:solidFill>
                <a:latin typeface="Arial"/>
              </a:rPr>
              <a:t>Models learn from data: regression, tree and boosting signals; statistical arbitrage at scale</a:t>
            </a:r>
          </a:p>
        </p:txBody>
      </p:sp>
      <p:sp>
        <p:nvSpPr>
          <p:cNvPr id="20" name="Rectangle 19"/>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375452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Deep learning  ·  2012-2017</a:t>
            </a:r>
          </a:p>
          <a:p>
            <a:pPr algn="l">
              <a:spcAft>
                <a:spcPts val="300"/>
              </a:spcAft>
            </a:pPr>
            <a:r>
              <a:rPr sz="1000" b="0">
                <a:solidFill>
                  <a:srgbClr val="5B6372"/>
                </a:solidFill>
                <a:latin typeface="Arial"/>
              </a:rPr>
              <a:t>Many-layer networks on GPUs find non-linear patterns in prices, order books and alternative data</a:t>
            </a:r>
          </a:p>
        </p:txBody>
      </p:sp>
      <p:sp>
        <p:nvSpPr>
          <p:cNvPr id="25" name="Rectangle 24"/>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1764792" y="4676241"/>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Generative AI  ·  2017-2023</a:t>
            </a:r>
          </a:p>
          <a:p>
            <a:pPr algn="l">
              <a:spcAft>
                <a:spcPts val="300"/>
              </a:spcAft>
            </a:pPr>
            <a:r>
              <a:rPr sz="1000" b="0">
                <a:solidFill>
                  <a:srgbClr val="5B6372"/>
                </a:solidFill>
                <a:latin typeface="Arial"/>
              </a:rPr>
              <a:t>Transformers and LLMs turn news, filings and earnings calls into trading signals</a:t>
            </a:r>
          </a:p>
        </p:txBody>
      </p:sp>
      <p:sp>
        <p:nvSpPr>
          <p:cNvPr id="30" name="Rectangle 29"/>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4" name="TextBox 33"/>
          <p:cNvSpPr txBox="1"/>
          <p:nvPr/>
        </p:nvSpPr>
        <p:spPr>
          <a:xfrm>
            <a:off x="1764792" y="559795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Agentic AI  ·  2024-present</a:t>
            </a:r>
          </a:p>
          <a:p>
            <a:pPr algn="l">
              <a:spcAft>
                <a:spcPts val="300"/>
              </a:spcAft>
            </a:pPr>
            <a:r>
              <a:rPr sz="1000" b="0">
                <a:solidFill>
                  <a:srgbClr val="5B6372"/>
                </a:solidFill>
                <a:latin typeface="Arial"/>
              </a:rPr>
              <a:t>LLM agents research, code, backtest and paper-trade strategies under hard risk limits</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AI IN TRADING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AI Milestones and Their Trading Counterparts (1 of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868680" y="3954779"/>
            <a:ext cx="10451592"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9808" y="3858768"/>
            <a:ext cx="237744" cy="2377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61364" y="3246120"/>
            <a:ext cx="14630" cy="6126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11680"/>
            <a:ext cx="2148840" cy="1234440"/>
          </a:xfrm>
          <a:prstGeom prst="rect">
            <a:avLst/>
          </a:prstGeom>
          <a:noFill/>
        </p:spPr>
        <p:txBody>
          <a:bodyPr wrap="square" anchor="b">
            <a:spAutoFit/>
          </a:bodyPr>
          <a:lstStyle/>
          <a:p>
            <a:pPr algn="ctr">
              <a:spcAft>
                <a:spcPts val="100"/>
              </a:spcAft>
            </a:pPr>
            <a:r>
              <a:rPr sz="1500" b="1">
                <a:solidFill>
                  <a:srgbClr val="1F6FEB"/>
                </a:solidFill>
                <a:latin typeface="Arial"/>
              </a:rPr>
              <a:t>1950</a:t>
            </a:r>
          </a:p>
          <a:p>
            <a:pPr algn="ctr">
              <a:spcAft>
                <a:spcPts val="100"/>
              </a:spcAft>
            </a:pPr>
            <a:r>
              <a:rPr sz="1150" b="1">
                <a:solidFill>
                  <a:srgbClr val="161B26"/>
                </a:solidFill>
                <a:latin typeface="Arial"/>
              </a:rPr>
              <a:t>Turing Test</a:t>
            </a:r>
          </a:p>
          <a:p>
            <a:pPr algn="ctr">
              <a:spcAft>
                <a:spcPts val="100"/>
              </a:spcAft>
            </a:pPr>
            <a:r>
              <a:rPr sz="950" b="0">
                <a:solidFill>
                  <a:srgbClr val="5B6372"/>
                </a:solidFill>
                <a:latin typeface="Arial"/>
              </a:rPr>
              <a:t>Turing asks if machines can think; in 1952 Markowitz turns portfolio choice into maths</a:t>
            </a:r>
          </a:p>
        </p:txBody>
      </p:sp>
      <p:sp>
        <p:nvSpPr>
          <p:cNvPr id="14" name="Oval 13"/>
          <p:cNvSpPr/>
          <p:nvPr/>
        </p:nvSpPr>
        <p:spPr>
          <a:xfrm>
            <a:off x="2491740" y="3858768"/>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03296" y="4096512"/>
            <a:ext cx="14630" cy="6126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536192" y="4754880"/>
            <a:ext cx="2148840" cy="1371600"/>
          </a:xfrm>
          <a:prstGeom prst="rect">
            <a:avLst/>
          </a:prstGeom>
          <a:noFill/>
        </p:spPr>
        <p:txBody>
          <a:bodyPr wrap="square" anchor="t">
            <a:spAutoFit/>
          </a:bodyPr>
          <a:lstStyle/>
          <a:p>
            <a:pPr algn="ctr">
              <a:spcAft>
                <a:spcPts val="100"/>
              </a:spcAft>
            </a:pPr>
            <a:r>
              <a:rPr sz="1500" b="1">
                <a:solidFill>
                  <a:srgbClr val="10B981"/>
                </a:solidFill>
                <a:latin typeface="Arial"/>
              </a:rPr>
              <a:t>1956</a:t>
            </a:r>
          </a:p>
          <a:p>
            <a:pPr algn="ctr">
              <a:spcAft>
                <a:spcPts val="100"/>
              </a:spcAft>
            </a:pPr>
            <a:r>
              <a:rPr sz="1150" b="1">
                <a:solidFill>
                  <a:srgbClr val="161B26"/>
                </a:solidFill>
                <a:latin typeface="Arial"/>
              </a:rPr>
              <a:t>'AI' is named</a:t>
            </a:r>
          </a:p>
          <a:p>
            <a:pPr algn="ctr">
              <a:spcAft>
                <a:spcPts val="100"/>
              </a:spcAft>
            </a:pPr>
            <a:r>
              <a:rPr sz="950" b="0">
                <a:solidFill>
                  <a:srgbClr val="5B6372"/>
                </a:solidFill>
                <a:latin typeface="Arial"/>
              </a:rPr>
              <a:t>AI becomes a field; Ed Thorp soon applies computers and probability to blackjack, then markets</a:t>
            </a:r>
          </a:p>
        </p:txBody>
      </p:sp>
      <p:sp>
        <p:nvSpPr>
          <p:cNvPr id="17" name="Oval 16"/>
          <p:cNvSpPr/>
          <p:nvPr/>
        </p:nvSpPr>
        <p:spPr>
          <a:xfrm>
            <a:off x="4233672" y="3858768"/>
            <a:ext cx="237744" cy="23774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45228" y="3246120"/>
            <a:ext cx="14630" cy="6126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278124" y="2011680"/>
            <a:ext cx="2148840" cy="1234440"/>
          </a:xfrm>
          <a:prstGeom prst="rect">
            <a:avLst/>
          </a:prstGeom>
          <a:noFill/>
        </p:spPr>
        <p:txBody>
          <a:bodyPr wrap="square" anchor="b">
            <a:spAutoFit/>
          </a:bodyPr>
          <a:lstStyle/>
          <a:p>
            <a:pPr algn="ctr">
              <a:spcAft>
                <a:spcPts val="100"/>
              </a:spcAft>
            </a:pPr>
            <a:r>
              <a:rPr sz="1500" b="1">
                <a:solidFill>
                  <a:srgbClr val="7C3AED"/>
                </a:solidFill>
                <a:latin typeface="Arial"/>
              </a:rPr>
              <a:t>1980s</a:t>
            </a:r>
          </a:p>
          <a:p>
            <a:pPr algn="ctr">
              <a:spcAft>
                <a:spcPts val="100"/>
              </a:spcAft>
            </a:pPr>
            <a:r>
              <a:rPr sz="1150" b="1">
                <a:solidFill>
                  <a:srgbClr val="161B26"/>
                </a:solidFill>
                <a:latin typeface="Arial"/>
              </a:rPr>
              <a:t>Expert systems</a:t>
            </a:r>
          </a:p>
          <a:p>
            <a:pPr algn="ctr">
              <a:spcAft>
                <a:spcPts val="100"/>
              </a:spcAft>
            </a:pPr>
            <a:r>
              <a:rPr sz="950" b="0">
                <a:solidFill>
                  <a:srgbClr val="5B6372"/>
                </a:solidFill>
                <a:latin typeface="Arial"/>
              </a:rPr>
              <a:t>Hand-written if-then rules - the same logic as the rule-based program trading of the 1980s</a:t>
            </a:r>
          </a:p>
        </p:txBody>
      </p:sp>
      <p:sp>
        <p:nvSpPr>
          <p:cNvPr id="20" name="Oval 19"/>
          <p:cNvSpPr/>
          <p:nvPr/>
        </p:nvSpPr>
        <p:spPr>
          <a:xfrm>
            <a:off x="5975604" y="3858768"/>
            <a:ext cx="237744" cy="23774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7160" y="4096512"/>
            <a:ext cx="14630" cy="6126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0056" y="4754880"/>
            <a:ext cx="2148840" cy="1371600"/>
          </a:xfrm>
          <a:prstGeom prst="rect">
            <a:avLst/>
          </a:prstGeom>
          <a:noFill/>
        </p:spPr>
        <p:txBody>
          <a:bodyPr wrap="square" anchor="t">
            <a:spAutoFit/>
          </a:bodyPr>
          <a:lstStyle/>
          <a:p>
            <a:pPr algn="ctr">
              <a:spcAft>
                <a:spcPts val="100"/>
              </a:spcAft>
            </a:pPr>
            <a:r>
              <a:rPr sz="1500" b="1">
                <a:solidFill>
                  <a:srgbClr val="F59E0B"/>
                </a:solidFill>
                <a:latin typeface="Arial"/>
              </a:rPr>
              <a:t>1986</a:t>
            </a:r>
          </a:p>
          <a:p>
            <a:pPr algn="ctr">
              <a:spcAft>
                <a:spcPts val="100"/>
              </a:spcAft>
            </a:pPr>
            <a:r>
              <a:rPr sz="1150" b="1">
                <a:solidFill>
                  <a:srgbClr val="161B26"/>
                </a:solidFill>
                <a:latin typeface="Arial"/>
              </a:rPr>
              <a:t>Backpropagation</a:t>
            </a:r>
          </a:p>
          <a:p>
            <a:pPr algn="ctr">
              <a:spcAft>
                <a:spcPts val="100"/>
              </a:spcAft>
            </a:pPr>
            <a:r>
              <a:rPr sz="950" b="0">
                <a:solidFill>
                  <a:srgbClr val="5B6372"/>
                </a:solidFill>
                <a:latin typeface="Arial"/>
              </a:rPr>
              <a:t>Multi-layer neural networks become trainable - the ancestor of today's price-prediction nets</a:t>
            </a:r>
          </a:p>
        </p:txBody>
      </p:sp>
      <p:sp>
        <p:nvSpPr>
          <p:cNvPr id="23" name="Oval 22"/>
          <p:cNvSpPr/>
          <p:nvPr/>
        </p:nvSpPr>
        <p:spPr>
          <a:xfrm>
            <a:off x="7717536" y="3858768"/>
            <a:ext cx="237744" cy="2377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829092" y="3246120"/>
            <a:ext cx="14630" cy="6126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61988" y="2011680"/>
            <a:ext cx="2148840" cy="1234440"/>
          </a:xfrm>
          <a:prstGeom prst="rect">
            <a:avLst/>
          </a:prstGeom>
          <a:noFill/>
        </p:spPr>
        <p:txBody>
          <a:bodyPr wrap="square" anchor="b">
            <a:spAutoFit/>
          </a:bodyPr>
          <a:lstStyle/>
          <a:p>
            <a:pPr algn="ctr">
              <a:spcAft>
                <a:spcPts val="100"/>
              </a:spcAft>
            </a:pPr>
            <a:r>
              <a:rPr sz="1500" b="1">
                <a:solidFill>
                  <a:srgbClr val="1F6FEB"/>
                </a:solidFill>
                <a:latin typeface="Arial"/>
              </a:rPr>
              <a:t>1988</a:t>
            </a:r>
          </a:p>
          <a:p>
            <a:pPr algn="ctr">
              <a:spcAft>
                <a:spcPts val="100"/>
              </a:spcAft>
            </a:pPr>
            <a:r>
              <a:rPr sz="1150" b="1">
                <a:solidFill>
                  <a:srgbClr val="161B26"/>
                </a:solidFill>
                <a:latin typeface="Arial"/>
              </a:rPr>
              <a:t>Models trade markets</a:t>
            </a:r>
          </a:p>
          <a:p>
            <a:pPr algn="ctr">
              <a:spcAft>
                <a:spcPts val="100"/>
              </a:spcAft>
            </a:pPr>
            <a:r>
              <a:rPr sz="950" b="0">
                <a:solidFill>
                  <a:srgbClr val="5B6372"/>
                </a:solidFill>
                <a:latin typeface="Arial"/>
              </a:rPr>
              <a:t>Renaissance's Medallion fund launches, trading purely on mathematical models of market data</a:t>
            </a:r>
          </a:p>
        </p:txBody>
      </p:sp>
      <p:sp>
        <p:nvSpPr>
          <p:cNvPr id="26" name="Oval 25"/>
          <p:cNvSpPr/>
          <p:nvPr/>
        </p:nvSpPr>
        <p:spPr>
          <a:xfrm>
            <a:off x="9459468" y="3858768"/>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571024" y="4096512"/>
            <a:ext cx="14630" cy="6126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03920" y="4754880"/>
            <a:ext cx="2148840" cy="1371600"/>
          </a:xfrm>
          <a:prstGeom prst="rect">
            <a:avLst/>
          </a:prstGeom>
          <a:noFill/>
        </p:spPr>
        <p:txBody>
          <a:bodyPr wrap="square" anchor="t">
            <a:spAutoFit/>
          </a:bodyPr>
          <a:lstStyle/>
          <a:p>
            <a:pPr algn="ctr">
              <a:spcAft>
                <a:spcPts val="100"/>
              </a:spcAft>
            </a:pPr>
            <a:r>
              <a:rPr sz="1500" b="1">
                <a:solidFill>
                  <a:srgbClr val="10B981"/>
                </a:solidFill>
                <a:latin typeface="Arial"/>
              </a:rPr>
              <a:t>1997</a:t>
            </a:r>
          </a:p>
          <a:p>
            <a:pPr algn="ctr">
              <a:spcAft>
                <a:spcPts val="100"/>
              </a:spcAft>
            </a:pPr>
            <a:r>
              <a:rPr sz="1150" b="1">
                <a:solidFill>
                  <a:srgbClr val="161B26"/>
                </a:solidFill>
                <a:latin typeface="Arial"/>
              </a:rPr>
              <a:t>Deep Blue</a:t>
            </a:r>
          </a:p>
          <a:p>
            <a:pPr algn="ctr">
              <a:spcAft>
                <a:spcPts val="100"/>
              </a:spcAft>
            </a:pPr>
            <a:r>
              <a:rPr sz="950" b="0">
                <a:solidFill>
                  <a:srgbClr val="5B6372"/>
                </a:solidFill>
                <a:latin typeface="Arial"/>
              </a:rPr>
              <a:t>IBM beats Kasparov at chess; computer-driven quant firms such as D.E. Shaw are already trading</a:t>
            </a:r>
          </a:p>
        </p:txBody>
      </p:sp>
      <p:sp>
        <p:nvSpPr>
          <p:cNvPr id="29" name="Oval 28"/>
          <p:cNvSpPr/>
          <p:nvPr/>
        </p:nvSpPr>
        <p:spPr>
          <a:xfrm>
            <a:off x="11201400" y="3858768"/>
            <a:ext cx="237744" cy="23774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312956" y="3246120"/>
            <a:ext cx="14630" cy="6126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491472" y="2011680"/>
            <a:ext cx="2148840" cy="1234440"/>
          </a:xfrm>
          <a:prstGeom prst="rect">
            <a:avLst/>
          </a:prstGeom>
          <a:noFill/>
        </p:spPr>
        <p:txBody>
          <a:bodyPr wrap="square" anchor="b">
            <a:spAutoFit/>
          </a:bodyPr>
          <a:lstStyle/>
          <a:p>
            <a:pPr algn="ctr">
              <a:spcAft>
                <a:spcPts val="100"/>
              </a:spcAft>
            </a:pPr>
            <a:r>
              <a:rPr sz="1500" b="1">
                <a:solidFill>
                  <a:srgbClr val="7C3AED"/>
                </a:solidFill>
                <a:latin typeface="Arial"/>
              </a:rPr>
              <a:t>2012</a:t>
            </a:r>
          </a:p>
          <a:p>
            <a:pPr algn="ctr">
              <a:spcAft>
                <a:spcPts val="100"/>
              </a:spcAft>
            </a:pPr>
            <a:r>
              <a:rPr sz="1150" b="1">
                <a:solidFill>
                  <a:srgbClr val="161B26"/>
                </a:solidFill>
                <a:latin typeface="Arial"/>
              </a:rPr>
              <a:t>Deep learning</a:t>
            </a:r>
          </a:p>
          <a:p>
            <a:pPr algn="ctr">
              <a:spcAft>
                <a:spcPts val="100"/>
              </a:spcAft>
            </a:pPr>
            <a:r>
              <a:rPr sz="950" b="0">
                <a:solidFill>
                  <a:srgbClr val="5B6372"/>
                </a:solidFill>
                <a:latin typeface="Arial"/>
              </a:rPr>
              <a:t>GPU-trained deep networks win ImageNet; deep learning becomes a new tool for market data</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AI IN TRADING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AI Milestones and Their Trading Counterparts (2 of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868680" y="3954779"/>
            <a:ext cx="10451592"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9808" y="3858768"/>
            <a:ext cx="237744" cy="2377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61364" y="3246120"/>
            <a:ext cx="14630" cy="6126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11680"/>
            <a:ext cx="2148840" cy="1234440"/>
          </a:xfrm>
          <a:prstGeom prst="rect">
            <a:avLst/>
          </a:prstGeom>
          <a:noFill/>
        </p:spPr>
        <p:txBody>
          <a:bodyPr wrap="square" anchor="b">
            <a:spAutoFit/>
          </a:bodyPr>
          <a:lstStyle/>
          <a:p>
            <a:pPr algn="ctr">
              <a:spcAft>
                <a:spcPts val="100"/>
              </a:spcAft>
            </a:pPr>
            <a:r>
              <a:rPr sz="1500" b="1">
                <a:solidFill>
                  <a:srgbClr val="1F6FEB"/>
                </a:solidFill>
                <a:latin typeface="Arial"/>
              </a:rPr>
              <a:t>2016</a:t>
            </a:r>
          </a:p>
          <a:p>
            <a:pPr algn="ctr">
              <a:spcAft>
                <a:spcPts val="100"/>
              </a:spcAft>
            </a:pPr>
            <a:r>
              <a:rPr sz="1150" b="1">
                <a:solidFill>
                  <a:srgbClr val="161B26"/>
                </a:solidFill>
                <a:latin typeface="Arial"/>
              </a:rPr>
              <a:t>AlphaGo</a:t>
            </a:r>
          </a:p>
          <a:p>
            <a:pPr algn="ctr">
              <a:spcAft>
                <a:spcPts val="100"/>
              </a:spcAft>
            </a:pPr>
            <a:r>
              <a:rPr sz="950" b="0">
                <a:solidFill>
                  <a:srgbClr val="5B6372"/>
                </a:solidFill>
                <a:latin typeface="Arial"/>
              </a:rPr>
              <a:t>Deep reinforcement learning wins at Go; RL is researched for order execution and portfolios</a:t>
            </a:r>
          </a:p>
        </p:txBody>
      </p:sp>
      <p:sp>
        <p:nvSpPr>
          <p:cNvPr id="14" name="Oval 13"/>
          <p:cNvSpPr/>
          <p:nvPr/>
        </p:nvSpPr>
        <p:spPr>
          <a:xfrm>
            <a:off x="2491740" y="3858768"/>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03296" y="4096512"/>
            <a:ext cx="14630" cy="6126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536192" y="4754880"/>
            <a:ext cx="2148840" cy="1371600"/>
          </a:xfrm>
          <a:prstGeom prst="rect">
            <a:avLst/>
          </a:prstGeom>
          <a:noFill/>
        </p:spPr>
        <p:txBody>
          <a:bodyPr wrap="square" anchor="t">
            <a:spAutoFit/>
          </a:bodyPr>
          <a:lstStyle/>
          <a:p>
            <a:pPr algn="ctr">
              <a:spcAft>
                <a:spcPts val="100"/>
              </a:spcAft>
            </a:pPr>
            <a:r>
              <a:rPr sz="1500" b="1">
                <a:solidFill>
                  <a:srgbClr val="10B981"/>
                </a:solidFill>
                <a:latin typeface="Arial"/>
              </a:rPr>
              <a:t>2017</a:t>
            </a:r>
          </a:p>
          <a:p>
            <a:pPr algn="ctr">
              <a:spcAft>
                <a:spcPts val="100"/>
              </a:spcAft>
            </a:pPr>
            <a:r>
              <a:rPr sz="1150" b="1">
                <a:solidFill>
                  <a:srgbClr val="161B26"/>
                </a:solidFill>
                <a:latin typeface="Arial"/>
              </a:rPr>
              <a:t>Transformer</a:t>
            </a:r>
          </a:p>
          <a:p>
            <a:pPr algn="ctr">
              <a:spcAft>
                <a:spcPts val="100"/>
              </a:spcAft>
            </a:pPr>
            <a:r>
              <a:rPr sz="950" b="0">
                <a:solidFill>
                  <a:srgbClr val="5B6372"/>
                </a:solidFill>
                <a:latin typeface="Arial"/>
              </a:rPr>
              <a:t>The architecture behind every LLM - later used to read news and filings for trading signals</a:t>
            </a:r>
          </a:p>
        </p:txBody>
      </p:sp>
      <p:sp>
        <p:nvSpPr>
          <p:cNvPr id="17" name="Oval 16"/>
          <p:cNvSpPr/>
          <p:nvPr/>
        </p:nvSpPr>
        <p:spPr>
          <a:xfrm>
            <a:off x="4233672" y="3858768"/>
            <a:ext cx="237744" cy="23774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45228" y="3246120"/>
            <a:ext cx="14630" cy="6126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278124" y="2011680"/>
            <a:ext cx="2148840" cy="1234440"/>
          </a:xfrm>
          <a:prstGeom prst="rect">
            <a:avLst/>
          </a:prstGeom>
          <a:noFill/>
        </p:spPr>
        <p:txBody>
          <a:bodyPr wrap="square" anchor="b">
            <a:spAutoFit/>
          </a:bodyPr>
          <a:lstStyle/>
          <a:p>
            <a:pPr algn="ctr">
              <a:spcAft>
                <a:spcPts val="100"/>
              </a:spcAft>
            </a:pPr>
            <a:r>
              <a:rPr sz="1500" b="1">
                <a:solidFill>
                  <a:srgbClr val="7C3AED"/>
                </a:solidFill>
                <a:latin typeface="Arial"/>
              </a:rPr>
              <a:t>2023</a:t>
            </a:r>
          </a:p>
          <a:p>
            <a:pPr algn="ctr">
              <a:spcAft>
                <a:spcPts val="100"/>
              </a:spcAft>
            </a:pPr>
            <a:r>
              <a:rPr sz="1150" b="1">
                <a:solidFill>
                  <a:srgbClr val="161B26"/>
                </a:solidFill>
                <a:latin typeface="Arial"/>
              </a:rPr>
              <a:t>LLMs meet markets</a:t>
            </a:r>
          </a:p>
          <a:p>
            <a:pPr algn="ctr">
              <a:spcAft>
                <a:spcPts val="100"/>
              </a:spcAft>
            </a:pPr>
            <a:r>
              <a:rPr sz="950" b="0">
                <a:solidFill>
                  <a:srgbClr val="5B6372"/>
                </a:solidFill>
                <a:latin typeface="Arial"/>
              </a:rPr>
              <a:t>BloombergGPT (50bn parameters); ChatGPT headline sentiment predicts next-day stock returns</a:t>
            </a:r>
          </a:p>
        </p:txBody>
      </p:sp>
      <p:sp>
        <p:nvSpPr>
          <p:cNvPr id="20" name="Oval 19"/>
          <p:cNvSpPr/>
          <p:nvPr/>
        </p:nvSpPr>
        <p:spPr>
          <a:xfrm>
            <a:off x="5975604" y="3858768"/>
            <a:ext cx="237744" cy="23774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7160" y="4096512"/>
            <a:ext cx="14630" cy="6126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0056" y="4754880"/>
            <a:ext cx="2148840" cy="1371600"/>
          </a:xfrm>
          <a:prstGeom prst="rect">
            <a:avLst/>
          </a:prstGeom>
          <a:noFill/>
        </p:spPr>
        <p:txBody>
          <a:bodyPr wrap="square" anchor="t">
            <a:spAutoFit/>
          </a:bodyPr>
          <a:lstStyle/>
          <a:p>
            <a:pPr algn="ctr">
              <a:spcAft>
                <a:spcPts val="100"/>
              </a:spcAft>
            </a:pPr>
            <a:r>
              <a:rPr sz="1500" b="1">
                <a:solidFill>
                  <a:srgbClr val="F59E0B"/>
                </a:solidFill>
                <a:latin typeface="Arial"/>
              </a:rPr>
              <a:t>2024</a:t>
            </a:r>
          </a:p>
          <a:p>
            <a:pPr algn="ctr">
              <a:spcAft>
                <a:spcPts val="100"/>
              </a:spcAft>
            </a:pPr>
            <a:r>
              <a:rPr sz="1150" b="1">
                <a:solidFill>
                  <a:srgbClr val="161B26"/>
                </a:solidFill>
                <a:latin typeface="Arial"/>
              </a:rPr>
              <a:t>Multi-agent trading</a:t>
            </a:r>
          </a:p>
          <a:p>
            <a:pPr algn="ctr">
              <a:spcAft>
                <a:spcPts val="100"/>
              </a:spcAft>
            </a:pPr>
            <a:r>
              <a:rPr sz="950" b="0">
                <a:solidFill>
                  <a:srgbClr val="5B6372"/>
                </a:solidFill>
                <a:latin typeface="Arial"/>
              </a:rPr>
              <a:t>TradingAgents models a trading firm: analyst, bull/bear debate, trader and risk agents</a:t>
            </a:r>
          </a:p>
        </p:txBody>
      </p:sp>
      <p:sp>
        <p:nvSpPr>
          <p:cNvPr id="23" name="Oval 22"/>
          <p:cNvSpPr/>
          <p:nvPr/>
        </p:nvSpPr>
        <p:spPr>
          <a:xfrm>
            <a:off x="7717536" y="3858768"/>
            <a:ext cx="237744" cy="2377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829092" y="3246120"/>
            <a:ext cx="14630" cy="6126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61988" y="2011680"/>
            <a:ext cx="2148840" cy="1234440"/>
          </a:xfrm>
          <a:prstGeom prst="rect">
            <a:avLst/>
          </a:prstGeom>
          <a:noFill/>
        </p:spPr>
        <p:txBody>
          <a:bodyPr wrap="square" anchor="b">
            <a:spAutoFit/>
          </a:bodyPr>
          <a:lstStyle/>
          <a:p>
            <a:pPr algn="ctr">
              <a:spcAft>
                <a:spcPts val="100"/>
              </a:spcAft>
            </a:pPr>
            <a:r>
              <a:rPr sz="1500" b="1">
                <a:solidFill>
                  <a:srgbClr val="1F6FEB"/>
                </a:solidFill>
                <a:latin typeface="Arial"/>
              </a:rPr>
              <a:t>2025</a:t>
            </a:r>
          </a:p>
          <a:p>
            <a:pPr algn="ctr">
              <a:spcAft>
                <a:spcPts val="100"/>
              </a:spcAft>
            </a:pPr>
            <a:r>
              <a:rPr sz="1150" b="1">
                <a:solidFill>
                  <a:srgbClr val="161B26"/>
                </a:solidFill>
                <a:latin typeface="Arial"/>
              </a:rPr>
              <a:t>Agentic quant research</a:t>
            </a:r>
          </a:p>
          <a:p>
            <a:pPr algn="ctr">
              <a:spcAft>
                <a:spcPts val="100"/>
              </a:spcAft>
            </a:pPr>
            <a:r>
              <a:rPr sz="950" b="0">
                <a:solidFill>
                  <a:srgbClr val="5B6372"/>
                </a:solidFill>
                <a:latin typeface="Arial"/>
              </a:rPr>
              <a:t>LLM agents mine formulaic alphas and write backtests (e.g. Alpha-GPT, AlphaAgent)</a:t>
            </a:r>
          </a:p>
        </p:txBody>
      </p:sp>
      <p:sp>
        <p:nvSpPr>
          <p:cNvPr id="26" name="Oval 25"/>
          <p:cNvSpPr/>
          <p:nvPr/>
        </p:nvSpPr>
        <p:spPr>
          <a:xfrm>
            <a:off x="9459468" y="3858768"/>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571024" y="4096512"/>
            <a:ext cx="14630" cy="6126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03920" y="4754880"/>
            <a:ext cx="2148840" cy="1371600"/>
          </a:xfrm>
          <a:prstGeom prst="rect">
            <a:avLst/>
          </a:prstGeom>
          <a:noFill/>
        </p:spPr>
        <p:txBody>
          <a:bodyPr wrap="square" anchor="t">
            <a:spAutoFit/>
          </a:bodyPr>
          <a:lstStyle/>
          <a:p>
            <a:pPr algn="ctr">
              <a:spcAft>
                <a:spcPts val="100"/>
              </a:spcAft>
            </a:pPr>
            <a:r>
              <a:rPr sz="1500" b="1">
                <a:solidFill>
                  <a:srgbClr val="10B981"/>
                </a:solidFill>
                <a:latin typeface="Arial"/>
              </a:rPr>
              <a:t>2026</a:t>
            </a:r>
          </a:p>
          <a:p>
            <a:pPr algn="ctr">
              <a:spcAft>
                <a:spcPts val="100"/>
              </a:spcAft>
            </a:pPr>
            <a:r>
              <a:rPr sz="1150" b="1">
                <a:solidFill>
                  <a:srgbClr val="161B26"/>
                </a:solidFill>
                <a:latin typeface="Arial"/>
              </a:rPr>
              <a:t>Always-on AI agents</a:t>
            </a:r>
          </a:p>
          <a:p>
            <a:pPr algn="ctr">
              <a:spcAft>
                <a:spcPts val="100"/>
              </a:spcAft>
            </a:pPr>
            <a:r>
              <a:rPr sz="950" b="0">
                <a:solidFill>
                  <a:srgbClr val="5B6372"/>
                </a:solidFill>
                <a:latin typeface="Arial"/>
              </a:rPr>
              <a:t>OpenClaw, Hermes Agent and OpenAI Dots stand by 24/7: agentic AI that keeps working</a:t>
            </a:r>
          </a:p>
        </p:txBody>
      </p:sp>
      <p:sp>
        <p:nvSpPr>
          <p:cNvPr id="29" name="Oval 28"/>
          <p:cNvSpPr/>
          <p:nvPr/>
        </p:nvSpPr>
        <p:spPr>
          <a:xfrm>
            <a:off x="11201400" y="3858768"/>
            <a:ext cx="237744" cy="23774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312956" y="3246120"/>
            <a:ext cx="14630" cy="6126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491472" y="2011680"/>
            <a:ext cx="2148840" cy="1234440"/>
          </a:xfrm>
          <a:prstGeom prst="rect">
            <a:avLst/>
          </a:prstGeom>
          <a:noFill/>
        </p:spPr>
        <p:txBody>
          <a:bodyPr wrap="square" anchor="b">
            <a:spAutoFit/>
          </a:bodyPr>
          <a:lstStyle/>
          <a:p>
            <a:pPr algn="ctr">
              <a:spcAft>
                <a:spcPts val="100"/>
              </a:spcAft>
            </a:pPr>
            <a:r>
              <a:rPr sz="1500" b="1">
                <a:solidFill>
                  <a:srgbClr val="7C3AED"/>
                </a:solidFill>
                <a:latin typeface="Arial"/>
              </a:rPr>
              <a:t>2026</a:t>
            </a:r>
          </a:p>
          <a:p>
            <a:pPr algn="ctr">
              <a:spcAft>
                <a:spcPts val="100"/>
              </a:spcAft>
            </a:pPr>
            <a:r>
              <a:rPr sz="1150" b="1">
                <a:solidFill>
                  <a:srgbClr val="161B26"/>
                </a:solidFill>
                <a:latin typeface="Arial"/>
              </a:rPr>
              <a:t>Governed AI</a:t>
            </a:r>
          </a:p>
          <a:p>
            <a:pPr algn="ctr">
              <a:spcAft>
                <a:spcPts val="100"/>
              </a:spcAft>
            </a:pPr>
            <a:r>
              <a:rPr sz="950" b="0">
                <a:solidFill>
                  <a:srgbClr val="5B6372"/>
                </a:solidFill>
                <a:latin typeface="Arial"/>
              </a:rPr>
              <a:t>MAS AI Risk Management Guidelines (7 Oct 2026) set lifecycle controls for AI in finance</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K9 · ML TO LLM</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Paradigm Shift: Machine-Learning Quant versus LLM-Era Quant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259568" y="475488"/>
            <a:ext cx="1152144"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259568"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475488"/>
            <a:ext cx="1152144" cy="310896"/>
          </a:xfrm>
          <a:prstGeom prst="rect">
            <a:avLst/>
          </a:prstGeom>
          <a:noFill/>
        </p:spPr>
        <p:txBody>
          <a:bodyPr wrap="square" anchor="ctr">
            <a:spAutoFit/>
          </a:bodyPr>
          <a:lstStyle/>
          <a:p>
            <a:pPr algn="ctr">
              <a:spcAft>
                <a:spcPts val="400"/>
              </a:spcAft>
            </a:pPr>
            <a:r>
              <a:rPr sz="1100" b="1">
                <a:solidFill>
                  <a:srgbClr val="1F6FEB"/>
                </a:solidFill>
                <a:latin typeface="Arial"/>
              </a:rPr>
              <a:t>K1  K9</a:t>
            </a:r>
          </a:p>
        </p:txBody>
      </p:sp>
      <p:sp>
        <p:nvSpPr>
          <p:cNvPr id="10" name="Rectangle 9"/>
          <p:cNvSpPr/>
          <p:nvPr/>
        </p:nvSpPr>
        <p:spPr>
          <a:xfrm>
            <a:off x="2926080" y="1810512"/>
            <a:ext cx="42062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68896" y="1810512"/>
            <a:ext cx="4242816"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26080" y="1810512"/>
            <a:ext cx="4206240" cy="420624"/>
          </a:xfrm>
          <a:prstGeom prst="rect">
            <a:avLst/>
          </a:prstGeom>
          <a:noFill/>
        </p:spPr>
        <p:txBody>
          <a:bodyPr wrap="square" anchor="ctr">
            <a:spAutoFit/>
          </a:bodyPr>
          <a:lstStyle/>
          <a:p>
            <a:pPr algn="ctr">
              <a:spcAft>
                <a:spcPts val="400"/>
              </a:spcAft>
            </a:pPr>
            <a:r>
              <a:rPr sz="1400" b="1">
                <a:solidFill>
                  <a:srgbClr val="FFFFFF"/>
                </a:solidFill>
                <a:latin typeface="Arial"/>
              </a:rPr>
              <a:t>Machine-learning quant</a:t>
            </a:r>
          </a:p>
        </p:txBody>
      </p:sp>
      <p:sp>
        <p:nvSpPr>
          <p:cNvPr id="13" name="TextBox 12"/>
          <p:cNvSpPr txBox="1"/>
          <p:nvPr/>
        </p:nvSpPr>
        <p:spPr>
          <a:xfrm>
            <a:off x="7168896" y="1810512"/>
            <a:ext cx="4242816" cy="420624"/>
          </a:xfrm>
          <a:prstGeom prst="rect">
            <a:avLst/>
          </a:prstGeom>
          <a:noFill/>
        </p:spPr>
        <p:txBody>
          <a:bodyPr wrap="square" anchor="ctr">
            <a:spAutoFit/>
          </a:bodyPr>
          <a:lstStyle/>
          <a:p>
            <a:pPr algn="ctr">
              <a:spcAft>
                <a:spcPts val="400"/>
              </a:spcAft>
            </a:pPr>
            <a:r>
              <a:rPr sz="1400" b="1">
                <a:solidFill>
                  <a:srgbClr val="FFFFFF"/>
                </a:solidFill>
                <a:latin typeface="Arial"/>
              </a:rPr>
              <a:t>LLM-era quant</a:t>
            </a:r>
          </a:p>
        </p:txBody>
      </p:sp>
      <p:sp>
        <p:nvSpPr>
          <p:cNvPr id="14" name="Rectangle 13"/>
          <p:cNvSpPr/>
          <p:nvPr/>
        </p:nvSpPr>
        <p:spPr>
          <a:xfrm>
            <a:off x="777240" y="2286000"/>
            <a:ext cx="10634472" cy="4697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2286000"/>
            <a:ext cx="1965960" cy="469772"/>
          </a:xfrm>
          <a:prstGeom prst="rect">
            <a:avLst/>
          </a:prstGeom>
          <a:noFill/>
        </p:spPr>
        <p:txBody>
          <a:bodyPr wrap="square" anchor="ctr">
            <a:spAutoFit/>
          </a:bodyPr>
          <a:lstStyle/>
          <a:p>
            <a:pPr algn="l">
              <a:spcAft>
                <a:spcPts val="400"/>
              </a:spcAft>
            </a:pPr>
            <a:r>
              <a:rPr sz="1150" b="1">
                <a:solidFill>
                  <a:srgbClr val="161B26"/>
                </a:solidFill>
                <a:latin typeface="Arial"/>
              </a:rPr>
              <a:t>Main data</a:t>
            </a:r>
          </a:p>
        </p:txBody>
      </p:sp>
      <p:sp>
        <p:nvSpPr>
          <p:cNvPr id="16" name="TextBox 15"/>
          <p:cNvSpPr txBox="1"/>
          <p:nvPr/>
        </p:nvSpPr>
        <p:spPr>
          <a:xfrm>
            <a:off x="3017520" y="2286000"/>
            <a:ext cx="4014216" cy="469772"/>
          </a:xfrm>
          <a:prstGeom prst="rect">
            <a:avLst/>
          </a:prstGeom>
          <a:noFill/>
        </p:spPr>
        <p:txBody>
          <a:bodyPr wrap="square" anchor="ctr">
            <a:spAutoFit/>
          </a:bodyPr>
          <a:lstStyle/>
          <a:p>
            <a:pPr algn="l">
              <a:spcAft>
                <a:spcPts val="400"/>
              </a:spcAft>
            </a:pPr>
            <a:r>
              <a:rPr sz="1050" b="0">
                <a:solidFill>
                  <a:srgbClr val="161B26"/>
                </a:solidFill>
                <a:latin typeface="Arial"/>
              </a:rPr>
              <a:t>Structured: prices, volumes, fundamentals</a:t>
            </a:r>
          </a:p>
        </p:txBody>
      </p:sp>
      <p:sp>
        <p:nvSpPr>
          <p:cNvPr id="17" name="TextBox 16"/>
          <p:cNvSpPr txBox="1"/>
          <p:nvPr/>
        </p:nvSpPr>
        <p:spPr>
          <a:xfrm>
            <a:off x="7260336" y="2286000"/>
            <a:ext cx="4059936" cy="469772"/>
          </a:xfrm>
          <a:prstGeom prst="rect">
            <a:avLst/>
          </a:prstGeom>
          <a:noFill/>
        </p:spPr>
        <p:txBody>
          <a:bodyPr wrap="square" anchor="ctr">
            <a:spAutoFit/>
          </a:bodyPr>
          <a:lstStyle/>
          <a:p>
            <a:pPr algn="l">
              <a:spcAft>
                <a:spcPts val="400"/>
              </a:spcAft>
            </a:pPr>
            <a:r>
              <a:rPr sz="1050" b="0">
                <a:solidFill>
                  <a:srgbClr val="161B26"/>
                </a:solidFill>
                <a:latin typeface="Arial"/>
              </a:rPr>
              <a:t>Adds unstructured text: news, filings, earnings calls, research</a:t>
            </a:r>
          </a:p>
        </p:txBody>
      </p:sp>
      <p:sp>
        <p:nvSpPr>
          <p:cNvPr id="18" name="TextBox 17"/>
          <p:cNvSpPr txBox="1"/>
          <p:nvPr/>
        </p:nvSpPr>
        <p:spPr>
          <a:xfrm>
            <a:off x="886968" y="2783205"/>
            <a:ext cx="1965960" cy="469772"/>
          </a:xfrm>
          <a:prstGeom prst="rect">
            <a:avLst/>
          </a:prstGeom>
          <a:noFill/>
        </p:spPr>
        <p:txBody>
          <a:bodyPr wrap="square" anchor="ctr">
            <a:spAutoFit/>
          </a:bodyPr>
          <a:lstStyle/>
          <a:p>
            <a:pPr algn="l">
              <a:spcAft>
                <a:spcPts val="400"/>
              </a:spcAft>
            </a:pPr>
            <a:r>
              <a:rPr sz="1150" b="1">
                <a:solidFill>
                  <a:srgbClr val="161B26"/>
                </a:solidFill>
                <a:latin typeface="Arial"/>
              </a:rPr>
              <a:t>Features</a:t>
            </a:r>
          </a:p>
        </p:txBody>
      </p:sp>
      <p:sp>
        <p:nvSpPr>
          <p:cNvPr id="19" name="TextBox 18"/>
          <p:cNvSpPr txBox="1"/>
          <p:nvPr/>
        </p:nvSpPr>
        <p:spPr>
          <a:xfrm>
            <a:off x="3017520" y="2783205"/>
            <a:ext cx="4014216" cy="469772"/>
          </a:xfrm>
          <a:prstGeom prst="rect">
            <a:avLst/>
          </a:prstGeom>
          <a:noFill/>
        </p:spPr>
        <p:txBody>
          <a:bodyPr wrap="square" anchor="ctr">
            <a:spAutoFit/>
          </a:bodyPr>
          <a:lstStyle/>
          <a:p>
            <a:pPr algn="l">
              <a:spcAft>
                <a:spcPts val="400"/>
              </a:spcAft>
            </a:pPr>
            <a:r>
              <a:rPr sz="1050" b="0">
                <a:solidFill>
                  <a:srgbClr val="161B26"/>
                </a:solidFill>
                <a:latin typeface="Arial"/>
              </a:rPr>
              <a:t>Hand-engineered by the quant (lags, RSI, factors)</a:t>
            </a:r>
          </a:p>
        </p:txBody>
      </p:sp>
      <p:sp>
        <p:nvSpPr>
          <p:cNvPr id="20" name="TextBox 19"/>
          <p:cNvSpPr txBox="1"/>
          <p:nvPr/>
        </p:nvSpPr>
        <p:spPr>
          <a:xfrm>
            <a:off x="7260336" y="2783205"/>
            <a:ext cx="4059936" cy="469772"/>
          </a:xfrm>
          <a:prstGeom prst="rect">
            <a:avLst/>
          </a:prstGeom>
          <a:noFill/>
        </p:spPr>
        <p:txBody>
          <a:bodyPr wrap="square" anchor="ctr">
            <a:spAutoFit/>
          </a:bodyPr>
          <a:lstStyle/>
          <a:p>
            <a:pPr algn="l">
              <a:spcAft>
                <a:spcPts val="400"/>
              </a:spcAft>
            </a:pPr>
            <a:r>
              <a:rPr sz="1050" b="0">
                <a:solidFill>
                  <a:srgbClr val="161B26"/>
                </a:solidFill>
                <a:latin typeface="Arial"/>
              </a:rPr>
              <a:t>Text read directly; LLM scores sentiment and events</a:t>
            </a:r>
          </a:p>
        </p:txBody>
      </p:sp>
      <p:sp>
        <p:nvSpPr>
          <p:cNvPr id="21" name="Rectangle 20"/>
          <p:cNvSpPr/>
          <p:nvPr/>
        </p:nvSpPr>
        <p:spPr>
          <a:xfrm>
            <a:off x="777240" y="3280410"/>
            <a:ext cx="10634472" cy="4697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3280410"/>
            <a:ext cx="1965960" cy="469772"/>
          </a:xfrm>
          <a:prstGeom prst="rect">
            <a:avLst/>
          </a:prstGeom>
          <a:noFill/>
        </p:spPr>
        <p:txBody>
          <a:bodyPr wrap="square" anchor="ctr">
            <a:spAutoFit/>
          </a:bodyPr>
          <a:lstStyle/>
          <a:p>
            <a:pPr algn="l">
              <a:spcAft>
                <a:spcPts val="400"/>
              </a:spcAft>
            </a:pPr>
            <a:r>
              <a:rPr sz="1150" b="1">
                <a:solidFill>
                  <a:srgbClr val="161B26"/>
                </a:solidFill>
                <a:latin typeface="Arial"/>
              </a:rPr>
              <a:t>Model building</a:t>
            </a:r>
          </a:p>
        </p:txBody>
      </p:sp>
      <p:sp>
        <p:nvSpPr>
          <p:cNvPr id="23" name="TextBox 22"/>
          <p:cNvSpPr txBox="1"/>
          <p:nvPr/>
        </p:nvSpPr>
        <p:spPr>
          <a:xfrm>
            <a:off x="3017520" y="3280410"/>
            <a:ext cx="4014216" cy="469772"/>
          </a:xfrm>
          <a:prstGeom prst="rect">
            <a:avLst/>
          </a:prstGeom>
          <a:noFill/>
        </p:spPr>
        <p:txBody>
          <a:bodyPr wrap="square" anchor="ctr">
            <a:spAutoFit/>
          </a:bodyPr>
          <a:lstStyle/>
          <a:p>
            <a:pPr algn="l">
              <a:spcAft>
                <a:spcPts val="400"/>
              </a:spcAft>
            </a:pPr>
            <a:r>
              <a:rPr sz="1050" b="0">
                <a:solidFill>
                  <a:srgbClr val="161B26"/>
                </a:solidFill>
                <a:latin typeface="Arial"/>
              </a:rPr>
              <a:t>Fit regressions, trees, boosting on labelled data</a:t>
            </a:r>
          </a:p>
        </p:txBody>
      </p:sp>
      <p:sp>
        <p:nvSpPr>
          <p:cNvPr id="24" name="TextBox 23"/>
          <p:cNvSpPr txBox="1"/>
          <p:nvPr/>
        </p:nvSpPr>
        <p:spPr>
          <a:xfrm>
            <a:off x="7260336" y="3280410"/>
            <a:ext cx="4059936" cy="469772"/>
          </a:xfrm>
          <a:prstGeom prst="rect">
            <a:avLst/>
          </a:prstGeom>
          <a:noFill/>
        </p:spPr>
        <p:txBody>
          <a:bodyPr wrap="square" anchor="ctr">
            <a:spAutoFit/>
          </a:bodyPr>
          <a:lstStyle/>
          <a:p>
            <a:pPr algn="l">
              <a:spcAft>
                <a:spcPts val="400"/>
              </a:spcAft>
            </a:pPr>
            <a:r>
              <a:rPr sz="1050" b="0">
                <a:solidFill>
                  <a:srgbClr val="161B26"/>
                </a:solidFill>
                <a:latin typeface="Arial"/>
              </a:rPr>
              <a:t>Prompt or fine-tune pretrained LLMs; agents propose alphas</a:t>
            </a:r>
          </a:p>
        </p:txBody>
      </p:sp>
      <p:sp>
        <p:nvSpPr>
          <p:cNvPr id="25" name="TextBox 24"/>
          <p:cNvSpPr txBox="1"/>
          <p:nvPr/>
        </p:nvSpPr>
        <p:spPr>
          <a:xfrm>
            <a:off x="886968" y="3777614"/>
            <a:ext cx="1965960" cy="469772"/>
          </a:xfrm>
          <a:prstGeom prst="rect">
            <a:avLst/>
          </a:prstGeom>
          <a:noFill/>
        </p:spPr>
        <p:txBody>
          <a:bodyPr wrap="square" anchor="ctr">
            <a:spAutoFit/>
          </a:bodyPr>
          <a:lstStyle/>
          <a:p>
            <a:pPr algn="l">
              <a:spcAft>
                <a:spcPts val="400"/>
              </a:spcAft>
            </a:pPr>
            <a:r>
              <a:rPr sz="1150" b="1">
                <a:solidFill>
                  <a:srgbClr val="161B26"/>
                </a:solidFill>
                <a:latin typeface="Arial"/>
              </a:rPr>
              <a:t>Who writes the code</a:t>
            </a:r>
          </a:p>
        </p:txBody>
      </p:sp>
      <p:sp>
        <p:nvSpPr>
          <p:cNvPr id="26" name="TextBox 25"/>
          <p:cNvSpPr txBox="1"/>
          <p:nvPr/>
        </p:nvSpPr>
        <p:spPr>
          <a:xfrm>
            <a:off x="3017520" y="3777614"/>
            <a:ext cx="4014216" cy="469772"/>
          </a:xfrm>
          <a:prstGeom prst="rect">
            <a:avLst/>
          </a:prstGeom>
          <a:noFill/>
        </p:spPr>
        <p:txBody>
          <a:bodyPr wrap="square" anchor="ctr">
            <a:spAutoFit/>
          </a:bodyPr>
          <a:lstStyle/>
          <a:p>
            <a:pPr algn="l">
              <a:spcAft>
                <a:spcPts val="400"/>
              </a:spcAft>
            </a:pPr>
            <a:r>
              <a:rPr sz="1050" b="0">
                <a:solidFill>
                  <a:srgbClr val="161B26"/>
                </a:solidFill>
                <a:latin typeface="Arial"/>
              </a:rPr>
              <a:t>The quant, line by line</a:t>
            </a:r>
          </a:p>
        </p:txBody>
      </p:sp>
      <p:sp>
        <p:nvSpPr>
          <p:cNvPr id="27" name="TextBox 26"/>
          <p:cNvSpPr txBox="1"/>
          <p:nvPr/>
        </p:nvSpPr>
        <p:spPr>
          <a:xfrm>
            <a:off x="7260336" y="3777614"/>
            <a:ext cx="4059936" cy="469772"/>
          </a:xfrm>
          <a:prstGeom prst="rect">
            <a:avLst/>
          </a:prstGeom>
          <a:noFill/>
        </p:spPr>
        <p:txBody>
          <a:bodyPr wrap="square" anchor="ctr">
            <a:spAutoFit/>
          </a:bodyPr>
          <a:lstStyle/>
          <a:p>
            <a:pPr algn="l">
              <a:spcAft>
                <a:spcPts val="400"/>
              </a:spcAft>
            </a:pPr>
            <a:r>
              <a:rPr sz="1050" b="0">
                <a:solidFill>
                  <a:srgbClr val="161B26"/>
                </a:solidFill>
                <a:latin typeface="Arial"/>
              </a:rPr>
              <a:t>AI writes it; the quant directs and reviews</a:t>
            </a:r>
          </a:p>
        </p:txBody>
      </p:sp>
      <p:sp>
        <p:nvSpPr>
          <p:cNvPr id="28" name="Rectangle 27"/>
          <p:cNvSpPr/>
          <p:nvPr/>
        </p:nvSpPr>
        <p:spPr>
          <a:xfrm>
            <a:off x="777240" y="4274820"/>
            <a:ext cx="10634472" cy="4697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6968" y="4274820"/>
            <a:ext cx="1965960" cy="469772"/>
          </a:xfrm>
          <a:prstGeom prst="rect">
            <a:avLst/>
          </a:prstGeom>
          <a:noFill/>
        </p:spPr>
        <p:txBody>
          <a:bodyPr wrap="square" anchor="ctr">
            <a:spAutoFit/>
          </a:bodyPr>
          <a:lstStyle/>
          <a:p>
            <a:pPr algn="l">
              <a:spcAft>
                <a:spcPts val="400"/>
              </a:spcAft>
            </a:pPr>
            <a:r>
              <a:rPr sz="1150" b="1">
                <a:solidFill>
                  <a:srgbClr val="161B26"/>
                </a:solidFill>
                <a:latin typeface="Arial"/>
              </a:rPr>
              <a:t>Research workflow</a:t>
            </a:r>
          </a:p>
        </p:txBody>
      </p:sp>
      <p:sp>
        <p:nvSpPr>
          <p:cNvPr id="30" name="TextBox 29"/>
          <p:cNvSpPr txBox="1"/>
          <p:nvPr/>
        </p:nvSpPr>
        <p:spPr>
          <a:xfrm>
            <a:off x="3017520" y="4274820"/>
            <a:ext cx="4014216" cy="469772"/>
          </a:xfrm>
          <a:prstGeom prst="rect">
            <a:avLst/>
          </a:prstGeom>
          <a:noFill/>
        </p:spPr>
        <p:txBody>
          <a:bodyPr wrap="square" anchor="ctr">
            <a:spAutoFit/>
          </a:bodyPr>
          <a:lstStyle/>
          <a:p>
            <a:pPr algn="l">
              <a:spcAft>
                <a:spcPts val="400"/>
              </a:spcAft>
            </a:pPr>
            <a:r>
              <a:rPr sz="1050" b="0">
                <a:solidFill>
                  <a:srgbClr val="161B26"/>
                </a:solidFill>
                <a:latin typeface="Arial"/>
              </a:rPr>
              <a:t>The quant writes every line of code</a:t>
            </a:r>
          </a:p>
        </p:txBody>
      </p:sp>
      <p:sp>
        <p:nvSpPr>
          <p:cNvPr id="31" name="TextBox 30"/>
          <p:cNvSpPr txBox="1"/>
          <p:nvPr/>
        </p:nvSpPr>
        <p:spPr>
          <a:xfrm>
            <a:off x="7260336" y="4274820"/>
            <a:ext cx="4059936" cy="469772"/>
          </a:xfrm>
          <a:prstGeom prst="rect">
            <a:avLst/>
          </a:prstGeom>
          <a:noFill/>
        </p:spPr>
        <p:txBody>
          <a:bodyPr wrap="square" anchor="ctr">
            <a:spAutoFit/>
          </a:bodyPr>
          <a:lstStyle/>
          <a:p>
            <a:pPr algn="l">
              <a:spcAft>
                <a:spcPts val="400"/>
              </a:spcAft>
            </a:pPr>
            <a:r>
              <a:rPr sz="1050" b="0">
                <a:solidFill>
                  <a:srgbClr val="161B26"/>
                </a:solidFill>
                <a:latin typeface="Arial"/>
              </a:rPr>
              <a:t>Coding agents draft code and backtests; the quant reviews</a:t>
            </a:r>
          </a:p>
        </p:txBody>
      </p:sp>
      <p:sp>
        <p:nvSpPr>
          <p:cNvPr id="32" name="TextBox 31"/>
          <p:cNvSpPr txBox="1"/>
          <p:nvPr/>
        </p:nvSpPr>
        <p:spPr>
          <a:xfrm>
            <a:off x="886968" y="4772025"/>
            <a:ext cx="1965960" cy="469772"/>
          </a:xfrm>
          <a:prstGeom prst="rect">
            <a:avLst/>
          </a:prstGeom>
          <a:noFill/>
        </p:spPr>
        <p:txBody>
          <a:bodyPr wrap="square" anchor="ctr">
            <a:spAutoFit/>
          </a:bodyPr>
          <a:lstStyle/>
          <a:p>
            <a:pPr algn="l">
              <a:spcAft>
                <a:spcPts val="400"/>
              </a:spcAft>
            </a:pPr>
            <a:r>
              <a:rPr sz="1150" b="1">
                <a:solidFill>
                  <a:srgbClr val="161B26"/>
                </a:solidFill>
                <a:latin typeface="Arial"/>
              </a:rPr>
              <a:t>Alpha decay</a:t>
            </a:r>
          </a:p>
        </p:txBody>
      </p:sp>
      <p:sp>
        <p:nvSpPr>
          <p:cNvPr id="33" name="TextBox 32"/>
          <p:cNvSpPr txBox="1"/>
          <p:nvPr/>
        </p:nvSpPr>
        <p:spPr>
          <a:xfrm>
            <a:off x="3017520" y="4772025"/>
            <a:ext cx="4014216" cy="469772"/>
          </a:xfrm>
          <a:prstGeom prst="rect">
            <a:avLst/>
          </a:prstGeom>
          <a:noFill/>
        </p:spPr>
        <p:txBody>
          <a:bodyPr wrap="square" anchor="ctr">
            <a:spAutoFit/>
          </a:bodyPr>
          <a:lstStyle/>
          <a:p>
            <a:pPr algn="l">
              <a:spcAft>
                <a:spcPts val="400"/>
              </a:spcAft>
            </a:pPr>
            <a:r>
              <a:rPr sz="1050" b="0">
                <a:solidFill>
                  <a:srgbClr val="161B26"/>
                </a:solidFill>
                <a:latin typeface="Arial"/>
              </a:rPr>
              <a:t>Signals fade as more funds trade them</a:t>
            </a:r>
          </a:p>
        </p:txBody>
      </p:sp>
      <p:sp>
        <p:nvSpPr>
          <p:cNvPr id="34" name="TextBox 33"/>
          <p:cNvSpPr txBox="1"/>
          <p:nvPr/>
        </p:nvSpPr>
        <p:spPr>
          <a:xfrm>
            <a:off x="7260336" y="4772025"/>
            <a:ext cx="4059936" cy="469772"/>
          </a:xfrm>
          <a:prstGeom prst="rect">
            <a:avLst/>
          </a:prstGeom>
          <a:noFill/>
        </p:spPr>
        <p:txBody>
          <a:bodyPr wrap="square" anchor="ctr">
            <a:spAutoFit/>
          </a:bodyPr>
          <a:lstStyle/>
          <a:p>
            <a:pPr algn="l">
              <a:spcAft>
                <a:spcPts val="400"/>
              </a:spcAft>
            </a:pPr>
            <a:r>
              <a:rPr sz="1050" b="0">
                <a:solidFill>
                  <a:srgbClr val="161B26"/>
                </a:solidFill>
                <a:latin typeface="Arial"/>
              </a:rPr>
              <a:t>LLM signals fade too as LLM adoption rises</a:t>
            </a:r>
          </a:p>
        </p:txBody>
      </p:sp>
      <p:sp>
        <p:nvSpPr>
          <p:cNvPr id="35" name="Rectangle 34"/>
          <p:cNvSpPr/>
          <p:nvPr/>
        </p:nvSpPr>
        <p:spPr>
          <a:xfrm>
            <a:off x="777240" y="5269229"/>
            <a:ext cx="10634472" cy="4697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6968" y="5269229"/>
            <a:ext cx="1965960" cy="469772"/>
          </a:xfrm>
          <a:prstGeom prst="rect">
            <a:avLst/>
          </a:prstGeom>
          <a:noFill/>
        </p:spPr>
        <p:txBody>
          <a:bodyPr wrap="square" anchor="ctr">
            <a:spAutoFit/>
          </a:bodyPr>
          <a:lstStyle/>
          <a:p>
            <a:pPr algn="l">
              <a:spcAft>
                <a:spcPts val="400"/>
              </a:spcAft>
            </a:pPr>
            <a:r>
              <a:rPr sz="1150" b="1">
                <a:solidFill>
                  <a:srgbClr val="161B26"/>
                </a:solidFill>
                <a:latin typeface="Arial"/>
              </a:rPr>
              <a:t>New risks</a:t>
            </a:r>
          </a:p>
        </p:txBody>
      </p:sp>
      <p:sp>
        <p:nvSpPr>
          <p:cNvPr id="37" name="TextBox 36"/>
          <p:cNvSpPr txBox="1"/>
          <p:nvPr/>
        </p:nvSpPr>
        <p:spPr>
          <a:xfrm>
            <a:off x="3017520" y="5269229"/>
            <a:ext cx="4014216" cy="469772"/>
          </a:xfrm>
          <a:prstGeom prst="rect">
            <a:avLst/>
          </a:prstGeom>
          <a:noFill/>
        </p:spPr>
        <p:txBody>
          <a:bodyPr wrap="square" anchor="ctr">
            <a:spAutoFit/>
          </a:bodyPr>
          <a:lstStyle/>
          <a:p>
            <a:pPr algn="l">
              <a:spcAft>
                <a:spcPts val="400"/>
              </a:spcAft>
            </a:pPr>
            <a:r>
              <a:rPr sz="1050" b="0">
                <a:solidFill>
                  <a:srgbClr val="161B26"/>
                </a:solidFill>
                <a:latin typeface="Arial"/>
              </a:rPr>
              <a:t>Overfitting; look-ahead in features</a:t>
            </a:r>
          </a:p>
        </p:txBody>
      </p:sp>
      <p:sp>
        <p:nvSpPr>
          <p:cNvPr id="38" name="TextBox 37"/>
          <p:cNvSpPr txBox="1"/>
          <p:nvPr/>
        </p:nvSpPr>
        <p:spPr>
          <a:xfrm>
            <a:off x="7260336" y="5269229"/>
            <a:ext cx="4059936" cy="469772"/>
          </a:xfrm>
          <a:prstGeom prst="rect">
            <a:avLst/>
          </a:prstGeom>
          <a:noFill/>
        </p:spPr>
        <p:txBody>
          <a:bodyPr wrap="square" anchor="ctr">
            <a:spAutoFit/>
          </a:bodyPr>
          <a:lstStyle/>
          <a:p>
            <a:pPr algn="l">
              <a:spcAft>
                <a:spcPts val="400"/>
              </a:spcAft>
            </a:pPr>
            <a:r>
              <a:rPr sz="1050" b="0">
                <a:solidFill>
                  <a:srgbClr val="161B26"/>
                </a:solidFill>
                <a:latin typeface="Arial"/>
              </a:rPr>
              <a:t>LLM training-data look-ahead and 'distraction'; homogeneous factors</a:t>
            </a:r>
          </a:p>
        </p:txBody>
      </p:sp>
      <p:sp>
        <p:nvSpPr>
          <p:cNvPr id="39" name="TextBox 38"/>
          <p:cNvSpPr txBox="1"/>
          <p:nvPr/>
        </p:nvSpPr>
        <p:spPr>
          <a:xfrm>
            <a:off x="886968" y="5766434"/>
            <a:ext cx="1965960" cy="469772"/>
          </a:xfrm>
          <a:prstGeom prst="rect">
            <a:avLst/>
          </a:prstGeom>
          <a:noFill/>
        </p:spPr>
        <p:txBody>
          <a:bodyPr wrap="square" anchor="ctr">
            <a:spAutoFit/>
          </a:bodyPr>
          <a:lstStyle/>
          <a:p>
            <a:pPr algn="l">
              <a:spcAft>
                <a:spcPts val="400"/>
              </a:spcAft>
            </a:pPr>
            <a:r>
              <a:rPr sz="1150" b="1">
                <a:solidFill>
                  <a:srgbClr val="161B26"/>
                </a:solidFill>
                <a:latin typeface="Arial"/>
              </a:rPr>
              <a:t>Human role</a:t>
            </a:r>
          </a:p>
        </p:txBody>
      </p:sp>
      <p:sp>
        <p:nvSpPr>
          <p:cNvPr id="40" name="TextBox 39"/>
          <p:cNvSpPr txBox="1"/>
          <p:nvPr/>
        </p:nvSpPr>
        <p:spPr>
          <a:xfrm>
            <a:off x="3017520" y="5766434"/>
            <a:ext cx="4014216" cy="469772"/>
          </a:xfrm>
          <a:prstGeom prst="rect">
            <a:avLst/>
          </a:prstGeom>
          <a:noFill/>
        </p:spPr>
        <p:txBody>
          <a:bodyPr wrap="square" anchor="ctr">
            <a:spAutoFit/>
          </a:bodyPr>
          <a:lstStyle/>
          <a:p>
            <a:pPr algn="l">
              <a:spcAft>
                <a:spcPts val="400"/>
              </a:spcAft>
            </a:pPr>
            <a:r>
              <a:rPr sz="1050" b="0">
                <a:solidFill>
                  <a:srgbClr val="161B26"/>
                </a:solidFill>
                <a:latin typeface="Arial"/>
              </a:rPr>
              <a:t>Model builder</a:t>
            </a:r>
          </a:p>
        </p:txBody>
      </p:sp>
      <p:sp>
        <p:nvSpPr>
          <p:cNvPr id="41" name="TextBox 40"/>
          <p:cNvSpPr txBox="1"/>
          <p:nvPr/>
        </p:nvSpPr>
        <p:spPr>
          <a:xfrm>
            <a:off x="7260336" y="5766434"/>
            <a:ext cx="4059936" cy="469772"/>
          </a:xfrm>
          <a:prstGeom prst="rect">
            <a:avLst/>
          </a:prstGeom>
          <a:noFill/>
        </p:spPr>
        <p:txBody>
          <a:bodyPr wrap="square" anchor="ctr">
            <a:spAutoFit/>
          </a:bodyPr>
          <a:lstStyle/>
          <a:p>
            <a:pPr algn="l">
              <a:spcAft>
                <a:spcPts val="400"/>
              </a:spcAft>
            </a:pPr>
            <a:r>
              <a:rPr sz="1050" b="0">
                <a:solidFill>
                  <a:srgbClr val="161B26"/>
                </a:solidFill>
                <a:latin typeface="Arial"/>
              </a:rPr>
              <a:t>Supervisor: hypothesis, testing, risk sign-off</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K9 · ML TO LLM</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Impact of LLMs on Quant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259568" y="475488"/>
            <a:ext cx="1152144"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259568"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475488"/>
            <a:ext cx="1152144" cy="310896"/>
          </a:xfrm>
          <a:prstGeom prst="rect">
            <a:avLst/>
          </a:prstGeom>
          <a:noFill/>
        </p:spPr>
        <p:txBody>
          <a:bodyPr wrap="square" anchor="ctr">
            <a:spAutoFit/>
          </a:bodyPr>
          <a:lstStyle/>
          <a:p>
            <a:pPr algn="ctr">
              <a:spcAft>
                <a:spcPts val="400"/>
              </a:spcAft>
            </a:pPr>
            <a:r>
              <a:rPr sz="1100" b="1">
                <a:solidFill>
                  <a:srgbClr val="1F6FEB"/>
                </a:solidFill>
                <a:latin typeface="Arial"/>
              </a:rPr>
              <a:t>K1  K9</a:t>
            </a:r>
          </a:p>
        </p:txBody>
      </p:sp>
      <p:sp>
        <p:nvSpPr>
          <p:cNvPr id="10" name="Rectangle 9"/>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115568"/>
          </a:xfrm>
          <a:prstGeom prst="rect">
            <a:avLst/>
          </a:prstGeom>
          <a:noFill/>
        </p:spPr>
        <p:txBody>
          <a:bodyPr wrap="square" anchor="ctr">
            <a:spAutoFit/>
          </a:bodyPr>
          <a:lstStyle/>
          <a:p>
            <a:pPr algn="l">
              <a:spcAft>
                <a:spcPts val="300"/>
              </a:spcAft>
            </a:pPr>
            <a:r>
              <a:rPr sz="1350" b="1">
                <a:solidFill>
                  <a:srgbClr val="161B26"/>
                </a:solidFill>
                <a:latin typeface="Arial"/>
              </a:rPr>
              <a:t>Text becomes a signal</a:t>
            </a:r>
          </a:p>
          <a:p>
            <a:pPr algn="l">
              <a:spcAft>
                <a:spcPts val="300"/>
              </a:spcAft>
            </a:pPr>
            <a:r>
              <a:rPr sz="950" b="0">
                <a:solidFill>
                  <a:srgbClr val="5B6372"/>
                </a:solidFill>
                <a:latin typeface="Arial"/>
              </a:rPr>
              <a:t>ChatGPT headline scores predict next-day returns, strongest for small stocks and bad news (Lopez-Lira and Tang)</a:t>
            </a:r>
          </a:p>
        </p:txBody>
      </p:sp>
      <p:sp>
        <p:nvSpPr>
          <p:cNvPr id="15" name="Rectangle 14"/>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115568"/>
          </a:xfrm>
          <a:prstGeom prst="rect">
            <a:avLst/>
          </a:prstGeom>
          <a:noFill/>
        </p:spPr>
        <p:txBody>
          <a:bodyPr wrap="square" anchor="ctr">
            <a:spAutoFit/>
          </a:bodyPr>
          <a:lstStyle/>
          <a:p>
            <a:pPr algn="l">
              <a:spcAft>
                <a:spcPts val="300"/>
              </a:spcAft>
            </a:pPr>
            <a:r>
              <a:rPr sz="1350" b="1">
                <a:solidFill>
                  <a:srgbClr val="161B26"/>
                </a:solidFill>
                <a:latin typeface="Arial"/>
              </a:rPr>
              <a:t>Finance-specific LLMs</a:t>
            </a:r>
          </a:p>
          <a:p>
            <a:pPr algn="l">
              <a:spcAft>
                <a:spcPts val="300"/>
              </a:spcAft>
            </a:pPr>
            <a:r>
              <a:rPr sz="950" b="0">
                <a:solidFill>
                  <a:srgbClr val="5B6372"/>
                </a:solidFill>
                <a:latin typeface="Arial"/>
              </a:rPr>
              <a:t>BloombergGPT (2023): 50bn parameters trained with 363bn tokens of Bloomberg financial data</a:t>
            </a:r>
          </a:p>
        </p:txBody>
      </p:sp>
      <p:sp>
        <p:nvSpPr>
          <p:cNvPr id="20" name="Rectangle 19"/>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3447288"/>
            <a:ext cx="3973068" cy="1115568"/>
          </a:xfrm>
          <a:prstGeom prst="rect">
            <a:avLst/>
          </a:prstGeom>
          <a:noFill/>
        </p:spPr>
        <p:txBody>
          <a:bodyPr wrap="square" anchor="ctr">
            <a:spAutoFit/>
          </a:bodyPr>
          <a:lstStyle/>
          <a:p>
            <a:pPr algn="l">
              <a:spcAft>
                <a:spcPts val="300"/>
              </a:spcAft>
            </a:pPr>
            <a:r>
              <a:rPr sz="1350" b="1">
                <a:solidFill>
                  <a:srgbClr val="161B26"/>
                </a:solidFill>
                <a:latin typeface="Arial"/>
              </a:rPr>
              <a:t>Automated alpha mining</a:t>
            </a:r>
          </a:p>
          <a:p>
            <a:pPr algn="l">
              <a:spcAft>
                <a:spcPts val="300"/>
              </a:spcAft>
            </a:pPr>
            <a:r>
              <a:rPr sz="950" b="0">
                <a:solidFill>
                  <a:srgbClr val="5B6372"/>
                </a:solidFill>
                <a:latin typeface="Arial"/>
              </a:rPr>
              <a:t>Alpha-GPT turns ideas into formulaic alphas; AlphaAgent targets alpha decay and crowding</a:t>
            </a:r>
          </a:p>
        </p:txBody>
      </p:sp>
      <p:sp>
        <p:nvSpPr>
          <p:cNvPr id="25" name="Rectangle 24"/>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3447288"/>
            <a:ext cx="3973068" cy="1115568"/>
          </a:xfrm>
          <a:prstGeom prst="rect">
            <a:avLst/>
          </a:prstGeom>
          <a:noFill/>
        </p:spPr>
        <p:txBody>
          <a:bodyPr wrap="square" anchor="ctr">
            <a:spAutoFit/>
          </a:bodyPr>
          <a:lstStyle/>
          <a:p>
            <a:pPr algn="l">
              <a:spcAft>
                <a:spcPts val="300"/>
              </a:spcAft>
            </a:pPr>
            <a:r>
              <a:rPr sz="1350" b="1">
                <a:solidFill>
                  <a:srgbClr val="161B26"/>
                </a:solidFill>
                <a:latin typeface="Arial"/>
              </a:rPr>
              <a:t>Backtests need new controls</a:t>
            </a:r>
          </a:p>
          <a:p>
            <a:pPr algn="l">
              <a:spcAft>
                <a:spcPts val="300"/>
              </a:spcAft>
            </a:pPr>
            <a:r>
              <a:rPr sz="950" b="0">
                <a:solidFill>
                  <a:srgbClr val="5B6372"/>
                </a:solidFill>
                <a:latin typeface="Arial"/>
              </a:rPr>
              <a:t>LLMs may 'know' in-sample history: test after the knowledge cutoff and anonymise firms (Glasserman and Lin)</a:t>
            </a:r>
          </a:p>
        </p:txBody>
      </p:sp>
      <p:sp>
        <p:nvSpPr>
          <p:cNvPr id="30" name="Rectangle 29"/>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4" name="TextBox 33"/>
          <p:cNvSpPr txBox="1"/>
          <p:nvPr/>
        </p:nvSpPr>
        <p:spPr>
          <a:xfrm>
            <a:off x="1764792" y="4983480"/>
            <a:ext cx="3973068" cy="1115568"/>
          </a:xfrm>
          <a:prstGeom prst="rect">
            <a:avLst/>
          </a:prstGeom>
          <a:noFill/>
        </p:spPr>
        <p:txBody>
          <a:bodyPr wrap="square" anchor="ctr">
            <a:spAutoFit/>
          </a:bodyPr>
          <a:lstStyle/>
          <a:p>
            <a:pPr algn="l">
              <a:spcAft>
                <a:spcPts val="300"/>
              </a:spcAft>
            </a:pPr>
            <a:r>
              <a:rPr sz="1350" b="1">
                <a:solidFill>
                  <a:srgbClr val="161B26"/>
                </a:solidFill>
                <a:latin typeface="Arial"/>
              </a:rPr>
              <a:t>Faster crowding</a:t>
            </a:r>
          </a:p>
          <a:p>
            <a:pPr algn="l">
              <a:spcAft>
                <a:spcPts val="300"/>
              </a:spcAft>
            </a:pPr>
            <a:r>
              <a:rPr sz="950" b="0">
                <a:solidFill>
                  <a:srgbClr val="5B6372"/>
                </a:solidFill>
                <a:latin typeface="Arial"/>
              </a:rPr>
              <a:t>Strategy returns decline as LLM adoption rises - prices become more efficient (Lopez-Lira and Tang)</a:t>
            </a:r>
          </a:p>
        </p:txBody>
      </p:sp>
      <p:sp>
        <p:nvSpPr>
          <p:cNvPr id="35" name="Rectangle 34"/>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9" name="TextBox 38"/>
          <p:cNvSpPr txBox="1"/>
          <p:nvPr/>
        </p:nvSpPr>
        <p:spPr>
          <a:xfrm>
            <a:off x="7219188" y="4983480"/>
            <a:ext cx="3973068" cy="1115568"/>
          </a:xfrm>
          <a:prstGeom prst="rect">
            <a:avLst/>
          </a:prstGeom>
          <a:noFill/>
        </p:spPr>
        <p:txBody>
          <a:bodyPr wrap="square" anchor="ctr">
            <a:spAutoFit/>
          </a:bodyPr>
          <a:lstStyle/>
          <a:p>
            <a:pPr algn="l">
              <a:spcAft>
                <a:spcPts val="300"/>
              </a:spcAft>
            </a:pPr>
            <a:r>
              <a:rPr sz="1350" b="1">
                <a:solidFill>
                  <a:srgbClr val="161B26"/>
                </a:solidFill>
                <a:latin typeface="Arial"/>
              </a:rPr>
              <a:t>Agents still need limits</a:t>
            </a:r>
          </a:p>
          <a:p>
            <a:pPr algn="l">
              <a:spcAft>
                <a:spcPts val="300"/>
              </a:spcAft>
            </a:pPr>
            <a:r>
              <a:rPr sz="950" b="0">
                <a:solidFill>
                  <a:srgbClr val="5B6372"/>
                </a:solidFill>
                <a:latin typeface="Arial"/>
              </a:rPr>
              <a:t>Agents propose trades; hard-coded risk checks and humans approve them</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AGENTIC AI</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Agentic AI versus AI Agents in Trading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965960"/>
            <a:ext cx="5180076" cy="3566160"/>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965960"/>
            <a:ext cx="5180076"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6696" y="2331720"/>
            <a:ext cx="4741164" cy="548640"/>
          </a:xfrm>
          <a:prstGeom prst="rect">
            <a:avLst/>
          </a:prstGeom>
          <a:noFill/>
        </p:spPr>
        <p:txBody>
          <a:bodyPr wrap="square" anchor="t">
            <a:spAutoFit/>
          </a:bodyPr>
          <a:lstStyle/>
          <a:p>
            <a:pPr algn="l">
              <a:spcAft>
                <a:spcPts val="400"/>
              </a:spcAft>
            </a:pPr>
            <a:r>
              <a:rPr sz="1600" b="1">
                <a:solidFill>
                  <a:srgbClr val="1F6FEB"/>
                </a:solidFill>
                <a:latin typeface="Arial"/>
              </a:rPr>
              <a:t>Agentic AI - the capability</a:t>
            </a:r>
          </a:p>
        </p:txBody>
      </p:sp>
      <p:sp>
        <p:nvSpPr>
          <p:cNvPr id="10" name="TextBox 9"/>
          <p:cNvSpPr txBox="1"/>
          <p:nvPr/>
        </p:nvSpPr>
        <p:spPr>
          <a:xfrm>
            <a:off x="996696" y="2926080"/>
            <a:ext cx="4741164" cy="2377440"/>
          </a:xfrm>
          <a:prstGeom prst="rect">
            <a:avLst/>
          </a:prstGeom>
          <a:noFill/>
        </p:spPr>
        <p:txBody>
          <a:bodyPr wrap="square" anchor="t">
            <a:spAutoFit/>
          </a:bodyPr>
          <a:lstStyle/>
          <a:p>
            <a:pPr algn="l">
              <a:spcAft>
                <a:spcPts val="400"/>
              </a:spcAft>
            </a:pPr>
            <a:r>
              <a:rPr sz="1200" b="0">
                <a:solidFill>
                  <a:srgbClr val="161B26"/>
                </a:solidFill>
                <a:latin typeface="Arial"/>
              </a:rPr>
              <a:t>The capability of AI to plan and act: it calls tools, uses skills and memory, and follows instructions to complete multi-step work when it is asked.
Trading example: On request, an LLM fetches a stock's bars and news through tools, checks its memory of past trades and proposes an order within its instructions</a:t>
            </a:r>
          </a:p>
        </p:txBody>
      </p:sp>
      <p:sp>
        <p:nvSpPr>
          <p:cNvPr id="11" name="Rectangle 10"/>
          <p:cNvSpPr/>
          <p:nvPr/>
        </p:nvSpPr>
        <p:spPr>
          <a:xfrm>
            <a:off x="6231636" y="1965960"/>
            <a:ext cx="5180076" cy="356616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965960"/>
            <a:ext cx="5180076"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51092" y="2331720"/>
            <a:ext cx="4741164" cy="548640"/>
          </a:xfrm>
          <a:prstGeom prst="rect">
            <a:avLst/>
          </a:prstGeom>
          <a:noFill/>
        </p:spPr>
        <p:txBody>
          <a:bodyPr wrap="square" anchor="t">
            <a:spAutoFit/>
          </a:bodyPr>
          <a:lstStyle/>
          <a:p>
            <a:pPr algn="l">
              <a:spcAft>
                <a:spcPts val="400"/>
              </a:spcAft>
            </a:pPr>
            <a:r>
              <a:rPr sz="1600" b="1">
                <a:solidFill>
                  <a:srgbClr val="10B981"/>
                </a:solidFill>
                <a:latin typeface="Arial"/>
              </a:rPr>
              <a:t>AI Agent - always on, 24/7</a:t>
            </a:r>
          </a:p>
        </p:txBody>
      </p:sp>
      <p:sp>
        <p:nvSpPr>
          <p:cNvPr id="14" name="TextBox 13"/>
          <p:cNvSpPr txBox="1"/>
          <p:nvPr/>
        </p:nvSpPr>
        <p:spPr>
          <a:xfrm>
            <a:off x="6451092" y="2926080"/>
            <a:ext cx="4741164" cy="2377440"/>
          </a:xfrm>
          <a:prstGeom prst="rect">
            <a:avLst/>
          </a:prstGeom>
          <a:noFill/>
        </p:spPr>
        <p:txBody>
          <a:bodyPr wrap="square" anchor="t">
            <a:spAutoFit/>
          </a:bodyPr>
          <a:lstStyle/>
          <a:p>
            <a:pPr algn="l">
              <a:spcAft>
                <a:spcPts val="400"/>
              </a:spcAft>
            </a:pPr>
            <a:r>
              <a:rPr sz="1200" b="0">
                <a:solidFill>
                  <a:srgbClr val="161B26"/>
                </a:solidFill>
                <a:latin typeface="Arial"/>
              </a:rPr>
              <a:t>A special class of agentic AI that stands by 24/7 and works all the time: always on, woken by schedules, events and messages, with its own long-term memory.
Examples: OpenClaw, Hermes Agent, OpenAI Dots.
Trading example: A round-the-clock trading agent that watches prices and news overnight and proposes paper trades within risk limits</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AGENTIC AI</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AI Agents vs Agentic AI - Side by Side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2926080" y="1810512"/>
            <a:ext cx="42062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68896" y="1810512"/>
            <a:ext cx="4242816"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26080" y="1810512"/>
            <a:ext cx="4206240" cy="420624"/>
          </a:xfrm>
          <a:prstGeom prst="rect">
            <a:avLst/>
          </a:prstGeom>
          <a:noFill/>
        </p:spPr>
        <p:txBody>
          <a:bodyPr wrap="square" anchor="ctr">
            <a:spAutoFit/>
          </a:bodyPr>
          <a:lstStyle/>
          <a:p>
            <a:pPr algn="ctr">
              <a:spcAft>
                <a:spcPts val="400"/>
              </a:spcAft>
            </a:pPr>
            <a:r>
              <a:rPr sz="1400" b="1">
                <a:solidFill>
                  <a:srgbClr val="FFFFFF"/>
                </a:solidFill>
                <a:latin typeface="Arial"/>
              </a:rPr>
              <a:t>AI Agents</a:t>
            </a:r>
          </a:p>
        </p:txBody>
      </p:sp>
      <p:sp>
        <p:nvSpPr>
          <p:cNvPr id="13" name="TextBox 12"/>
          <p:cNvSpPr txBox="1"/>
          <p:nvPr/>
        </p:nvSpPr>
        <p:spPr>
          <a:xfrm>
            <a:off x="7168896" y="1810512"/>
            <a:ext cx="4242816" cy="420624"/>
          </a:xfrm>
          <a:prstGeom prst="rect">
            <a:avLst/>
          </a:prstGeom>
          <a:noFill/>
        </p:spPr>
        <p:txBody>
          <a:bodyPr wrap="square" anchor="ctr">
            <a:spAutoFit/>
          </a:bodyPr>
          <a:lstStyle/>
          <a:p>
            <a:pPr algn="ctr">
              <a:spcAft>
                <a:spcPts val="400"/>
              </a:spcAft>
            </a:pPr>
            <a:r>
              <a:rPr sz="1400" b="1">
                <a:solidFill>
                  <a:srgbClr val="FFFFFF"/>
                </a:solidFill>
                <a:latin typeface="Arial"/>
              </a:rPr>
              <a:t>Agentic AI</a:t>
            </a:r>
          </a:p>
        </p:txBody>
      </p:sp>
      <p:sp>
        <p:nvSpPr>
          <p:cNvPr id="14" name="Rectangle 13"/>
          <p:cNvSpPr/>
          <p:nvPr/>
        </p:nvSpPr>
        <p:spPr>
          <a:xfrm>
            <a:off x="777240" y="2286000"/>
            <a:ext cx="10634472" cy="4697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2286000"/>
            <a:ext cx="1965960" cy="469772"/>
          </a:xfrm>
          <a:prstGeom prst="rect">
            <a:avLst/>
          </a:prstGeom>
          <a:noFill/>
        </p:spPr>
        <p:txBody>
          <a:bodyPr wrap="square" anchor="ctr">
            <a:spAutoFit/>
          </a:bodyPr>
          <a:lstStyle/>
          <a:p>
            <a:pPr algn="l">
              <a:spcAft>
                <a:spcPts val="400"/>
              </a:spcAft>
            </a:pPr>
            <a:r>
              <a:rPr sz="1150" b="1">
                <a:solidFill>
                  <a:srgbClr val="161B26"/>
                </a:solidFill>
                <a:latin typeface="Arial"/>
              </a:rPr>
              <a:t>What it is</a:t>
            </a:r>
          </a:p>
        </p:txBody>
      </p:sp>
      <p:sp>
        <p:nvSpPr>
          <p:cNvPr id="16" name="TextBox 15"/>
          <p:cNvSpPr txBox="1"/>
          <p:nvPr/>
        </p:nvSpPr>
        <p:spPr>
          <a:xfrm>
            <a:off x="3017520" y="2286000"/>
            <a:ext cx="4014216" cy="469772"/>
          </a:xfrm>
          <a:prstGeom prst="rect">
            <a:avLst/>
          </a:prstGeom>
          <a:noFill/>
        </p:spPr>
        <p:txBody>
          <a:bodyPr wrap="square" anchor="ctr">
            <a:spAutoFit/>
          </a:bodyPr>
          <a:lstStyle/>
          <a:p>
            <a:pPr algn="l">
              <a:spcAft>
                <a:spcPts val="400"/>
              </a:spcAft>
            </a:pPr>
            <a:r>
              <a:rPr sz="1050" b="0">
                <a:solidFill>
                  <a:srgbClr val="161B26"/>
                </a:solidFill>
                <a:latin typeface="Arial"/>
              </a:rPr>
              <a:t>A special class of agentic AI that is always on</a:t>
            </a:r>
          </a:p>
        </p:txBody>
      </p:sp>
      <p:sp>
        <p:nvSpPr>
          <p:cNvPr id="17" name="TextBox 16"/>
          <p:cNvSpPr txBox="1"/>
          <p:nvPr/>
        </p:nvSpPr>
        <p:spPr>
          <a:xfrm>
            <a:off x="7260336" y="2286000"/>
            <a:ext cx="4059936" cy="469772"/>
          </a:xfrm>
          <a:prstGeom prst="rect">
            <a:avLst/>
          </a:prstGeom>
          <a:noFill/>
        </p:spPr>
        <p:txBody>
          <a:bodyPr wrap="square" anchor="ctr">
            <a:spAutoFit/>
          </a:bodyPr>
          <a:lstStyle/>
          <a:p>
            <a:pPr algn="l">
              <a:spcAft>
                <a:spcPts val="400"/>
              </a:spcAft>
            </a:pPr>
            <a:r>
              <a:rPr sz="1050" b="0">
                <a:solidFill>
                  <a:srgbClr val="161B26"/>
                </a:solidFill>
                <a:latin typeface="Arial"/>
              </a:rPr>
              <a:t>Capability to plan and act with tools, skills, memory</a:t>
            </a:r>
          </a:p>
        </p:txBody>
      </p:sp>
      <p:sp>
        <p:nvSpPr>
          <p:cNvPr id="18" name="TextBox 17"/>
          <p:cNvSpPr txBox="1"/>
          <p:nvPr/>
        </p:nvSpPr>
        <p:spPr>
          <a:xfrm>
            <a:off x="886968" y="2783205"/>
            <a:ext cx="1965960" cy="469772"/>
          </a:xfrm>
          <a:prstGeom prst="rect">
            <a:avLst/>
          </a:prstGeom>
          <a:noFill/>
        </p:spPr>
        <p:txBody>
          <a:bodyPr wrap="square" anchor="ctr">
            <a:spAutoFit/>
          </a:bodyPr>
          <a:lstStyle/>
          <a:p>
            <a:pPr algn="l">
              <a:spcAft>
                <a:spcPts val="400"/>
              </a:spcAft>
            </a:pPr>
            <a:r>
              <a:rPr sz="1150" b="1">
                <a:solidFill>
                  <a:srgbClr val="161B26"/>
                </a:solidFill>
                <a:latin typeface="Arial"/>
              </a:rPr>
              <a:t>Runtime</a:t>
            </a:r>
          </a:p>
        </p:txBody>
      </p:sp>
      <p:sp>
        <p:nvSpPr>
          <p:cNvPr id="19" name="TextBox 18"/>
          <p:cNvSpPr txBox="1"/>
          <p:nvPr/>
        </p:nvSpPr>
        <p:spPr>
          <a:xfrm>
            <a:off x="3017520" y="2783205"/>
            <a:ext cx="4014216" cy="469772"/>
          </a:xfrm>
          <a:prstGeom prst="rect">
            <a:avLst/>
          </a:prstGeom>
          <a:noFill/>
        </p:spPr>
        <p:txBody>
          <a:bodyPr wrap="square" anchor="ctr">
            <a:spAutoFit/>
          </a:bodyPr>
          <a:lstStyle/>
          <a:p>
            <a:pPr algn="l">
              <a:spcAft>
                <a:spcPts val="400"/>
              </a:spcAft>
            </a:pPr>
            <a:r>
              <a:rPr sz="1050" b="0">
                <a:solidFill>
                  <a:srgbClr val="161B26"/>
                </a:solidFill>
                <a:latin typeface="Arial"/>
              </a:rPr>
              <a:t>Persistent: stands by 24/7 on a server or PC</a:t>
            </a:r>
          </a:p>
        </p:txBody>
      </p:sp>
      <p:sp>
        <p:nvSpPr>
          <p:cNvPr id="20" name="TextBox 19"/>
          <p:cNvSpPr txBox="1"/>
          <p:nvPr/>
        </p:nvSpPr>
        <p:spPr>
          <a:xfrm>
            <a:off x="7260336" y="2783205"/>
            <a:ext cx="4059936" cy="469772"/>
          </a:xfrm>
          <a:prstGeom prst="rect">
            <a:avLst/>
          </a:prstGeom>
          <a:noFill/>
        </p:spPr>
        <p:txBody>
          <a:bodyPr wrap="square" anchor="ctr">
            <a:spAutoFit/>
          </a:bodyPr>
          <a:lstStyle/>
          <a:p>
            <a:pPr algn="l">
              <a:spcAft>
                <a:spcPts val="400"/>
              </a:spcAft>
            </a:pPr>
            <a:r>
              <a:rPr sz="1050" b="0">
                <a:solidFill>
                  <a:srgbClr val="161B26"/>
                </a:solidFill>
                <a:latin typeface="Arial"/>
              </a:rPr>
              <a:t>Runs when invoked: a chat, workflow or pipeline</a:t>
            </a:r>
          </a:p>
        </p:txBody>
      </p:sp>
      <p:sp>
        <p:nvSpPr>
          <p:cNvPr id="21" name="Rectangle 20"/>
          <p:cNvSpPr/>
          <p:nvPr/>
        </p:nvSpPr>
        <p:spPr>
          <a:xfrm>
            <a:off x="777240" y="3280410"/>
            <a:ext cx="10634472" cy="4697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3280410"/>
            <a:ext cx="1965960" cy="469772"/>
          </a:xfrm>
          <a:prstGeom prst="rect">
            <a:avLst/>
          </a:prstGeom>
          <a:noFill/>
        </p:spPr>
        <p:txBody>
          <a:bodyPr wrap="square" anchor="ctr">
            <a:spAutoFit/>
          </a:bodyPr>
          <a:lstStyle/>
          <a:p>
            <a:pPr algn="l">
              <a:spcAft>
                <a:spcPts val="400"/>
              </a:spcAft>
            </a:pPr>
            <a:r>
              <a:rPr sz="1150" b="1">
                <a:solidFill>
                  <a:srgbClr val="161B26"/>
                </a:solidFill>
                <a:latin typeface="Arial"/>
              </a:rPr>
              <a:t>Trigger</a:t>
            </a:r>
          </a:p>
        </p:txBody>
      </p:sp>
      <p:sp>
        <p:nvSpPr>
          <p:cNvPr id="23" name="TextBox 22"/>
          <p:cNvSpPr txBox="1"/>
          <p:nvPr/>
        </p:nvSpPr>
        <p:spPr>
          <a:xfrm>
            <a:off x="3017520" y="3280410"/>
            <a:ext cx="4014216" cy="469772"/>
          </a:xfrm>
          <a:prstGeom prst="rect">
            <a:avLst/>
          </a:prstGeom>
          <a:noFill/>
        </p:spPr>
        <p:txBody>
          <a:bodyPr wrap="square" anchor="ctr">
            <a:spAutoFit/>
          </a:bodyPr>
          <a:lstStyle/>
          <a:p>
            <a:pPr algn="l">
              <a:spcAft>
                <a:spcPts val="400"/>
              </a:spcAft>
            </a:pPr>
            <a:r>
              <a:rPr sz="1050" b="0">
                <a:solidFill>
                  <a:srgbClr val="161B26"/>
                </a:solidFill>
                <a:latin typeface="Arial"/>
              </a:rPr>
              <a:t>Schedules, events, messages - unprompted</a:t>
            </a:r>
          </a:p>
        </p:txBody>
      </p:sp>
      <p:sp>
        <p:nvSpPr>
          <p:cNvPr id="24" name="TextBox 23"/>
          <p:cNvSpPr txBox="1"/>
          <p:nvPr/>
        </p:nvSpPr>
        <p:spPr>
          <a:xfrm>
            <a:off x="7260336" y="3280410"/>
            <a:ext cx="4059936" cy="469772"/>
          </a:xfrm>
          <a:prstGeom prst="rect">
            <a:avLst/>
          </a:prstGeom>
          <a:noFill/>
        </p:spPr>
        <p:txBody>
          <a:bodyPr wrap="square" anchor="ctr">
            <a:spAutoFit/>
          </a:bodyPr>
          <a:lstStyle/>
          <a:p>
            <a:pPr algn="l">
              <a:spcAft>
                <a:spcPts val="400"/>
              </a:spcAft>
            </a:pPr>
            <a:r>
              <a:rPr sz="1050" b="0">
                <a:solidFill>
                  <a:srgbClr val="161B26"/>
                </a:solidFill>
                <a:latin typeface="Arial"/>
              </a:rPr>
              <a:t>A user prompt or a pipeline step</a:t>
            </a:r>
          </a:p>
        </p:txBody>
      </p:sp>
      <p:sp>
        <p:nvSpPr>
          <p:cNvPr id="25" name="TextBox 24"/>
          <p:cNvSpPr txBox="1"/>
          <p:nvPr/>
        </p:nvSpPr>
        <p:spPr>
          <a:xfrm>
            <a:off x="886968" y="3777614"/>
            <a:ext cx="1965960" cy="469772"/>
          </a:xfrm>
          <a:prstGeom prst="rect">
            <a:avLst/>
          </a:prstGeom>
          <a:noFill/>
        </p:spPr>
        <p:txBody>
          <a:bodyPr wrap="square" anchor="ctr">
            <a:spAutoFit/>
          </a:bodyPr>
          <a:lstStyle/>
          <a:p>
            <a:pPr algn="l">
              <a:spcAft>
                <a:spcPts val="400"/>
              </a:spcAft>
            </a:pPr>
            <a:r>
              <a:rPr sz="1150" b="1">
                <a:solidFill>
                  <a:srgbClr val="161B26"/>
                </a:solidFill>
                <a:latin typeface="Arial"/>
              </a:rPr>
              <a:t>Memory</a:t>
            </a:r>
          </a:p>
        </p:txBody>
      </p:sp>
      <p:sp>
        <p:nvSpPr>
          <p:cNvPr id="26" name="TextBox 25"/>
          <p:cNvSpPr txBox="1"/>
          <p:nvPr/>
        </p:nvSpPr>
        <p:spPr>
          <a:xfrm>
            <a:off x="3017520" y="3777614"/>
            <a:ext cx="4014216" cy="469772"/>
          </a:xfrm>
          <a:prstGeom prst="rect">
            <a:avLst/>
          </a:prstGeom>
          <a:noFill/>
        </p:spPr>
        <p:txBody>
          <a:bodyPr wrap="square" anchor="ctr">
            <a:spAutoFit/>
          </a:bodyPr>
          <a:lstStyle/>
          <a:p>
            <a:pPr algn="l">
              <a:spcAft>
                <a:spcPts val="400"/>
              </a:spcAft>
            </a:pPr>
            <a:r>
              <a:rPr sz="1050" b="0">
                <a:solidFill>
                  <a:srgbClr val="161B26"/>
                </a:solidFill>
                <a:latin typeface="Arial"/>
              </a:rPr>
              <a:t>Long-term memory across days and tasks</a:t>
            </a:r>
          </a:p>
        </p:txBody>
      </p:sp>
      <p:sp>
        <p:nvSpPr>
          <p:cNvPr id="27" name="TextBox 26"/>
          <p:cNvSpPr txBox="1"/>
          <p:nvPr/>
        </p:nvSpPr>
        <p:spPr>
          <a:xfrm>
            <a:off x="7260336" y="3777614"/>
            <a:ext cx="4059936" cy="469772"/>
          </a:xfrm>
          <a:prstGeom prst="rect">
            <a:avLst/>
          </a:prstGeom>
          <a:noFill/>
        </p:spPr>
        <p:txBody>
          <a:bodyPr wrap="square" anchor="ctr">
            <a:spAutoFit/>
          </a:bodyPr>
          <a:lstStyle/>
          <a:p>
            <a:pPr algn="l">
              <a:spcAft>
                <a:spcPts val="400"/>
              </a:spcAft>
            </a:pPr>
            <a:r>
              <a:rPr sz="1050" b="0">
                <a:solidFill>
                  <a:srgbClr val="161B26"/>
                </a:solidFill>
                <a:latin typeface="Arial"/>
              </a:rPr>
              <a:t>Session or task memory; can use long-term memory</a:t>
            </a:r>
          </a:p>
        </p:txBody>
      </p:sp>
      <p:sp>
        <p:nvSpPr>
          <p:cNvPr id="28" name="Rectangle 27"/>
          <p:cNvSpPr/>
          <p:nvPr/>
        </p:nvSpPr>
        <p:spPr>
          <a:xfrm>
            <a:off x="777240" y="4274820"/>
            <a:ext cx="10634472" cy="4697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6968" y="4274820"/>
            <a:ext cx="1965960" cy="469772"/>
          </a:xfrm>
          <a:prstGeom prst="rect">
            <a:avLst/>
          </a:prstGeom>
          <a:noFill/>
        </p:spPr>
        <p:txBody>
          <a:bodyPr wrap="square" anchor="ctr">
            <a:spAutoFit/>
          </a:bodyPr>
          <a:lstStyle/>
          <a:p>
            <a:pPr algn="l">
              <a:spcAft>
                <a:spcPts val="400"/>
              </a:spcAft>
            </a:pPr>
            <a:r>
              <a:rPr sz="1150" b="1">
                <a:solidFill>
                  <a:srgbClr val="161B26"/>
                </a:solidFill>
                <a:latin typeface="Arial"/>
              </a:rPr>
              <a:t>Building blocks</a:t>
            </a:r>
          </a:p>
        </p:txBody>
      </p:sp>
      <p:sp>
        <p:nvSpPr>
          <p:cNvPr id="30" name="TextBox 29"/>
          <p:cNvSpPr txBox="1"/>
          <p:nvPr/>
        </p:nvSpPr>
        <p:spPr>
          <a:xfrm>
            <a:off x="3017520" y="4274820"/>
            <a:ext cx="4014216" cy="469772"/>
          </a:xfrm>
          <a:prstGeom prst="rect">
            <a:avLst/>
          </a:prstGeom>
          <a:noFill/>
        </p:spPr>
        <p:txBody>
          <a:bodyPr wrap="square" anchor="ctr">
            <a:spAutoFit/>
          </a:bodyPr>
          <a:lstStyle/>
          <a:p>
            <a:pPr algn="l">
              <a:spcAft>
                <a:spcPts val="400"/>
              </a:spcAft>
            </a:pPr>
            <a:r>
              <a:rPr sz="1050" b="0">
                <a:solidFill>
                  <a:srgbClr val="161B26"/>
                </a:solidFill>
                <a:latin typeface="Arial"/>
              </a:rPr>
              <a:t>Agentic AI + always-on runtime and scheduler</a:t>
            </a:r>
          </a:p>
        </p:txBody>
      </p:sp>
      <p:sp>
        <p:nvSpPr>
          <p:cNvPr id="31" name="TextBox 30"/>
          <p:cNvSpPr txBox="1"/>
          <p:nvPr/>
        </p:nvSpPr>
        <p:spPr>
          <a:xfrm>
            <a:off x="7260336" y="4274820"/>
            <a:ext cx="4059936" cy="469772"/>
          </a:xfrm>
          <a:prstGeom prst="rect">
            <a:avLst/>
          </a:prstGeom>
          <a:noFill/>
        </p:spPr>
        <p:txBody>
          <a:bodyPr wrap="square" anchor="ctr">
            <a:spAutoFit/>
          </a:bodyPr>
          <a:lstStyle/>
          <a:p>
            <a:pPr algn="l">
              <a:spcAft>
                <a:spcPts val="400"/>
              </a:spcAft>
            </a:pPr>
            <a:r>
              <a:rPr sz="1050" b="0">
                <a:solidFill>
                  <a:srgbClr val="161B26"/>
                </a:solidFill>
                <a:latin typeface="Arial"/>
              </a:rPr>
              <a:t>LLM + tools + skills + memory + instructions</a:t>
            </a:r>
          </a:p>
        </p:txBody>
      </p:sp>
      <p:sp>
        <p:nvSpPr>
          <p:cNvPr id="32" name="TextBox 31"/>
          <p:cNvSpPr txBox="1"/>
          <p:nvPr/>
        </p:nvSpPr>
        <p:spPr>
          <a:xfrm>
            <a:off x="886968" y="4772025"/>
            <a:ext cx="1965960" cy="469772"/>
          </a:xfrm>
          <a:prstGeom prst="rect">
            <a:avLst/>
          </a:prstGeom>
          <a:noFill/>
        </p:spPr>
        <p:txBody>
          <a:bodyPr wrap="square" anchor="ctr">
            <a:spAutoFit/>
          </a:bodyPr>
          <a:lstStyle/>
          <a:p>
            <a:pPr algn="l">
              <a:spcAft>
                <a:spcPts val="400"/>
              </a:spcAft>
            </a:pPr>
            <a:r>
              <a:rPr sz="1150" b="1">
                <a:solidFill>
                  <a:srgbClr val="161B26"/>
                </a:solidFill>
                <a:latin typeface="Arial"/>
              </a:rPr>
              <a:t>Examples</a:t>
            </a:r>
          </a:p>
        </p:txBody>
      </p:sp>
      <p:sp>
        <p:nvSpPr>
          <p:cNvPr id="33" name="TextBox 32"/>
          <p:cNvSpPr txBox="1"/>
          <p:nvPr/>
        </p:nvSpPr>
        <p:spPr>
          <a:xfrm>
            <a:off x="3017520" y="4772025"/>
            <a:ext cx="4014216" cy="469772"/>
          </a:xfrm>
          <a:prstGeom prst="rect">
            <a:avLst/>
          </a:prstGeom>
          <a:noFill/>
        </p:spPr>
        <p:txBody>
          <a:bodyPr wrap="square" anchor="ctr">
            <a:spAutoFit/>
          </a:bodyPr>
          <a:lstStyle/>
          <a:p>
            <a:pPr algn="l">
              <a:spcAft>
                <a:spcPts val="400"/>
              </a:spcAft>
            </a:pPr>
            <a:r>
              <a:rPr sz="1050" b="0">
                <a:solidFill>
                  <a:srgbClr val="161B26"/>
                </a:solidFill>
                <a:latin typeface="Arial"/>
              </a:rPr>
              <a:t>OpenClaw, Hermes Agent, OpenAI Dots</a:t>
            </a:r>
          </a:p>
        </p:txBody>
      </p:sp>
      <p:sp>
        <p:nvSpPr>
          <p:cNvPr id="34" name="TextBox 33"/>
          <p:cNvSpPr txBox="1"/>
          <p:nvPr/>
        </p:nvSpPr>
        <p:spPr>
          <a:xfrm>
            <a:off x="7260336" y="4772025"/>
            <a:ext cx="4059936" cy="469772"/>
          </a:xfrm>
          <a:prstGeom prst="rect">
            <a:avLst/>
          </a:prstGeom>
          <a:noFill/>
        </p:spPr>
        <p:txBody>
          <a:bodyPr wrap="square" anchor="ctr">
            <a:spAutoFit/>
          </a:bodyPr>
          <a:lstStyle/>
          <a:p>
            <a:pPr algn="l">
              <a:spcAft>
                <a:spcPts val="400"/>
              </a:spcAft>
            </a:pPr>
            <a:r>
              <a:rPr sz="1050" b="0">
                <a:solidFill>
                  <a:srgbClr val="161B26"/>
                </a:solidFill>
                <a:latin typeface="Arial"/>
              </a:rPr>
              <a:t>Claude Code, ChatGPT with tools, TradingAgents</a:t>
            </a:r>
          </a:p>
        </p:txBody>
      </p:sp>
      <p:sp>
        <p:nvSpPr>
          <p:cNvPr id="35" name="Rectangle 34"/>
          <p:cNvSpPr/>
          <p:nvPr/>
        </p:nvSpPr>
        <p:spPr>
          <a:xfrm>
            <a:off x="777240" y="5269229"/>
            <a:ext cx="10634472" cy="4697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6968" y="5269229"/>
            <a:ext cx="1965960" cy="469772"/>
          </a:xfrm>
          <a:prstGeom prst="rect">
            <a:avLst/>
          </a:prstGeom>
          <a:noFill/>
        </p:spPr>
        <p:txBody>
          <a:bodyPr wrap="square" anchor="ctr">
            <a:spAutoFit/>
          </a:bodyPr>
          <a:lstStyle/>
          <a:p>
            <a:pPr algn="l">
              <a:spcAft>
                <a:spcPts val="400"/>
              </a:spcAft>
            </a:pPr>
            <a:r>
              <a:rPr sz="1150" b="1">
                <a:solidFill>
                  <a:srgbClr val="161B26"/>
                </a:solidFill>
                <a:latin typeface="Arial"/>
              </a:rPr>
              <a:t>Trading example</a:t>
            </a:r>
          </a:p>
        </p:txBody>
      </p:sp>
      <p:sp>
        <p:nvSpPr>
          <p:cNvPr id="37" name="TextBox 36"/>
          <p:cNvSpPr txBox="1"/>
          <p:nvPr/>
        </p:nvSpPr>
        <p:spPr>
          <a:xfrm>
            <a:off x="3017520" y="5269229"/>
            <a:ext cx="4014216" cy="469772"/>
          </a:xfrm>
          <a:prstGeom prst="rect">
            <a:avLst/>
          </a:prstGeom>
          <a:noFill/>
        </p:spPr>
        <p:txBody>
          <a:bodyPr wrap="square" anchor="ctr">
            <a:spAutoFit/>
          </a:bodyPr>
          <a:lstStyle/>
          <a:p>
            <a:pPr algn="l">
              <a:spcAft>
                <a:spcPts val="400"/>
              </a:spcAft>
            </a:pPr>
            <a:r>
              <a:rPr sz="1050" b="0">
                <a:solidFill>
                  <a:srgbClr val="161B26"/>
                </a:solidFill>
                <a:latin typeface="Arial"/>
              </a:rPr>
              <a:t>24/7 market and news monitor proposing trades</a:t>
            </a:r>
          </a:p>
        </p:txBody>
      </p:sp>
      <p:sp>
        <p:nvSpPr>
          <p:cNvPr id="38" name="TextBox 37"/>
          <p:cNvSpPr txBox="1"/>
          <p:nvPr/>
        </p:nvSpPr>
        <p:spPr>
          <a:xfrm>
            <a:off x="7260336" y="5269229"/>
            <a:ext cx="4059936" cy="469772"/>
          </a:xfrm>
          <a:prstGeom prst="rect">
            <a:avLst/>
          </a:prstGeom>
          <a:noFill/>
        </p:spPr>
        <p:txBody>
          <a:bodyPr wrap="square" anchor="ctr">
            <a:spAutoFit/>
          </a:bodyPr>
          <a:lstStyle/>
          <a:p>
            <a:pPr algn="l">
              <a:spcAft>
                <a:spcPts val="400"/>
              </a:spcAft>
            </a:pPr>
            <a:r>
              <a:rPr sz="1050" b="0">
                <a:solidFill>
                  <a:srgbClr val="161B26"/>
                </a:solidFill>
                <a:latin typeface="Arial"/>
              </a:rPr>
              <a:t>On-demand multi-agent analysis before a trade</a:t>
            </a:r>
          </a:p>
        </p:txBody>
      </p:sp>
      <p:sp>
        <p:nvSpPr>
          <p:cNvPr id="39" name="TextBox 38"/>
          <p:cNvSpPr txBox="1"/>
          <p:nvPr/>
        </p:nvSpPr>
        <p:spPr>
          <a:xfrm>
            <a:off x="886968" y="5766434"/>
            <a:ext cx="1965960" cy="469772"/>
          </a:xfrm>
          <a:prstGeom prst="rect">
            <a:avLst/>
          </a:prstGeom>
          <a:noFill/>
        </p:spPr>
        <p:txBody>
          <a:bodyPr wrap="square" anchor="ctr">
            <a:spAutoFit/>
          </a:bodyPr>
          <a:lstStyle/>
          <a:p>
            <a:pPr algn="l">
              <a:spcAft>
                <a:spcPts val="400"/>
              </a:spcAft>
            </a:pPr>
            <a:r>
              <a:rPr sz="1150" b="1">
                <a:solidFill>
                  <a:srgbClr val="161B26"/>
                </a:solidFill>
                <a:latin typeface="Arial"/>
              </a:rPr>
              <a:t>Main risks</a:t>
            </a:r>
          </a:p>
        </p:txBody>
      </p:sp>
      <p:sp>
        <p:nvSpPr>
          <p:cNvPr id="40" name="TextBox 39"/>
          <p:cNvSpPr txBox="1"/>
          <p:nvPr/>
        </p:nvSpPr>
        <p:spPr>
          <a:xfrm>
            <a:off x="3017520" y="5766434"/>
            <a:ext cx="4014216" cy="469772"/>
          </a:xfrm>
          <a:prstGeom prst="rect">
            <a:avLst/>
          </a:prstGeom>
          <a:noFill/>
        </p:spPr>
        <p:txBody>
          <a:bodyPr wrap="square" anchor="ctr">
            <a:spAutoFit/>
          </a:bodyPr>
          <a:lstStyle/>
          <a:p>
            <a:pPr algn="l">
              <a:spcAft>
                <a:spcPts val="400"/>
              </a:spcAft>
            </a:pPr>
            <a:r>
              <a:rPr sz="1050" b="0">
                <a:solidFill>
                  <a:srgbClr val="161B26"/>
                </a:solidFill>
                <a:latin typeface="Arial"/>
              </a:rPr>
              <a:t>Acting unsupervised overnight; runaway loops</a:t>
            </a:r>
          </a:p>
        </p:txBody>
      </p:sp>
      <p:sp>
        <p:nvSpPr>
          <p:cNvPr id="41" name="TextBox 40"/>
          <p:cNvSpPr txBox="1"/>
          <p:nvPr/>
        </p:nvSpPr>
        <p:spPr>
          <a:xfrm>
            <a:off x="7260336" y="5766434"/>
            <a:ext cx="4059936" cy="469772"/>
          </a:xfrm>
          <a:prstGeom prst="rect">
            <a:avLst/>
          </a:prstGeom>
          <a:noFill/>
        </p:spPr>
        <p:txBody>
          <a:bodyPr wrap="square" anchor="ctr">
            <a:spAutoFit/>
          </a:bodyPr>
          <a:lstStyle/>
          <a:p>
            <a:pPr algn="l">
              <a:spcAft>
                <a:spcPts val="400"/>
              </a:spcAft>
            </a:pPr>
            <a:r>
              <a:rPr sz="1050" b="0">
                <a:solidFill>
                  <a:srgbClr val="161B26"/>
                </a:solidFill>
                <a:latin typeface="Arial"/>
              </a:rPr>
              <a:t>Hallucination; prompt injection; tool misuse</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AGENTIC AI</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From Chatbot to Always-On AI Agent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777240" y="2240280"/>
            <a:ext cx="24528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40280"/>
            <a:ext cx="245287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647063"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47063"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4" name="TextBox 13"/>
          <p:cNvSpPr txBox="1"/>
          <p:nvPr/>
        </p:nvSpPr>
        <p:spPr>
          <a:xfrm>
            <a:off x="905256" y="3483864"/>
            <a:ext cx="2196846" cy="1371600"/>
          </a:xfrm>
          <a:prstGeom prst="rect">
            <a:avLst/>
          </a:prstGeom>
          <a:noFill/>
        </p:spPr>
        <p:txBody>
          <a:bodyPr wrap="square" anchor="t">
            <a:spAutoFit/>
          </a:bodyPr>
          <a:lstStyle/>
          <a:p>
            <a:pPr algn="ctr">
              <a:spcAft>
                <a:spcPts val="400"/>
              </a:spcAft>
            </a:pPr>
            <a:r>
              <a:rPr sz="1200" b="0">
                <a:solidFill>
                  <a:srgbClr val="161B26"/>
                </a:solidFill>
                <a:latin typeface="Arial"/>
              </a:rPr>
              <a:t>1 · Chatbot: Answers one prompt at a time; no tools, no actions</a:t>
            </a:r>
          </a:p>
        </p:txBody>
      </p:sp>
      <p:sp>
        <p:nvSpPr>
          <p:cNvPr id="15" name="TextBox 14"/>
          <p:cNvSpPr txBox="1"/>
          <p:nvPr/>
        </p:nvSpPr>
        <p:spPr>
          <a:xfrm>
            <a:off x="3211830"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16" name="Rectangle 15"/>
          <p:cNvSpPr/>
          <p:nvPr/>
        </p:nvSpPr>
        <p:spPr>
          <a:xfrm>
            <a:off x="3504438" y="2240280"/>
            <a:ext cx="24528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504438" y="2240280"/>
            <a:ext cx="245287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4374261"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74261"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20" name="TextBox 19"/>
          <p:cNvSpPr txBox="1"/>
          <p:nvPr/>
        </p:nvSpPr>
        <p:spPr>
          <a:xfrm>
            <a:off x="3632454" y="3483864"/>
            <a:ext cx="2196846" cy="1371600"/>
          </a:xfrm>
          <a:prstGeom prst="rect">
            <a:avLst/>
          </a:prstGeom>
          <a:noFill/>
        </p:spPr>
        <p:txBody>
          <a:bodyPr wrap="square" anchor="t">
            <a:spAutoFit/>
          </a:bodyPr>
          <a:lstStyle/>
          <a:p>
            <a:pPr algn="ctr">
              <a:spcAft>
                <a:spcPts val="400"/>
              </a:spcAft>
            </a:pPr>
            <a:r>
              <a:rPr sz="1200" b="0">
                <a:solidFill>
                  <a:srgbClr val="161B26"/>
                </a:solidFill>
                <a:latin typeface="Arial"/>
              </a:rPr>
              <a:t>2 · Agentic AI: Plans and calls tools, skills, memory and instructions when asked</a:t>
            </a:r>
          </a:p>
        </p:txBody>
      </p:sp>
      <p:sp>
        <p:nvSpPr>
          <p:cNvPr id="21" name="TextBox 20"/>
          <p:cNvSpPr txBox="1"/>
          <p:nvPr/>
        </p:nvSpPr>
        <p:spPr>
          <a:xfrm>
            <a:off x="5939028"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22" name="Rectangle 21"/>
          <p:cNvSpPr/>
          <p:nvPr/>
        </p:nvSpPr>
        <p:spPr>
          <a:xfrm>
            <a:off x="6231636" y="2240280"/>
            <a:ext cx="24528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240280"/>
            <a:ext cx="245287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01459"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01459"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6" name="TextBox 25"/>
          <p:cNvSpPr txBox="1"/>
          <p:nvPr/>
        </p:nvSpPr>
        <p:spPr>
          <a:xfrm>
            <a:off x="6359652" y="3483864"/>
            <a:ext cx="2196846" cy="1371600"/>
          </a:xfrm>
          <a:prstGeom prst="rect">
            <a:avLst/>
          </a:prstGeom>
          <a:noFill/>
        </p:spPr>
        <p:txBody>
          <a:bodyPr wrap="square" anchor="t">
            <a:spAutoFit/>
          </a:bodyPr>
          <a:lstStyle/>
          <a:p>
            <a:pPr algn="ctr">
              <a:spcAft>
                <a:spcPts val="400"/>
              </a:spcAft>
            </a:pPr>
            <a:r>
              <a:rPr sz="1200" b="0">
                <a:solidFill>
                  <a:srgbClr val="161B26"/>
                </a:solidFill>
                <a:latin typeface="Arial"/>
              </a:rPr>
              <a:t>3 · Multi-agent agentic system: Specialist agents coordinate: analysts, debate, trader, risk manager</a:t>
            </a:r>
          </a:p>
        </p:txBody>
      </p:sp>
      <p:sp>
        <p:nvSpPr>
          <p:cNvPr id="27" name="TextBox 26"/>
          <p:cNvSpPr txBox="1"/>
          <p:nvPr/>
        </p:nvSpPr>
        <p:spPr>
          <a:xfrm>
            <a:off x="8666226"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28" name="Rectangle 27"/>
          <p:cNvSpPr/>
          <p:nvPr/>
        </p:nvSpPr>
        <p:spPr>
          <a:xfrm>
            <a:off x="8958834" y="2240280"/>
            <a:ext cx="24528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958834" y="2240280"/>
            <a:ext cx="245287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9828657"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28657"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2" name="TextBox 31"/>
          <p:cNvSpPr txBox="1"/>
          <p:nvPr/>
        </p:nvSpPr>
        <p:spPr>
          <a:xfrm>
            <a:off x="9086850" y="3483864"/>
            <a:ext cx="2196846" cy="1371600"/>
          </a:xfrm>
          <a:prstGeom prst="rect">
            <a:avLst/>
          </a:prstGeom>
          <a:noFill/>
        </p:spPr>
        <p:txBody>
          <a:bodyPr wrap="square" anchor="t">
            <a:spAutoFit/>
          </a:bodyPr>
          <a:lstStyle/>
          <a:p>
            <a:pPr algn="ctr">
              <a:spcAft>
                <a:spcPts val="400"/>
              </a:spcAft>
            </a:pPr>
            <a:r>
              <a:rPr sz="1200" b="0">
                <a:solidFill>
                  <a:srgbClr val="161B26"/>
                </a:solidFill>
                <a:latin typeface="Arial"/>
              </a:rPr>
              <a:t>4 · AI agent (always on): Stands by 24/7, wakes on schedules and events, works continuously within limits</a:t>
            </a:r>
          </a:p>
        </p:txBody>
      </p:sp>
      <p:sp>
        <p:nvSpPr>
          <p:cNvPr id="33" name="Rectangle 32"/>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77240" y="5257800"/>
            <a:ext cx="91440" cy="8229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An AI agent is agentic AI that never switches off - so its limits, kill switch and monitoring matter most.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MULTI-AGENT TRADING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Roles in a Multi-Agent Trading System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Fundamental Analyst</a:t>
            </a:r>
          </a:p>
          <a:p>
            <a:pPr algn="l">
              <a:spcAft>
                <a:spcPts val="300"/>
              </a:spcAft>
            </a:pPr>
            <a:r>
              <a:rPr sz="1000" b="0">
                <a:solidFill>
                  <a:srgbClr val="5B6372"/>
                </a:solidFill>
                <a:latin typeface="Arial"/>
              </a:rPr>
              <a:t>Reads filings, earnings and balance sheets to judge intrinsic value</a:t>
            </a:r>
          </a:p>
        </p:txBody>
      </p:sp>
      <p:sp>
        <p:nvSpPr>
          <p:cNvPr id="15" name="Rectangle 14"/>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19659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Technical Analyst</a:t>
            </a:r>
          </a:p>
          <a:p>
            <a:pPr algn="l">
              <a:spcAft>
                <a:spcPts val="300"/>
              </a:spcAft>
            </a:pPr>
            <a:r>
              <a:rPr sz="1000" b="0">
                <a:solidFill>
                  <a:srgbClr val="5B6372"/>
                </a:solidFill>
                <a:latin typeface="Arial"/>
              </a:rPr>
              <a:t>Reads price, volume and indicators such as MACD and RSI</a:t>
            </a:r>
          </a:p>
        </p:txBody>
      </p:sp>
      <p:sp>
        <p:nvSpPr>
          <p:cNvPr id="20" name="Rectangle 19"/>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311810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3063240"/>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Sentiment Analyst</a:t>
            </a:r>
          </a:p>
          <a:p>
            <a:pPr algn="l">
              <a:spcAft>
                <a:spcPts val="300"/>
              </a:spcAft>
            </a:pPr>
            <a:r>
              <a:rPr sz="1000" b="0">
                <a:solidFill>
                  <a:srgbClr val="5B6372"/>
                </a:solidFill>
                <a:latin typeface="Arial"/>
              </a:rPr>
              <a:t>Gauges mood from social media, analyst ratings and options flow</a:t>
            </a:r>
          </a:p>
        </p:txBody>
      </p:sp>
      <p:sp>
        <p:nvSpPr>
          <p:cNvPr id="25" name="Rectangle 24"/>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311810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3063240"/>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News Analyst</a:t>
            </a:r>
          </a:p>
          <a:p>
            <a:pPr algn="l">
              <a:spcAft>
                <a:spcPts val="300"/>
              </a:spcAft>
            </a:pPr>
            <a:r>
              <a:rPr sz="1000" b="0">
                <a:solidFill>
                  <a:srgbClr val="5B6372"/>
                </a:solidFill>
                <a:latin typeface="Arial"/>
              </a:rPr>
              <a:t>Tracks news wires, press releases and macro events</a:t>
            </a:r>
          </a:p>
        </p:txBody>
      </p:sp>
      <p:sp>
        <p:nvSpPr>
          <p:cNvPr id="30" name="Rectangle 29"/>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33272" y="427024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4" name="TextBox 33"/>
          <p:cNvSpPr txBox="1"/>
          <p:nvPr/>
        </p:nvSpPr>
        <p:spPr>
          <a:xfrm>
            <a:off x="1764792" y="4215384"/>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Bull / Bear Researchers</a:t>
            </a:r>
          </a:p>
          <a:p>
            <a:pPr algn="l">
              <a:spcAft>
                <a:spcPts val="300"/>
              </a:spcAft>
            </a:pPr>
            <a:r>
              <a:rPr sz="1000" b="0">
                <a:solidFill>
                  <a:srgbClr val="5B6372"/>
                </a:solidFill>
                <a:latin typeface="Arial"/>
              </a:rPr>
              <a:t>Argue for and against the trade so weak ideas are challenged</a:t>
            </a:r>
          </a:p>
        </p:txBody>
      </p:sp>
      <p:sp>
        <p:nvSpPr>
          <p:cNvPr id="35" name="Rectangle 34"/>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487668" y="427024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87668"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9" name="TextBox 38"/>
          <p:cNvSpPr txBox="1"/>
          <p:nvPr/>
        </p:nvSpPr>
        <p:spPr>
          <a:xfrm>
            <a:off x="7219188" y="4215384"/>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Trader</a:t>
            </a:r>
          </a:p>
          <a:p>
            <a:pPr algn="l">
              <a:spcAft>
                <a:spcPts val="300"/>
              </a:spcAft>
            </a:pPr>
            <a:r>
              <a:rPr sz="1000" b="0">
                <a:solidFill>
                  <a:srgbClr val="5B6372"/>
                </a:solidFill>
                <a:latin typeface="Arial"/>
              </a:rPr>
              <a:t>Combines the reports into a buy, sell or hold call with timing and size</a:t>
            </a:r>
          </a:p>
        </p:txBody>
      </p:sp>
      <p:sp>
        <p:nvSpPr>
          <p:cNvPr id="40" name="Rectangle 39"/>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1033272" y="5422392"/>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4" name="TextBox 43"/>
          <p:cNvSpPr txBox="1"/>
          <p:nvPr/>
        </p:nvSpPr>
        <p:spPr>
          <a:xfrm>
            <a:off x="1764792" y="5367528"/>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Risk Manager</a:t>
            </a:r>
          </a:p>
          <a:p>
            <a:pPr algn="l">
              <a:spcAft>
                <a:spcPts val="300"/>
              </a:spcAft>
            </a:pPr>
            <a:r>
              <a:rPr sz="1000" b="0">
                <a:solidFill>
                  <a:srgbClr val="5B6372"/>
                </a:solidFill>
                <a:latin typeface="Arial"/>
              </a:rPr>
              <a:t>Checks volatility, liquidity, exposure and drawdown limits</a:t>
            </a:r>
          </a:p>
        </p:txBody>
      </p:sp>
      <p:sp>
        <p:nvSpPr>
          <p:cNvPr id="45" name="Rectangle 44"/>
          <p:cNvSpPr/>
          <p:nvPr/>
        </p:nvSpPr>
        <p:spPr>
          <a:xfrm>
            <a:off x="6231636"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231636"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6487668"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87668"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8</a:t>
            </a:r>
          </a:p>
        </p:txBody>
      </p:sp>
      <p:sp>
        <p:nvSpPr>
          <p:cNvPr id="49" name="TextBox 48"/>
          <p:cNvSpPr txBox="1"/>
          <p:nvPr/>
        </p:nvSpPr>
        <p:spPr>
          <a:xfrm>
            <a:off x="7219188" y="5367528"/>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Portfolio Manager</a:t>
            </a:r>
          </a:p>
          <a:p>
            <a:pPr algn="l">
              <a:spcAft>
                <a:spcPts val="300"/>
              </a:spcAft>
            </a:pPr>
            <a:r>
              <a:rPr sz="1000" b="0">
                <a:solidFill>
                  <a:srgbClr val="5B6372"/>
                </a:solidFill>
                <a:latin typeface="Arial"/>
              </a:rPr>
              <a:t>Approves or rejects the proposal and fits it into the whole portfolio</a:t>
            </a:r>
          </a:p>
        </p:txBody>
      </p:sp>
      <p:sp>
        <p:nvSpPr>
          <p:cNvPr id="50" name="TextBox 4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1" name="TextBox 5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2" name="TextBox 5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MULTI-AGENT TRADING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Stock-Trading Agent Frameworks (1 of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9427464" cy="731520"/>
          </a:xfrm>
          <a:prstGeom prst="rect">
            <a:avLst/>
          </a:prstGeom>
          <a:noFill/>
        </p:spPr>
        <p:txBody>
          <a:bodyPr wrap="square" anchor="ctr">
            <a:spAutoFit/>
          </a:bodyPr>
          <a:lstStyle/>
          <a:p>
            <a:pPr algn="l">
              <a:spcAft>
                <a:spcPts val="300"/>
              </a:spcAft>
            </a:pPr>
            <a:r>
              <a:rPr sz="1350" b="1">
                <a:solidFill>
                  <a:srgbClr val="161B26"/>
                </a:solidFill>
                <a:latin typeface="Arial"/>
              </a:rPr>
              <a:t>TradingAgents (Xiao et al., 2024)</a:t>
            </a:r>
          </a:p>
          <a:p>
            <a:pPr algn="l">
              <a:spcAft>
                <a:spcPts val="300"/>
              </a:spcAft>
            </a:pPr>
            <a:r>
              <a:rPr sz="950" b="0">
                <a:solidFill>
                  <a:srgbClr val="5B6372"/>
                </a:solidFill>
                <a:latin typeface="Arial"/>
              </a:rPr>
              <a:t>Simulated stock-trading firm: fundamental, sentiment, news and technical analysts, bull/bear debate, trader, risk team</a:t>
            </a:r>
          </a:p>
        </p:txBody>
      </p:sp>
      <p:sp>
        <p:nvSpPr>
          <p:cNvPr id="15" name="Rectangle 14"/>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1764792" y="3063240"/>
            <a:ext cx="9427464" cy="731520"/>
          </a:xfrm>
          <a:prstGeom prst="rect">
            <a:avLst/>
          </a:prstGeom>
          <a:noFill/>
        </p:spPr>
        <p:txBody>
          <a:bodyPr wrap="square" anchor="ctr">
            <a:spAutoFit/>
          </a:bodyPr>
          <a:lstStyle/>
          <a:p>
            <a:pPr algn="l">
              <a:spcAft>
                <a:spcPts val="300"/>
              </a:spcAft>
            </a:pPr>
            <a:r>
              <a:rPr sz="1350" b="1">
                <a:solidFill>
                  <a:srgbClr val="161B26"/>
                </a:solidFill>
                <a:latin typeface="Arial"/>
              </a:rPr>
              <a:t>FinMem (Yu et al., 2023)</a:t>
            </a:r>
          </a:p>
          <a:p>
            <a:pPr algn="l">
              <a:spcAft>
                <a:spcPts val="300"/>
              </a:spcAft>
            </a:pPr>
            <a:r>
              <a:rPr sz="950" b="0">
                <a:solidFill>
                  <a:srgbClr val="5B6372"/>
                </a:solidFill>
                <a:latin typeface="Arial"/>
              </a:rPr>
              <a:t>LLM trading agent with profiling and layered memory making Buy / Sell / Hold decisions on individual stocks</a:t>
            </a:r>
          </a:p>
        </p:txBody>
      </p:sp>
      <p:sp>
        <p:nvSpPr>
          <p:cNvPr id="20" name="Rectangle 19"/>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9427464" cy="731520"/>
          </a:xfrm>
          <a:prstGeom prst="rect">
            <a:avLst/>
          </a:prstGeom>
          <a:noFill/>
        </p:spPr>
        <p:txBody>
          <a:bodyPr wrap="square" anchor="ctr">
            <a:spAutoFit/>
          </a:bodyPr>
          <a:lstStyle/>
          <a:p>
            <a:pPr algn="l">
              <a:spcAft>
                <a:spcPts val="300"/>
              </a:spcAft>
            </a:pPr>
            <a:r>
              <a:rPr sz="1350" b="1">
                <a:solidFill>
                  <a:srgbClr val="161B26"/>
                </a:solidFill>
                <a:latin typeface="Arial"/>
              </a:rPr>
              <a:t>FinAgent (Zhang et al., 2024)</a:t>
            </a:r>
          </a:p>
          <a:p>
            <a:pPr algn="l">
              <a:spcAft>
                <a:spcPts val="300"/>
              </a:spcAft>
            </a:pPr>
            <a:r>
              <a:rPr sz="950" b="0">
                <a:solidFill>
                  <a:srgbClr val="5B6372"/>
                </a:solidFill>
                <a:latin typeface="Arial"/>
              </a:rPr>
              <a:t>Multimodal agent reading prices, news and chart images, with dual-level reflection; tested on stocks and crypto</a:t>
            </a:r>
          </a:p>
        </p:txBody>
      </p:sp>
      <p:sp>
        <p:nvSpPr>
          <p:cNvPr id="25" name="Rectangle 24"/>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1764792" y="5367528"/>
            <a:ext cx="9427464" cy="731520"/>
          </a:xfrm>
          <a:prstGeom prst="rect">
            <a:avLst/>
          </a:prstGeom>
          <a:noFill/>
        </p:spPr>
        <p:txBody>
          <a:bodyPr wrap="square" anchor="ctr">
            <a:spAutoFit/>
          </a:bodyPr>
          <a:lstStyle/>
          <a:p>
            <a:pPr algn="l">
              <a:spcAft>
                <a:spcPts val="300"/>
              </a:spcAft>
            </a:pPr>
            <a:r>
              <a:rPr sz="1350" b="1">
                <a:solidFill>
                  <a:srgbClr val="161B26"/>
                </a:solidFill>
                <a:latin typeface="Arial"/>
              </a:rPr>
              <a:t>StockAgent (2024)</a:t>
            </a:r>
          </a:p>
          <a:p>
            <a:pPr algn="l">
              <a:spcAft>
                <a:spcPts val="300"/>
              </a:spcAft>
            </a:pPr>
            <a:r>
              <a:rPr sz="950" b="0">
                <a:solidFill>
                  <a:srgbClr val="5B6372"/>
                </a:solidFill>
                <a:latin typeface="Arial"/>
              </a:rPr>
              <a:t>LLM investor agents trade a simulated stock market under macro, policy and event shocks; avoids test-set leakage</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MULTI-AGENT TRADING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Stock-Trading Agent Frameworks (2 of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9427464" cy="1115568"/>
          </a:xfrm>
          <a:prstGeom prst="rect">
            <a:avLst/>
          </a:prstGeom>
          <a:noFill/>
        </p:spPr>
        <p:txBody>
          <a:bodyPr wrap="square" anchor="ctr">
            <a:spAutoFit/>
          </a:bodyPr>
          <a:lstStyle/>
          <a:p>
            <a:pPr algn="l">
              <a:spcAft>
                <a:spcPts val="300"/>
              </a:spcAft>
            </a:pPr>
            <a:r>
              <a:rPr sz="1350" b="1">
                <a:solidFill>
                  <a:srgbClr val="161B26"/>
                </a:solidFill>
                <a:latin typeface="Arial"/>
              </a:rPr>
              <a:t>QuantAgent (2025)</a:t>
            </a:r>
          </a:p>
          <a:p>
            <a:pPr algn="l">
              <a:spcAft>
                <a:spcPts val="300"/>
              </a:spcAft>
            </a:pPr>
            <a:r>
              <a:rPr sz="950" b="0">
                <a:solidFill>
                  <a:srgbClr val="5B6372"/>
                </a:solidFill>
                <a:latin typeface="Arial"/>
              </a:rPr>
              <a:t>Price-driven multi-agent system for high-frequency trading: Indicator, Pattern, Trend and Risk agents</a:t>
            </a:r>
          </a:p>
        </p:txBody>
      </p:sp>
      <p:sp>
        <p:nvSpPr>
          <p:cNvPr id="15" name="Rectangle 14"/>
          <p:cNvSpPr/>
          <p:nvPr/>
        </p:nvSpPr>
        <p:spPr>
          <a:xfrm>
            <a:off x="777240" y="3319272"/>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319272"/>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33272" y="369417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1764792" y="3447288"/>
            <a:ext cx="9427464" cy="1115568"/>
          </a:xfrm>
          <a:prstGeom prst="rect">
            <a:avLst/>
          </a:prstGeom>
          <a:noFill/>
        </p:spPr>
        <p:txBody>
          <a:bodyPr wrap="square" anchor="ctr">
            <a:spAutoFit/>
          </a:bodyPr>
          <a:lstStyle/>
          <a:p>
            <a:pPr algn="l">
              <a:spcAft>
                <a:spcPts val="300"/>
              </a:spcAft>
            </a:pPr>
            <a:r>
              <a:rPr sz="1350" b="1">
                <a:solidFill>
                  <a:srgbClr val="161B26"/>
                </a:solidFill>
                <a:latin typeface="Arial"/>
              </a:rPr>
              <a:t>AI Hedge Fund (open source)</a:t>
            </a:r>
          </a:p>
          <a:p>
            <a:pPr algn="l">
              <a:spcAft>
                <a:spcPts val="300"/>
              </a:spcAft>
            </a:pPr>
            <a:r>
              <a:rPr sz="950" b="0">
                <a:solidFill>
                  <a:srgbClr val="5B6372"/>
                </a:solidFill>
                <a:latin typeface="Arial"/>
              </a:rPr>
              <a:t>Investor-persona agents (e.g. Warren Buffett), a risk manager and a portfolio manager decide trades for chosen tickers</a:t>
            </a:r>
          </a:p>
        </p:txBody>
      </p:sp>
      <p:sp>
        <p:nvSpPr>
          <p:cNvPr id="20" name="Rectangle 19"/>
          <p:cNvSpPr/>
          <p:nvPr/>
        </p:nvSpPr>
        <p:spPr>
          <a:xfrm>
            <a:off x="777240" y="4855464"/>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855464"/>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523036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983480"/>
            <a:ext cx="9427464" cy="1115568"/>
          </a:xfrm>
          <a:prstGeom prst="rect">
            <a:avLst/>
          </a:prstGeom>
          <a:noFill/>
        </p:spPr>
        <p:txBody>
          <a:bodyPr wrap="square" anchor="ctr">
            <a:spAutoFit/>
          </a:bodyPr>
          <a:lstStyle/>
          <a:p>
            <a:pPr algn="l">
              <a:spcAft>
                <a:spcPts val="300"/>
              </a:spcAft>
            </a:pPr>
            <a:r>
              <a:rPr sz="1350" b="1">
                <a:solidFill>
                  <a:srgbClr val="161B26"/>
                </a:solidFill>
                <a:latin typeface="Arial"/>
              </a:rPr>
              <a:t>Agentic Trading Lab (Open-Finance-Lab)</a:t>
            </a:r>
          </a:p>
          <a:p>
            <a:pPr algn="l">
              <a:spcAft>
                <a:spcPts val="300"/>
              </a:spcAft>
            </a:pPr>
            <a:r>
              <a:rPr sz="950" b="0">
                <a:solidFill>
                  <a:srgbClr val="5B6372"/>
                </a:solidFill>
                <a:latin typeface="Arial"/>
              </a:rPr>
              <a:t>Agent-run stock portfolios with backtests and paper trading through the Alpaca API</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GOVERNANCE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Risks and Controls for AI Agents in Trading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2926080" y="1810512"/>
            <a:ext cx="42062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68896" y="1810512"/>
            <a:ext cx="4242816"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26080" y="1810512"/>
            <a:ext cx="4206240" cy="420624"/>
          </a:xfrm>
          <a:prstGeom prst="rect">
            <a:avLst/>
          </a:prstGeom>
          <a:noFill/>
        </p:spPr>
        <p:txBody>
          <a:bodyPr wrap="square" anchor="ctr">
            <a:spAutoFit/>
          </a:bodyPr>
          <a:lstStyle/>
          <a:p>
            <a:pPr algn="ctr">
              <a:spcAft>
                <a:spcPts val="400"/>
              </a:spcAft>
            </a:pPr>
            <a:r>
              <a:rPr sz="1400" b="1">
                <a:solidFill>
                  <a:srgbClr val="FFFFFF"/>
                </a:solidFill>
                <a:latin typeface="Arial"/>
              </a:rPr>
              <a:t>What goes wrong</a:t>
            </a:r>
          </a:p>
        </p:txBody>
      </p:sp>
      <p:sp>
        <p:nvSpPr>
          <p:cNvPr id="13" name="TextBox 12"/>
          <p:cNvSpPr txBox="1"/>
          <p:nvPr/>
        </p:nvSpPr>
        <p:spPr>
          <a:xfrm>
            <a:off x="7168896" y="1810512"/>
            <a:ext cx="4242816" cy="420624"/>
          </a:xfrm>
          <a:prstGeom prst="rect">
            <a:avLst/>
          </a:prstGeom>
          <a:noFill/>
        </p:spPr>
        <p:txBody>
          <a:bodyPr wrap="square" anchor="ctr">
            <a:spAutoFit/>
          </a:bodyPr>
          <a:lstStyle/>
          <a:p>
            <a:pPr algn="ctr">
              <a:spcAft>
                <a:spcPts val="400"/>
              </a:spcAft>
            </a:pPr>
            <a:r>
              <a:rPr sz="1400" b="1">
                <a:solidFill>
                  <a:srgbClr val="FFFFFF"/>
                </a:solidFill>
                <a:latin typeface="Arial"/>
              </a:rPr>
              <a:t>Control</a:t>
            </a:r>
          </a:p>
        </p:txBody>
      </p:sp>
      <p:sp>
        <p:nvSpPr>
          <p:cNvPr id="14" name="Rectangle 13"/>
          <p:cNvSpPr/>
          <p:nvPr/>
        </p:nvSpPr>
        <p:spPr>
          <a:xfrm>
            <a:off x="777240" y="2286000"/>
            <a:ext cx="10634472" cy="6355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2286000"/>
            <a:ext cx="1965960" cy="635508"/>
          </a:xfrm>
          <a:prstGeom prst="rect">
            <a:avLst/>
          </a:prstGeom>
          <a:noFill/>
        </p:spPr>
        <p:txBody>
          <a:bodyPr wrap="square" anchor="ctr">
            <a:spAutoFit/>
          </a:bodyPr>
          <a:lstStyle/>
          <a:p>
            <a:pPr algn="l">
              <a:spcAft>
                <a:spcPts val="400"/>
              </a:spcAft>
            </a:pPr>
            <a:r>
              <a:rPr sz="1150" b="1">
                <a:solidFill>
                  <a:srgbClr val="161B26"/>
                </a:solidFill>
                <a:latin typeface="Arial"/>
              </a:rPr>
              <a:t>Hallucination</a:t>
            </a:r>
          </a:p>
        </p:txBody>
      </p:sp>
      <p:sp>
        <p:nvSpPr>
          <p:cNvPr id="16" name="TextBox 15"/>
          <p:cNvSpPr txBox="1"/>
          <p:nvPr/>
        </p:nvSpPr>
        <p:spPr>
          <a:xfrm>
            <a:off x="3017520" y="2286000"/>
            <a:ext cx="4014216" cy="635508"/>
          </a:xfrm>
          <a:prstGeom prst="rect">
            <a:avLst/>
          </a:prstGeom>
          <a:noFill/>
        </p:spPr>
        <p:txBody>
          <a:bodyPr wrap="square" anchor="ctr">
            <a:spAutoFit/>
          </a:bodyPr>
          <a:lstStyle/>
          <a:p>
            <a:pPr algn="l">
              <a:spcAft>
                <a:spcPts val="400"/>
              </a:spcAft>
            </a:pPr>
            <a:r>
              <a:rPr sz="1050" b="0">
                <a:solidFill>
                  <a:srgbClr val="161B26"/>
                </a:solidFill>
                <a:latin typeface="Arial"/>
              </a:rPr>
              <a:t>An LLM states a wrong earnings figure or invents a signal with confidence</a:t>
            </a:r>
          </a:p>
        </p:txBody>
      </p:sp>
      <p:sp>
        <p:nvSpPr>
          <p:cNvPr id="17" name="TextBox 16"/>
          <p:cNvSpPr txBox="1"/>
          <p:nvPr/>
        </p:nvSpPr>
        <p:spPr>
          <a:xfrm>
            <a:off x="7260336" y="2286000"/>
            <a:ext cx="4059936" cy="635508"/>
          </a:xfrm>
          <a:prstGeom prst="rect">
            <a:avLst/>
          </a:prstGeom>
          <a:noFill/>
        </p:spPr>
        <p:txBody>
          <a:bodyPr wrap="square" anchor="ctr">
            <a:spAutoFit/>
          </a:bodyPr>
          <a:lstStyle/>
          <a:p>
            <a:pPr algn="l">
              <a:spcAft>
                <a:spcPts val="400"/>
              </a:spcAft>
            </a:pPr>
            <a:r>
              <a:rPr sz="1050" b="0">
                <a:solidFill>
                  <a:srgbClr val="161B26"/>
                </a:solidFill>
                <a:latin typeface="Arial"/>
              </a:rPr>
              <a:t>Ground answers in tool or RAG data, log the reasoning, review unusual calls</a:t>
            </a:r>
          </a:p>
        </p:txBody>
      </p:sp>
      <p:sp>
        <p:nvSpPr>
          <p:cNvPr id="18" name="TextBox 17"/>
          <p:cNvSpPr txBox="1"/>
          <p:nvPr/>
        </p:nvSpPr>
        <p:spPr>
          <a:xfrm>
            <a:off x="886968" y="2948940"/>
            <a:ext cx="1965960" cy="635508"/>
          </a:xfrm>
          <a:prstGeom prst="rect">
            <a:avLst/>
          </a:prstGeom>
          <a:noFill/>
        </p:spPr>
        <p:txBody>
          <a:bodyPr wrap="square" anchor="ctr">
            <a:spAutoFit/>
          </a:bodyPr>
          <a:lstStyle/>
          <a:p>
            <a:pPr algn="l">
              <a:spcAft>
                <a:spcPts val="400"/>
              </a:spcAft>
            </a:pPr>
            <a:r>
              <a:rPr sz="1150" b="1">
                <a:solidFill>
                  <a:srgbClr val="161B26"/>
                </a:solidFill>
                <a:latin typeface="Arial"/>
              </a:rPr>
              <a:t>Prompt injection</a:t>
            </a:r>
          </a:p>
        </p:txBody>
      </p:sp>
      <p:sp>
        <p:nvSpPr>
          <p:cNvPr id="19" name="TextBox 18"/>
          <p:cNvSpPr txBox="1"/>
          <p:nvPr/>
        </p:nvSpPr>
        <p:spPr>
          <a:xfrm>
            <a:off x="3017520" y="2948940"/>
            <a:ext cx="4014216" cy="635508"/>
          </a:xfrm>
          <a:prstGeom prst="rect">
            <a:avLst/>
          </a:prstGeom>
          <a:noFill/>
        </p:spPr>
        <p:txBody>
          <a:bodyPr wrap="square" anchor="ctr">
            <a:spAutoFit/>
          </a:bodyPr>
          <a:lstStyle/>
          <a:p>
            <a:pPr algn="l">
              <a:spcAft>
                <a:spcPts val="400"/>
              </a:spcAft>
            </a:pPr>
            <a:r>
              <a:rPr sz="1050" b="0">
                <a:solidFill>
                  <a:srgbClr val="161B26"/>
                </a:solidFill>
                <a:latin typeface="Arial"/>
              </a:rPr>
              <a:t>Malicious text in news, web pages or files hijacks the agent's instructions</a:t>
            </a:r>
          </a:p>
        </p:txBody>
      </p:sp>
      <p:sp>
        <p:nvSpPr>
          <p:cNvPr id="20" name="TextBox 19"/>
          <p:cNvSpPr txBox="1"/>
          <p:nvPr/>
        </p:nvSpPr>
        <p:spPr>
          <a:xfrm>
            <a:off x="7260336" y="2948940"/>
            <a:ext cx="4059936" cy="635508"/>
          </a:xfrm>
          <a:prstGeom prst="rect">
            <a:avLst/>
          </a:prstGeom>
          <a:noFill/>
        </p:spPr>
        <p:txBody>
          <a:bodyPr wrap="square" anchor="ctr">
            <a:spAutoFit/>
          </a:bodyPr>
          <a:lstStyle/>
          <a:p>
            <a:pPr algn="l">
              <a:spcAft>
                <a:spcPts val="400"/>
              </a:spcAft>
            </a:pPr>
            <a:r>
              <a:rPr sz="1050" b="0">
                <a:solidFill>
                  <a:srgbClr val="161B26"/>
                </a:solidFill>
                <a:latin typeface="Arial"/>
              </a:rPr>
              <a:t>Input and output guardrails, least-privilege API keys, no secrets in prompts</a:t>
            </a:r>
          </a:p>
        </p:txBody>
      </p:sp>
      <p:sp>
        <p:nvSpPr>
          <p:cNvPr id="21" name="Rectangle 20"/>
          <p:cNvSpPr/>
          <p:nvPr/>
        </p:nvSpPr>
        <p:spPr>
          <a:xfrm>
            <a:off x="777240" y="3611880"/>
            <a:ext cx="10634472" cy="6355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3611880"/>
            <a:ext cx="1965960" cy="635508"/>
          </a:xfrm>
          <a:prstGeom prst="rect">
            <a:avLst/>
          </a:prstGeom>
          <a:noFill/>
        </p:spPr>
        <p:txBody>
          <a:bodyPr wrap="square" anchor="ctr">
            <a:spAutoFit/>
          </a:bodyPr>
          <a:lstStyle/>
          <a:p>
            <a:pPr algn="l">
              <a:spcAft>
                <a:spcPts val="400"/>
              </a:spcAft>
            </a:pPr>
            <a:r>
              <a:rPr sz="1150" b="1">
                <a:solidFill>
                  <a:srgbClr val="161B26"/>
                </a:solidFill>
                <a:latin typeface="Arial"/>
              </a:rPr>
              <a:t>Overtrading and runaway loops</a:t>
            </a:r>
          </a:p>
        </p:txBody>
      </p:sp>
      <p:sp>
        <p:nvSpPr>
          <p:cNvPr id="23" name="TextBox 22"/>
          <p:cNvSpPr txBox="1"/>
          <p:nvPr/>
        </p:nvSpPr>
        <p:spPr>
          <a:xfrm>
            <a:off x="3017520" y="3611880"/>
            <a:ext cx="4014216" cy="635508"/>
          </a:xfrm>
          <a:prstGeom prst="rect">
            <a:avLst/>
          </a:prstGeom>
          <a:noFill/>
        </p:spPr>
        <p:txBody>
          <a:bodyPr wrap="square" anchor="ctr">
            <a:spAutoFit/>
          </a:bodyPr>
          <a:lstStyle/>
          <a:p>
            <a:pPr algn="l">
              <a:spcAft>
                <a:spcPts val="400"/>
              </a:spcAft>
            </a:pPr>
            <a:r>
              <a:rPr sz="1050" b="0">
                <a:solidFill>
                  <a:srgbClr val="161B26"/>
                </a:solidFill>
                <a:latin typeface="Arial"/>
              </a:rPr>
              <a:t>Agents trade too often or amplify each other, compounding losses</a:t>
            </a:r>
          </a:p>
        </p:txBody>
      </p:sp>
      <p:sp>
        <p:nvSpPr>
          <p:cNvPr id="24" name="TextBox 23"/>
          <p:cNvSpPr txBox="1"/>
          <p:nvPr/>
        </p:nvSpPr>
        <p:spPr>
          <a:xfrm>
            <a:off x="7260336" y="3611880"/>
            <a:ext cx="4059936" cy="635508"/>
          </a:xfrm>
          <a:prstGeom prst="rect">
            <a:avLst/>
          </a:prstGeom>
          <a:noFill/>
        </p:spPr>
        <p:txBody>
          <a:bodyPr wrap="square" anchor="ctr">
            <a:spAutoFit/>
          </a:bodyPr>
          <a:lstStyle/>
          <a:p>
            <a:pPr algn="l">
              <a:spcAft>
                <a:spcPts val="400"/>
              </a:spcAft>
            </a:pPr>
            <a:r>
              <a:rPr sz="1050" b="0">
                <a:solidFill>
                  <a:srgbClr val="161B26"/>
                </a:solidFill>
                <a:latin typeface="Arial"/>
              </a:rPr>
              <a:t>Order and position caps, daily-loss circuit breaker, kill switch</a:t>
            </a:r>
          </a:p>
        </p:txBody>
      </p:sp>
      <p:sp>
        <p:nvSpPr>
          <p:cNvPr id="25" name="TextBox 24"/>
          <p:cNvSpPr txBox="1"/>
          <p:nvPr/>
        </p:nvSpPr>
        <p:spPr>
          <a:xfrm>
            <a:off x="886968" y="4274820"/>
            <a:ext cx="1965960" cy="635508"/>
          </a:xfrm>
          <a:prstGeom prst="rect">
            <a:avLst/>
          </a:prstGeom>
          <a:noFill/>
        </p:spPr>
        <p:txBody>
          <a:bodyPr wrap="square" anchor="ctr">
            <a:spAutoFit/>
          </a:bodyPr>
          <a:lstStyle/>
          <a:p>
            <a:pPr algn="l">
              <a:spcAft>
                <a:spcPts val="400"/>
              </a:spcAft>
            </a:pPr>
            <a:r>
              <a:rPr sz="1150" b="1">
                <a:solidFill>
                  <a:srgbClr val="161B26"/>
                </a:solidFill>
                <a:latin typeface="Arial"/>
              </a:rPr>
              <a:t>Model and backtest risk</a:t>
            </a:r>
          </a:p>
        </p:txBody>
      </p:sp>
      <p:sp>
        <p:nvSpPr>
          <p:cNvPr id="26" name="TextBox 25"/>
          <p:cNvSpPr txBox="1"/>
          <p:nvPr/>
        </p:nvSpPr>
        <p:spPr>
          <a:xfrm>
            <a:off x="3017520" y="4274820"/>
            <a:ext cx="4014216" cy="635508"/>
          </a:xfrm>
          <a:prstGeom prst="rect">
            <a:avLst/>
          </a:prstGeom>
          <a:noFill/>
        </p:spPr>
        <p:txBody>
          <a:bodyPr wrap="square" anchor="ctr">
            <a:spAutoFit/>
          </a:bodyPr>
          <a:lstStyle/>
          <a:p>
            <a:pPr algn="l">
              <a:spcAft>
                <a:spcPts val="400"/>
              </a:spcAft>
            </a:pPr>
            <a:r>
              <a:rPr sz="1050" b="0">
                <a:solidFill>
                  <a:srgbClr val="161B26"/>
                </a:solidFill>
                <a:latin typeface="Arial"/>
              </a:rPr>
              <a:t>Overfitting, look-ahead bias and regime change: strong backtests, weak live results</a:t>
            </a:r>
          </a:p>
        </p:txBody>
      </p:sp>
      <p:sp>
        <p:nvSpPr>
          <p:cNvPr id="27" name="TextBox 26"/>
          <p:cNvSpPr txBox="1"/>
          <p:nvPr/>
        </p:nvSpPr>
        <p:spPr>
          <a:xfrm>
            <a:off x="7260336" y="4274820"/>
            <a:ext cx="4059936" cy="635508"/>
          </a:xfrm>
          <a:prstGeom prst="rect">
            <a:avLst/>
          </a:prstGeom>
          <a:noFill/>
        </p:spPr>
        <p:txBody>
          <a:bodyPr wrap="square" anchor="ctr">
            <a:spAutoFit/>
          </a:bodyPr>
          <a:lstStyle/>
          <a:p>
            <a:pPr algn="l">
              <a:spcAft>
                <a:spcPts val="400"/>
              </a:spcAft>
            </a:pPr>
            <a:r>
              <a:rPr sz="1050" b="0">
                <a:solidFill>
                  <a:srgbClr val="161B26"/>
                </a:solidFill>
                <a:latin typeface="Arial"/>
              </a:rPr>
              <a:t>Walk-forward tests, paper trade first, monitor drift and costs</a:t>
            </a:r>
          </a:p>
        </p:txBody>
      </p:sp>
      <p:sp>
        <p:nvSpPr>
          <p:cNvPr id="28" name="Rectangle 27"/>
          <p:cNvSpPr/>
          <p:nvPr/>
        </p:nvSpPr>
        <p:spPr>
          <a:xfrm>
            <a:off x="777240" y="4937760"/>
            <a:ext cx="10634472" cy="6355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6968" y="4937760"/>
            <a:ext cx="1965960" cy="635508"/>
          </a:xfrm>
          <a:prstGeom prst="rect">
            <a:avLst/>
          </a:prstGeom>
          <a:noFill/>
        </p:spPr>
        <p:txBody>
          <a:bodyPr wrap="square" anchor="ctr">
            <a:spAutoFit/>
          </a:bodyPr>
          <a:lstStyle/>
          <a:p>
            <a:pPr algn="l">
              <a:spcAft>
                <a:spcPts val="400"/>
              </a:spcAft>
            </a:pPr>
            <a:r>
              <a:rPr sz="1150" b="1">
                <a:solidFill>
                  <a:srgbClr val="161B26"/>
                </a:solidFill>
                <a:latin typeface="Arial"/>
              </a:rPr>
              <a:t>Accountability</a:t>
            </a:r>
          </a:p>
        </p:txBody>
      </p:sp>
      <p:sp>
        <p:nvSpPr>
          <p:cNvPr id="30" name="TextBox 29"/>
          <p:cNvSpPr txBox="1"/>
          <p:nvPr/>
        </p:nvSpPr>
        <p:spPr>
          <a:xfrm>
            <a:off x="3017520" y="4937760"/>
            <a:ext cx="4014216" cy="635508"/>
          </a:xfrm>
          <a:prstGeom prst="rect">
            <a:avLst/>
          </a:prstGeom>
          <a:noFill/>
        </p:spPr>
        <p:txBody>
          <a:bodyPr wrap="square" anchor="ctr">
            <a:spAutoFit/>
          </a:bodyPr>
          <a:lstStyle/>
          <a:p>
            <a:pPr algn="l">
              <a:spcAft>
                <a:spcPts val="400"/>
              </a:spcAft>
            </a:pPr>
            <a:r>
              <a:rPr sz="1050" b="0">
                <a:solidFill>
                  <a:srgbClr val="161B26"/>
                </a:solidFill>
                <a:latin typeface="Arial"/>
              </a:rPr>
              <a:t>Unclear who answers for an autonomous agent's trade or a vendor's AI</a:t>
            </a:r>
          </a:p>
        </p:txBody>
      </p:sp>
      <p:sp>
        <p:nvSpPr>
          <p:cNvPr id="31" name="TextBox 30"/>
          <p:cNvSpPr txBox="1"/>
          <p:nvPr/>
        </p:nvSpPr>
        <p:spPr>
          <a:xfrm>
            <a:off x="7260336" y="4937760"/>
            <a:ext cx="4059936" cy="635508"/>
          </a:xfrm>
          <a:prstGeom prst="rect">
            <a:avLst/>
          </a:prstGeom>
          <a:noFill/>
        </p:spPr>
        <p:txBody>
          <a:bodyPr wrap="square" anchor="ctr">
            <a:spAutoFit/>
          </a:bodyPr>
          <a:lstStyle/>
          <a:p>
            <a:pPr algn="l">
              <a:spcAft>
                <a:spcPts val="400"/>
              </a:spcAft>
            </a:pPr>
            <a:r>
              <a:rPr sz="1050" b="0">
                <a:solidFill>
                  <a:srgbClr val="161B26"/>
                </a:solidFill>
                <a:latin typeface="Arial"/>
              </a:rPr>
              <a:t>The firm stays accountable: human sign-off, audit trails, clear owners</a:t>
            </a:r>
          </a:p>
        </p:txBody>
      </p:sp>
      <p:sp>
        <p:nvSpPr>
          <p:cNvPr id="32" name="TextBox 31"/>
          <p:cNvSpPr txBox="1"/>
          <p:nvPr/>
        </p:nvSpPr>
        <p:spPr>
          <a:xfrm>
            <a:off x="886968" y="5600700"/>
            <a:ext cx="1965960" cy="635508"/>
          </a:xfrm>
          <a:prstGeom prst="rect">
            <a:avLst/>
          </a:prstGeom>
          <a:noFill/>
        </p:spPr>
        <p:txBody>
          <a:bodyPr wrap="square" anchor="ctr">
            <a:spAutoFit/>
          </a:bodyPr>
          <a:lstStyle/>
          <a:p>
            <a:pPr algn="l">
              <a:spcAft>
                <a:spcPts val="400"/>
              </a:spcAft>
            </a:pPr>
            <a:r>
              <a:rPr sz="1150" b="1">
                <a:solidFill>
                  <a:srgbClr val="161B26"/>
                </a:solidFill>
                <a:latin typeface="Arial"/>
              </a:rPr>
              <a:t>Regulation (MAS)</a:t>
            </a:r>
          </a:p>
        </p:txBody>
      </p:sp>
      <p:sp>
        <p:nvSpPr>
          <p:cNvPr id="33" name="TextBox 32"/>
          <p:cNvSpPr txBox="1"/>
          <p:nvPr/>
        </p:nvSpPr>
        <p:spPr>
          <a:xfrm>
            <a:off x="3017520" y="5600700"/>
            <a:ext cx="4014216" cy="635508"/>
          </a:xfrm>
          <a:prstGeom prst="rect">
            <a:avLst/>
          </a:prstGeom>
          <a:noFill/>
        </p:spPr>
        <p:txBody>
          <a:bodyPr wrap="square" anchor="ctr">
            <a:spAutoFit/>
          </a:bodyPr>
          <a:lstStyle/>
          <a:p>
            <a:pPr algn="l">
              <a:spcAft>
                <a:spcPts val="400"/>
              </a:spcAft>
            </a:pPr>
            <a:r>
              <a:rPr sz="1050" b="0">
                <a:solidFill>
                  <a:srgbClr val="161B26"/>
                </a:solidFill>
                <a:latin typeface="Arial"/>
              </a:rPr>
              <a:t>FEAT principles (2018) and MAS AI Risk Management Guidelines (issued Oct 2026)</a:t>
            </a:r>
          </a:p>
        </p:txBody>
      </p:sp>
      <p:sp>
        <p:nvSpPr>
          <p:cNvPr id="34" name="TextBox 33"/>
          <p:cNvSpPr txBox="1"/>
          <p:nvPr/>
        </p:nvSpPr>
        <p:spPr>
          <a:xfrm>
            <a:off x="7260336" y="5600700"/>
            <a:ext cx="4059936" cy="635508"/>
          </a:xfrm>
          <a:prstGeom prst="rect">
            <a:avLst/>
          </a:prstGeom>
          <a:noFill/>
        </p:spPr>
        <p:txBody>
          <a:bodyPr wrap="square" anchor="ctr">
            <a:spAutoFit/>
          </a:bodyPr>
          <a:lstStyle/>
          <a:p>
            <a:pPr algn="l">
              <a:spcAft>
                <a:spcPts val="400"/>
              </a:spcAft>
            </a:pPr>
            <a:r>
              <a:rPr sz="1050" b="0">
                <a:solidFill>
                  <a:srgbClr val="161B26"/>
                </a:solidFill>
                <a:latin typeface="Arial"/>
              </a:rPr>
              <a:t>Board oversight, AI inventory, materiality assessment and lifecycle controls</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K9</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Forms of Data within Financial Services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K9</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Market data</a:t>
            </a:r>
          </a:p>
          <a:p>
            <a:pPr algn="l">
              <a:spcAft>
                <a:spcPts val="300"/>
              </a:spcAft>
            </a:pPr>
            <a:r>
              <a:rPr sz="1150" b="0">
                <a:solidFill>
                  <a:srgbClr val="5B6372"/>
                </a:solidFill>
                <a:latin typeface="Arial"/>
              </a:rPr>
              <a:t>OHLCV bars, quotes, trades, order-book depth — Alpaca serves bars, quotes, trades, news.</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Reference &amp; corporate actions</a:t>
            </a:r>
          </a:p>
          <a:p>
            <a:pPr algn="l">
              <a:spcAft>
                <a:spcPts val="300"/>
              </a:spcAft>
            </a:pPr>
            <a:r>
              <a:rPr sz="1150" b="0">
                <a:solidFill>
                  <a:srgbClr val="5B6372"/>
                </a:solidFill>
                <a:latin typeface="Arial"/>
              </a:rPr>
              <a:t>Symbols, calendars, splits, dividends — unadjusted splits fake a crash.</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Fundamental &amp; macro</a:t>
            </a:r>
          </a:p>
          <a:p>
            <a:pPr algn="l">
              <a:spcAft>
                <a:spcPts val="300"/>
              </a:spcAft>
            </a:pPr>
            <a:r>
              <a:rPr sz="1150" b="0">
                <a:solidFill>
                  <a:srgbClr val="5B6372"/>
                </a:solidFill>
                <a:latin typeface="Arial"/>
              </a:rPr>
              <a:t>Statements, ratios, earnings; rates, inflation, central-bank decisions.</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Alternative data</a:t>
            </a:r>
          </a:p>
          <a:p>
            <a:pPr algn="l">
              <a:spcAft>
                <a:spcPts val="300"/>
              </a:spcAft>
            </a:pPr>
            <a:r>
              <a:rPr sz="1150" b="0">
                <a:solidFill>
                  <a:srgbClr val="5B6372"/>
                </a:solidFill>
                <a:latin typeface="Arial"/>
              </a:rPr>
              <a:t>News and social sentiment, web traffic, satellite, card spend, ESG.</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A6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Big Data in Trading — the Four Vs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A6</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Volume</a:t>
            </a:r>
          </a:p>
          <a:p>
            <a:pPr algn="l">
              <a:spcAft>
                <a:spcPts val="300"/>
              </a:spcAft>
            </a:pPr>
            <a:r>
              <a:rPr sz="1150" b="0">
                <a:solidFill>
                  <a:srgbClr val="5B6372"/>
                </a:solidFill>
                <a:latin typeface="Arial"/>
              </a:rPr>
              <a:t>Tick data runs to billions of rows per year for one exchange.</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Velocity</a:t>
            </a:r>
          </a:p>
          <a:p>
            <a:pPr algn="l">
              <a:spcAft>
                <a:spcPts val="300"/>
              </a:spcAft>
            </a:pPr>
            <a:r>
              <a:rPr sz="1150" b="0">
                <a:solidFill>
                  <a:srgbClr val="5B6372"/>
                </a:solidFill>
                <a:latin typeface="Arial"/>
              </a:rPr>
              <a:t>Streaming quotes and news arrive in milliseconds.</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Variety</a:t>
            </a:r>
          </a:p>
          <a:p>
            <a:pPr algn="l">
              <a:spcAft>
                <a:spcPts val="300"/>
              </a:spcAft>
            </a:pPr>
            <a:r>
              <a:rPr sz="1150" b="0">
                <a:solidFill>
                  <a:srgbClr val="5B6372"/>
                </a:solidFill>
                <a:latin typeface="Arial"/>
              </a:rPr>
              <a:t>Prices, text, images, transcripts — structured and unstructured.</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Veracity</a:t>
            </a:r>
          </a:p>
          <a:p>
            <a:pPr algn="l">
              <a:spcAft>
                <a:spcPts val="300"/>
              </a:spcAft>
            </a:pPr>
            <a:r>
              <a:rPr sz="1150" b="0">
                <a:solidFill>
                  <a:srgbClr val="5B6372"/>
                </a:solidFill>
                <a:latin typeface="Arial"/>
              </a:rPr>
              <a:t>Bad ticks, survivorship, restatements — verify before you trust.</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A6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Big Data Applications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A6</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Execution analytics</a:t>
            </a:r>
          </a:p>
          <a:p>
            <a:pPr algn="l">
              <a:spcAft>
                <a:spcPts val="300"/>
              </a:spcAft>
            </a:pPr>
            <a:r>
              <a:rPr sz="1150" b="0">
                <a:solidFill>
                  <a:srgbClr val="5B6372"/>
                </a:solidFill>
                <a:latin typeface="Arial"/>
              </a:rPr>
              <a:t>Tick and quote data to measure and cut slippage.</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Sentiment and event trading</a:t>
            </a:r>
          </a:p>
          <a:p>
            <a:pPr algn="l">
              <a:spcAft>
                <a:spcPts val="300"/>
              </a:spcAft>
            </a:pPr>
            <a:r>
              <a:rPr sz="1150" b="0">
                <a:solidFill>
                  <a:srgbClr val="5B6372"/>
                </a:solidFill>
                <a:latin typeface="Arial"/>
              </a:rPr>
              <a:t>News and social text scored by NLP and LLMs.</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Regime detection</a:t>
            </a:r>
          </a:p>
          <a:p>
            <a:pPr algn="l">
              <a:spcAft>
                <a:spcPts val="300"/>
              </a:spcAft>
            </a:pPr>
            <a:r>
              <a:rPr sz="1150" b="0">
                <a:solidFill>
                  <a:srgbClr val="5B6372"/>
                </a:solidFill>
                <a:latin typeface="Arial"/>
              </a:rPr>
              <a:t>Cross-asset returns clustered into market states.</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Surveillance and risk</a:t>
            </a:r>
          </a:p>
          <a:p>
            <a:pPr algn="l">
              <a:spcAft>
                <a:spcPts val="300"/>
              </a:spcAft>
            </a:pPr>
            <a:r>
              <a:rPr sz="1150" b="0">
                <a:solidFill>
                  <a:srgbClr val="5B6372"/>
                </a:solidFill>
                <a:latin typeface="Arial"/>
              </a:rPr>
              <a:t>Order and trade data scanned for market abuse; intraday risk.</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Data Analytics and Modelling Use Cases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Signal generation</a:t>
            </a:r>
          </a:p>
          <a:p>
            <a:pPr algn="l">
              <a:spcAft>
                <a:spcPts val="300"/>
              </a:spcAft>
            </a:pPr>
            <a:r>
              <a:rPr sz="1150" b="0">
                <a:solidFill>
                  <a:srgbClr val="5B6372"/>
                </a:solidFill>
                <a:latin typeface="Arial"/>
              </a:rPr>
              <a:t>Find repeatable return — judged by out-of-sample, net Sharpe.</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Execution</a:t>
            </a:r>
          </a:p>
          <a:p>
            <a:pPr algn="l">
              <a:spcAft>
                <a:spcPts val="300"/>
              </a:spcAft>
            </a:pPr>
            <a:r>
              <a:rPr sz="1150" b="0">
                <a:solidFill>
                  <a:srgbClr val="5B6372"/>
                </a:solidFill>
                <a:latin typeface="Arial"/>
              </a:rPr>
              <a:t>VWAP / TWAP / shortfall — judged by slippage in basis points.</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Risk forecasting &amp; sizing</a:t>
            </a:r>
          </a:p>
          <a:p>
            <a:pPr algn="l">
              <a:spcAft>
                <a:spcPts val="300"/>
              </a:spcAft>
            </a:pPr>
            <a:r>
              <a:rPr sz="1150" b="0">
                <a:solidFill>
                  <a:srgbClr val="5B6372"/>
                </a:solidFill>
                <a:latin typeface="Arial"/>
              </a:rPr>
              <a:t>Volatility and VaR models — judged by limit breaches.</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Research at scale</a:t>
            </a:r>
          </a:p>
          <a:p>
            <a:pPr algn="l">
              <a:spcAft>
                <a:spcPts val="300"/>
              </a:spcAft>
            </a:pPr>
            <a:r>
              <a:rPr sz="1150" b="0">
                <a:solidFill>
                  <a:srgbClr val="5B6372"/>
                </a:solidFill>
                <a:latin typeface="Arial"/>
              </a:rPr>
              <a:t>LLMs read filings and news — judged by accuracy and hours saved.</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A1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Makes a Hypothesis Testable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A1</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Instrument and universe</a:t>
            </a:r>
          </a:p>
          <a:p>
            <a:pPr algn="l">
              <a:spcAft>
                <a:spcPts val="300"/>
              </a:spcAft>
            </a:pPr>
            <a:r>
              <a:rPr sz="1150" b="0">
                <a:solidFill>
                  <a:srgbClr val="5B6372"/>
                </a:solidFill>
                <a:latin typeface="Arial"/>
              </a:rPr>
              <a:t>e.g. SPY, daily bars, 2018 – 2025.</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Signal and holding period</a:t>
            </a:r>
          </a:p>
          <a:p>
            <a:pPr algn="l">
              <a:spcAft>
                <a:spcPts val="300"/>
              </a:spcAft>
            </a:pPr>
            <a:r>
              <a:rPr sz="1150" b="0">
                <a:solidFill>
                  <a:srgbClr val="5B6372"/>
                </a:solidFill>
                <a:latin typeface="Arial"/>
              </a:rPr>
              <a:t>e.g. three down closes in a row; hold 5 days.</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Expected effect and benchmark</a:t>
            </a:r>
          </a:p>
          <a:p>
            <a:pPr algn="l">
              <a:spcAft>
                <a:spcPts val="300"/>
              </a:spcAft>
            </a:pPr>
            <a:r>
              <a:rPr sz="1150" b="0">
                <a:solidFill>
                  <a:srgbClr val="5B6372"/>
                </a:solidFill>
                <a:latin typeface="Arial"/>
              </a:rPr>
              <a:t>Forward return exceeds the unconditional 5-day return.</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Written BEFORE the test</a:t>
            </a:r>
          </a:p>
          <a:p>
            <a:pPr algn="l">
              <a:spcAft>
                <a:spcPts val="300"/>
              </a:spcAft>
            </a:pPr>
            <a:r>
              <a:rPr sz="1150" b="0">
                <a:solidFill>
                  <a:srgbClr val="5B6372"/>
                </a:solidFill>
                <a:latin typeface="Arial"/>
              </a:rPr>
              <a:t>H0, H1 and the significance level chosen first.</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A1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Machine Learning Implementation Steps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A1</a:t>
            </a:r>
          </a:p>
        </p:txBody>
      </p:sp>
      <p:sp>
        <p:nvSpPr>
          <p:cNvPr id="10" name="Rectangle 9"/>
          <p:cNvSpPr/>
          <p:nvPr/>
        </p:nvSpPr>
        <p:spPr>
          <a:xfrm>
            <a:off x="777240"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40280"/>
            <a:ext cx="154381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92530"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92530"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4" name="TextBox 13"/>
          <p:cNvSpPr txBox="1"/>
          <p:nvPr/>
        </p:nvSpPr>
        <p:spPr>
          <a:xfrm>
            <a:off x="905256"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Frame the problem and hypothesis</a:t>
            </a:r>
          </a:p>
        </p:txBody>
      </p:sp>
      <p:sp>
        <p:nvSpPr>
          <p:cNvPr id="15" name="TextBox 14"/>
          <p:cNvSpPr txBox="1"/>
          <p:nvPr/>
        </p:nvSpPr>
        <p:spPr>
          <a:xfrm>
            <a:off x="2302764"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16" name="Rectangle 15"/>
          <p:cNvSpPr/>
          <p:nvPr/>
        </p:nvSpPr>
        <p:spPr>
          <a:xfrm>
            <a:off x="2595372"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95372" y="2240280"/>
            <a:ext cx="154381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010662"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010662"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20" name="TextBox 19"/>
          <p:cNvSpPr txBox="1"/>
          <p:nvPr/>
        </p:nvSpPr>
        <p:spPr>
          <a:xfrm>
            <a:off x="2723388"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Collect and clean the data</a:t>
            </a:r>
          </a:p>
        </p:txBody>
      </p:sp>
      <p:sp>
        <p:nvSpPr>
          <p:cNvPr id="21" name="TextBox 20"/>
          <p:cNvSpPr txBox="1"/>
          <p:nvPr/>
        </p:nvSpPr>
        <p:spPr>
          <a:xfrm>
            <a:off x="4120896"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22" name="Rectangle 21"/>
          <p:cNvSpPr/>
          <p:nvPr/>
        </p:nvSpPr>
        <p:spPr>
          <a:xfrm>
            <a:off x="4413504"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13504" y="2240280"/>
            <a:ext cx="154381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4828794"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28794"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6" name="TextBox 25"/>
          <p:cNvSpPr txBox="1"/>
          <p:nvPr/>
        </p:nvSpPr>
        <p:spPr>
          <a:xfrm>
            <a:off x="4541520"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Define target and features</a:t>
            </a:r>
          </a:p>
        </p:txBody>
      </p:sp>
      <p:sp>
        <p:nvSpPr>
          <p:cNvPr id="27" name="TextBox 26"/>
          <p:cNvSpPr txBox="1"/>
          <p:nvPr/>
        </p:nvSpPr>
        <p:spPr>
          <a:xfrm>
            <a:off x="5939028"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28" name="Rectangle 27"/>
          <p:cNvSpPr/>
          <p:nvPr/>
        </p:nvSpPr>
        <p:spPr>
          <a:xfrm>
            <a:off x="6231636"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31636" y="2240280"/>
            <a:ext cx="154381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646926"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46926"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2" name="TextBox 31"/>
          <p:cNvSpPr txBox="1"/>
          <p:nvPr/>
        </p:nvSpPr>
        <p:spPr>
          <a:xfrm>
            <a:off x="6359652"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Split by time; train and validate</a:t>
            </a:r>
          </a:p>
        </p:txBody>
      </p:sp>
      <p:sp>
        <p:nvSpPr>
          <p:cNvPr id="33" name="TextBox 32"/>
          <p:cNvSpPr txBox="1"/>
          <p:nvPr/>
        </p:nvSpPr>
        <p:spPr>
          <a:xfrm>
            <a:off x="7757160"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34" name="Rectangle 33"/>
          <p:cNvSpPr/>
          <p:nvPr/>
        </p:nvSpPr>
        <p:spPr>
          <a:xfrm>
            <a:off x="8049768"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49768" y="2240280"/>
            <a:ext cx="154381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465058"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65058"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8" name="TextBox 37"/>
          <p:cNvSpPr txBox="1"/>
          <p:nvPr/>
        </p:nvSpPr>
        <p:spPr>
          <a:xfrm>
            <a:off x="8177784"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Test out of sample</a:t>
            </a:r>
          </a:p>
        </p:txBody>
      </p:sp>
      <p:sp>
        <p:nvSpPr>
          <p:cNvPr id="39" name="TextBox 38"/>
          <p:cNvSpPr txBox="1"/>
          <p:nvPr/>
        </p:nvSpPr>
        <p:spPr>
          <a:xfrm>
            <a:off x="9575292"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40" name="Rectangle 39"/>
          <p:cNvSpPr/>
          <p:nvPr/>
        </p:nvSpPr>
        <p:spPr>
          <a:xfrm>
            <a:off x="9867900"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867900" y="2240280"/>
            <a:ext cx="154381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10283190"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283190"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6</a:t>
            </a:r>
          </a:p>
        </p:txBody>
      </p:sp>
      <p:sp>
        <p:nvSpPr>
          <p:cNvPr id="44" name="TextBox 43"/>
          <p:cNvSpPr txBox="1"/>
          <p:nvPr/>
        </p:nvSpPr>
        <p:spPr>
          <a:xfrm>
            <a:off x="9995916"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Paper trade, then review</a:t>
            </a:r>
          </a:p>
        </p:txBody>
      </p:sp>
      <p:sp>
        <p:nvSpPr>
          <p:cNvPr id="45" name="Rectangle 44"/>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77240" y="5257800"/>
            <a:ext cx="91440" cy="8229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A model that skips the out-of-sample test and the paper trade has not been tested.</a:t>
            </a:r>
          </a:p>
        </p:txBody>
      </p:sp>
      <p:sp>
        <p:nvSpPr>
          <p:cNvPr id="48" name="TextBox 4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9" name="TextBox 4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0" name="TextBox 4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Pipeline Skeleton, Configuration and the Alpaca Paper Account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K5</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01</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Get the simulator running, decide between the offline demo and an Alpaca paper account, and check every integration's status. Then build the same stage in code with your AI assistant.</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35407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5407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Simulator: Load the demo data</a:t>
            </a:r>
          </a:p>
        </p:txBody>
      </p:sp>
      <p:sp>
        <p:nvSpPr>
          <p:cNvPr id="19" name="TextBox 18"/>
          <p:cNvSpPr txBox="1"/>
          <p:nvPr/>
        </p:nvSpPr>
        <p:spPr>
          <a:xfrm>
            <a:off x="2305812"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2589276"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89276"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166110"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66110"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2699004"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Simulator: Check the integrations</a:t>
            </a:r>
          </a:p>
        </p:txBody>
      </p:sp>
      <p:sp>
        <p:nvSpPr>
          <p:cNvPr id="25" name="TextBox 24"/>
          <p:cNvSpPr txBox="1"/>
          <p:nvPr/>
        </p:nvSpPr>
        <p:spPr>
          <a:xfrm>
            <a:off x="41178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4401312"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401312"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97814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7814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4511040"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Simulator: Check the AI agent login</a:t>
            </a:r>
          </a:p>
        </p:txBody>
      </p:sp>
      <p:sp>
        <p:nvSpPr>
          <p:cNvPr id="31" name="TextBox 30"/>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6213348"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13348"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790182"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90182"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6323076"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Simulator: Read the market clock</a:t>
            </a:r>
          </a:p>
        </p:txBody>
      </p:sp>
      <p:sp>
        <p:nvSpPr>
          <p:cNvPr id="37" name="TextBox 36"/>
          <p:cNvSpPr txBox="1"/>
          <p:nvPr/>
        </p:nvSpPr>
        <p:spPr>
          <a:xfrm>
            <a:off x="774192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8" name="Rectangle 37"/>
          <p:cNvSpPr/>
          <p:nvPr/>
        </p:nvSpPr>
        <p:spPr>
          <a:xfrm>
            <a:off x="8025384"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25384"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602218"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02218"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5</a:t>
            </a:r>
          </a:p>
        </p:txBody>
      </p:sp>
      <p:sp>
        <p:nvSpPr>
          <p:cNvPr id="42" name="TextBox 41"/>
          <p:cNvSpPr txBox="1"/>
          <p:nvPr/>
        </p:nvSpPr>
        <p:spPr>
          <a:xfrm>
            <a:off x="8135112"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Simulator: Tour the Pipeline Map</a:t>
            </a:r>
          </a:p>
        </p:txBody>
      </p:sp>
      <p:sp>
        <p:nvSpPr>
          <p:cNvPr id="43" name="TextBox 42"/>
          <p:cNvSpPr txBox="1"/>
          <p:nvPr/>
        </p:nvSpPr>
        <p:spPr>
          <a:xfrm>
            <a:off x="9553956"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44" name="Rectangle 43"/>
          <p:cNvSpPr/>
          <p:nvPr/>
        </p:nvSpPr>
        <p:spPr>
          <a:xfrm>
            <a:off x="983742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83742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41425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41425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6</a:t>
            </a:r>
          </a:p>
        </p:txBody>
      </p:sp>
      <p:sp>
        <p:nvSpPr>
          <p:cNvPr id="48" name="TextBox 47"/>
          <p:cNvSpPr txBox="1"/>
          <p:nvPr/>
        </p:nvSpPr>
        <p:spPr>
          <a:xfrm>
            <a:off x="994714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Code: rebuild the stage with your AI assistant</a:t>
            </a:r>
          </a:p>
        </p:txBody>
      </p:sp>
      <p:sp>
        <p:nvSpPr>
          <p:cNvPr id="49" name="Rectangle 48"/>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52" name="TextBox 51"/>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The pipeline skeleton: config.yaml, risk limits and a verified Alpaca paper account (or simulator).</a:t>
            </a:r>
          </a:p>
        </p:txBody>
      </p:sp>
      <p:sp>
        <p:nvSpPr>
          <p:cNvPr id="53" name="TextBox 52"/>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20 min</a:t>
            </a:r>
          </a:p>
        </p:txBody>
      </p:sp>
      <p:sp>
        <p:nvSpPr>
          <p:cNvPr id="54" name="TextBox 5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5" name="TextBox 5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6" name="TextBox 5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01 · SIMULATOR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01 — In the Trading Simulator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01_setup.png"/>
          <p:cNvPicPr>
            <a:picLocks noChangeAspect="1"/>
          </p:cNvPicPr>
          <p:nvPr/>
        </p:nvPicPr>
        <p:blipFill>
          <a:blip r:embed="rId2"/>
          <a:stretch>
            <a:fillRect/>
          </a:stretch>
        </p:blipFill>
        <p:spPr>
          <a:xfrm>
            <a:off x="3599738" y="1828800"/>
            <a:ext cx="4992217" cy="3794760"/>
          </a:xfrm>
          <a:prstGeom prst="rect">
            <a:avLst/>
          </a:prstGeom>
        </p:spPr>
      </p:pic>
      <p:sp>
        <p:nvSpPr>
          <p:cNvPr id="8" name="Rectangle 7"/>
          <p:cNvSpPr/>
          <p:nvPr/>
        </p:nvSpPr>
        <p:spPr>
          <a:xfrm>
            <a:off x="3588766" y="1817827"/>
            <a:ext cx="5014163" cy="381670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6986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76986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76986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Course Labs &gt; Lab 01 at http://localhost:8000 - Settings &gt; Demo data. Offline demo data; connect Alpaca paper keys for live paper trading.</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Data-Validation Stage: Cross-Check Pipeline Bars against TradingView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875520" y="475488"/>
            <a:ext cx="1536192"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875520"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0" y="475488"/>
            <a:ext cx="1536192" cy="310896"/>
          </a:xfrm>
          <a:prstGeom prst="rect">
            <a:avLst/>
          </a:prstGeom>
          <a:noFill/>
        </p:spPr>
        <p:txBody>
          <a:bodyPr wrap="square" anchor="ctr">
            <a:spAutoFit/>
          </a:bodyPr>
          <a:lstStyle/>
          <a:p>
            <a:pPr algn="ctr">
              <a:spcAft>
                <a:spcPts val="400"/>
              </a:spcAft>
            </a:pPr>
            <a:r>
              <a:rPr sz="1100" b="1">
                <a:solidFill>
                  <a:srgbClr val="10B981"/>
                </a:solidFill>
                <a:latin typeface="Arial"/>
              </a:rPr>
              <a:t>A3  K5  K9</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02</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Prove the app's prices are right: compare its bars with TradingView's Data Window and explain adjusted vs unadjusted prices. Then build the same stage in code with your AI assistant.</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1936699"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1936699"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535277"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535277"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1717243" cy="877824"/>
          </a:xfrm>
          <a:prstGeom prst="rect">
            <a:avLst/>
          </a:prstGeom>
          <a:noFill/>
        </p:spPr>
        <p:txBody>
          <a:bodyPr wrap="square" anchor="t">
            <a:spAutoFit/>
          </a:bodyPr>
          <a:lstStyle/>
          <a:p>
            <a:pPr algn="ctr">
              <a:spcAft>
                <a:spcPts val="400"/>
              </a:spcAft>
            </a:pPr>
            <a:r>
              <a:rPr sz="1050" b="0">
                <a:solidFill>
                  <a:srgbClr val="161B26"/>
                </a:solidFill>
                <a:latin typeface="Arial"/>
              </a:rPr>
              <a:t>Simulator: Read TradingView's Data Window</a:t>
            </a:r>
          </a:p>
        </p:txBody>
      </p:sp>
      <p:sp>
        <p:nvSpPr>
          <p:cNvPr id="19" name="TextBox 18"/>
          <p:cNvSpPr txBox="1"/>
          <p:nvPr/>
        </p:nvSpPr>
        <p:spPr>
          <a:xfrm>
            <a:off x="2668219"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2951683" y="3456432"/>
            <a:ext cx="1936699"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951683" y="3456432"/>
            <a:ext cx="1936699"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709720"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709720"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3061411" y="4114800"/>
            <a:ext cx="1717243" cy="877824"/>
          </a:xfrm>
          <a:prstGeom prst="rect">
            <a:avLst/>
          </a:prstGeom>
          <a:noFill/>
        </p:spPr>
        <p:txBody>
          <a:bodyPr wrap="square" anchor="t">
            <a:spAutoFit/>
          </a:bodyPr>
          <a:lstStyle/>
          <a:p>
            <a:pPr algn="ctr">
              <a:spcAft>
                <a:spcPts val="400"/>
              </a:spcAft>
            </a:pPr>
            <a:r>
              <a:rPr sz="1050" b="0">
                <a:solidFill>
                  <a:srgbClr val="161B26"/>
                </a:solidFill>
                <a:latin typeface="Arial"/>
              </a:rPr>
              <a:t>Simulator: Compare with RAW and ADJUSTED bars</a:t>
            </a:r>
          </a:p>
        </p:txBody>
      </p:sp>
      <p:sp>
        <p:nvSpPr>
          <p:cNvPr id="25" name="TextBox 24"/>
          <p:cNvSpPr txBox="1"/>
          <p:nvPr/>
        </p:nvSpPr>
        <p:spPr>
          <a:xfrm>
            <a:off x="4842662"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5126126" y="3456432"/>
            <a:ext cx="1936699"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126126" y="3456432"/>
            <a:ext cx="1936699"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884163"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84163"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5235854" y="4114800"/>
            <a:ext cx="1717243" cy="877824"/>
          </a:xfrm>
          <a:prstGeom prst="rect">
            <a:avLst/>
          </a:prstGeom>
          <a:noFill/>
        </p:spPr>
        <p:txBody>
          <a:bodyPr wrap="square" anchor="t">
            <a:spAutoFit/>
          </a:bodyPr>
          <a:lstStyle/>
          <a:p>
            <a:pPr algn="ctr">
              <a:spcAft>
                <a:spcPts val="400"/>
              </a:spcAft>
            </a:pPr>
            <a:r>
              <a:rPr sz="1050" b="0">
                <a:solidFill>
                  <a:srgbClr val="161B26"/>
                </a:solidFill>
                <a:latin typeface="Arial"/>
              </a:rPr>
              <a:t>Simulator: Repeat for SGX:D05 (DBS)</a:t>
            </a:r>
          </a:p>
        </p:txBody>
      </p:sp>
      <p:sp>
        <p:nvSpPr>
          <p:cNvPr id="31" name="TextBox 30"/>
          <p:cNvSpPr txBox="1"/>
          <p:nvPr/>
        </p:nvSpPr>
        <p:spPr>
          <a:xfrm>
            <a:off x="7017105"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7300569" y="3456432"/>
            <a:ext cx="1936699"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300569" y="3456432"/>
            <a:ext cx="1936699"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05860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5860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7410297" y="4114800"/>
            <a:ext cx="1717243" cy="877824"/>
          </a:xfrm>
          <a:prstGeom prst="rect">
            <a:avLst/>
          </a:prstGeom>
          <a:noFill/>
        </p:spPr>
        <p:txBody>
          <a:bodyPr wrap="square" anchor="t">
            <a:spAutoFit/>
          </a:bodyPr>
          <a:lstStyle/>
          <a:p>
            <a:pPr algn="ctr">
              <a:spcAft>
                <a:spcPts val="400"/>
              </a:spcAft>
            </a:pPr>
            <a:r>
              <a:rPr sz="1050" b="0">
                <a:solidFill>
                  <a:srgbClr val="161B26"/>
                </a:solidFill>
                <a:latin typeface="Arial"/>
              </a:rPr>
              <a:t>Simulator: Inspect the chart</a:t>
            </a:r>
          </a:p>
        </p:txBody>
      </p:sp>
      <p:sp>
        <p:nvSpPr>
          <p:cNvPr id="37" name="TextBox 36"/>
          <p:cNvSpPr txBox="1"/>
          <p:nvPr/>
        </p:nvSpPr>
        <p:spPr>
          <a:xfrm>
            <a:off x="91915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8" name="Rectangle 37"/>
          <p:cNvSpPr/>
          <p:nvPr/>
        </p:nvSpPr>
        <p:spPr>
          <a:xfrm>
            <a:off x="9475012" y="3456432"/>
            <a:ext cx="1936699"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475012" y="3456432"/>
            <a:ext cx="1936699"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233049"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233049"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5</a:t>
            </a:r>
          </a:p>
        </p:txBody>
      </p:sp>
      <p:sp>
        <p:nvSpPr>
          <p:cNvPr id="42" name="TextBox 41"/>
          <p:cNvSpPr txBox="1"/>
          <p:nvPr/>
        </p:nvSpPr>
        <p:spPr>
          <a:xfrm>
            <a:off x="9584740" y="4114800"/>
            <a:ext cx="1717243" cy="877824"/>
          </a:xfrm>
          <a:prstGeom prst="rect">
            <a:avLst/>
          </a:prstGeom>
          <a:noFill/>
        </p:spPr>
        <p:txBody>
          <a:bodyPr wrap="square" anchor="t">
            <a:spAutoFit/>
          </a:bodyPr>
          <a:lstStyle/>
          <a:p>
            <a:pPr algn="ctr">
              <a:spcAft>
                <a:spcPts val="400"/>
              </a:spcAft>
            </a:pPr>
            <a:r>
              <a:rPr sz="1050" b="0">
                <a:solidFill>
                  <a:srgbClr val="161B26"/>
                </a:solidFill>
                <a:latin typeface="Arial"/>
              </a:rPr>
              <a:t>Code: rebuild the stage with your AI assistant</a:t>
            </a:r>
          </a:p>
        </p:txBody>
      </p:sp>
      <p:sp>
        <p:nvSpPr>
          <p:cNvPr id="43" name="Rectangle 42"/>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6" name="TextBox 45"/>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 data-validation report reconciling pipeline bars with TradingView for SGX:D05 and AAPL.</a:t>
            </a:r>
          </a:p>
        </p:txBody>
      </p:sp>
      <p:sp>
        <p:nvSpPr>
          <p:cNvPr id="47" name="TextBox 46"/>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20 min</a:t>
            </a:r>
          </a:p>
        </p:txBody>
      </p:sp>
      <p:sp>
        <p:nvSpPr>
          <p:cNvPr id="48" name="TextBox 4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9" name="TextBox 4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0" name="TextBox 4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02 · SIMULATOR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02 — In the Trading Simulator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02_tradingview_validation.png"/>
          <p:cNvPicPr>
            <a:picLocks noChangeAspect="1"/>
          </p:cNvPicPr>
          <p:nvPr/>
        </p:nvPicPr>
        <p:blipFill>
          <a:blip r:embed="rId2"/>
          <a:stretch>
            <a:fillRect/>
          </a:stretch>
        </p:blipFill>
        <p:spPr>
          <a:xfrm>
            <a:off x="3599738" y="1828800"/>
            <a:ext cx="4992217" cy="3794760"/>
          </a:xfrm>
          <a:prstGeom prst="rect">
            <a:avLst/>
          </a:prstGeom>
        </p:spPr>
      </p:pic>
      <p:sp>
        <p:nvSpPr>
          <p:cNvPr id="8" name="Rectangle 7"/>
          <p:cNvSpPr/>
          <p:nvPr/>
        </p:nvSpPr>
        <p:spPr>
          <a:xfrm>
            <a:off x="3588766" y="1817827"/>
            <a:ext cx="5014163" cy="381670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6986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76986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76986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Course Labs &gt; Lab 02 at http://localhost:8000 - Data &gt; Validate vs TradingView (AAPL). Offline demo data; connect Alpaca paper keys for live paper trading.</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Ingestion Stage: Multi-Timeframe Bars, Headlines and Data Quality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259568" y="475488"/>
            <a:ext cx="1152144"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259568"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475488"/>
            <a:ext cx="1152144" cy="310896"/>
          </a:xfrm>
          <a:prstGeom prst="rect">
            <a:avLst/>
          </a:prstGeom>
          <a:noFill/>
        </p:spPr>
        <p:txBody>
          <a:bodyPr wrap="square" anchor="ctr">
            <a:spAutoFit/>
          </a:bodyPr>
          <a:lstStyle/>
          <a:p>
            <a:pPr algn="ctr">
              <a:spcAft>
                <a:spcPts val="400"/>
              </a:spcAft>
            </a:pPr>
            <a:r>
              <a:rPr sz="1100" b="1">
                <a:solidFill>
                  <a:srgbClr val="10B981"/>
                </a:solidFill>
                <a:latin typeface="Arial"/>
              </a:rPr>
              <a:t>A6  K9</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03</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Ingest bars from Alpaca / Twelve Data / yfinance (or the demo files), run the data-quality checks and score news sentiment. Then build the same stage in code with your AI assistant.</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1936699"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1936699"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535277"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535277"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1717243" cy="877824"/>
          </a:xfrm>
          <a:prstGeom prst="rect">
            <a:avLst/>
          </a:prstGeom>
          <a:noFill/>
        </p:spPr>
        <p:txBody>
          <a:bodyPr wrap="square" anchor="t">
            <a:spAutoFit/>
          </a:bodyPr>
          <a:lstStyle/>
          <a:p>
            <a:pPr algn="ctr">
              <a:spcAft>
                <a:spcPts val="400"/>
              </a:spcAft>
            </a:pPr>
            <a:r>
              <a:rPr sz="1050" b="0">
                <a:solidFill>
                  <a:srgbClr val="161B26"/>
                </a:solidFill>
                <a:latin typeface="Arial"/>
              </a:rPr>
              <a:t>Simulator: Fetch data</a:t>
            </a:r>
          </a:p>
        </p:txBody>
      </p:sp>
      <p:sp>
        <p:nvSpPr>
          <p:cNvPr id="19" name="TextBox 18"/>
          <p:cNvSpPr txBox="1"/>
          <p:nvPr/>
        </p:nvSpPr>
        <p:spPr>
          <a:xfrm>
            <a:off x="2668219"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2951683" y="3456432"/>
            <a:ext cx="1936699"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951683" y="3456432"/>
            <a:ext cx="1936699"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709720"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709720"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3061411" y="4114800"/>
            <a:ext cx="1717243" cy="877824"/>
          </a:xfrm>
          <a:prstGeom prst="rect">
            <a:avLst/>
          </a:prstGeom>
          <a:noFill/>
        </p:spPr>
        <p:txBody>
          <a:bodyPr wrap="square" anchor="t">
            <a:spAutoFit/>
          </a:bodyPr>
          <a:lstStyle/>
          <a:p>
            <a:pPr algn="ctr">
              <a:spcAft>
                <a:spcPts val="400"/>
              </a:spcAft>
            </a:pPr>
            <a:r>
              <a:rPr sz="1050" b="0">
                <a:solidFill>
                  <a:srgbClr val="161B26"/>
                </a:solidFill>
                <a:latin typeface="Arial"/>
              </a:rPr>
              <a:t>Simulator: Read the data-quality report</a:t>
            </a:r>
          </a:p>
        </p:txBody>
      </p:sp>
      <p:sp>
        <p:nvSpPr>
          <p:cNvPr id="25" name="TextBox 24"/>
          <p:cNvSpPr txBox="1"/>
          <p:nvPr/>
        </p:nvSpPr>
        <p:spPr>
          <a:xfrm>
            <a:off x="4842662"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5126126" y="3456432"/>
            <a:ext cx="1936699"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126126" y="3456432"/>
            <a:ext cx="1936699"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884163"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84163"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5235854" y="4114800"/>
            <a:ext cx="1717243" cy="877824"/>
          </a:xfrm>
          <a:prstGeom prst="rect">
            <a:avLst/>
          </a:prstGeom>
          <a:noFill/>
        </p:spPr>
        <p:txBody>
          <a:bodyPr wrap="square" anchor="t">
            <a:spAutoFit/>
          </a:bodyPr>
          <a:lstStyle/>
          <a:p>
            <a:pPr algn="ctr">
              <a:spcAft>
                <a:spcPts val="400"/>
              </a:spcAft>
            </a:pPr>
            <a:r>
              <a:rPr sz="1050" b="0">
                <a:solidFill>
                  <a:srgbClr val="161B26"/>
                </a:solidFill>
                <a:latin typeface="Arial"/>
              </a:rPr>
              <a:t>Simulator: Switch timeframes</a:t>
            </a:r>
          </a:p>
        </p:txBody>
      </p:sp>
      <p:sp>
        <p:nvSpPr>
          <p:cNvPr id="31" name="TextBox 30"/>
          <p:cNvSpPr txBox="1"/>
          <p:nvPr/>
        </p:nvSpPr>
        <p:spPr>
          <a:xfrm>
            <a:off x="7017105"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7300569" y="3456432"/>
            <a:ext cx="1936699"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300569" y="3456432"/>
            <a:ext cx="1936699"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05860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5860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7410297" y="4114800"/>
            <a:ext cx="1717243" cy="877824"/>
          </a:xfrm>
          <a:prstGeom prst="rect">
            <a:avLst/>
          </a:prstGeom>
          <a:noFill/>
        </p:spPr>
        <p:txBody>
          <a:bodyPr wrap="square" anchor="t">
            <a:spAutoFit/>
          </a:bodyPr>
          <a:lstStyle/>
          <a:p>
            <a:pPr algn="ctr">
              <a:spcAft>
                <a:spcPts val="400"/>
              </a:spcAft>
            </a:pPr>
            <a:r>
              <a:rPr sz="1050" b="0">
                <a:solidFill>
                  <a:srgbClr val="161B26"/>
                </a:solidFill>
                <a:latin typeface="Arial"/>
              </a:rPr>
              <a:t>Simulator: Headlines and sentiment</a:t>
            </a:r>
          </a:p>
        </p:txBody>
      </p:sp>
      <p:sp>
        <p:nvSpPr>
          <p:cNvPr id="37" name="TextBox 36"/>
          <p:cNvSpPr txBox="1"/>
          <p:nvPr/>
        </p:nvSpPr>
        <p:spPr>
          <a:xfrm>
            <a:off x="91915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8" name="Rectangle 37"/>
          <p:cNvSpPr/>
          <p:nvPr/>
        </p:nvSpPr>
        <p:spPr>
          <a:xfrm>
            <a:off x="9475012" y="3456432"/>
            <a:ext cx="1936699"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475012" y="3456432"/>
            <a:ext cx="1936699"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233049"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233049"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5</a:t>
            </a:r>
          </a:p>
        </p:txBody>
      </p:sp>
      <p:sp>
        <p:nvSpPr>
          <p:cNvPr id="42" name="TextBox 41"/>
          <p:cNvSpPr txBox="1"/>
          <p:nvPr/>
        </p:nvSpPr>
        <p:spPr>
          <a:xfrm>
            <a:off x="9584740" y="4114800"/>
            <a:ext cx="1717243" cy="877824"/>
          </a:xfrm>
          <a:prstGeom prst="rect">
            <a:avLst/>
          </a:prstGeom>
          <a:noFill/>
        </p:spPr>
        <p:txBody>
          <a:bodyPr wrap="square" anchor="t">
            <a:spAutoFit/>
          </a:bodyPr>
          <a:lstStyle/>
          <a:p>
            <a:pPr algn="ctr">
              <a:spcAft>
                <a:spcPts val="400"/>
              </a:spcAft>
            </a:pPr>
            <a:r>
              <a:rPr sz="1050" b="0">
                <a:solidFill>
                  <a:srgbClr val="161B26"/>
                </a:solidFill>
                <a:latin typeface="Arial"/>
              </a:rPr>
              <a:t>Code: rebuild the stage with your AI assistant</a:t>
            </a:r>
          </a:p>
        </p:txBody>
      </p:sp>
      <p:sp>
        <p:nvSpPr>
          <p:cNvPr id="43" name="Rectangle 42"/>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6" name="TextBox 45"/>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An ingestion stage caching multi-timeframe bars and headlines with automated data-quality checks.</a:t>
            </a:r>
          </a:p>
        </p:txBody>
      </p:sp>
      <p:sp>
        <p:nvSpPr>
          <p:cNvPr id="47" name="TextBox 46"/>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20 min</a:t>
            </a:r>
          </a:p>
        </p:txBody>
      </p:sp>
      <p:sp>
        <p:nvSpPr>
          <p:cNvPr id="48" name="TextBox 4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9" name="TextBox 4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0" name="TextBox 4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03 · SIMULATOR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03 — In the Trading Simulator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03_data_ingestion.png"/>
          <p:cNvPicPr>
            <a:picLocks noChangeAspect="1"/>
          </p:cNvPicPr>
          <p:nvPr/>
        </p:nvPicPr>
        <p:blipFill>
          <a:blip r:embed="rId2"/>
          <a:stretch>
            <a:fillRect/>
          </a:stretch>
        </p:blipFill>
        <p:spPr>
          <a:xfrm>
            <a:off x="3599738" y="1828800"/>
            <a:ext cx="4992217" cy="3794760"/>
          </a:xfrm>
          <a:prstGeom prst="rect">
            <a:avLst/>
          </a:prstGeom>
        </p:spPr>
      </p:pic>
      <p:sp>
        <p:nvSpPr>
          <p:cNvPr id="8" name="Rectangle 7"/>
          <p:cNvSpPr/>
          <p:nvPr/>
        </p:nvSpPr>
        <p:spPr>
          <a:xfrm>
            <a:off x="3588766" y="1817827"/>
            <a:ext cx="5014163" cy="381670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6986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76986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76986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Course Labs &gt; Lab 03 at http://localhost:8000 - Data &gt; Fetch AAPL. Offline demo data; connect Alpaca paper keys for live paper trading.</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5B6372"/>
                </a:solidFill>
                <a:latin typeface="Arial"/>
              </a:rPr>
              <a:t>1 hour  ·  see you at 13:30</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Hypothesis Stage: from a Written Card to an Automated Statistical Test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875520" y="475488"/>
            <a:ext cx="1536192"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875520"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0" y="475488"/>
            <a:ext cx="1536192" cy="310896"/>
          </a:xfrm>
          <a:prstGeom prst="rect">
            <a:avLst/>
          </a:prstGeom>
          <a:noFill/>
        </p:spPr>
        <p:txBody>
          <a:bodyPr wrap="square" anchor="ctr">
            <a:spAutoFit/>
          </a:bodyPr>
          <a:lstStyle/>
          <a:p>
            <a:pPr algn="ctr">
              <a:spcAft>
                <a:spcPts val="400"/>
              </a:spcAft>
            </a:pPr>
            <a:r>
              <a:rPr sz="1100" b="1">
                <a:solidFill>
                  <a:srgbClr val="10B981"/>
                </a:solidFill>
                <a:latin typeface="Arial"/>
              </a:rPr>
              <a:t>A1  A6  K1</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04</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Write H0 and H1 before looking at results and test them with a Welch t-test and a bootstrap CI. Then build the same stage in code with your AI assistant.</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807083"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807083"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Write the hypothesis card</a:t>
            </a:r>
          </a:p>
        </p:txBody>
      </p:sp>
      <p:sp>
        <p:nvSpPr>
          <p:cNvPr id="19" name="TextBox 18"/>
          <p:cNvSpPr txBox="1"/>
          <p:nvPr/>
        </p:nvSpPr>
        <p:spPr>
          <a:xfrm>
            <a:off x="321183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3495294"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495294"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525137"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5137"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3605022"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Run the test</a:t>
            </a:r>
          </a:p>
        </p:txBody>
      </p:sp>
      <p:sp>
        <p:nvSpPr>
          <p:cNvPr id="25" name="TextBox 24"/>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6213348"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13348"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243191"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43191"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6323076"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Robustness and multiple testing</a:t>
            </a:r>
          </a:p>
        </p:txBody>
      </p:sp>
      <p:sp>
        <p:nvSpPr>
          <p:cNvPr id="31" name="TextBox 30"/>
          <p:cNvSpPr txBox="1"/>
          <p:nvPr/>
        </p:nvSpPr>
        <p:spPr>
          <a:xfrm>
            <a:off x="864793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8931402"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931402"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9961245"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61245"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9041130"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Code: rebuild the stage with your AI assistant</a:t>
            </a:r>
          </a:p>
        </p:txBody>
      </p:sp>
      <p:sp>
        <p:nvSpPr>
          <p:cNvPr id="37" name="Rectangle 36"/>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0" name="TextBox 39"/>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 hypothesis card and an automated statistical test of the SPY dip-after-streak hypothesis.</a:t>
            </a:r>
          </a:p>
        </p:txBody>
      </p:sp>
      <p:sp>
        <p:nvSpPr>
          <p:cNvPr id="41" name="TextBox 40"/>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15 min</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04 · SIMULATOR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04 — In the Trading Simulator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04_hypothesis.png"/>
          <p:cNvPicPr>
            <a:picLocks noChangeAspect="1"/>
          </p:cNvPicPr>
          <p:nvPr/>
        </p:nvPicPr>
        <p:blipFill>
          <a:blip r:embed="rId2"/>
          <a:stretch>
            <a:fillRect/>
          </a:stretch>
        </p:blipFill>
        <p:spPr>
          <a:xfrm>
            <a:off x="3599738" y="1828800"/>
            <a:ext cx="4992217" cy="3794760"/>
          </a:xfrm>
          <a:prstGeom prst="rect">
            <a:avLst/>
          </a:prstGeom>
        </p:spPr>
      </p:pic>
      <p:sp>
        <p:nvSpPr>
          <p:cNvPr id="8" name="Rectangle 7"/>
          <p:cNvSpPr/>
          <p:nvPr/>
        </p:nvSpPr>
        <p:spPr>
          <a:xfrm>
            <a:off x="3588766" y="1817827"/>
            <a:ext cx="5014163" cy="381670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6986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76986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76986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Course Labs &gt; Lab 04 at http://localhost:8000 - Research &gt; Hypothesis (SPY, losing streak 3). Offline demo data; connect Alpaca paper keys for live paper trading.</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WHAT YOU COVERED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Topic 1 Recap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91472" y="475488"/>
            <a:ext cx="1920240"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491472"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91472" y="475488"/>
            <a:ext cx="1920240" cy="310896"/>
          </a:xfrm>
          <a:prstGeom prst="rect">
            <a:avLst/>
          </a:prstGeom>
          <a:noFill/>
        </p:spPr>
        <p:txBody>
          <a:bodyPr wrap="square" anchor="ctr">
            <a:spAutoFit/>
          </a:bodyPr>
          <a:lstStyle/>
          <a:p>
            <a:pPr algn="ctr">
              <a:spcAft>
                <a:spcPts val="400"/>
              </a:spcAft>
            </a:pPr>
            <a:r>
              <a:rPr sz="1100" b="1">
                <a:solidFill>
                  <a:srgbClr val="1F6FEB"/>
                </a:solidFill>
                <a:latin typeface="Arial"/>
              </a:rPr>
              <a:t>A1  A6  K1  K9</a:t>
            </a:r>
          </a:p>
        </p:txBody>
      </p:sp>
      <p:sp>
        <p:nvSpPr>
          <p:cNvPr id="10" name="Rectangle 9"/>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A1</a:t>
            </a:r>
          </a:p>
          <a:p>
            <a:pPr algn="l">
              <a:spcAft>
                <a:spcPts val="300"/>
              </a:spcAft>
            </a:pPr>
            <a:r>
              <a:rPr sz="1000" b="0">
                <a:solidFill>
                  <a:srgbClr val="5B6372"/>
                </a:solidFill>
                <a:latin typeface="Arial"/>
              </a:rPr>
              <a:t>Develop hypotheses for implementing data analytics and computational modelling activities</a:t>
            </a:r>
          </a:p>
        </p:txBody>
      </p:sp>
      <p:sp>
        <p:nvSpPr>
          <p:cNvPr id="15" name="Rectangle 14"/>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1764792" y="3063240"/>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A6</a:t>
            </a:r>
          </a:p>
          <a:p>
            <a:pPr algn="l">
              <a:spcAft>
                <a:spcPts val="300"/>
              </a:spcAft>
            </a:pPr>
            <a:r>
              <a:rPr sz="1000" b="0">
                <a:solidFill>
                  <a:srgbClr val="5B6372"/>
                </a:solidFill>
                <a:latin typeface="Arial"/>
              </a:rPr>
              <a:t>Identify possible big data applications</a:t>
            </a:r>
          </a:p>
        </p:txBody>
      </p:sp>
      <p:sp>
        <p:nvSpPr>
          <p:cNvPr id="20" name="Rectangle 19"/>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K1</a:t>
            </a:r>
          </a:p>
          <a:p>
            <a:pPr algn="l">
              <a:spcAft>
                <a:spcPts val="300"/>
              </a:spcAft>
            </a:pPr>
            <a:r>
              <a:rPr sz="1000" b="0">
                <a:solidFill>
                  <a:srgbClr val="5B6372"/>
                </a:solidFill>
                <a:latin typeface="Arial"/>
              </a:rPr>
              <a:t>Data analytics and modelling business use cases</a:t>
            </a:r>
          </a:p>
        </p:txBody>
      </p:sp>
      <p:sp>
        <p:nvSpPr>
          <p:cNvPr id="25" name="Rectangle 24"/>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1764792" y="5367528"/>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K9</a:t>
            </a:r>
          </a:p>
          <a:p>
            <a:pPr algn="l">
              <a:spcAft>
                <a:spcPts val="300"/>
              </a:spcAft>
            </a:pPr>
            <a:r>
              <a:rPr sz="1000" b="0">
                <a:solidFill>
                  <a:srgbClr val="5B6372"/>
                </a:solidFill>
                <a:latin typeface="Arial"/>
              </a:rPr>
              <a:t>Forms of data within financial services</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84048"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1874519"/>
            <a:ext cx="8778240" cy="457200"/>
          </a:xfrm>
          <a:prstGeom prst="rect">
            <a:avLst/>
          </a:prstGeom>
          <a:noFill/>
        </p:spPr>
        <p:txBody>
          <a:bodyPr wrap="square" anchor="t">
            <a:spAutoFit/>
          </a:bodyPr>
          <a:lstStyle/>
          <a:p>
            <a:pPr algn="l">
              <a:spcAft>
                <a:spcPts val="400"/>
              </a:spcAft>
            </a:pPr>
            <a:r>
              <a:rPr sz="1600" b="1">
                <a:solidFill>
                  <a:srgbClr val="10B981"/>
                </a:solidFill>
                <a:latin typeface="Arial"/>
              </a:rPr>
              <a:t>TOPIC 2</a:t>
            </a:r>
          </a:p>
        </p:txBody>
      </p:sp>
      <p:sp>
        <p:nvSpPr>
          <p:cNvPr id="5" name="TextBox 4"/>
          <p:cNvSpPr txBox="1"/>
          <p:nvPr/>
        </p:nvSpPr>
        <p:spPr>
          <a:xfrm>
            <a:off x="1188720" y="2331720"/>
            <a:ext cx="9509760" cy="914400"/>
          </a:xfrm>
          <a:prstGeom prst="rect">
            <a:avLst/>
          </a:prstGeom>
          <a:noFill/>
        </p:spPr>
        <p:txBody>
          <a:bodyPr wrap="square" anchor="t">
            <a:spAutoFit/>
          </a:bodyPr>
          <a:lstStyle/>
          <a:p>
            <a:pPr algn="l">
              <a:spcAft>
                <a:spcPts val="400"/>
              </a:spcAft>
            </a:pPr>
            <a:r>
              <a:rPr sz="4000" b="1">
                <a:solidFill>
                  <a:srgbClr val="161B26"/>
                </a:solidFill>
                <a:latin typeface="Arial"/>
              </a:rPr>
              <a:t>Indicators, Strategies and Metrics</a:t>
            </a:r>
          </a:p>
        </p:txBody>
      </p:sp>
      <p:sp>
        <p:nvSpPr>
          <p:cNvPr id="6" name="Rectangle 5"/>
          <p:cNvSpPr/>
          <p:nvPr/>
        </p:nvSpPr>
        <p:spPr>
          <a:xfrm>
            <a:off x="1188720" y="3429000"/>
            <a:ext cx="9509760"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88720" y="3429000"/>
            <a:ext cx="82296" cy="1234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81328" y="3429000"/>
            <a:ext cx="9052560" cy="1234440"/>
          </a:xfrm>
          <a:prstGeom prst="rect">
            <a:avLst/>
          </a:prstGeom>
          <a:noFill/>
        </p:spPr>
        <p:txBody>
          <a:bodyPr wrap="square" anchor="ctr">
            <a:spAutoFit/>
          </a:bodyPr>
          <a:lstStyle/>
          <a:p>
            <a:pPr algn="l">
              <a:spcAft>
                <a:spcPts val="400"/>
              </a:spcAft>
            </a:pPr>
            <a:r>
              <a:rPr sz="1050" b="1">
                <a:solidFill>
                  <a:srgbClr val="10B981"/>
                </a:solidFill>
                <a:latin typeface="Arial"/>
              </a:rPr>
              <a:t>LEARNING OUTCOME</a:t>
            </a:r>
          </a:p>
          <a:p>
            <a:pPr algn="l">
              <a:spcAft>
                <a:spcPts val="400"/>
              </a:spcAft>
            </a:pPr>
            <a:r>
              <a:rPr sz="1350" b="0">
                <a:solidFill>
                  <a:srgbClr val="161B26"/>
                </a:solidFill>
                <a:latin typeface="Arial"/>
              </a:rPr>
              <a:t>Identify appropriate statistical algorithms and data models to test trading hypotheses, and use appropriate analytics platforms, analytical tools and statistical methods given specific analytics and reporting requirements.</a:t>
            </a:r>
          </a:p>
        </p:txBody>
      </p:sp>
      <p:sp>
        <p:nvSpPr>
          <p:cNvPr id="9" name="TextBox 8"/>
          <p:cNvSpPr txBox="1"/>
          <p:nvPr/>
        </p:nvSpPr>
        <p:spPr>
          <a:xfrm>
            <a:off x="1188720" y="4892040"/>
            <a:ext cx="9509760" cy="457200"/>
          </a:xfrm>
          <a:prstGeom prst="rect">
            <a:avLst/>
          </a:prstGeom>
          <a:noFill/>
        </p:spPr>
        <p:txBody>
          <a:bodyPr wrap="square" anchor="t">
            <a:spAutoFit/>
          </a:bodyPr>
          <a:lstStyle/>
          <a:p>
            <a:pPr algn="l">
              <a:spcAft>
                <a:spcPts val="400"/>
              </a:spcAft>
            </a:pPr>
            <a:r>
              <a:rPr sz="1150" b="0">
                <a:solidFill>
                  <a:srgbClr val="5B6372"/>
                </a:solidFill>
                <a:latin typeface="Arial"/>
              </a:rPr>
              <a:t>Abilities A2, A3  ·  Knowledge K3, K5, K7   ·   Day 1   ·   Labs 5–9   ·   Assessed by PP Task 2 and WA Q3, Q5, Q7</a:t>
            </a:r>
          </a:p>
        </p:txBody>
      </p:sp>
      <p:sp>
        <p:nvSpPr>
          <p:cNvPr id="10" name="TextBox 9"/>
          <p:cNvSpPr txBox="1"/>
          <p:nvPr/>
        </p:nvSpPr>
        <p:spPr>
          <a:xfrm>
            <a:off x="9692640" y="914400"/>
            <a:ext cx="2011680" cy="2011680"/>
          </a:xfrm>
          <a:prstGeom prst="rect">
            <a:avLst/>
          </a:prstGeom>
          <a:noFill/>
        </p:spPr>
        <p:txBody>
          <a:bodyPr wrap="square" anchor="t">
            <a:spAutoFit/>
          </a:bodyPr>
          <a:lstStyle/>
          <a:p>
            <a:pPr algn="r">
              <a:spcAft>
                <a:spcPts val="400"/>
              </a:spcAft>
            </a:pPr>
            <a:r>
              <a:rPr sz="9600" b="1">
                <a:solidFill>
                  <a:srgbClr val="F5F8FC"/>
                </a:solidFill>
                <a:latin typeface="Arial"/>
              </a:rPr>
              <a:t>02</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Trend and Momentum Indicators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SMA / EMA</a:t>
            </a:r>
          </a:p>
          <a:p>
            <a:pPr algn="l">
              <a:spcAft>
                <a:spcPts val="300"/>
              </a:spcAft>
            </a:pPr>
            <a:r>
              <a:rPr sz="1150" b="0">
                <a:solidFill>
                  <a:srgbClr val="5B6372"/>
                </a:solidFill>
                <a:latin typeface="Arial"/>
              </a:rPr>
              <a:t>Average close over n bars; EMA weights recent bars by 2/(n+1).</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MACD</a:t>
            </a:r>
          </a:p>
          <a:p>
            <a:pPr algn="l">
              <a:spcAft>
                <a:spcPts val="300"/>
              </a:spcAft>
            </a:pPr>
            <a:r>
              <a:rPr sz="1150" b="0">
                <a:solidFill>
                  <a:srgbClr val="5B6372"/>
                </a:solidFill>
                <a:latin typeface="Arial"/>
              </a:rPr>
              <a:t>EMA12 − EMA26 with a 9-EMA signal line; crosses flag momentum.</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RSI (14)</a:t>
            </a:r>
          </a:p>
          <a:p>
            <a:pPr algn="l">
              <a:spcAft>
                <a:spcPts val="300"/>
              </a:spcAft>
            </a:pPr>
            <a:r>
              <a:rPr sz="1150" b="0">
                <a:solidFill>
                  <a:srgbClr val="5B6372"/>
                </a:solidFill>
                <a:latin typeface="Arial"/>
              </a:rPr>
              <a:t>100 − 100/(1+RS); above 70 overbought, below 30 oversold.</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Donchian channel</a:t>
            </a:r>
          </a:p>
          <a:p>
            <a:pPr algn="l">
              <a:spcAft>
                <a:spcPts val="300"/>
              </a:spcAft>
            </a:pPr>
            <a:r>
              <a:rPr sz="1150" b="0">
                <a:solidFill>
                  <a:srgbClr val="5B6372"/>
                </a:solidFill>
                <a:latin typeface="Arial"/>
              </a:rPr>
              <a:t>Highest high / lowest low of n bars — the breakout level.</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Volatility and Volume Indicators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Bollinger Bands</a:t>
            </a:r>
          </a:p>
          <a:p>
            <a:pPr algn="l">
              <a:spcAft>
                <a:spcPts val="300"/>
              </a:spcAft>
            </a:pPr>
            <a:r>
              <a:rPr sz="1150" b="0">
                <a:solidFill>
                  <a:srgbClr val="5B6372"/>
                </a:solidFill>
                <a:latin typeface="Arial"/>
              </a:rPr>
              <a:t>SMA20 ± 2 standard deviations; width tracks volatility.</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ATR (14)</a:t>
            </a:r>
          </a:p>
          <a:p>
            <a:pPr algn="l">
              <a:spcAft>
                <a:spcPts val="300"/>
              </a:spcAft>
            </a:pPr>
            <a:r>
              <a:rPr sz="1150" b="0">
                <a:solidFill>
                  <a:srgbClr val="5B6372"/>
                </a:solidFill>
                <a:latin typeface="Arial"/>
              </a:rPr>
              <a:t>Average true range — position sizing and volatility stops.</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VWAP</a:t>
            </a:r>
          </a:p>
          <a:p>
            <a:pPr algn="l">
              <a:spcAft>
                <a:spcPts val="300"/>
              </a:spcAft>
            </a:pPr>
            <a:r>
              <a:rPr sz="1150" b="0">
                <a:solidFill>
                  <a:srgbClr val="5B6372"/>
                </a:solidFill>
                <a:latin typeface="Arial"/>
              </a:rPr>
              <a:t>Volume-weighted average price — the execution benchmark.</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OBV</a:t>
            </a:r>
          </a:p>
          <a:p>
            <a:pPr algn="l">
              <a:spcAft>
                <a:spcPts val="300"/>
              </a:spcAft>
            </a:pPr>
            <a:r>
              <a:rPr sz="1150" b="0">
                <a:solidFill>
                  <a:srgbClr val="5B6372"/>
                </a:solidFill>
                <a:latin typeface="Arial"/>
              </a:rPr>
              <a:t>Adds volume on up days, subtracts on down days.</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A2</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Matching the Method to the Hypothesis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A2</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'Does the signal beat the benchmark?'</a:t>
            </a:r>
          </a:p>
          <a:p>
            <a:pPr algn="l">
              <a:spcAft>
                <a:spcPts val="300"/>
              </a:spcAft>
            </a:pPr>
            <a:r>
              <a:rPr sz="1150" b="0">
                <a:solidFill>
                  <a:srgbClr val="5B6372"/>
                </a:solidFill>
                <a:latin typeface="Arial"/>
              </a:rPr>
              <a:t>Backtest + t-test or bootstrap on returns.</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'Will tomorrow be up?'</a:t>
            </a:r>
          </a:p>
          <a:p>
            <a:pPr algn="l">
              <a:spcAft>
                <a:spcPts val="300"/>
              </a:spcAft>
            </a:pPr>
            <a:r>
              <a:rPr sz="1150" b="0">
                <a:solidFill>
                  <a:srgbClr val="5B6372"/>
                </a:solidFill>
                <a:latin typeface="Arial"/>
              </a:rPr>
              <a:t>Classifier: logistic regression, random forest, XGBoost.</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'What state is the market in?'</a:t>
            </a:r>
          </a:p>
          <a:p>
            <a:pPr algn="l">
              <a:spcAft>
                <a:spcPts val="300"/>
              </a:spcAft>
            </a:pPr>
            <a:r>
              <a:rPr sz="1150" b="0">
                <a:solidFill>
                  <a:srgbClr val="5B6372"/>
                </a:solidFill>
                <a:latin typeface="Arial"/>
              </a:rPr>
              <a:t>Clustering: K-means on return and volatility features.</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'Which parameters?'</a:t>
            </a:r>
          </a:p>
          <a:p>
            <a:pPr algn="l">
              <a:spcAft>
                <a:spcPts val="300"/>
              </a:spcAft>
            </a:pPr>
            <a:r>
              <a:rPr sz="1150" b="0">
                <a:solidFill>
                  <a:srgbClr val="5B6372"/>
                </a:solidFill>
                <a:latin typeface="Arial"/>
              </a:rPr>
              <a:t>Grid search in-sample, confirm out-of-sample.</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Coding Languages for Algorithms and Signals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K7</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Pine Script v6</a:t>
            </a:r>
          </a:p>
          <a:p>
            <a:pPr algn="l">
              <a:spcAft>
                <a:spcPts val="300"/>
              </a:spcAft>
            </a:pPr>
            <a:r>
              <a:rPr sz="1150" b="0">
                <a:solidFill>
                  <a:srgbClr val="5B6372"/>
                </a:solidFill>
                <a:latin typeface="Arial"/>
              </a:rPr>
              <a:t>//@version=6 · ta.ema · ta.crossover · strategy.entry.</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Python</a:t>
            </a:r>
          </a:p>
          <a:p>
            <a:pPr algn="l">
              <a:spcAft>
                <a:spcPts val="300"/>
              </a:spcAft>
            </a:pPr>
            <a:r>
              <a:rPr sz="1150" b="0">
                <a:solidFill>
                  <a:srgbClr val="5B6372"/>
                </a:solidFill>
                <a:latin typeface="Arial"/>
              </a:rPr>
              <a:t>Signals as pandas Series of +1 / 0 / −1 aligned to bars.</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C++ / Java</a:t>
            </a:r>
          </a:p>
          <a:p>
            <a:pPr algn="l">
              <a:spcAft>
                <a:spcPts val="300"/>
              </a:spcAft>
            </a:pPr>
            <a:r>
              <a:rPr sz="1150" b="0">
                <a:solidFill>
                  <a:srgbClr val="5B6372"/>
                </a:solidFill>
                <a:latin typeface="Arial"/>
              </a:rPr>
              <a:t>Low-latency execution engines and exchange gateways.</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R, SQL, MQL</a:t>
            </a:r>
          </a:p>
          <a:p>
            <a:pPr algn="l">
              <a:spcAft>
                <a:spcPts val="300"/>
              </a:spcAft>
            </a:pPr>
            <a:r>
              <a:rPr sz="1150" b="0">
                <a:solidFill>
                  <a:srgbClr val="5B6372"/>
                </a:solidFill>
                <a:latin typeface="Arial"/>
              </a:rPr>
              <a:t>Statistics, data stores, MetaTrader expert advisors.</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Order Types and Time in Force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K7</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Market and limit</a:t>
            </a:r>
          </a:p>
          <a:p>
            <a:pPr algn="l">
              <a:spcAft>
                <a:spcPts val="300"/>
              </a:spcAft>
            </a:pPr>
            <a:r>
              <a:rPr sz="1150" b="0">
                <a:solidFill>
                  <a:srgbClr val="5B6372"/>
                </a:solidFill>
                <a:latin typeface="Arial"/>
              </a:rPr>
              <a:t>Certainty of fill versus control of price.</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Stop, stop-limit, trailing stop</a:t>
            </a:r>
          </a:p>
          <a:p>
            <a:pPr algn="l">
              <a:spcAft>
                <a:spcPts val="300"/>
              </a:spcAft>
            </a:pPr>
            <a:r>
              <a:rPr sz="1150" b="0">
                <a:solidFill>
                  <a:srgbClr val="5B6372"/>
                </a:solidFill>
                <a:latin typeface="Arial"/>
              </a:rPr>
              <a:t>Trigger on a price; protect or enter on breaks.</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Bracket / OCO / OTO</a:t>
            </a:r>
          </a:p>
          <a:p>
            <a:pPr algn="l">
              <a:spcAft>
                <a:spcPts val="300"/>
              </a:spcAft>
            </a:pPr>
            <a:r>
              <a:rPr sz="1150" b="0">
                <a:solidFill>
                  <a:srgbClr val="5B6372"/>
                </a:solidFill>
                <a:latin typeface="Arial"/>
              </a:rPr>
              <a:t>Entry with attached take-profit and stop-loss.</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day · gtc · opg · cls · ioc · fok</a:t>
            </a:r>
          </a:p>
          <a:p>
            <a:pPr algn="l">
              <a:spcAft>
                <a:spcPts val="300"/>
              </a:spcAft>
            </a:pPr>
            <a:r>
              <a:rPr sz="1150" b="0">
                <a:solidFill>
                  <a:srgbClr val="5B6372"/>
                </a:solidFill>
                <a:latin typeface="Arial"/>
              </a:rPr>
              <a:t>How long an order stays working.</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Performance and Risk Metrics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Return</a:t>
            </a:r>
          </a:p>
          <a:p>
            <a:pPr algn="l">
              <a:spcAft>
                <a:spcPts val="300"/>
              </a:spcAft>
            </a:pPr>
            <a:r>
              <a:rPr sz="1150" b="0">
                <a:solidFill>
                  <a:srgbClr val="5B6372"/>
                </a:solidFill>
                <a:latin typeface="Arial"/>
              </a:rPr>
              <a:t>Total return · CAGR = (end/start)^(1/years) − 1.</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Risk</a:t>
            </a:r>
          </a:p>
          <a:p>
            <a:pPr algn="l">
              <a:spcAft>
                <a:spcPts val="300"/>
              </a:spcAft>
            </a:pPr>
            <a:r>
              <a:rPr sz="1150" b="0">
                <a:solidFill>
                  <a:srgbClr val="5B6372"/>
                </a:solidFill>
                <a:latin typeface="Arial"/>
              </a:rPr>
              <a:t>Volatility = σ(daily) × √252 · maximum drawdown.</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Risk-adjusted</a:t>
            </a:r>
          </a:p>
          <a:p>
            <a:pPr algn="l">
              <a:spcAft>
                <a:spcPts val="300"/>
              </a:spcAft>
            </a:pPr>
            <a:r>
              <a:rPr sz="1150" b="0">
                <a:solidFill>
                  <a:srgbClr val="5B6372"/>
                </a:solidFill>
                <a:latin typeface="Arial"/>
              </a:rPr>
              <a:t>Sharpe · Sortino · Calmar = CAGR / |MaxDD|.</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Trade quality</a:t>
            </a:r>
          </a:p>
          <a:p>
            <a:pPr algn="l">
              <a:spcAft>
                <a:spcPts val="300"/>
              </a:spcAft>
            </a:pPr>
            <a:r>
              <a:rPr sz="1150" b="0">
                <a:solidFill>
                  <a:srgbClr val="5B6372"/>
                </a:solidFill>
                <a:latin typeface="Arial"/>
              </a:rPr>
              <a:t>Win rate · profit factor · expectancy · turnover · exposure.</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 · CLASSIFICATION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Classification of Trading Algorithms by Purpose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sp>
        <p:nvSpPr>
          <p:cNvPr id="10" name="Rectangle 9"/>
          <p:cNvSpPr/>
          <p:nvPr/>
        </p:nvSpPr>
        <p:spPr>
          <a:xfrm>
            <a:off x="2926080" y="1810512"/>
            <a:ext cx="42062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68896" y="1810512"/>
            <a:ext cx="4242816"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26080" y="1810512"/>
            <a:ext cx="4206240" cy="420624"/>
          </a:xfrm>
          <a:prstGeom prst="rect">
            <a:avLst/>
          </a:prstGeom>
          <a:noFill/>
        </p:spPr>
        <p:txBody>
          <a:bodyPr wrap="square" anchor="ctr">
            <a:spAutoFit/>
          </a:bodyPr>
          <a:lstStyle/>
          <a:p>
            <a:pPr algn="ctr">
              <a:spcAft>
                <a:spcPts val="400"/>
              </a:spcAft>
            </a:pPr>
            <a:r>
              <a:rPr sz="1400" b="1">
                <a:solidFill>
                  <a:srgbClr val="FFFFFF"/>
                </a:solidFill>
                <a:latin typeface="Arial"/>
              </a:rPr>
              <a:t>Purpose</a:t>
            </a:r>
          </a:p>
        </p:txBody>
      </p:sp>
      <p:sp>
        <p:nvSpPr>
          <p:cNvPr id="13" name="TextBox 12"/>
          <p:cNvSpPr txBox="1"/>
          <p:nvPr/>
        </p:nvSpPr>
        <p:spPr>
          <a:xfrm>
            <a:off x="7168896" y="1810512"/>
            <a:ext cx="4242816" cy="420624"/>
          </a:xfrm>
          <a:prstGeom prst="rect">
            <a:avLst/>
          </a:prstGeom>
          <a:noFill/>
        </p:spPr>
        <p:txBody>
          <a:bodyPr wrap="square" anchor="ctr">
            <a:spAutoFit/>
          </a:bodyPr>
          <a:lstStyle/>
          <a:p>
            <a:pPr algn="ctr">
              <a:spcAft>
                <a:spcPts val="400"/>
              </a:spcAft>
            </a:pPr>
            <a:r>
              <a:rPr sz="1400" b="1">
                <a:solidFill>
                  <a:srgbClr val="FFFFFF"/>
                </a:solidFill>
                <a:latin typeface="Arial"/>
              </a:rPr>
              <a:t>Examples</a:t>
            </a:r>
          </a:p>
        </p:txBody>
      </p:sp>
      <p:sp>
        <p:nvSpPr>
          <p:cNvPr id="14" name="Rectangle 13"/>
          <p:cNvSpPr/>
          <p:nvPr/>
        </p:nvSpPr>
        <p:spPr>
          <a:xfrm>
            <a:off x="777240" y="2286000"/>
            <a:ext cx="10634472" cy="54080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2286000"/>
            <a:ext cx="1965960" cy="540802"/>
          </a:xfrm>
          <a:prstGeom prst="rect">
            <a:avLst/>
          </a:prstGeom>
          <a:noFill/>
        </p:spPr>
        <p:txBody>
          <a:bodyPr wrap="square" anchor="ctr">
            <a:spAutoFit/>
          </a:bodyPr>
          <a:lstStyle/>
          <a:p>
            <a:pPr algn="l">
              <a:spcAft>
                <a:spcPts val="400"/>
              </a:spcAft>
            </a:pPr>
            <a:r>
              <a:rPr sz="1150" b="1">
                <a:solidFill>
                  <a:srgbClr val="161B26"/>
                </a:solidFill>
                <a:latin typeface="Arial"/>
              </a:rPr>
              <a:t>Execution algorithms</a:t>
            </a:r>
          </a:p>
        </p:txBody>
      </p:sp>
      <p:sp>
        <p:nvSpPr>
          <p:cNvPr id="16" name="TextBox 15"/>
          <p:cNvSpPr txBox="1"/>
          <p:nvPr/>
        </p:nvSpPr>
        <p:spPr>
          <a:xfrm>
            <a:off x="3017520" y="2286000"/>
            <a:ext cx="4014216" cy="540802"/>
          </a:xfrm>
          <a:prstGeom prst="rect">
            <a:avLst/>
          </a:prstGeom>
          <a:noFill/>
        </p:spPr>
        <p:txBody>
          <a:bodyPr wrap="square" anchor="ctr">
            <a:spAutoFit/>
          </a:bodyPr>
          <a:lstStyle/>
          <a:p>
            <a:pPr algn="l">
              <a:spcAft>
                <a:spcPts val="400"/>
              </a:spcAft>
            </a:pPr>
            <a:r>
              <a:rPr sz="1050" b="0">
                <a:solidFill>
                  <a:srgbClr val="161B26"/>
                </a:solidFill>
                <a:latin typeface="Arial"/>
              </a:rPr>
              <a:t>Work a large order at low cost and market impact</a:t>
            </a:r>
          </a:p>
        </p:txBody>
      </p:sp>
      <p:sp>
        <p:nvSpPr>
          <p:cNvPr id="17" name="TextBox 16"/>
          <p:cNvSpPr txBox="1"/>
          <p:nvPr/>
        </p:nvSpPr>
        <p:spPr>
          <a:xfrm>
            <a:off x="7260336" y="2286000"/>
            <a:ext cx="4059936" cy="540802"/>
          </a:xfrm>
          <a:prstGeom prst="rect">
            <a:avLst/>
          </a:prstGeom>
          <a:noFill/>
        </p:spPr>
        <p:txBody>
          <a:bodyPr wrap="square" anchor="ctr">
            <a:spAutoFit/>
          </a:bodyPr>
          <a:lstStyle/>
          <a:p>
            <a:pPr algn="l">
              <a:spcAft>
                <a:spcPts val="400"/>
              </a:spcAft>
            </a:pPr>
            <a:r>
              <a:rPr sz="1050" b="0">
                <a:solidFill>
                  <a:srgbClr val="161B26"/>
                </a:solidFill>
                <a:latin typeface="Arial"/>
              </a:rPr>
              <a:t>VWAP, TWAP, POV, implementation shortfall, iceberg, smart order routing</a:t>
            </a:r>
          </a:p>
        </p:txBody>
      </p:sp>
      <p:sp>
        <p:nvSpPr>
          <p:cNvPr id="18" name="TextBox 17"/>
          <p:cNvSpPr txBox="1"/>
          <p:nvPr/>
        </p:nvSpPr>
        <p:spPr>
          <a:xfrm>
            <a:off x="886968" y="2854234"/>
            <a:ext cx="1965960" cy="540802"/>
          </a:xfrm>
          <a:prstGeom prst="rect">
            <a:avLst/>
          </a:prstGeom>
          <a:noFill/>
        </p:spPr>
        <p:txBody>
          <a:bodyPr wrap="square" anchor="ctr">
            <a:spAutoFit/>
          </a:bodyPr>
          <a:lstStyle/>
          <a:p>
            <a:pPr algn="l">
              <a:spcAft>
                <a:spcPts val="400"/>
              </a:spcAft>
            </a:pPr>
            <a:r>
              <a:rPr sz="1150" b="1">
                <a:solidFill>
                  <a:srgbClr val="161B26"/>
                </a:solidFill>
                <a:latin typeface="Arial"/>
              </a:rPr>
              <a:t>Market making</a:t>
            </a:r>
          </a:p>
        </p:txBody>
      </p:sp>
      <p:sp>
        <p:nvSpPr>
          <p:cNvPr id="19" name="TextBox 18"/>
          <p:cNvSpPr txBox="1"/>
          <p:nvPr/>
        </p:nvSpPr>
        <p:spPr>
          <a:xfrm>
            <a:off x="3017520" y="2854234"/>
            <a:ext cx="4014216" cy="540802"/>
          </a:xfrm>
          <a:prstGeom prst="rect">
            <a:avLst/>
          </a:prstGeom>
          <a:noFill/>
        </p:spPr>
        <p:txBody>
          <a:bodyPr wrap="square" anchor="ctr">
            <a:spAutoFit/>
          </a:bodyPr>
          <a:lstStyle/>
          <a:p>
            <a:pPr algn="l">
              <a:spcAft>
                <a:spcPts val="400"/>
              </a:spcAft>
            </a:pPr>
            <a:r>
              <a:rPr sz="1050" b="0">
                <a:solidFill>
                  <a:srgbClr val="161B26"/>
                </a:solidFill>
                <a:latin typeface="Arial"/>
              </a:rPr>
              <a:t>Quote bids and offers, earn the spread, manage inventory</a:t>
            </a:r>
          </a:p>
        </p:txBody>
      </p:sp>
      <p:sp>
        <p:nvSpPr>
          <p:cNvPr id="20" name="TextBox 19"/>
          <p:cNvSpPr txBox="1"/>
          <p:nvPr/>
        </p:nvSpPr>
        <p:spPr>
          <a:xfrm>
            <a:off x="7260336" y="2854234"/>
            <a:ext cx="4059936" cy="540802"/>
          </a:xfrm>
          <a:prstGeom prst="rect">
            <a:avLst/>
          </a:prstGeom>
          <a:noFill/>
        </p:spPr>
        <p:txBody>
          <a:bodyPr wrap="square" anchor="ctr">
            <a:spAutoFit/>
          </a:bodyPr>
          <a:lstStyle/>
          <a:p>
            <a:pPr algn="l">
              <a:spcAft>
                <a:spcPts val="400"/>
              </a:spcAft>
            </a:pPr>
            <a:r>
              <a:rPr sz="1050" b="0">
                <a:solidFill>
                  <a:srgbClr val="161B26"/>
                </a:solidFill>
                <a:latin typeface="Arial"/>
              </a:rPr>
              <a:t>Passive market making with resting limit orders</a:t>
            </a:r>
          </a:p>
        </p:txBody>
      </p:sp>
      <p:sp>
        <p:nvSpPr>
          <p:cNvPr id="21" name="Rectangle 20"/>
          <p:cNvSpPr/>
          <p:nvPr/>
        </p:nvSpPr>
        <p:spPr>
          <a:xfrm>
            <a:off x="777240" y="3422468"/>
            <a:ext cx="10634472" cy="54080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3422468"/>
            <a:ext cx="1965960" cy="540802"/>
          </a:xfrm>
          <a:prstGeom prst="rect">
            <a:avLst/>
          </a:prstGeom>
          <a:noFill/>
        </p:spPr>
        <p:txBody>
          <a:bodyPr wrap="square" anchor="ctr">
            <a:spAutoFit/>
          </a:bodyPr>
          <a:lstStyle/>
          <a:p>
            <a:pPr algn="l">
              <a:spcAft>
                <a:spcPts val="400"/>
              </a:spcAft>
            </a:pPr>
            <a:r>
              <a:rPr sz="1150" b="1">
                <a:solidFill>
                  <a:srgbClr val="161B26"/>
                </a:solidFill>
                <a:latin typeface="Arial"/>
              </a:rPr>
              <a:t>Arbitrage</a:t>
            </a:r>
          </a:p>
        </p:txBody>
      </p:sp>
      <p:sp>
        <p:nvSpPr>
          <p:cNvPr id="23" name="TextBox 22"/>
          <p:cNvSpPr txBox="1"/>
          <p:nvPr/>
        </p:nvSpPr>
        <p:spPr>
          <a:xfrm>
            <a:off x="3017520" y="3422468"/>
            <a:ext cx="4014216" cy="540802"/>
          </a:xfrm>
          <a:prstGeom prst="rect">
            <a:avLst/>
          </a:prstGeom>
          <a:noFill/>
        </p:spPr>
        <p:txBody>
          <a:bodyPr wrap="square" anchor="ctr">
            <a:spAutoFit/>
          </a:bodyPr>
          <a:lstStyle/>
          <a:p>
            <a:pPr algn="l">
              <a:spcAft>
                <a:spcPts val="400"/>
              </a:spcAft>
            </a:pPr>
            <a:r>
              <a:rPr sz="1050" b="0">
                <a:solidFill>
                  <a:srgbClr val="161B26"/>
                </a:solidFill>
                <a:latin typeface="Arial"/>
              </a:rPr>
              <a:t>Capture mispricing between related products or markets</a:t>
            </a:r>
          </a:p>
        </p:txBody>
      </p:sp>
      <p:sp>
        <p:nvSpPr>
          <p:cNvPr id="24" name="TextBox 23"/>
          <p:cNvSpPr txBox="1"/>
          <p:nvPr/>
        </p:nvSpPr>
        <p:spPr>
          <a:xfrm>
            <a:off x="7260336" y="3422468"/>
            <a:ext cx="4059936" cy="540802"/>
          </a:xfrm>
          <a:prstGeom prst="rect">
            <a:avLst/>
          </a:prstGeom>
          <a:noFill/>
        </p:spPr>
        <p:txBody>
          <a:bodyPr wrap="square" anchor="ctr">
            <a:spAutoFit/>
          </a:bodyPr>
          <a:lstStyle/>
          <a:p>
            <a:pPr algn="l">
              <a:spcAft>
                <a:spcPts val="400"/>
              </a:spcAft>
            </a:pPr>
            <a:r>
              <a:rPr sz="1050" b="0">
                <a:solidFill>
                  <a:srgbClr val="161B26"/>
                </a:solidFill>
                <a:latin typeface="Arial"/>
              </a:rPr>
              <a:t>ETF versus its basket, index futures versus stocks</a:t>
            </a:r>
          </a:p>
        </p:txBody>
      </p:sp>
      <p:sp>
        <p:nvSpPr>
          <p:cNvPr id="25" name="TextBox 24"/>
          <p:cNvSpPr txBox="1"/>
          <p:nvPr/>
        </p:nvSpPr>
        <p:spPr>
          <a:xfrm>
            <a:off x="886968" y="3990702"/>
            <a:ext cx="1965960" cy="540802"/>
          </a:xfrm>
          <a:prstGeom prst="rect">
            <a:avLst/>
          </a:prstGeom>
          <a:noFill/>
        </p:spPr>
        <p:txBody>
          <a:bodyPr wrap="square" anchor="ctr">
            <a:spAutoFit/>
          </a:bodyPr>
          <a:lstStyle/>
          <a:p>
            <a:pPr algn="l">
              <a:spcAft>
                <a:spcPts val="400"/>
              </a:spcAft>
            </a:pPr>
            <a:r>
              <a:rPr sz="1150" b="1">
                <a:solidFill>
                  <a:srgbClr val="161B26"/>
                </a:solidFill>
                <a:latin typeface="Arial"/>
              </a:rPr>
              <a:t>Directional / alpha</a:t>
            </a:r>
          </a:p>
        </p:txBody>
      </p:sp>
      <p:sp>
        <p:nvSpPr>
          <p:cNvPr id="26" name="TextBox 25"/>
          <p:cNvSpPr txBox="1"/>
          <p:nvPr/>
        </p:nvSpPr>
        <p:spPr>
          <a:xfrm>
            <a:off x="3017520" y="3990702"/>
            <a:ext cx="4014216" cy="540802"/>
          </a:xfrm>
          <a:prstGeom prst="rect">
            <a:avLst/>
          </a:prstGeom>
          <a:noFill/>
        </p:spPr>
        <p:txBody>
          <a:bodyPr wrap="square" anchor="ctr">
            <a:spAutoFit/>
          </a:bodyPr>
          <a:lstStyle/>
          <a:p>
            <a:pPr algn="l">
              <a:spcAft>
                <a:spcPts val="400"/>
              </a:spcAft>
            </a:pPr>
            <a:r>
              <a:rPr sz="1050" b="0">
                <a:solidFill>
                  <a:srgbClr val="161B26"/>
                </a:solidFill>
                <a:latin typeface="Arial"/>
              </a:rPr>
              <a:t>Take a view on the direction of price</a:t>
            </a:r>
          </a:p>
        </p:txBody>
      </p:sp>
      <p:sp>
        <p:nvSpPr>
          <p:cNvPr id="27" name="TextBox 26"/>
          <p:cNvSpPr txBox="1"/>
          <p:nvPr/>
        </p:nvSpPr>
        <p:spPr>
          <a:xfrm>
            <a:off x="7260336" y="3990702"/>
            <a:ext cx="4059936" cy="540802"/>
          </a:xfrm>
          <a:prstGeom prst="rect">
            <a:avLst/>
          </a:prstGeom>
          <a:noFill/>
        </p:spPr>
        <p:txBody>
          <a:bodyPr wrap="square" anchor="ctr">
            <a:spAutoFit/>
          </a:bodyPr>
          <a:lstStyle/>
          <a:p>
            <a:pPr algn="l">
              <a:spcAft>
                <a:spcPts val="400"/>
              </a:spcAft>
            </a:pPr>
            <a:r>
              <a:rPr sz="1050" b="0">
                <a:solidFill>
                  <a:srgbClr val="161B26"/>
                </a:solidFill>
                <a:latin typeface="Arial"/>
              </a:rPr>
              <a:t>Trend following, momentum, breakout, mean reversion, news</a:t>
            </a:r>
          </a:p>
        </p:txBody>
      </p:sp>
      <p:sp>
        <p:nvSpPr>
          <p:cNvPr id="28" name="Rectangle 27"/>
          <p:cNvSpPr/>
          <p:nvPr/>
        </p:nvSpPr>
        <p:spPr>
          <a:xfrm>
            <a:off x="777240" y="4558937"/>
            <a:ext cx="10634472" cy="54080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6968" y="4558937"/>
            <a:ext cx="1965960" cy="540802"/>
          </a:xfrm>
          <a:prstGeom prst="rect">
            <a:avLst/>
          </a:prstGeom>
          <a:noFill/>
        </p:spPr>
        <p:txBody>
          <a:bodyPr wrap="square" anchor="ctr">
            <a:spAutoFit/>
          </a:bodyPr>
          <a:lstStyle/>
          <a:p>
            <a:pPr algn="l">
              <a:spcAft>
                <a:spcPts val="400"/>
              </a:spcAft>
            </a:pPr>
            <a:r>
              <a:rPr sz="1150" b="1">
                <a:solidFill>
                  <a:srgbClr val="161B26"/>
                </a:solidFill>
                <a:latin typeface="Arial"/>
              </a:rPr>
              <a:t>Statistical arbitrage and pairs</a:t>
            </a:r>
          </a:p>
        </p:txBody>
      </p:sp>
      <p:sp>
        <p:nvSpPr>
          <p:cNvPr id="30" name="TextBox 29"/>
          <p:cNvSpPr txBox="1"/>
          <p:nvPr/>
        </p:nvSpPr>
        <p:spPr>
          <a:xfrm>
            <a:off x="3017520" y="4558937"/>
            <a:ext cx="4014216" cy="540802"/>
          </a:xfrm>
          <a:prstGeom prst="rect">
            <a:avLst/>
          </a:prstGeom>
          <a:noFill/>
        </p:spPr>
        <p:txBody>
          <a:bodyPr wrap="square" anchor="ctr">
            <a:spAutoFit/>
          </a:bodyPr>
          <a:lstStyle/>
          <a:p>
            <a:pPr algn="l">
              <a:spcAft>
                <a:spcPts val="400"/>
              </a:spcAft>
            </a:pPr>
            <a:r>
              <a:rPr sz="1050" b="0">
                <a:solidFill>
                  <a:srgbClr val="161B26"/>
                </a:solidFill>
                <a:latin typeface="Arial"/>
              </a:rPr>
              <a:t>Hedged: long one asset, short a related one; trade the spread</a:t>
            </a:r>
          </a:p>
        </p:txBody>
      </p:sp>
      <p:sp>
        <p:nvSpPr>
          <p:cNvPr id="31" name="TextBox 30"/>
          <p:cNvSpPr txBox="1"/>
          <p:nvPr/>
        </p:nvSpPr>
        <p:spPr>
          <a:xfrm>
            <a:off x="7260336" y="4558937"/>
            <a:ext cx="4059936" cy="540802"/>
          </a:xfrm>
          <a:prstGeom prst="rect">
            <a:avLst/>
          </a:prstGeom>
          <a:noFill/>
        </p:spPr>
        <p:txBody>
          <a:bodyPr wrap="square" anchor="ctr">
            <a:spAutoFit/>
          </a:bodyPr>
          <a:lstStyle/>
          <a:p>
            <a:pPr algn="l">
              <a:spcAft>
                <a:spcPts val="400"/>
              </a:spcAft>
            </a:pPr>
            <a:r>
              <a:rPr sz="1050" b="0">
                <a:solidFill>
                  <a:srgbClr val="161B26"/>
                </a:solidFill>
                <a:latin typeface="Arial"/>
              </a:rPr>
              <a:t>Pairs trading, cointegration, market-neutral baskets</a:t>
            </a:r>
          </a:p>
        </p:txBody>
      </p:sp>
      <p:sp>
        <p:nvSpPr>
          <p:cNvPr id="32" name="TextBox 31"/>
          <p:cNvSpPr txBox="1"/>
          <p:nvPr/>
        </p:nvSpPr>
        <p:spPr>
          <a:xfrm>
            <a:off x="886968" y="5127171"/>
            <a:ext cx="1965960" cy="540802"/>
          </a:xfrm>
          <a:prstGeom prst="rect">
            <a:avLst/>
          </a:prstGeom>
          <a:noFill/>
        </p:spPr>
        <p:txBody>
          <a:bodyPr wrap="square" anchor="ctr">
            <a:spAutoFit/>
          </a:bodyPr>
          <a:lstStyle/>
          <a:p>
            <a:pPr algn="l">
              <a:spcAft>
                <a:spcPts val="400"/>
              </a:spcAft>
            </a:pPr>
            <a:r>
              <a:rPr sz="1150" b="1">
                <a:solidFill>
                  <a:srgbClr val="161B26"/>
                </a:solidFill>
                <a:latin typeface="Arial"/>
              </a:rPr>
              <a:t>Factor and portfolio</a:t>
            </a:r>
          </a:p>
        </p:txBody>
      </p:sp>
      <p:sp>
        <p:nvSpPr>
          <p:cNvPr id="33" name="TextBox 32"/>
          <p:cNvSpPr txBox="1"/>
          <p:nvPr/>
        </p:nvSpPr>
        <p:spPr>
          <a:xfrm>
            <a:off x="3017520" y="5127171"/>
            <a:ext cx="4014216" cy="540802"/>
          </a:xfrm>
          <a:prstGeom prst="rect">
            <a:avLst/>
          </a:prstGeom>
          <a:noFill/>
        </p:spPr>
        <p:txBody>
          <a:bodyPr wrap="square" anchor="ctr">
            <a:spAutoFit/>
          </a:bodyPr>
          <a:lstStyle/>
          <a:p>
            <a:pPr algn="l">
              <a:spcAft>
                <a:spcPts val="400"/>
              </a:spcAft>
            </a:pPr>
            <a:r>
              <a:rPr sz="1050" b="0">
                <a:solidFill>
                  <a:srgbClr val="161B26"/>
                </a:solidFill>
                <a:latin typeface="Arial"/>
              </a:rPr>
              <a:t>Build and rebalance portfolios from return drivers and risk</a:t>
            </a:r>
          </a:p>
        </p:txBody>
      </p:sp>
      <p:sp>
        <p:nvSpPr>
          <p:cNvPr id="34" name="TextBox 33"/>
          <p:cNvSpPr txBox="1"/>
          <p:nvPr/>
        </p:nvSpPr>
        <p:spPr>
          <a:xfrm>
            <a:off x="7260336" y="5127171"/>
            <a:ext cx="4059936" cy="540802"/>
          </a:xfrm>
          <a:prstGeom prst="rect">
            <a:avLst/>
          </a:prstGeom>
          <a:noFill/>
        </p:spPr>
        <p:txBody>
          <a:bodyPr wrap="square" anchor="ctr">
            <a:spAutoFit/>
          </a:bodyPr>
          <a:lstStyle/>
          <a:p>
            <a:pPr algn="l">
              <a:spcAft>
                <a:spcPts val="400"/>
              </a:spcAft>
            </a:pPr>
            <a:r>
              <a:rPr sz="1050" b="0">
                <a:solidFill>
                  <a:srgbClr val="161B26"/>
                </a:solidFill>
                <a:latin typeface="Arial"/>
              </a:rPr>
              <a:t>Value, momentum, size factors; mean-variance optimisation</a:t>
            </a:r>
          </a:p>
        </p:txBody>
      </p:sp>
      <p:sp>
        <p:nvSpPr>
          <p:cNvPr id="35" name="Rectangle 34"/>
          <p:cNvSpPr/>
          <p:nvPr/>
        </p:nvSpPr>
        <p:spPr>
          <a:xfrm>
            <a:off x="777240" y="5695405"/>
            <a:ext cx="10634472" cy="54080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6968" y="5695405"/>
            <a:ext cx="1965960" cy="540802"/>
          </a:xfrm>
          <a:prstGeom prst="rect">
            <a:avLst/>
          </a:prstGeom>
          <a:noFill/>
        </p:spPr>
        <p:txBody>
          <a:bodyPr wrap="square" anchor="ctr">
            <a:spAutoFit/>
          </a:bodyPr>
          <a:lstStyle/>
          <a:p>
            <a:pPr algn="l">
              <a:spcAft>
                <a:spcPts val="400"/>
              </a:spcAft>
            </a:pPr>
            <a:r>
              <a:rPr sz="1150" b="1">
                <a:solidFill>
                  <a:srgbClr val="161B26"/>
                </a:solidFill>
                <a:latin typeface="Arial"/>
              </a:rPr>
              <a:t>Hedging and risk</a:t>
            </a:r>
          </a:p>
        </p:txBody>
      </p:sp>
      <p:sp>
        <p:nvSpPr>
          <p:cNvPr id="37" name="TextBox 36"/>
          <p:cNvSpPr txBox="1"/>
          <p:nvPr/>
        </p:nvSpPr>
        <p:spPr>
          <a:xfrm>
            <a:off x="3017520" y="5695405"/>
            <a:ext cx="4014216" cy="540802"/>
          </a:xfrm>
          <a:prstGeom prst="rect">
            <a:avLst/>
          </a:prstGeom>
          <a:noFill/>
        </p:spPr>
        <p:txBody>
          <a:bodyPr wrap="square" anchor="ctr">
            <a:spAutoFit/>
          </a:bodyPr>
          <a:lstStyle/>
          <a:p>
            <a:pPr algn="l">
              <a:spcAft>
                <a:spcPts val="400"/>
              </a:spcAft>
            </a:pPr>
            <a:r>
              <a:rPr sz="1050" b="0">
                <a:solidFill>
                  <a:srgbClr val="161B26"/>
                </a:solidFill>
                <a:latin typeface="Arial"/>
              </a:rPr>
              <a:t>Offset unwanted exposure and enforce limits</a:t>
            </a:r>
          </a:p>
        </p:txBody>
      </p:sp>
      <p:sp>
        <p:nvSpPr>
          <p:cNvPr id="38" name="TextBox 37"/>
          <p:cNvSpPr txBox="1"/>
          <p:nvPr/>
        </p:nvSpPr>
        <p:spPr>
          <a:xfrm>
            <a:off x="7260336" y="5695405"/>
            <a:ext cx="4059936" cy="540802"/>
          </a:xfrm>
          <a:prstGeom prst="rect">
            <a:avLst/>
          </a:prstGeom>
          <a:noFill/>
        </p:spPr>
        <p:txBody>
          <a:bodyPr wrap="square" anchor="ctr">
            <a:spAutoFit/>
          </a:bodyPr>
          <a:lstStyle/>
          <a:p>
            <a:pPr algn="l">
              <a:spcAft>
                <a:spcPts val="400"/>
              </a:spcAft>
            </a:pPr>
            <a:r>
              <a:rPr sz="1050" b="0">
                <a:solidFill>
                  <a:srgbClr val="161B26"/>
                </a:solidFill>
                <a:latin typeface="Arial"/>
              </a:rPr>
              <a:t>Delta hedging, beta hedging, pairs hedge, kill switch</a:t>
            </a:r>
          </a:p>
        </p:txBody>
      </p:sp>
      <p:sp>
        <p:nvSpPr>
          <p:cNvPr id="39" name="TextBox 3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0" name="TextBox 3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1" name="TextBox 4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 · CLASSIFICATION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SEC Classification of High-Frequency Strategies (2010)</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450" b="1">
                <a:solidFill>
                  <a:srgbClr val="161B26"/>
                </a:solidFill>
                <a:latin typeface="Arial"/>
              </a:rPr>
              <a:t>Passive market making</a:t>
            </a:r>
          </a:p>
          <a:p>
            <a:pPr algn="l">
              <a:spcAft>
                <a:spcPts val="300"/>
              </a:spcAft>
            </a:pPr>
            <a:r>
              <a:rPr sz="1050" b="0">
                <a:solidFill>
                  <a:srgbClr val="5B6372"/>
                </a:solidFill>
                <a:latin typeface="Arial"/>
              </a:rPr>
              <a:t>Submits non-marketable resting bids and offers that provide liquidity at specified prices</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450" b="1">
                <a:solidFill>
                  <a:srgbClr val="161B26"/>
                </a:solidFill>
                <a:latin typeface="Arial"/>
              </a:rPr>
              <a:t>Arbitrage</a:t>
            </a:r>
          </a:p>
          <a:p>
            <a:pPr algn="l">
              <a:spcAft>
                <a:spcPts val="300"/>
              </a:spcAft>
            </a:pPr>
            <a:r>
              <a:rPr sz="1050" b="0">
                <a:solidFill>
                  <a:srgbClr val="5B6372"/>
                </a:solidFill>
                <a:latin typeface="Arial"/>
              </a:rPr>
              <a:t>Captures pricing inefficiencies between related products or markets, e.g. an ETF and its basket</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450" b="1">
                <a:solidFill>
                  <a:srgbClr val="161B26"/>
                </a:solidFill>
                <a:latin typeface="Arial"/>
              </a:rPr>
              <a:t>Structural</a:t>
            </a:r>
          </a:p>
          <a:p>
            <a:pPr algn="l">
              <a:spcAft>
                <a:spcPts val="300"/>
              </a:spcAft>
            </a:pPr>
            <a:r>
              <a:rPr sz="1050" b="0">
                <a:solidFill>
                  <a:srgbClr val="5B6372"/>
                </a:solidFill>
                <a:latin typeface="Arial"/>
              </a:rPr>
              <a:t>Exploits structural vulnerabilities in the market or its participants, e.g. stale quotes via faster data</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450" b="1">
                <a:solidFill>
                  <a:srgbClr val="161B26"/>
                </a:solidFill>
                <a:latin typeface="Arial"/>
              </a:rPr>
              <a:t>Directional</a:t>
            </a:r>
          </a:p>
          <a:p>
            <a:pPr algn="l">
              <a:spcAft>
                <a:spcPts val="300"/>
              </a:spcAft>
            </a:pPr>
            <a:r>
              <a:rPr sz="1050" b="0">
                <a:solidFill>
                  <a:srgbClr val="5B6372"/>
                </a:solidFill>
                <a:latin typeface="Arial"/>
              </a:rPr>
              <a:t>Takes a short-term position anticipating an intraday price move in a particular direction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 · CLASSIFICATION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Classification by Holding Period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sp>
        <p:nvSpPr>
          <p:cNvPr id="10" name="Rectangle 9"/>
          <p:cNvSpPr/>
          <p:nvPr/>
        </p:nvSpPr>
        <p:spPr>
          <a:xfrm>
            <a:off x="2926080" y="1810512"/>
            <a:ext cx="42062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68896" y="1810512"/>
            <a:ext cx="4242816"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26080" y="1810512"/>
            <a:ext cx="4206240" cy="420624"/>
          </a:xfrm>
          <a:prstGeom prst="rect">
            <a:avLst/>
          </a:prstGeom>
          <a:noFill/>
        </p:spPr>
        <p:txBody>
          <a:bodyPr wrap="square" anchor="ctr">
            <a:spAutoFit/>
          </a:bodyPr>
          <a:lstStyle/>
          <a:p>
            <a:pPr algn="ctr">
              <a:spcAft>
                <a:spcPts val="400"/>
              </a:spcAft>
            </a:pPr>
            <a:r>
              <a:rPr sz="1400" b="1">
                <a:solidFill>
                  <a:srgbClr val="FFFFFF"/>
                </a:solidFill>
                <a:latin typeface="Arial"/>
              </a:rPr>
              <a:t>Horizon</a:t>
            </a:r>
          </a:p>
        </p:txBody>
      </p:sp>
      <p:sp>
        <p:nvSpPr>
          <p:cNvPr id="13" name="TextBox 12"/>
          <p:cNvSpPr txBox="1"/>
          <p:nvPr/>
        </p:nvSpPr>
        <p:spPr>
          <a:xfrm>
            <a:off x="7168896" y="1810512"/>
            <a:ext cx="4242816" cy="420624"/>
          </a:xfrm>
          <a:prstGeom prst="rect">
            <a:avLst/>
          </a:prstGeom>
          <a:noFill/>
        </p:spPr>
        <p:txBody>
          <a:bodyPr wrap="square" anchor="ctr">
            <a:spAutoFit/>
          </a:bodyPr>
          <a:lstStyle/>
          <a:p>
            <a:pPr algn="ctr">
              <a:spcAft>
                <a:spcPts val="400"/>
              </a:spcAft>
            </a:pPr>
            <a:r>
              <a:rPr sz="1400" b="1">
                <a:solidFill>
                  <a:srgbClr val="FFFFFF"/>
                </a:solidFill>
                <a:latin typeface="Arial"/>
              </a:rPr>
              <a:t>Typical algorithms</a:t>
            </a:r>
          </a:p>
        </p:txBody>
      </p:sp>
      <p:sp>
        <p:nvSpPr>
          <p:cNvPr id="14" name="Rectangle 13"/>
          <p:cNvSpPr/>
          <p:nvPr/>
        </p:nvSpPr>
        <p:spPr>
          <a:xfrm>
            <a:off x="777240" y="2286000"/>
            <a:ext cx="10634472" cy="96697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2286000"/>
            <a:ext cx="1965960" cy="966977"/>
          </a:xfrm>
          <a:prstGeom prst="rect">
            <a:avLst/>
          </a:prstGeom>
          <a:noFill/>
        </p:spPr>
        <p:txBody>
          <a:bodyPr wrap="square" anchor="ctr">
            <a:spAutoFit/>
          </a:bodyPr>
          <a:lstStyle/>
          <a:p>
            <a:pPr algn="l">
              <a:spcAft>
                <a:spcPts val="400"/>
              </a:spcAft>
            </a:pPr>
            <a:r>
              <a:rPr sz="1150" b="1">
                <a:solidFill>
                  <a:srgbClr val="161B26"/>
                </a:solidFill>
                <a:latin typeface="Arial"/>
              </a:rPr>
              <a:t>High-frequency</a:t>
            </a:r>
          </a:p>
        </p:txBody>
      </p:sp>
      <p:sp>
        <p:nvSpPr>
          <p:cNvPr id="16" name="TextBox 15"/>
          <p:cNvSpPr txBox="1"/>
          <p:nvPr/>
        </p:nvSpPr>
        <p:spPr>
          <a:xfrm>
            <a:off x="3017520" y="2286000"/>
            <a:ext cx="4014216" cy="966977"/>
          </a:xfrm>
          <a:prstGeom prst="rect">
            <a:avLst/>
          </a:prstGeom>
          <a:noFill/>
        </p:spPr>
        <p:txBody>
          <a:bodyPr wrap="square" anchor="ctr">
            <a:spAutoFit/>
          </a:bodyPr>
          <a:lstStyle/>
          <a:p>
            <a:pPr algn="l">
              <a:spcAft>
                <a:spcPts val="400"/>
              </a:spcAft>
            </a:pPr>
            <a:r>
              <a:rPr sz="1050" b="0">
                <a:solidFill>
                  <a:srgbClr val="161B26"/>
                </a:solidFill>
                <a:latin typeface="Arial"/>
              </a:rPr>
              <a:t>Microseconds to seconds</a:t>
            </a:r>
          </a:p>
        </p:txBody>
      </p:sp>
      <p:sp>
        <p:nvSpPr>
          <p:cNvPr id="17" name="TextBox 16"/>
          <p:cNvSpPr txBox="1"/>
          <p:nvPr/>
        </p:nvSpPr>
        <p:spPr>
          <a:xfrm>
            <a:off x="7260336" y="2286000"/>
            <a:ext cx="4059936" cy="966977"/>
          </a:xfrm>
          <a:prstGeom prst="rect">
            <a:avLst/>
          </a:prstGeom>
          <a:noFill/>
        </p:spPr>
        <p:txBody>
          <a:bodyPr wrap="square" anchor="ctr">
            <a:spAutoFit/>
          </a:bodyPr>
          <a:lstStyle/>
          <a:p>
            <a:pPr algn="l">
              <a:spcAft>
                <a:spcPts val="400"/>
              </a:spcAft>
            </a:pPr>
            <a:r>
              <a:rPr sz="1050" b="0">
                <a:solidFill>
                  <a:srgbClr val="161B26"/>
                </a:solidFill>
                <a:latin typeface="Arial"/>
              </a:rPr>
              <a:t>Market making, ETF and latency arbitrage</a:t>
            </a:r>
          </a:p>
        </p:txBody>
      </p:sp>
      <p:sp>
        <p:nvSpPr>
          <p:cNvPr id="18" name="TextBox 17"/>
          <p:cNvSpPr txBox="1"/>
          <p:nvPr/>
        </p:nvSpPr>
        <p:spPr>
          <a:xfrm>
            <a:off x="886968" y="3280410"/>
            <a:ext cx="1965960" cy="966977"/>
          </a:xfrm>
          <a:prstGeom prst="rect">
            <a:avLst/>
          </a:prstGeom>
          <a:noFill/>
        </p:spPr>
        <p:txBody>
          <a:bodyPr wrap="square" anchor="ctr">
            <a:spAutoFit/>
          </a:bodyPr>
          <a:lstStyle/>
          <a:p>
            <a:pPr algn="l">
              <a:spcAft>
                <a:spcPts val="400"/>
              </a:spcAft>
            </a:pPr>
            <a:r>
              <a:rPr sz="1150" b="1">
                <a:solidFill>
                  <a:srgbClr val="161B26"/>
                </a:solidFill>
                <a:latin typeface="Arial"/>
              </a:rPr>
              <a:t>Intraday</a:t>
            </a:r>
          </a:p>
        </p:txBody>
      </p:sp>
      <p:sp>
        <p:nvSpPr>
          <p:cNvPr id="19" name="TextBox 18"/>
          <p:cNvSpPr txBox="1"/>
          <p:nvPr/>
        </p:nvSpPr>
        <p:spPr>
          <a:xfrm>
            <a:off x="3017520" y="3280410"/>
            <a:ext cx="4014216" cy="966977"/>
          </a:xfrm>
          <a:prstGeom prst="rect">
            <a:avLst/>
          </a:prstGeom>
          <a:noFill/>
        </p:spPr>
        <p:txBody>
          <a:bodyPr wrap="square" anchor="ctr">
            <a:spAutoFit/>
          </a:bodyPr>
          <a:lstStyle/>
          <a:p>
            <a:pPr algn="l">
              <a:spcAft>
                <a:spcPts val="400"/>
              </a:spcAft>
            </a:pPr>
            <a:r>
              <a:rPr sz="1050" b="0">
                <a:solidFill>
                  <a:srgbClr val="161B26"/>
                </a:solidFill>
                <a:latin typeface="Arial"/>
              </a:rPr>
              <a:t>Minutes to hours</a:t>
            </a:r>
          </a:p>
        </p:txBody>
      </p:sp>
      <p:sp>
        <p:nvSpPr>
          <p:cNvPr id="20" name="TextBox 19"/>
          <p:cNvSpPr txBox="1"/>
          <p:nvPr/>
        </p:nvSpPr>
        <p:spPr>
          <a:xfrm>
            <a:off x="7260336" y="3280410"/>
            <a:ext cx="4059936" cy="966977"/>
          </a:xfrm>
          <a:prstGeom prst="rect">
            <a:avLst/>
          </a:prstGeom>
          <a:noFill/>
        </p:spPr>
        <p:txBody>
          <a:bodyPr wrap="square" anchor="ctr">
            <a:spAutoFit/>
          </a:bodyPr>
          <a:lstStyle/>
          <a:p>
            <a:pPr algn="l">
              <a:spcAft>
                <a:spcPts val="400"/>
              </a:spcAft>
            </a:pPr>
            <a:r>
              <a:rPr sz="1050" b="0">
                <a:solidFill>
                  <a:srgbClr val="161B26"/>
                </a:solidFill>
                <a:latin typeface="Arial"/>
              </a:rPr>
              <a:t>VWAP / TWAP execution, intraday momentum</a:t>
            </a:r>
          </a:p>
        </p:txBody>
      </p:sp>
      <p:sp>
        <p:nvSpPr>
          <p:cNvPr id="21" name="Rectangle 20"/>
          <p:cNvSpPr/>
          <p:nvPr/>
        </p:nvSpPr>
        <p:spPr>
          <a:xfrm>
            <a:off x="777240" y="4274820"/>
            <a:ext cx="10634472" cy="96697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4274820"/>
            <a:ext cx="1965960" cy="966977"/>
          </a:xfrm>
          <a:prstGeom prst="rect">
            <a:avLst/>
          </a:prstGeom>
          <a:noFill/>
        </p:spPr>
        <p:txBody>
          <a:bodyPr wrap="square" anchor="ctr">
            <a:spAutoFit/>
          </a:bodyPr>
          <a:lstStyle/>
          <a:p>
            <a:pPr algn="l">
              <a:spcAft>
                <a:spcPts val="400"/>
              </a:spcAft>
            </a:pPr>
            <a:r>
              <a:rPr sz="1150" b="1">
                <a:solidFill>
                  <a:srgbClr val="161B26"/>
                </a:solidFill>
                <a:latin typeface="Arial"/>
              </a:rPr>
              <a:t>Swing</a:t>
            </a:r>
          </a:p>
        </p:txBody>
      </p:sp>
      <p:sp>
        <p:nvSpPr>
          <p:cNvPr id="23" name="TextBox 22"/>
          <p:cNvSpPr txBox="1"/>
          <p:nvPr/>
        </p:nvSpPr>
        <p:spPr>
          <a:xfrm>
            <a:off x="3017520" y="4274820"/>
            <a:ext cx="4014216" cy="966977"/>
          </a:xfrm>
          <a:prstGeom prst="rect">
            <a:avLst/>
          </a:prstGeom>
          <a:noFill/>
        </p:spPr>
        <p:txBody>
          <a:bodyPr wrap="square" anchor="ctr">
            <a:spAutoFit/>
          </a:bodyPr>
          <a:lstStyle/>
          <a:p>
            <a:pPr algn="l">
              <a:spcAft>
                <a:spcPts val="400"/>
              </a:spcAft>
            </a:pPr>
            <a:r>
              <a:rPr sz="1050" b="0">
                <a:solidFill>
                  <a:srgbClr val="161B26"/>
                </a:solidFill>
                <a:latin typeface="Arial"/>
              </a:rPr>
              <a:t>Days to weeks</a:t>
            </a:r>
          </a:p>
        </p:txBody>
      </p:sp>
      <p:sp>
        <p:nvSpPr>
          <p:cNvPr id="24" name="TextBox 23"/>
          <p:cNvSpPr txBox="1"/>
          <p:nvPr/>
        </p:nvSpPr>
        <p:spPr>
          <a:xfrm>
            <a:off x="7260336" y="4274820"/>
            <a:ext cx="4059936" cy="966977"/>
          </a:xfrm>
          <a:prstGeom prst="rect">
            <a:avLst/>
          </a:prstGeom>
          <a:noFill/>
        </p:spPr>
        <p:txBody>
          <a:bodyPr wrap="square" anchor="ctr">
            <a:spAutoFit/>
          </a:bodyPr>
          <a:lstStyle/>
          <a:p>
            <a:pPr algn="l">
              <a:spcAft>
                <a:spcPts val="400"/>
              </a:spcAft>
            </a:pPr>
            <a:r>
              <a:rPr sz="1050" b="0">
                <a:solidFill>
                  <a:srgbClr val="161B26"/>
                </a:solidFill>
                <a:latin typeface="Arial"/>
              </a:rPr>
              <a:t>Mean reversion, pairs trading</a:t>
            </a:r>
          </a:p>
        </p:txBody>
      </p:sp>
      <p:sp>
        <p:nvSpPr>
          <p:cNvPr id="25" name="TextBox 24"/>
          <p:cNvSpPr txBox="1"/>
          <p:nvPr/>
        </p:nvSpPr>
        <p:spPr>
          <a:xfrm>
            <a:off x="886968" y="5269229"/>
            <a:ext cx="1965960" cy="966977"/>
          </a:xfrm>
          <a:prstGeom prst="rect">
            <a:avLst/>
          </a:prstGeom>
          <a:noFill/>
        </p:spPr>
        <p:txBody>
          <a:bodyPr wrap="square" anchor="ctr">
            <a:spAutoFit/>
          </a:bodyPr>
          <a:lstStyle/>
          <a:p>
            <a:pPr algn="l">
              <a:spcAft>
                <a:spcPts val="400"/>
              </a:spcAft>
            </a:pPr>
            <a:r>
              <a:rPr sz="1150" b="1">
                <a:solidFill>
                  <a:srgbClr val="161B26"/>
                </a:solidFill>
                <a:latin typeface="Arial"/>
              </a:rPr>
              <a:t>Position</a:t>
            </a:r>
          </a:p>
        </p:txBody>
      </p:sp>
      <p:sp>
        <p:nvSpPr>
          <p:cNvPr id="26" name="TextBox 25"/>
          <p:cNvSpPr txBox="1"/>
          <p:nvPr/>
        </p:nvSpPr>
        <p:spPr>
          <a:xfrm>
            <a:off x="3017520" y="5269229"/>
            <a:ext cx="4014216" cy="966977"/>
          </a:xfrm>
          <a:prstGeom prst="rect">
            <a:avLst/>
          </a:prstGeom>
          <a:noFill/>
        </p:spPr>
        <p:txBody>
          <a:bodyPr wrap="square" anchor="ctr">
            <a:spAutoFit/>
          </a:bodyPr>
          <a:lstStyle/>
          <a:p>
            <a:pPr algn="l">
              <a:spcAft>
                <a:spcPts val="400"/>
              </a:spcAft>
            </a:pPr>
            <a:r>
              <a:rPr sz="1050" b="0">
                <a:solidFill>
                  <a:srgbClr val="161B26"/>
                </a:solidFill>
                <a:latin typeface="Arial"/>
              </a:rPr>
              <a:t>Weeks to months</a:t>
            </a:r>
          </a:p>
        </p:txBody>
      </p:sp>
      <p:sp>
        <p:nvSpPr>
          <p:cNvPr id="27" name="TextBox 26"/>
          <p:cNvSpPr txBox="1"/>
          <p:nvPr/>
        </p:nvSpPr>
        <p:spPr>
          <a:xfrm>
            <a:off x="7260336" y="5269229"/>
            <a:ext cx="4059936" cy="966977"/>
          </a:xfrm>
          <a:prstGeom prst="rect">
            <a:avLst/>
          </a:prstGeom>
          <a:noFill/>
        </p:spPr>
        <p:txBody>
          <a:bodyPr wrap="square" anchor="ctr">
            <a:spAutoFit/>
          </a:bodyPr>
          <a:lstStyle/>
          <a:p>
            <a:pPr algn="l">
              <a:spcAft>
                <a:spcPts val="400"/>
              </a:spcAft>
            </a:pPr>
            <a:r>
              <a:rPr sz="1050" b="0">
                <a:solidFill>
                  <a:srgbClr val="161B26"/>
                </a:solidFill>
                <a:latin typeface="Arial"/>
              </a:rPr>
              <a:t>Trend following, factor portfolios</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 · CLASSIFICATION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Classification by Model Type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sp>
        <p:nvSpPr>
          <p:cNvPr id="10" name="Rectangle 9"/>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9427464" cy="501091"/>
          </a:xfrm>
          <a:prstGeom prst="rect">
            <a:avLst/>
          </a:prstGeom>
          <a:noFill/>
        </p:spPr>
        <p:txBody>
          <a:bodyPr wrap="square" anchor="ctr">
            <a:spAutoFit/>
          </a:bodyPr>
          <a:lstStyle/>
          <a:p>
            <a:pPr algn="l">
              <a:spcAft>
                <a:spcPts val="300"/>
              </a:spcAft>
            </a:pPr>
            <a:r>
              <a:rPr sz="1450" b="1">
                <a:solidFill>
                  <a:srgbClr val="161B26"/>
                </a:solidFill>
                <a:latin typeface="Arial"/>
              </a:rPr>
              <a:t>Rule-based</a:t>
            </a:r>
          </a:p>
          <a:p>
            <a:pPr algn="l">
              <a:spcAft>
                <a:spcPts val="300"/>
              </a:spcAft>
            </a:pPr>
            <a:r>
              <a:rPr sz="1050" b="0">
                <a:solidFill>
                  <a:srgbClr val="5B6372"/>
                </a:solidFill>
                <a:latin typeface="Arial"/>
              </a:rPr>
              <a:t>Fixed if-then rules on indicators, e.g. a moving-average crossover</a:t>
            </a:r>
          </a:p>
        </p:txBody>
      </p:sp>
      <p:sp>
        <p:nvSpPr>
          <p:cNvPr id="15" name="Rectangle 14"/>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1764792" y="2832811"/>
            <a:ext cx="9427464" cy="501091"/>
          </a:xfrm>
          <a:prstGeom prst="rect">
            <a:avLst/>
          </a:prstGeom>
          <a:noFill/>
        </p:spPr>
        <p:txBody>
          <a:bodyPr wrap="square" anchor="ctr">
            <a:spAutoFit/>
          </a:bodyPr>
          <a:lstStyle/>
          <a:p>
            <a:pPr algn="l">
              <a:spcAft>
                <a:spcPts val="300"/>
              </a:spcAft>
            </a:pPr>
            <a:r>
              <a:rPr sz="1450" b="1">
                <a:solidFill>
                  <a:srgbClr val="161B26"/>
                </a:solidFill>
                <a:latin typeface="Arial"/>
              </a:rPr>
              <a:t>Statistical</a:t>
            </a:r>
          </a:p>
          <a:p>
            <a:pPr algn="l">
              <a:spcAft>
                <a:spcPts val="300"/>
              </a:spcAft>
            </a:pPr>
            <a:r>
              <a:rPr sz="1050" b="0">
                <a:solidFill>
                  <a:srgbClr val="5B6372"/>
                </a:solidFill>
                <a:latin typeface="Arial"/>
              </a:rPr>
              <a:t>Econometric tests and models: cointegration, regression, t-tests</a:t>
            </a:r>
          </a:p>
        </p:txBody>
      </p:sp>
      <p:sp>
        <p:nvSpPr>
          <p:cNvPr id="20" name="Rectangle 19"/>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3754526"/>
            <a:ext cx="9427464" cy="501091"/>
          </a:xfrm>
          <a:prstGeom prst="rect">
            <a:avLst/>
          </a:prstGeom>
          <a:noFill/>
        </p:spPr>
        <p:txBody>
          <a:bodyPr wrap="square" anchor="ctr">
            <a:spAutoFit/>
          </a:bodyPr>
          <a:lstStyle/>
          <a:p>
            <a:pPr algn="l">
              <a:spcAft>
                <a:spcPts val="300"/>
              </a:spcAft>
            </a:pPr>
            <a:r>
              <a:rPr sz="1450" b="1">
                <a:solidFill>
                  <a:srgbClr val="161B26"/>
                </a:solidFill>
                <a:latin typeface="Arial"/>
              </a:rPr>
              <a:t>Machine learning</a:t>
            </a:r>
          </a:p>
          <a:p>
            <a:pPr algn="l">
              <a:spcAft>
                <a:spcPts val="300"/>
              </a:spcAft>
            </a:pPr>
            <a:r>
              <a:rPr sz="1050" b="0">
                <a:solidFill>
                  <a:srgbClr val="5B6372"/>
                </a:solidFill>
                <a:latin typeface="Arial"/>
              </a:rPr>
              <a:t>Models learn from labelled data: logistic regression, random forest, XGBoost</a:t>
            </a:r>
          </a:p>
        </p:txBody>
      </p:sp>
      <p:sp>
        <p:nvSpPr>
          <p:cNvPr id="25" name="Rectangle 24"/>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1764792" y="4676241"/>
            <a:ext cx="9427464" cy="501091"/>
          </a:xfrm>
          <a:prstGeom prst="rect">
            <a:avLst/>
          </a:prstGeom>
          <a:noFill/>
        </p:spPr>
        <p:txBody>
          <a:bodyPr wrap="square" anchor="ctr">
            <a:spAutoFit/>
          </a:bodyPr>
          <a:lstStyle/>
          <a:p>
            <a:pPr algn="l">
              <a:spcAft>
                <a:spcPts val="300"/>
              </a:spcAft>
            </a:pPr>
            <a:r>
              <a:rPr sz="1450" b="1">
                <a:solidFill>
                  <a:srgbClr val="161B26"/>
                </a:solidFill>
                <a:latin typeface="Arial"/>
              </a:rPr>
              <a:t>Reinforcement learning</a:t>
            </a:r>
          </a:p>
          <a:p>
            <a:pPr algn="l">
              <a:spcAft>
                <a:spcPts val="300"/>
              </a:spcAft>
            </a:pPr>
            <a:r>
              <a:rPr sz="1050" b="0">
                <a:solidFill>
                  <a:srgbClr val="5B6372"/>
                </a:solidFill>
                <a:latin typeface="Arial"/>
              </a:rPr>
              <a:t>Learns a policy from rewards, e.g. order-execution research</a:t>
            </a:r>
          </a:p>
        </p:txBody>
      </p:sp>
      <p:sp>
        <p:nvSpPr>
          <p:cNvPr id="30" name="Rectangle 29"/>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4" name="TextBox 33"/>
          <p:cNvSpPr txBox="1"/>
          <p:nvPr/>
        </p:nvSpPr>
        <p:spPr>
          <a:xfrm>
            <a:off x="1764792" y="5597956"/>
            <a:ext cx="9427464" cy="501091"/>
          </a:xfrm>
          <a:prstGeom prst="rect">
            <a:avLst/>
          </a:prstGeom>
          <a:noFill/>
        </p:spPr>
        <p:txBody>
          <a:bodyPr wrap="square" anchor="ctr">
            <a:spAutoFit/>
          </a:bodyPr>
          <a:lstStyle/>
          <a:p>
            <a:pPr algn="l">
              <a:spcAft>
                <a:spcPts val="300"/>
              </a:spcAft>
            </a:pPr>
            <a:r>
              <a:rPr sz="1450" b="1">
                <a:solidFill>
                  <a:srgbClr val="161B26"/>
                </a:solidFill>
                <a:latin typeface="Arial"/>
              </a:rPr>
              <a:t>LLM and agentic</a:t>
            </a:r>
          </a:p>
          <a:p>
            <a:pPr algn="l">
              <a:spcAft>
                <a:spcPts val="300"/>
              </a:spcAft>
            </a:pPr>
            <a:r>
              <a:rPr sz="1050" b="0">
                <a:solidFill>
                  <a:srgbClr val="5B6372"/>
                </a:solidFill>
                <a:latin typeface="Arial"/>
              </a:rPr>
              <a:t>Language models read text and agents plan, code and act under limits</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Strategy Families at a Glance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sp>
        <p:nvSpPr>
          <p:cNvPr id="10" name="Rectangle 9"/>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Trend following</a:t>
            </a:r>
          </a:p>
          <a:p>
            <a:pPr algn="l">
              <a:spcAft>
                <a:spcPts val="300"/>
              </a:spcAft>
            </a:pPr>
            <a:r>
              <a:rPr sz="1000" b="0">
                <a:solidFill>
                  <a:srgbClr val="5B6372"/>
                </a:solidFill>
                <a:latin typeface="Arial"/>
              </a:rPr>
              <a:t>Rides sustained moves in the direction of the trend; cuts losers quickly  -  e.g. Buy when the 50-day moving average crosses above the 200-day</a:t>
            </a:r>
          </a:p>
        </p:txBody>
      </p:sp>
      <p:sp>
        <p:nvSpPr>
          <p:cNvPr id="15" name="Rectangle 14"/>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1764792" y="3063240"/>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Mean reversion</a:t>
            </a:r>
          </a:p>
          <a:p>
            <a:pPr algn="l">
              <a:spcAft>
                <a:spcPts val="300"/>
              </a:spcAft>
            </a:pPr>
            <a:r>
              <a:rPr sz="1000" b="0">
                <a:solidFill>
                  <a:srgbClr val="5B6372"/>
                </a:solidFill>
                <a:latin typeface="Arial"/>
              </a:rPr>
              <a:t>Bets that prices stretched far from their average will snap back  -  e.g. Buy when price closes below the lower Bollinger Band (20-day, 2 std dev)</a:t>
            </a:r>
          </a:p>
        </p:txBody>
      </p:sp>
      <p:sp>
        <p:nvSpPr>
          <p:cNvPr id="20" name="Rectangle 19"/>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Momentum and breakout</a:t>
            </a:r>
          </a:p>
          <a:p>
            <a:pPr algn="l">
              <a:spcAft>
                <a:spcPts val="300"/>
              </a:spcAft>
            </a:pPr>
            <a:r>
              <a:rPr sz="1000" b="0">
                <a:solidFill>
                  <a:srgbClr val="5B6372"/>
                </a:solidFill>
                <a:latin typeface="Arial"/>
              </a:rPr>
              <a:t>Buys recent winners or prices breaking out of a range, expecting them to keep going  -  e.g. Buy on a close above the 20-day high (Donchian channel breakout)</a:t>
            </a:r>
          </a:p>
        </p:txBody>
      </p:sp>
      <p:sp>
        <p:nvSpPr>
          <p:cNvPr id="25" name="Rectangle 24"/>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1764792" y="5367528"/>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Statistical / pairs arbitrage</a:t>
            </a:r>
          </a:p>
          <a:p>
            <a:pPr algn="l">
              <a:spcAft>
                <a:spcPts val="300"/>
              </a:spcAft>
            </a:pPr>
            <a:r>
              <a:rPr sz="1000" b="0">
                <a:solidFill>
                  <a:srgbClr val="5B6372"/>
                </a:solidFill>
                <a:latin typeface="Arial"/>
              </a:rPr>
              <a:t>Trades the spread between two related assets when it drifts from its normal level  -  e.g. Short the rich leg, buy the cheap leg when the spread z-score exceeds 2</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Strategy Families at a Glance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sp>
        <p:nvSpPr>
          <p:cNvPr id="10" name="Rectangle 9"/>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Execution algorithms</a:t>
            </a:r>
          </a:p>
          <a:p>
            <a:pPr algn="l">
              <a:spcAft>
                <a:spcPts val="300"/>
              </a:spcAft>
            </a:pPr>
            <a:r>
              <a:rPr sz="1000" b="0">
                <a:solidFill>
                  <a:srgbClr val="5B6372"/>
                </a:solidFill>
                <a:latin typeface="Arial"/>
              </a:rPr>
              <a:t>Split a large order to minimise cost and market impact: VWAP, TWAP, POV, implementation shortfall  -  e.g. POV: trade 10% of market volume until the order is filled</a:t>
            </a:r>
          </a:p>
        </p:txBody>
      </p:sp>
      <p:sp>
        <p:nvSpPr>
          <p:cNvPr id="15" name="Rectangle 14"/>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1764792" y="3063240"/>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Market making</a:t>
            </a:r>
          </a:p>
          <a:p>
            <a:pPr algn="l">
              <a:spcAft>
                <a:spcPts val="300"/>
              </a:spcAft>
            </a:pPr>
            <a:r>
              <a:rPr sz="1000" b="0">
                <a:solidFill>
                  <a:srgbClr val="5B6372"/>
                </a:solidFill>
                <a:latin typeface="Arial"/>
              </a:rPr>
              <a:t>Continuously quotes buy and sell prices, earning the spread while managing inventory  -  e.g. Quote bid and ask around mid-price; skew quotes as inventory builds</a:t>
            </a:r>
          </a:p>
        </p:txBody>
      </p:sp>
      <p:sp>
        <p:nvSpPr>
          <p:cNvPr id="20" name="Rectangle 19"/>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Index rebalancing / event-driven</a:t>
            </a:r>
          </a:p>
          <a:p>
            <a:pPr algn="l">
              <a:spcAft>
                <a:spcPts val="300"/>
              </a:spcAft>
            </a:pPr>
            <a:r>
              <a:rPr sz="1000" b="0">
                <a:solidFill>
                  <a:srgbClr val="5B6372"/>
                </a:solidFill>
                <a:latin typeface="Arial"/>
              </a:rPr>
              <a:t>Trades predictable flows around index changes, earnings and corporate events  -  e.g. Position ahead of announced index inclusions on the rebalance date</a:t>
            </a:r>
          </a:p>
        </p:txBody>
      </p:sp>
      <p:sp>
        <p:nvSpPr>
          <p:cNvPr id="25" name="Rectangle 24"/>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1764792" y="5367528"/>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Sentiment / NLP</a:t>
            </a:r>
          </a:p>
          <a:p>
            <a:pPr algn="l">
              <a:spcAft>
                <a:spcPts val="300"/>
              </a:spcAft>
            </a:pPr>
            <a:r>
              <a:rPr sz="1000" b="0">
                <a:solidFill>
                  <a:srgbClr val="5B6372"/>
                </a:solidFill>
                <a:latin typeface="Arial"/>
              </a:rPr>
              <a:t>Turns news, filings and social media text into trading signals using NLP or LLMs  -  e.g. Go long when the average FinBERT headline sentiment is strongly positive</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84048"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1920240"/>
            <a:ext cx="9692640" cy="365760"/>
          </a:xfrm>
          <a:prstGeom prst="rect">
            <a:avLst/>
          </a:prstGeom>
          <a:noFill/>
        </p:spPr>
        <p:txBody>
          <a:bodyPr wrap="square" anchor="t">
            <a:spAutoFit/>
          </a:bodyPr>
          <a:lstStyle/>
          <a:p>
            <a:pPr algn="l">
              <a:spcAft>
                <a:spcPts val="400"/>
              </a:spcAft>
            </a:pPr>
            <a:r>
              <a:rPr sz="1400" b="1">
                <a:solidFill>
                  <a:srgbClr val="10B981"/>
                </a:solidFill>
                <a:latin typeface="Arial"/>
              </a:rPr>
              <a:t>TOPIC 2 · HOW THE ALGORITHMS WORK</a:t>
            </a:r>
          </a:p>
        </p:txBody>
      </p:sp>
      <p:sp>
        <p:nvSpPr>
          <p:cNvPr id="5" name="TextBox 4"/>
          <p:cNvSpPr txBox="1"/>
          <p:nvPr/>
        </p:nvSpPr>
        <p:spPr>
          <a:xfrm>
            <a:off x="1188720" y="2377440"/>
            <a:ext cx="9692640" cy="1645920"/>
          </a:xfrm>
          <a:prstGeom prst="rect">
            <a:avLst/>
          </a:prstGeom>
          <a:noFill/>
        </p:spPr>
        <p:txBody>
          <a:bodyPr wrap="square" anchor="t">
            <a:spAutoFit/>
          </a:bodyPr>
          <a:lstStyle/>
          <a:p>
            <a:pPr algn="l">
              <a:spcAft>
                <a:spcPts val="400"/>
              </a:spcAft>
            </a:pPr>
            <a:r>
              <a:rPr sz="3400" b="1">
                <a:solidFill>
                  <a:srgbClr val="161B26"/>
                </a:solidFill>
                <a:latin typeface="Arial"/>
              </a:rPr>
              <a:t>Concepts over code</a:t>
            </a:r>
          </a:p>
        </p:txBody>
      </p:sp>
      <p:sp>
        <p:nvSpPr>
          <p:cNvPr id="6" name="TextBox 5"/>
          <p:cNvSpPr txBox="1"/>
          <p:nvPr/>
        </p:nvSpPr>
        <p:spPr>
          <a:xfrm>
            <a:off x="1188720" y="4206240"/>
            <a:ext cx="9692640" cy="1097280"/>
          </a:xfrm>
          <a:prstGeom prst="rect">
            <a:avLst/>
          </a:prstGeom>
          <a:noFill/>
        </p:spPr>
        <p:txBody>
          <a:bodyPr wrap="square" anchor="t">
            <a:spAutoFit/>
          </a:bodyPr>
          <a:lstStyle/>
          <a:p>
            <a:pPr algn="l">
              <a:spcAft>
                <a:spcPts val="400"/>
              </a:spcAft>
            </a:pPr>
            <a:r>
              <a:rPr sz="1600" b="0">
                <a:solidFill>
                  <a:srgbClr val="5B6372"/>
                </a:solidFill>
                <a:latin typeface="Arial"/>
              </a:rPr>
              <a:t>Every algorithm below is coded for you - by the simulator or an AI assistant. Learn what it does, when it works and what can go wrong; let AI handle the syntax.</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Algorithm: Moving-Average Crossover (Trend Following)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pic>
        <p:nvPicPr>
          <p:cNvPr id="10" name="Picture 9" descr="algo_ma_crossover.png"/>
          <p:cNvPicPr>
            <a:picLocks noChangeAspect="1"/>
          </p:cNvPicPr>
          <p:nvPr/>
        </p:nvPicPr>
        <p:blipFill>
          <a:blip r:embed="rId2"/>
          <a:stretch>
            <a:fillRect/>
          </a:stretch>
        </p:blipFill>
        <p:spPr>
          <a:xfrm>
            <a:off x="777240" y="2398853"/>
            <a:ext cx="6172200" cy="3203293"/>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Two moving averages of the close: a fast one reacts quickly, a slow one shows the trend.</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Fast crosses ABOVE slow (golden cross): buy. Fast crosses BELOW (death cross): sell or go flat.</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Markets trend for months - it rides the move and cuts losers when the trend turns.</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Whipsaws in sideways markets; signals lag; trade on the next bar, not the crossing bar.</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Algorithm: Bollinger Band Mean Reversion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pic>
        <p:nvPicPr>
          <p:cNvPr id="10" name="Picture 9" descr="algo_bollinger.png"/>
          <p:cNvPicPr>
            <a:picLocks noChangeAspect="1"/>
          </p:cNvPicPr>
          <p:nvPr/>
        </p:nvPicPr>
        <p:blipFill>
          <a:blip r:embed="rId2"/>
          <a:stretch>
            <a:fillRect/>
          </a:stretch>
        </p:blipFill>
        <p:spPr>
          <a:xfrm>
            <a:off x="777240" y="2394160"/>
            <a:ext cx="6172200" cy="3212678"/>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Bands = 20-day mean +/- 2 standard deviations. A close outside the band is 'stretched'.</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Close below the lower band: buy. Exit when the price returns to the middle band (the mean).</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Range-bound markets where over-reactions snap back, e.g. a defensive stock such as KO.</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Strong trends keep 'stretching' - add a stop-loss or a trend filter; many small wins, rare big losses.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Algorithm: RSI and MACD Momentum Oscillators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pic>
        <p:nvPicPr>
          <p:cNvPr id="10" name="Picture 9" descr="algo_rsi_macd.png"/>
          <p:cNvPicPr>
            <a:picLocks noChangeAspect="1"/>
          </p:cNvPicPr>
          <p:nvPr/>
        </p:nvPicPr>
        <p:blipFill>
          <a:blip r:embed="rId2"/>
          <a:stretch>
            <a:fillRect/>
          </a:stretch>
        </p:blipFill>
        <p:spPr>
          <a:xfrm>
            <a:off x="777240" y="2012079"/>
            <a:ext cx="6172200" cy="3976840"/>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RSI = 100 - 100/(1+RS), RS = average gain / average loss over 14 bars. MACD = EMA12 - EMA26.</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RSI &lt; 30 oversold / &gt; 70 overbought. MACD crossing above its 9-EMA signal line = momentum buy.</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As filters or confirmation for a trend or mean-reversion rule, not as stand-alone predictors.</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Oscillators can stay overbought in strong trends; RSI and MACD are highly correlated with price.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Algorithm: Cross-Sectional Momentum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pic>
        <p:nvPicPr>
          <p:cNvPr id="10" name="Picture 9" descr="algo_momentum.png"/>
          <p:cNvPicPr>
            <a:picLocks noChangeAspect="1"/>
          </p:cNvPicPr>
          <p:nvPr/>
        </p:nvPicPr>
        <p:blipFill>
          <a:blip r:embed="rId2"/>
          <a:stretch>
            <a:fillRect/>
          </a:stretch>
        </p:blipFill>
        <p:spPr>
          <a:xfrm>
            <a:off x="777240" y="2398853"/>
            <a:ext cx="6172200" cy="3203293"/>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Rank a universe by past return (e.g. 12 months, skipping the last month) each month.</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Hold the top-ranked assets, avoid or short the bottom-ranked; rebalance monthly.</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Information spreads slowly and winners keep winning for several months.</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Sharp 'momentum crashes' when markets reverse; turnover costs at every rebalance.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Algorithm: Donchian Channel Breakout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pic>
        <p:nvPicPr>
          <p:cNvPr id="10" name="Picture 9" descr="algo_breakout.png"/>
          <p:cNvPicPr>
            <a:picLocks noChangeAspect="1"/>
          </p:cNvPicPr>
          <p:nvPr/>
        </p:nvPicPr>
        <p:blipFill>
          <a:blip r:embed="rId2"/>
          <a:stretch>
            <a:fillRect/>
          </a:stretch>
        </p:blipFill>
        <p:spPr>
          <a:xfrm>
            <a:off x="777240" y="2395728"/>
            <a:ext cx="6172200" cy="3209544"/>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Track the highest high and lowest low of the last n bars (n = 20 here).</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Close above the 20-day high: buy the breakout. Exit below the 20-day low (or a trailing stop).</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New trends start with a break of a range - the rule used by the 1980s 'Turtle Traders'.</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False breakouts in choppy markets; the channel must use PREVIOUS bars only (no look-ahead).</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Algorithm: VWAP and TWAP Execution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pic>
        <p:nvPicPr>
          <p:cNvPr id="10" name="Picture 9" descr="algo_vwap_twap.png"/>
          <p:cNvPicPr>
            <a:picLocks noChangeAspect="1"/>
          </p:cNvPicPr>
          <p:nvPr/>
        </p:nvPicPr>
        <p:blipFill>
          <a:blip r:embed="rId2"/>
          <a:stretch>
            <a:fillRect/>
          </a:stretch>
        </p:blipFill>
        <p:spPr>
          <a:xfrm>
            <a:off x="777240" y="2398853"/>
            <a:ext cx="6172200" cy="3203293"/>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Split a large parent order into child orders through the day to reduce market impact.</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TWAP: equal slices per time interval. VWAP: slices proportional to the typical volume curve.</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Working client or fund orders too large to trade at once; benchmarked to the day's VWAP.</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VWAP relies on a volume forecast; both are predictable to other traders - add randomisation.</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Algorithm: Market Making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pic>
        <p:nvPicPr>
          <p:cNvPr id="10" name="Picture 9" descr="algo_market_making.png"/>
          <p:cNvPicPr>
            <a:picLocks noChangeAspect="1"/>
          </p:cNvPicPr>
          <p:nvPr/>
        </p:nvPicPr>
        <p:blipFill>
          <a:blip r:embed="rId2"/>
          <a:stretch>
            <a:fillRect/>
          </a:stretch>
        </p:blipFill>
        <p:spPr>
          <a:xfrm>
            <a:off x="777240" y="2398853"/>
            <a:ext cx="6172200" cy="3203293"/>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Quote a bid below and an ask above the mid price at the same time.</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Earn the spread when both sides fill; skew quotes down when long, up when short, to cut inventory.</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Liquid markets with steady two-way flow - the business of quant market makers.</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Adverse selection by better-informed traders; inventory risk in fast moves; needs low latency.</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K5 · PLATFORMS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TradingView versus Alpaca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K5</a:t>
            </a:r>
          </a:p>
        </p:txBody>
      </p:sp>
      <p:sp>
        <p:nvSpPr>
          <p:cNvPr id="10" name="Rectangle 9"/>
          <p:cNvSpPr/>
          <p:nvPr/>
        </p:nvSpPr>
        <p:spPr>
          <a:xfrm>
            <a:off x="2926080" y="1810512"/>
            <a:ext cx="42062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68896" y="1810512"/>
            <a:ext cx="4242816"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26080" y="1810512"/>
            <a:ext cx="4206240" cy="420624"/>
          </a:xfrm>
          <a:prstGeom prst="rect">
            <a:avLst/>
          </a:prstGeom>
          <a:noFill/>
        </p:spPr>
        <p:txBody>
          <a:bodyPr wrap="square" anchor="ctr">
            <a:spAutoFit/>
          </a:bodyPr>
          <a:lstStyle/>
          <a:p>
            <a:pPr algn="ctr">
              <a:spcAft>
                <a:spcPts val="400"/>
              </a:spcAft>
            </a:pPr>
            <a:r>
              <a:rPr sz="1400" b="1">
                <a:solidFill>
                  <a:srgbClr val="FFFFFF"/>
                </a:solidFill>
                <a:latin typeface="Arial"/>
              </a:rPr>
              <a:t>TradingView</a:t>
            </a:r>
          </a:p>
        </p:txBody>
      </p:sp>
      <p:sp>
        <p:nvSpPr>
          <p:cNvPr id="13" name="TextBox 12"/>
          <p:cNvSpPr txBox="1"/>
          <p:nvPr/>
        </p:nvSpPr>
        <p:spPr>
          <a:xfrm>
            <a:off x="7168896" y="1810512"/>
            <a:ext cx="4242816" cy="420624"/>
          </a:xfrm>
          <a:prstGeom prst="rect">
            <a:avLst/>
          </a:prstGeom>
          <a:noFill/>
        </p:spPr>
        <p:txBody>
          <a:bodyPr wrap="square" anchor="ctr">
            <a:spAutoFit/>
          </a:bodyPr>
          <a:lstStyle/>
          <a:p>
            <a:pPr algn="ctr">
              <a:spcAft>
                <a:spcPts val="400"/>
              </a:spcAft>
            </a:pPr>
            <a:r>
              <a:rPr sz="1400" b="1">
                <a:solidFill>
                  <a:srgbClr val="FFFFFF"/>
                </a:solidFill>
                <a:latin typeface="Arial"/>
              </a:rPr>
              <a:t>Alpaca</a:t>
            </a:r>
          </a:p>
        </p:txBody>
      </p:sp>
      <p:sp>
        <p:nvSpPr>
          <p:cNvPr id="14" name="Rectangle 13"/>
          <p:cNvSpPr/>
          <p:nvPr/>
        </p:nvSpPr>
        <p:spPr>
          <a:xfrm>
            <a:off x="777240" y="2286000"/>
            <a:ext cx="10634472" cy="41452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2286000"/>
            <a:ext cx="1965960" cy="414527"/>
          </a:xfrm>
          <a:prstGeom prst="rect">
            <a:avLst/>
          </a:prstGeom>
          <a:noFill/>
        </p:spPr>
        <p:txBody>
          <a:bodyPr wrap="square" anchor="ctr">
            <a:spAutoFit/>
          </a:bodyPr>
          <a:lstStyle/>
          <a:p>
            <a:pPr algn="l">
              <a:spcAft>
                <a:spcPts val="400"/>
              </a:spcAft>
            </a:pPr>
            <a:r>
              <a:rPr sz="1150" b="1">
                <a:solidFill>
                  <a:srgbClr val="161B26"/>
                </a:solidFill>
                <a:latin typeface="Arial"/>
              </a:rPr>
              <a:t>What it is</a:t>
            </a:r>
          </a:p>
        </p:txBody>
      </p:sp>
      <p:sp>
        <p:nvSpPr>
          <p:cNvPr id="16" name="TextBox 15"/>
          <p:cNvSpPr txBox="1"/>
          <p:nvPr/>
        </p:nvSpPr>
        <p:spPr>
          <a:xfrm>
            <a:off x="3017520" y="2286000"/>
            <a:ext cx="4014216" cy="414527"/>
          </a:xfrm>
          <a:prstGeom prst="rect">
            <a:avLst/>
          </a:prstGeom>
          <a:noFill/>
        </p:spPr>
        <p:txBody>
          <a:bodyPr wrap="square" anchor="ctr">
            <a:spAutoFit/>
          </a:bodyPr>
          <a:lstStyle/>
          <a:p>
            <a:pPr algn="l">
              <a:spcAft>
                <a:spcPts val="400"/>
              </a:spcAft>
            </a:pPr>
            <a:r>
              <a:rPr sz="1050" b="0">
                <a:solidFill>
                  <a:srgbClr val="161B26"/>
                </a:solidFill>
                <a:latin typeface="Arial"/>
              </a:rPr>
              <a:t>Charting and strategy-design platform</a:t>
            </a:r>
          </a:p>
        </p:txBody>
      </p:sp>
      <p:sp>
        <p:nvSpPr>
          <p:cNvPr id="17" name="TextBox 16"/>
          <p:cNvSpPr txBox="1"/>
          <p:nvPr/>
        </p:nvSpPr>
        <p:spPr>
          <a:xfrm>
            <a:off x="7260336" y="2286000"/>
            <a:ext cx="4059936" cy="414527"/>
          </a:xfrm>
          <a:prstGeom prst="rect">
            <a:avLst/>
          </a:prstGeom>
          <a:noFill/>
        </p:spPr>
        <p:txBody>
          <a:bodyPr wrap="square" anchor="ctr">
            <a:spAutoFit/>
          </a:bodyPr>
          <a:lstStyle/>
          <a:p>
            <a:pPr algn="l">
              <a:spcAft>
                <a:spcPts val="400"/>
              </a:spcAft>
            </a:pPr>
            <a:r>
              <a:rPr sz="1050" b="0">
                <a:solidFill>
                  <a:srgbClr val="161B26"/>
                </a:solidFill>
                <a:latin typeface="Arial"/>
              </a:rPr>
              <a:t>API-first US broker for automated trading</a:t>
            </a:r>
          </a:p>
        </p:txBody>
      </p:sp>
      <p:sp>
        <p:nvSpPr>
          <p:cNvPr id="18" name="TextBox 17"/>
          <p:cNvSpPr txBox="1"/>
          <p:nvPr/>
        </p:nvSpPr>
        <p:spPr>
          <a:xfrm>
            <a:off x="886968" y="2727960"/>
            <a:ext cx="1965960" cy="414527"/>
          </a:xfrm>
          <a:prstGeom prst="rect">
            <a:avLst/>
          </a:prstGeom>
          <a:noFill/>
        </p:spPr>
        <p:txBody>
          <a:bodyPr wrap="square" anchor="ctr">
            <a:spAutoFit/>
          </a:bodyPr>
          <a:lstStyle/>
          <a:p>
            <a:pPr algn="l">
              <a:spcAft>
                <a:spcPts val="400"/>
              </a:spcAft>
            </a:pPr>
            <a:r>
              <a:rPr sz="1150" b="1">
                <a:solidFill>
                  <a:srgbClr val="161B26"/>
                </a:solidFill>
                <a:latin typeface="Arial"/>
              </a:rPr>
              <a:t>Markets</a:t>
            </a:r>
          </a:p>
        </p:txBody>
      </p:sp>
      <p:sp>
        <p:nvSpPr>
          <p:cNvPr id="19" name="TextBox 18"/>
          <p:cNvSpPr txBox="1"/>
          <p:nvPr/>
        </p:nvSpPr>
        <p:spPr>
          <a:xfrm>
            <a:off x="3017520" y="2727960"/>
            <a:ext cx="4014216" cy="414527"/>
          </a:xfrm>
          <a:prstGeom prst="rect">
            <a:avLst/>
          </a:prstGeom>
          <a:noFill/>
        </p:spPr>
        <p:txBody>
          <a:bodyPr wrap="square" anchor="ctr">
            <a:spAutoFit/>
          </a:bodyPr>
          <a:lstStyle/>
          <a:p>
            <a:pPr algn="l">
              <a:spcAft>
                <a:spcPts val="400"/>
              </a:spcAft>
            </a:pPr>
            <a:r>
              <a:rPr sz="1050" b="0">
                <a:solidFill>
                  <a:srgbClr val="161B26"/>
                </a:solidFill>
                <a:latin typeface="Arial"/>
              </a:rPr>
              <a:t>Global charts incl. SGX, US, FX, crypto</a:t>
            </a:r>
          </a:p>
        </p:txBody>
      </p:sp>
      <p:sp>
        <p:nvSpPr>
          <p:cNvPr id="20" name="TextBox 19"/>
          <p:cNvSpPr txBox="1"/>
          <p:nvPr/>
        </p:nvSpPr>
        <p:spPr>
          <a:xfrm>
            <a:off x="7260336" y="2727960"/>
            <a:ext cx="4059936" cy="414527"/>
          </a:xfrm>
          <a:prstGeom prst="rect">
            <a:avLst/>
          </a:prstGeom>
          <a:noFill/>
        </p:spPr>
        <p:txBody>
          <a:bodyPr wrap="square" anchor="ctr">
            <a:spAutoFit/>
          </a:bodyPr>
          <a:lstStyle/>
          <a:p>
            <a:pPr algn="l">
              <a:spcAft>
                <a:spcPts val="400"/>
              </a:spcAft>
            </a:pPr>
            <a:r>
              <a:rPr sz="1050" b="0">
                <a:solidFill>
                  <a:srgbClr val="161B26"/>
                </a:solidFill>
                <a:latin typeface="Arial"/>
              </a:rPr>
              <a:t>US stocks and ETFs, options, crypto</a:t>
            </a:r>
          </a:p>
        </p:txBody>
      </p:sp>
      <p:sp>
        <p:nvSpPr>
          <p:cNvPr id="21" name="Rectangle 20"/>
          <p:cNvSpPr/>
          <p:nvPr/>
        </p:nvSpPr>
        <p:spPr>
          <a:xfrm>
            <a:off x="777240" y="3169920"/>
            <a:ext cx="10634472" cy="41452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3169920"/>
            <a:ext cx="1965960" cy="414527"/>
          </a:xfrm>
          <a:prstGeom prst="rect">
            <a:avLst/>
          </a:prstGeom>
          <a:noFill/>
        </p:spPr>
        <p:txBody>
          <a:bodyPr wrap="square" anchor="ctr">
            <a:spAutoFit/>
          </a:bodyPr>
          <a:lstStyle/>
          <a:p>
            <a:pPr algn="l">
              <a:spcAft>
                <a:spcPts val="400"/>
              </a:spcAft>
            </a:pPr>
            <a:r>
              <a:rPr sz="1150" b="1">
                <a:solidFill>
                  <a:srgbClr val="161B26"/>
                </a:solidFill>
                <a:latin typeface="Arial"/>
              </a:rPr>
              <a:t>Strategy design</a:t>
            </a:r>
          </a:p>
        </p:txBody>
      </p:sp>
      <p:sp>
        <p:nvSpPr>
          <p:cNvPr id="23" name="TextBox 22"/>
          <p:cNvSpPr txBox="1"/>
          <p:nvPr/>
        </p:nvSpPr>
        <p:spPr>
          <a:xfrm>
            <a:off x="3017520" y="3169920"/>
            <a:ext cx="4014216" cy="414527"/>
          </a:xfrm>
          <a:prstGeom prst="rect">
            <a:avLst/>
          </a:prstGeom>
          <a:noFill/>
        </p:spPr>
        <p:txBody>
          <a:bodyPr wrap="square" anchor="ctr">
            <a:spAutoFit/>
          </a:bodyPr>
          <a:lstStyle/>
          <a:p>
            <a:pPr algn="l">
              <a:spcAft>
                <a:spcPts val="400"/>
              </a:spcAft>
            </a:pPr>
            <a:r>
              <a:rPr sz="1050" b="0">
                <a:solidFill>
                  <a:srgbClr val="161B26"/>
                </a:solidFill>
                <a:latin typeface="Arial"/>
              </a:rPr>
              <a:t>Pine Script v6 indicators and strategies</a:t>
            </a:r>
          </a:p>
        </p:txBody>
      </p:sp>
      <p:sp>
        <p:nvSpPr>
          <p:cNvPr id="24" name="TextBox 23"/>
          <p:cNvSpPr txBox="1"/>
          <p:nvPr/>
        </p:nvSpPr>
        <p:spPr>
          <a:xfrm>
            <a:off x="7260336" y="3169920"/>
            <a:ext cx="4059936" cy="414527"/>
          </a:xfrm>
          <a:prstGeom prst="rect">
            <a:avLst/>
          </a:prstGeom>
          <a:noFill/>
        </p:spPr>
        <p:txBody>
          <a:bodyPr wrap="square" anchor="ctr">
            <a:spAutoFit/>
          </a:bodyPr>
          <a:lstStyle/>
          <a:p>
            <a:pPr algn="l">
              <a:spcAft>
                <a:spcPts val="400"/>
              </a:spcAft>
            </a:pPr>
            <a:r>
              <a:rPr sz="1050" b="0">
                <a:solidFill>
                  <a:srgbClr val="161B26"/>
                </a:solidFill>
                <a:latin typeface="Arial"/>
              </a:rPr>
              <a:t>Write it yourself in Python (alpaca-py)</a:t>
            </a:r>
          </a:p>
        </p:txBody>
      </p:sp>
      <p:sp>
        <p:nvSpPr>
          <p:cNvPr id="25" name="TextBox 24"/>
          <p:cNvSpPr txBox="1"/>
          <p:nvPr/>
        </p:nvSpPr>
        <p:spPr>
          <a:xfrm>
            <a:off x="886968" y="3611879"/>
            <a:ext cx="1965960" cy="414527"/>
          </a:xfrm>
          <a:prstGeom prst="rect">
            <a:avLst/>
          </a:prstGeom>
          <a:noFill/>
        </p:spPr>
        <p:txBody>
          <a:bodyPr wrap="square" anchor="ctr">
            <a:spAutoFit/>
          </a:bodyPr>
          <a:lstStyle/>
          <a:p>
            <a:pPr algn="l">
              <a:spcAft>
                <a:spcPts val="400"/>
              </a:spcAft>
            </a:pPr>
            <a:r>
              <a:rPr sz="1150" b="1">
                <a:solidFill>
                  <a:srgbClr val="161B26"/>
                </a:solidFill>
                <a:latin typeface="Arial"/>
              </a:rPr>
              <a:t>Backtesting</a:t>
            </a:r>
          </a:p>
        </p:txBody>
      </p:sp>
      <p:sp>
        <p:nvSpPr>
          <p:cNvPr id="26" name="TextBox 25"/>
          <p:cNvSpPr txBox="1"/>
          <p:nvPr/>
        </p:nvSpPr>
        <p:spPr>
          <a:xfrm>
            <a:off x="3017520" y="3611879"/>
            <a:ext cx="4014216" cy="414527"/>
          </a:xfrm>
          <a:prstGeom prst="rect">
            <a:avLst/>
          </a:prstGeom>
          <a:noFill/>
        </p:spPr>
        <p:txBody>
          <a:bodyPr wrap="square" anchor="ctr">
            <a:spAutoFit/>
          </a:bodyPr>
          <a:lstStyle/>
          <a:p>
            <a:pPr algn="l">
              <a:spcAft>
                <a:spcPts val="400"/>
              </a:spcAft>
            </a:pPr>
            <a:r>
              <a:rPr sz="1050" b="0">
                <a:solidFill>
                  <a:srgbClr val="161B26"/>
                </a:solidFill>
                <a:latin typeface="Arial"/>
              </a:rPr>
              <a:t>Strategy Tester (simplified costs and fills)</a:t>
            </a:r>
          </a:p>
        </p:txBody>
      </p:sp>
      <p:sp>
        <p:nvSpPr>
          <p:cNvPr id="27" name="TextBox 26"/>
          <p:cNvSpPr txBox="1"/>
          <p:nvPr/>
        </p:nvSpPr>
        <p:spPr>
          <a:xfrm>
            <a:off x="7260336" y="3611879"/>
            <a:ext cx="4059936" cy="414527"/>
          </a:xfrm>
          <a:prstGeom prst="rect">
            <a:avLst/>
          </a:prstGeom>
          <a:noFill/>
        </p:spPr>
        <p:txBody>
          <a:bodyPr wrap="square" anchor="ctr">
            <a:spAutoFit/>
          </a:bodyPr>
          <a:lstStyle/>
          <a:p>
            <a:pPr algn="l">
              <a:spcAft>
                <a:spcPts val="400"/>
              </a:spcAft>
            </a:pPr>
            <a:r>
              <a:rPr sz="1050" b="0">
                <a:solidFill>
                  <a:srgbClr val="161B26"/>
                </a:solidFill>
                <a:latin typeface="Arial"/>
              </a:rPr>
              <a:t>None built in - you build a cost-aware backtest</a:t>
            </a:r>
          </a:p>
        </p:txBody>
      </p:sp>
      <p:sp>
        <p:nvSpPr>
          <p:cNvPr id="28" name="Rectangle 27"/>
          <p:cNvSpPr/>
          <p:nvPr/>
        </p:nvSpPr>
        <p:spPr>
          <a:xfrm>
            <a:off x="777240" y="4053840"/>
            <a:ext cx="10634472" cy="41452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6968" y="4053840"/>
            <a:ext cx="1965960" cy="414527"/>
          </a:xfrm>
          <a:prstGeom prst="rect">
            <a:avLst/>
          </a:prstGeom>
          <a:noFill/>
        </p:spPr>
        <p:txBody>
          <a:bodyPr wrap="square" anchor="ctr">
            <a:spAutoFit/>
          </a:bodyPr>
          <a:lstStyle/>
          <a:p>
            <a:pPr algn="l">
              <a:spcAft>
                <a:spcPts val="400"/>
              </a:spcAft>
            </a:pPr>
            <a:r>
              <a:rPr sz="1150" b="1">
                <a:solidFill>
                  <a:srgbClr val="161B26"/>
                </a:solidFill>
                <a:latin typeface="Arial"/>
              </a:rPr>
              <a:t>Paper trading</a:t>
            </a:r>
          </a:p>
        </p:txBody>
      </p:sp>
      <p:sp>
        <p:nvSpPr>
          <p:cNvPr id="30" name="TextBox 29"/>
          <p:cNvSpPr txBox="1"/>
          <p:nvPr/>
        </p:nvSpPr>
        <p:spPr>
          <a:xfrm>
            <a:off x="3017520" y="4053840"/>
            <a:ext cx="4014216" cy="414527"/>
          </a:xfrm>
          <a:prstGeom prst="rect">
            <a:avLst/>
          </a:prstGeom>
          <a:noFill/>
        </p:spPr>
        <p:txBody>
          <a:bodyPr wrap="square" anchor="ctr">
            <a:spAutoFit/>
          </a:bodyPr>
          <a:lstStyle/>
          <a:p>
            <a:pPr algn="l">
              <a:spcAft>
                <a:spcPts val="400"/>
              </a:spcAft>
            </a:pPr>
            <a:r>
              <a:rPr sz="1050" b="0">
                <a:solidFill>
                  <a:srgbClr val="161B26"/>
                </a:solidFill>
                <a:latin typeface="Arial"/>
              </a:rPr>
              <a:t>Built-in Paper Trading account from the chart</a:t>
            </a:r>
          </a:p>
        </p:txBody>
      </p:sp>
      <p:sp>
        <p:nvSpPr>
          <p:cNvPr id="31" name="TextBox 30"/>
          <p:cNvSpPr txBox="1"/>
          <p:nvPr/>
        </p:nvSpPr>
        <p:spPr>
          <a:xfrm>
            <a:off x="7260336" y="4053840"/>
            <a:ext cx="4059936" cy="414527"/>
          </a:xfrm>
          <a:prstGeom prst="rect">
            <a:avLst/>
          </a:prstGeom>
          <a:noFill/>
        </p:spPr>
        <p:txBody>
          <a:bodyPr wrap="square" anchor="ctr">
            <a:spAutoFit/>
          </a:bodyPr>
          <a:lstStyle/>
          <a:p>
            <a:pPr algn="l">
              <a:spcAft>
                <a:spcPts val="400"/>
              </a:spcAft>
            </a:pPr>
            <a:r>
              <a:rPr sz="1050" b="0">
                <a:solidFill>
                  <a:srgbClr val="161B26"/>
                </a:solidFill>
                <a:latin typeface="Arial"/>
              </a:rPr>
              <a:t>Paper account mirroring the live API</a:t>
            </a:r>
          </a:p>
        </p:txBody>
      </p:sp>
      <p:sp>
        <p:nvSpPr>
          <p:cNvPr id="32" name="TextBox 31"/>
          <p:cNvSpPr txBox="1"/>
          <p:nvPr/>
        </p:nvSpPr>
        <p:spPr>
          <a:xfrm>
            <a:off x="886968" y="4495799"/>
            <a:ext cx="1965960" cy="414527"/>
          </a:xfrm>
          <a:prstGeom prst="rect">
            <a:avLst/>
          </a:prstGeom>
          <a:noFill/>
        </p:spPr>
        <p:txBody>
          <a:bodyPr wrap="square" anchor="ctr">
            <a:spAutoFit/>
          </a:bodyPr>
          <a:lstStyle/>
          <a:p>
            <a:pPr algn="l">
              <a:spcAft>
                <a:spcPts val="400"/>
              </a:spcAft>
            </a:pPr>
            <a:r>
              <a:rPr sz="1150" b="1">
                <a:solidFill>
                  <a:srgbClr val="161B26"/>
                </a:solidFill>
                <a:latin typeface="Arial"/>
              </a:rPr>
              <a:t>Automation</a:t>
            </a:r>
          </a:p>
        </p:txBody>
      </p:sp>
      <p:sp>
        <p:nvSpPr>
          <p:cNvPr id="33" name="TextBox 32"/>
          <p:cNvSpPr txBox="1"/>
          <p:nvPr/>
        </p:nvSpPr>
        <p:spPr>
          <a:xfrm>
            <a:off x="3017520" y="4495799"/>
            <a:ext cx="4014216" cy="414527"/>
          </a:xfrm>
          <a:prstGeom prst="rect">
            <a:avLst/>
          </a:prstGeom>
          <a:noFill/>
        </p:spPr>
        <p:txBody>
          <a:bodyPr wrap="square" anchor="ctr">
            <a:spAutoFit/>
          </a:bodyPr>
          <a:lstStyle/>
          <a:p>
            <a:pPr algn="l">
              <a:spcAft>
                <a:spcPts val="400"/>
              </a:spcAft>
            </a:pPr>
            <a:r>
              <a:rPr sz="1050" b="0">
                <a:solidFill>
                  <a:srgbClr val="161B26"/>
                </a:solidFill>
                <a:latin typeface="Arial"/>
              </a:rPr>
              <a:t>Alerts; webhooks on paid plans</a:t>
            </a:r>
          </a:p>
        </p:txBody>
      </p:sp>
      <p:sp>
        <p:nvSpPr>
          <p:cNvPr id="34" name="TextBox 33"/>
          <p:cNvSpPr txBox="1"/>
          <p:nvPr/>
        </p:nvSpPr>
        <p:spPr>
          <a:xfrm>
            <a:off x="7260336" y="4495799"/>
            <a:ext cx="4059936" cy="414527"/>
          </a:xfrm>
          <a:prstGeom prst="rect">
            <a:avLst/>
          </a:prstGeom>
          <a:noFill/>
        </p:spPr>
        <p:txBody>
          <a:bodyPr wrap="square" anchor="ctr">
            <a:spAutoFit/>
          </a:bodyPr>
          <a:lstStyle/>
          <a:p>
            <a:pPr algn="l">
              <a:spcAft>
                <a:spcPts val="400"/>
              </a:spcAft>
            </a:pPr>
            <a:r>
              <a:rPr sz="1050" b="0">
                <a:solidFill>
                  <a:srgbClr val="161B26"/>
                </a:solidFill>
                <a:latin typeface="Arial"/>
              </a:rPr>
              <a:t>Trading API: orders, positions, clock; 24/5 trading</a:t>
            </a:r>
          </a:p>
        </p:txBody>
      </p:sp>
      <p:sp>
        <p:nvSpPr>
          <p:cNvPr id="35" name="Rectangle 34"/>
          <p:cNvSpPr/>
          <p:nvPr/>
        </p:nvSpPr>
        <p:spPr>
          <a:xfrm>
            <a:off x="777240" y="4937759"/>
            <a:ext cx="10634472" cy="41452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6968" y="4937759"/>
            <a:ext cx="1965960" cy="414527"/>
          </a:xfrm>
          <a:prstGeom prst="rect">
            <a:avLst/>
          </a:prstGeom>
          <a:noFill/>
        </p:spPr>
        <p:txBody>
          <a:bodyPr wrap="square" anchor="ctr">
            <a:spAutoFit/>
          </a:bodyPr>
          <a:lstStyle/>
          <a:p>
            <a:pPr algn="l">
              <a:spcAft>
                <a:spcPts val="400"/>
              </a:spcAft>
            </a:pPr>
            <a:r>
              <a:rPr sz="1150" b="1">
                <a:solidFill>
                  <a:srgbClr val="161B26"/>
                </a:solidFill>
                <a:latin typeface="Arial"/>
              </a:rPr>
              <a:t>Data</a:t>
            </a:r>
          </a:p>
        </p:txBody>
      </p:sp>
      <p:sp>
        <p:nvSpPr>
          <p:cNvPr id="37" name="TextBox 36"/>
          <p:cNvSpPr txBox="1"/>
          <p:nvPr/>
        </p:nvSpPr>
        <p:spPr>
          <a:xfrm>
            <a:off x="3017520" y="4937759"/>
            <a:ext cx="4014216" cy="414527"/>
          </a:xfrm>
          <a:prstGeom prst="rect">
            <a:avLst/>
          </a:prstGeom>
          <a:noFill/>
        </p:spPr>
        <p:txBody>
          <a:bodyPr wrap="square" anchor="ctr">
            <a:spAutoFit/>
          </a:bodyPr>
          <a:lstStyle/>
          <a:p>
            <a:pPr algn="l">
              <a:spcAft>
                <a:spcPts val="400"/>
              </a:spcAft>
            </a:pPr>
            <a:r>
              <a:rPr sz="1050" b="0">
                <a:solidFill>
                  <a:srgbClr val="161B26"/>
                </a:solidFill>
                <a:latin typeface="Arial"/>
              </a:rPr>
              <a:t>Charts and Data Window</a:t>
            </a:r>
          </a:p>
        </p:txBody>
      </p:sp>
      <p:sp>
        <p:nvSpPr>
          <p:cNvPr id="38" name="TextBox 37"/>
          <p:cNvSpPr txBox="1"/>
          <p:nvPr/>
        </p:nvSpPr>
        <p:spPr>
          <a:xfrm>
            <a:off x="7260336" y="4937759"/>
            <a:ext cx="4059936" cy="414527"/>
          </a:xfrm>
          <a:prstGeom prst="rect">
            <a:avLst/>
          </a:prstGeom>
          <a:noFill/>
        </p:spPr>
        <p:txBody>
          <a:bodyPr wrap="square" anchor="ctr">
            <a:spAutoFit/>
          </a:bodyPr>
          <a:lstStyle/>
          <a:p>
            <a:pPr algn="l">
              <a:spcAft>
                <a:spcPts val="400"/>
              </a:spcAft>
            </a:pPr>
            <a:r>
              <a:rPr sz="1050" b="0">
                <a:solidFill>
                  <a:srgbClr val="161B26"/>
                </a:solidFill>
                <a:latin typeface="Arial"/>
              </a:rPr>
              <a:t>Market Data API: bars, quotes, trades, news (IEX free)</a:t>
            </a:r>
          </a:p>
        </p:txBody>
      </p:sp>
      <p:sp>
        <p:nvSpPr>
          <p:cNvPr id="39" name="TextBox 38"/>
          <p:cNvSpPr txBox="1"/>
          <p:nvPr/>
        </p:nvSpPr>
        <p:spPr>
          <a:xfrm>
            <a:off x="886968" y="5379720"/>
            <a:ext cx="1965960" cy="414527"/>
          </a:xfrm>
          <a:prstGeom prst="rect">
            <a:avLst/>
          </a:prstGeom>
          <a:noFill/>
        </p:spPr>
        <p:txBody>
          <a:bodyPr wrap="square" anchor="ctr">
            <a:spAutoFit/>
          </a:bodyPr>
          <a:lstStyle/>
          <a:p>
            <a:pPr algn="l">
              <a:spcAft>
                <a:spcPts val="400"/>
              </a:spcAft>
            </a:pPr>
            <a:r>
              <a:rPr sz="1150" b="1">
                <a:solidFill>
                  <a:srgbClr val="161B26"/>
                </a:solidFill>
                <a:latin typeface="Arial"/>
              </a:rPr>
              <a:t>Machine learning</a:t>
            </a:r>
          </a:p>
        </p:txBody>
      </p:sp>
      <p:sp>
        <p:nvSpPr>
          <p:cNvPr id="40" name="TextBox 39"/>
          <p:cNvSpPr txBox="1"/>
          <p:nvPr/>
        </p:nvSpPr>
        <p:spPr>
          <a:xfrm>
            <a:off x="3017520" y="5379720"/>
            <a:ext cx="4014216" cy="414527"/>
          </a:xfrm>
          <a:prstGeom prst="rect">
            <a:avLst/>
          </a:prstGeom>
          <a:noFill/>
        </p:spPr>
        <p:txBody>
          <a:bodyPr wrap="square" anchor="ctr">
            <a:spAutoFit/>
          </a:bodyPr>
          <a:lstStyle/>
          <a:p>
            <a:pPr algn="l">
              <a:spcAft>
                <a:spcPts val="400"/>
              </a:spcAft>
            </a:pPr>
            <a:r>
              <a:rPr sz="1050" b="0">
                <a:solidFill>
                  <a:srgbClr val="161B26"/>
                </a:solidFill>
                <a:latin typeface="Arial"/>
              </a:rPr>
              <a:t>Not supported</a:t>
            </a:r>
          </a:p>
        </p:txBody>
      </p:sp>
      <p:sp>
        <p:nvSpPr>
          <p:cNvPr id="41" name="TextBox 40"/>
          <p:cNvSpPr txBox="1"/>
          <p:nvPr/>
        </p:nvSpPr>
        <p:spPr>
          <a:xfrm>
            <a:off x="7260336" y="5379720"/>
            <a:ext cx="4059936" cy="414527"/>
          </a:xfrm>
          <a:prstGeom prst="rect">
            <a:avLst/>
          </a:prstGeom>
          <a:noFill/>
        </p:spPr>
        <p:txBody>
          <a:bodyPr wrap="square" anchor="ctr">
            <a:spAutoFit/>
          </a:bodyPr>
          <a:lstStyle/>
          <a:p>
            <a:pPr algn="l">
              <a:spcAft>
                <a:spcPts val="400"/>
              </a:spcAft>
            </a:pPr>
            <a:r>
              <a:rPr sz="1050" b="0">
                <a:solidFill>
                  <a:srgbClr val="161B26"/>
                </a:solidFill>
                <a:latin typeface="Arial"/>
              </a:rPr>
              <a:t>Any Python library (scikit-learn, XGBoost)</a:t>
            </a:r>
          </a:p>
        </p:txBody>
      </p:sp>
      <p:sp>
        <p:nvSpPr>
          <p:cNvPr id="42" name="Rectangle 41"/>
          <p:cNvSpPr/>
          <p:nvPr/>
        </p:nvSpPr>
        <p:spPr>
          <a:xfrm>
            <a:off x="777240" y="5821680"/>
            <a:ext cx="10634472" cy="41452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86968" y="5821680"/>
            <a:ext cx="1965960" cy="414527"/>
          </a:xfrm>
          <a:prstGeom prst="rect">
            <a:avLst/>
          </a:prstGeom>
          <a:noFill/>
        </p:spPr>
        <p:txBody>
          <a:bodyPr wrap="square" anchor="ctr">
            <a:spAutoFit/>
          </a:bodyPr>
          <a:lstStyle/>
          <a:p>
            <a:pPr algn="l">
              <a:spcAft>
                <a:spcPts val="400"/>
              </a:spcAft>
            </a:pPr>
            <a:r>
              <a:rPr sz="1150" b="1">
                <a:solidFill>
                  <a:srgbClr val="161B26"/>
                </a:solidFill>
                <a:latin typeface="Arial"/>
              </a:rPr>
              <a:t>Best used for</a:t>
            </a:r>
          </a:p>
        </p:txBody>
      </p:sp>
      <p:sp>
        <p:nvSpPr>
          <p:cNvPr id="44" name="TextBox 43"/>
          <p:cNvSpPr txBox="1"/>
          <p:nvPr/>
        </p:nvSpPr>
        <p:spPr>
          <a:xfrm>
            <a:off x="3017520" y="5821680"/>
            <a:ext cx="4014216" cy="414527"/>
          </a:xfrm>
          <a:prstGeom prst="rect">
            <a:avLst/>
          </a:prstGeom>
          <a:noFill/>
        </p:spPr>
        <p:txBody>
          <a:bodyPr wrap="square" anchor="ctr">
            <a:spAutoFit/>
          </a:bodyPr>
          <a:lstStyle/>
          <a:p>
            <a:pPr algn="l">
              <a:spcAft>
                <a:spcPts val="400"/>
              </a:spcAft>
            </a:pPr>
            <a:r>
              <a:rPr sz="1050" b="0">
                <a:solidFill>
                  <a:srgbClr val="161B26"/>
                </a:solidFill>
                <a:latin typeface="Arial"/>
              </a:rPr>
              <a:t>Designing, visualising and first-testing a rule</a:t>
            </a:r>
          </a:p>
        </p:txBody>
      </p:sp>
      <p:sp>
        <p:nvSpPr>
          <p:cNvPr id="45" name="TextBox 44"/>
          <p:cNvSpPr txBox="1"/>
          <p:nvPr/>
        </p:nvSpPr>
        <p:spPr>
          <a:xfrm>
            <a:off x="7260336" y="5821680"/>
            <a:ext cx="4059936" cy="414527"/>
          </a:xfrm>
          <a:prstGeom prst="rect">
            <a:avLst/>
          </a:prstGeom>
          <a:noFill/>
        </p:spPr>
        <p:txBody>
          <a:bodyPr wrap="square" anchor="ctr">
            <a:spAutoFit/>
          </a:bodyPr>
          <a:lstStyle/>
          <a:p>
            <a:pPr algn="l">
              <a:spcAft>
                <a:spcPts val="400"/>
              </a:spcAft>
            </a:pPr>
            <a:r>
              <a:rPr sz="1050" b="0">
                <a:solidFill>
                  <a:srgbClr val="161B26"/>
                </a:solidFill>
                <a:latin typeface="Arial"/>
              </a:rPr>
              <a:t>Executing and forward-testing it automatically</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K5 · PAPER TRADING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Paper Trading on TradingView, Step by Step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K5</a:t>
            </a:r>
          </a:p>
        </p:txBody>
      </p:sp>
      <p:sp>
        <p:nvSpPr>
          <p:cNvPr id="10" name="TextBox 9"/>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Full step-by-step guide: Learner Guide, 'Platform Guides'.</a:t>
            </a:r>
          </a:p>
        </p:txBody>
      </p:sp>
      <p:sp>
        <p:nvSpPr>
          <p:cNvPr id="11" name="Rectangle 10"/>
          <p:cNvSpPr/>
          <p:nvPr/>
        </p:nvSpPr>
        <p:spPr>
          <a:xfrm>
            <a:off x="777240"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92530"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92530"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5" name="TextBox 14"/>
          <p:cNvSpPr txBox="1"/>
          <p:nvPr/>
        </p:nvSpPr>
        <p:spPr>
          <a:xfrm>
            <a:off x="905256"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Supercharts &gt; Trade &gt; Paper Trading &gt; Connect</a:t>
            </a:r>
          </a:p>
        </p:txBody>
      </p:sp>
      <p:sp>
        <p:nvSpPr>
          <p:cNvPr id="16" name="TextBox 15"/>
          <p:cNvSpPr txBox="1"/>
          <p:nvPr/>
        </p:nvSpPr>
        <p:spPr>
          <a:xfrm>
            <a:off x="2302764"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17" name="Rectangle 16"/>
          <p:cNvSpPr/>
          <p:nvPr/>
        </p:nvSpPr>
        <p:spPr>
          <a:xfrm>
            <a:off x="2595372"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95372"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010662"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10662"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21" name="TextBox 20"/>
          <p:cNvSpPr txBox="1"/>
          <p:nvPr/>
        </p:nvSpPr>
        <p:spPr>
          <a:xfrm>
            <a:off x="2723388"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Set starting capital and commission</a:t>
            </a:r>
          </a:p>
        </p:txBody>
      </p:sp>
      <p:sp>
        <p:nvSpPr>
          <p:cNvPr id="22" name="TextBox 21"/>
          <p:cNvSpPr txBox="1"/>
          <p:nvPr/>
        </p:nvSpPr>
        <p:spPr>
          <a:xfrm>
            <a:off x="4120896"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23" name="Rectangle 22"/>
          <p:cNvSpPr/>
          <p:nvPr/>
        </p:nvSpPr>
        <p:spPr>
          <a:xfrm>
            <a:off x="4413504"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413504"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828794"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28794"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7" name="TextBox 26"/>
          <p:cNvSpPr txBox="1"/>
          <p:nvPr/>
        </p:nvSpPr>
        <p:spPr>
          <a:xfrm>
            <a:off x="4541520"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Order ticket: side, quantity, Market / Limit / Stop</a:t>
            </a:r>
          </a:p>
        </p:txBody>
      </p:sp>
      <p:sp>
        <p:nvSpPr>
          <p:cNvPr id="28" name="TextBox 27"/>
          <p:cNvSpPr txBox="1"/>
          <p:nvPr/>
        </p:nvSpPr>
        <p:spPr>
          <a:xfrm>
            <a:off x="5939028"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29" name="Rectangle 28"/>
          <p:cNvSpPr/>
          <p:nvPr/>
        </p:nvSpPr>
        <p:spPr>
          <a:xfrm>
            <a:off x="6231636"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231636"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646926"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46926"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3" name="TextBox 32"/>
          <p:cNvSpPr txBox="1"/>
          <p:nvPr/>
        </p:nvSpPr>
        <p:spPr>
          <a:xfrm>
            <a:off x="6359652"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Add stop loss and take profit; place order</a:t>
            </a:r>
          </a:p>
        </p:txBody>
      </p:sp>
      <p:sp>
        <p:nvSpPr>
          <p:cNvPr id="34" name="TextBox 33"/>
          <p:cNvSpPr txBox="1"/>
          <p:nvPr/>
        </p:nvSpPr>
        <p:spPr>
          <a:xfrm>
            <a:off x="7757160"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35" name="Rectangle 34"/>
          <p:cNvSpPr/>
          <p:nvPr/>
        </p:nvSpPr>
        <p:spPr>
          <a:xfrm>
            <a:off x="8049768"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049768"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465058"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465058"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9" name="TextBox 38"/>
          <p:cNvSpPr txBox="1"/>
          <p:nvPr/>
        </p:nvSpPr>
        <p:spPr>
          <a:xfrm>
            <a:off x="8177784"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Track Positions, Orders, Account History</a:t>
            </a:r>
          </a:p>
        </p:txBody>
      </p:sp>
      <p:sp>
        <p:nvSpPr>
          <p:cNvPr id="40" name="TextBox 39"/>
          <p:cNvSpPr txBox="1"/>
          <p:nvPr/>
        </p:nvSpPr>
        <p:spPr>
          <a:xfrm>
            <a:off x="9575292"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41" name="Rectangle 40"/>
          <p:cNvSpPr/>
          <p:nvPr/>
        </p:nvSpPr>
        <p:spPr>
          <a:xfrm>
            <a:off x="9867900"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867900"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10283190"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283190"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6</a:t>
            </a:r>
          </a:p>
        </p:txBody>
      </p:sp>
      <p:sp>
        <p:nvSpPr>
          <p:cNvPr id="45" name="TextBox 44"/>
          <p:cNvSpPr txBox="1"/>
          <p:nvPr/>
        </p:nvSpPr>
        <p:spPr>
          <a:xfrm>
            <a:off x="9995916"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Close the position; reset when done</a:t>
            </a:r>
          </a:p>
        </p:txBody>
      </p:sp>
      <p:sp>
        <p:nvSpPr>
          <p:cNvPr id="46" name="Rectangle 45"/>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77240" y="5257800"/>
            <a:ext cx="91440" cy="8229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Paper fills use TradingView's prices but cannot show your own market impact - compare them with the backtest's assumed costs.</a:t>
            </a:r>
          </a:p>
        </p:txBody>
      </p:sp>
      <p:sp>
        <p:nvSpPr>
          <p:cNvPr id="49" name="TextBox 4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0" name="TextBox 4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1" name="TextBox 5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K5 · PAPER TRADING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Paper Trading on Alpaca, Step by Step - Manual and Automated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K5</a:t>
            </a:r>
          </a:p>
        </p:txBody>
      </p:sp>
      <p:sp>
        <p:nvSpPr>
          <p:cNvPr id="10" name="TextBox 9"/>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Full step-by-step guide: Learner Guide, 'Platform Guides'.</a:t>
            </a:r>
          </a:p>
        </p:txBody>
      </p:sp>
      <p:sp>
        <p:nvSpPr>
          <p:cNvPr id="11" name="Rectangle 10"/>
          <p:cNvSpPr/>
          <p:nvPr/>
        </p:nvSpPr>
        <p:spPr>
          <a:xfrm>
            <a:off x="777240"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92530"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92530"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5" name="TextBox 14"/>
          <p:cNvSpPr txBox="1"/>
          <p:nvPr/>
        </p:nvSpPr>
        <p:spPr>
          <a:xfrm>
            <a:off x="905256"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Dashboard: Paper account &gt; search SPY &gt; Buy</a:t>
            </a:r>
          </a:p>
        </p:txBody>
      </p:sp>
      <p:sp>
        <p:nvSpPr>
          <p:cNvPr id="16" name="TextBox 15"/>
          <p:cNvSpPr txBox="1"/>
          <p:nvPr/>
        </p:nvSpPr>
        <p:spPr>
          <a:xfrm>
            <a:off x="2302764"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17" name="Rectangle 16"/>
          <p:cNvSpPr/>
          <p:nvPr/>
        </p:nvSpPr>
        <p:spPr>
          <a:xfrm>
            <a:off x="2595372"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95372"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010662"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10662"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21" name="TextBox 20"/>
          <p:cNvSpPr txBox="1"/>
          <p:nvPr/>
        </p:nvSpPr>
        <p:spPr>
          <a:xfrm>
            <a:off x="2723388"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Watch Orders: new &gt; accepted &gt; filled</a:t>
            </a:r>
          </a:p>
        </p:txBody>
      </p:sp>
      <p:sp>
        <p:nvSpPr>
          <p:cNvPr id="22" name="TextBox 21"/>
          <p:cNvSpPr txBox="1"/>
          <p:nvPr/>
        </p:nvSpPr>
        <p:spPr>
          <a:xfrm>
            <a:off x="4120896"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23" name="Rectangle 22"/>
          <p:cNvSpPr/>
          <p:nvPr/>
        </p:nvSpPr>
        <p:spPr>
          <a:xfrm>
            <a:off x="4413504"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413504"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828794"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28794"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7" name="TextBox 26"/>
          <p:cNvSpPr txBox="1"/>
          <p:nvPr/>
        </p:nvSpPr>
        <p:spPr>
          <a:xfrm>
            <a:off x="4541520"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Outside US hours: extended-hours LIMIT orders</a:t>
            </a:r>
          </a:p>
        </p:txBody>
      </p:sp>
      <p:sp>
        <p:nvSpPr>
          <p:cNvPr id="28" name="TextBox 27"/>
          <p:cNvSpPr txBox="1"/>
          <p:nvPr/>
        </p:nvSpPr>
        <p:spPr>
          <a:xfrm>
            <a:off x="5939028"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29" name="Rectangle 28"/>
          <p:cNvSpPr/>
          <p:nvPr/>
        </p:nvSpPr>
        <p:spPr>
          <a:xfrm>
            <a:off x="6231636"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231636"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646926"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46926"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3" name="TextBox 32"/>
          <p:cNvSpPr txBox="1"/>
          <p:nvPr/>
        </p:nvSpPr>
        <p:spPr>
          <a:xfrm>
            <a:off x="6359652"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python -m pipeline execute (order manager)</a:t>
            </a:r>
          </a:p>
        </p:txBody>
      </p:sp>
      <p:sp>
        <p:nvSpPr>
          <p:cNvPr id="34" name="TextBox 33"/>
          <p:cNvSpPr txBox="1"/>
          <p:nvPr/>
        </p:nvSpPr>
        <p:spPr>
          <a:xfrm>
            <a:off x="7757160"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35" name="Rectangle 34"/>
          <p:cNvSpPr/>
          <p:nvPr/>
        </p:nvSpPr>
        <p:spPr>
          <a:xfrm>
            <a:off x="8049768"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049768"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465058"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465058"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9" name="TextBox 38"/>
          <p:cNvSpPr txBox="1"/>
          <p:nvPr/>
        </p:nvSpPr>
        <p:spPr>
          <a:xfrm>
            <a:off x="8177784"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python -m pipeline run --loop --live-paper</a:t>
            </a:r>
          </a:p>
        </p:txBody>
      </p:sp>
      <p:sp>
        <p:nvSpPr>
          <p:cNvPr id="40" name="TextBox 39"/>
          <p:cNvSpPr txBox="1"/>
          <p:nvPr/>
        </p:nvSpPr>
        <p:spPr>
          <a:xfrm>
            <a:off x="9575292"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41" name="Rectangle 40"/>
          <p:cNvSpPr/>
          <p:nvPr/>
        </p:nvSpPr>
        <p:spPr>
          <a:xfrm>
            <a:off x="9867900"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867900"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10283190"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283190"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6</a:t>
            </a:r>
          </a:p>
        </p:txBody>
      </p:sp>
      <p:sp>
        <p:nvSpPr>
          <p:cNvPr id="45" name="TextBox 44"/>
          <p:cNvSpPr txBox="1"/>
          <p:nvPr/>
        </p:nvSpPr>
        <p:spPr>
          <a:xfrm>
            <a:off x="9995916"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Check dashboard; kill switch to stop</a:t>
            </a:r>
          </a:p>
        </p:txBody>
      </p:sp>
      <p:sp>
        <p:nvSpPr>
          <p:cNvPr id="46" name="Rectangle 45"/>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77240" y="5257800"/>
            <a:ext cx="91440" cy="8229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From Singapore the US regular session is 21:30-04:00 (22:30-05:00 in northern winter); class-time orders use Alpaca's 24/5 extended-hours limit orders.</a:t>
            </a:r>
          </a:p>
        </p:txBody>
      </p:sp>
      <p:sp>
        <p:nvSpPr>
          <p:cNvPr id="49" name="TextBox 4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0" name="TextBox 4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1" name="TextBox 5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Order Lifecycle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K7</a:t>
            </a:r>
          </a:p>
        </p:txBody>
      </p:sp>
      <p:sp>
        <p:nvSpPr>
          <p:cNvPr id="10" name="TextBox 9"/>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A program must read the status — never assume a fill.</a:t>
            </a:r>
          </a:p>
        </p:txBody>
      </p:sp>
      <p:sp>
        <p:nvSpPr>
          <p:cNvPr id="11" name="Rectangle 10"/>
          <p:cNvSpPr/>
          <p:nvPr/>
        </p:nvSpPr>
        <p:spPr>
          <a:xfrm>
            <a:off x="777240"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374343"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74343"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5" name="TextBox 14"/>
          <p:cNvSpPr txBox="1"/>
          <p:nvPr/>
        </p:nvSpPr>
        <p:spPr>
          <a:xfrm>
            <a:off x="905256"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new</a:t>
            </a:r>
          </a:p>
        </p:txBody>
      </p:sp>
      <p:sp>
        <p:nvSpPr>
          <p:cNvPr id="16" name="TextBox 15"/>
          <p:cNvSpPr txBox="1"/>
          <p:nvPr/>
        </p:nvSpPr>
        <p:spPr>
          <a:xfrm>
            <a:off x="2666390"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17" name="Rectangle 16"/>
          <p:cNvSpPr/>
          <p:nvPr/>
        </p:nvSpPr>
        <p:spPr>
          <a:xfrm>
            <a:off x="2958998"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958998"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556101"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56101"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21" name="TextBox 20"/>
          <p:cNvSpPr txBox="1"/>
          <p:nvPr/>
        </p:nvSpPr>
        <p:spPr>
          <a:xfrm>
            <a:off x="3087014"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accepted</a:t>
            </a:r>
          </a:p>
        </p:txBody>
      </p:sp>
      <p:sp>
        <p:nvSpPr>
          <p:cNvPr id="22" name="TextBox 21"/>
          <p:cNvSpPr txBox="1"/>
          <p:nvPr/>
        </p:nvSpPr>
        <p:spPr>
          <a:xfrm>
            <a:off x="4848148"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23" name="Rectangle 22"/>
          <p:cNvSpPr/>
          <p:nvPr/>
        </p:nvSpPr>
        <p:spPr>
          <a:xfrm>
            <a:off x="5140756"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140756"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737859"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737859"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7" name="TextBox 26"/>
          <p:cNvSpPr txBox="1"/>
          <p:nvPr/>
        </p:nvSpPr>
        <p:spPr>
          <a:xfrm>
            <a:off x="5268772"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partially filled</a:t>
            </a:r>
          </a:p>
        </p:txBody>
      </p:sp>
      <p:sp>
        <p:nvSpPr>
          <p:cNvPr id="28" name="TextBox 27"/>
          <p:cNvSpPr txBox="1"/>
          <p:nvPr/>
        </p:nvSpPr>
        <p:spPr>
          <a:xfrm>
            <a:off x="7029906"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29" name="Rectangle 28"/>
          <p:cNvSpPr/>
          <p:nvPr/>
        </p:nvSpPr>
        <p:spPr>
          <a:xfrm>
            <a:off x="7322514"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22514"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919617"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919617"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3" name="TextBox 32"/>
          <p:cNvSpPr txBox="1"/>
          <p:nvPr/>
        </p:nvSpPr>
        <p:spPr>
          <a:xfrm>
            <a:off x="7450530"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filled</a:t>
            </a:r>
          </a:p>
        </p:txBody>
      </p:sp>
      <p:sp>
        <p:nvSpPr>
          <p:cNvPr id="34" name="TextBox 33"/>
          <p:cNvSpPr txBox="1"/>
          <p:nvPr/>
        </p:nvSpPr>
        <p:spPr>
          <a:xfrm>
            <a:off x="9211664"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35" name="Rectangle 34"/>
          <p:cNvSpPr/>
          <p:nvPr/>
        </p:nvSpPr>
        <p:spPr>
          <a:xfrm>
            <a:off x="9504272"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04272"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101375"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101375"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9" name="TextBox 38"/>
          <p:cNvSpPr txBox="1"/>
          <p:nvPr/>
        </p:nvSpPr>
        <p:spPr>
          <a:xfrm>
            <a:off x="9632288"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cancelled / expired / rejected</a:t>
            </a:r>
          </a:p>
        </p:txBody>
      </p:sp>
      <p:sp>
        <p:nvSpPr>
          <p:cNvPr id="40" name="Rectangle 39"/>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77240" y="5257800"/>
            <a:ext cx="91440" cy="8229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Bracket orders protect a position even if your program stops running.</a:t>
            </a:r>
          </a:p>
        </p:txBody>
      </p:sp>
      <p:sp>
        <p:nvSpPr>
          <p:cNvPr id="43" name="TextBox 4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4" name="TextBox 4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5" name="TextBox 4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A3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From Idea to Tested Rule on TradingView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A3</a:t>
            </a:r>
          </a:p>
        </p:txBody>
      </p:sp>
      <p:sp>
        <p:nvSpPr>
          <p:cNvPr id="10" name="Rectangle 9"/>
          <p:cNvSpPr/>
          <p:nvPr/>
        </p:nvSpPr>
        <p:spPr>
          <a:xfrm>
            <a:off x="777240"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92530"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92530"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4" name="TextBox 13"/>
          <p:cNvSpPr txBox="1"/>
          <p:nvPr/>
        </p:nvSpPr>
        <p:spPr>
          <a:xfrm>
            <a:off x="905256"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Chart the instrument and timeframe</a:t>
            </a:r>
          </a:p>
        </p:txBody>
      </p:sp>
      <p:sp>
        <p:nvSpPr>
          <p:cNvPr id="15" name="TextBox 14"/>
          <p:cNvSpPr txBox="1"/>
          <p:nvPr/>
        </p:nvSpPr>
        <p:spPr>
          <a:xfrm>
            <a:off x="2302764"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16" name="Rectangle 15"/>
          <p:cNvSpPr/>
          <p:nvPr/>
        </p:nvSpPr>
        <p:spPr>
          <a:xfrm>
            <a:off x="2595372"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95372"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010662"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010662"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20" name="TextBox 19"/>
          <p:cNvSpPr txBox="1"/>
          <p:nvPr/>
        </p:nvSpPr>
        <p:spPr>
          <a:xfrm>
            <a:off x="2723388"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Add indicators (Pine)</a:t>
            </a:r>
          </a:p>
        </p:txBody>
      </p:sp>
      <p:sp>
        <p:nvSpPr>
          <p:cNvPr id="21" name="TextBox 20"/>
          <p:cNvSpPr txBox="1"/>
          <p:nvPr/>
        </p:nvSpPr>
        <p:spPr>
          <a:xfrm>
            <a:off x="4120896"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22" name="Rectangle 21"/>
          <p:cNvSpPr/>
          <p:nvPr/>
        </p:nvSpPr>
        <p:spPr>
          <a:xfrm>
            <a:off x="4413504"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13504"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4828794"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28794"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6" name="TextBox 25"/>
          <p:cNvSpPr txBox="1"/>
          <p:nvPr/>
        </p:nvSpPr>
        <p:spPr>
          <a:xfrm>
            <a:off x="4541520"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Write the strategy() script</a:t>
            </a:r>
          </a:p>
        </p:txBody>
      </p:sp>
      <p:sp>
        <p:nvSpPr>
          <p:cNvPr id="27" name="TextBox 26"/>
          <p:cNvSpPr txBox="1"/>
          <p:nvPr/>
        </p:nvSpPr>
        <p:spPr>
          <a:xfrm>
            <a:off x="5939028"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28" name="Rectangle 27"/>
          <p:cNvSpPr/>
          <p:nvPr/>
        </p:nvSpPr>
        <p:spPr>
          <a:xfrm>
            <a:off x="6231636"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31636"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646926"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46926"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2" name="TextBox 31"/>
          <p:cNvSpPr txBox="1"/>
          <p:nvPr/>
        </p:nvSpPr>
        <p:spPr>
          <a:xfrm>
            <a:off x="6359652"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Set commission and slippage</a:t>
            </a:r>
          </a:p>
        </p:txBody>
      </p:sp>
      <p:sp>
        <p:nvSpPr>
          <p:cNvPr id="33" name="TextBox 32"/>
          <p:cNvSpPr txBox="1"/>
          <p:nvPr/>
        </p:nvSpPr>
        <p:spPr>
          <a:xfrm>
            <a:off x="7757160"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34" name="Rectangle 33"/>
          <p:cNvSpPr/>
          <p:nvPr/>
        </p:nvSpPr>
        <p:spPr>
          <a:xfrm>
            <a:off x="8049768"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49768"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465058"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65058"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8" name="TextBox 37"/>
          <p:cNvSpPr txBox="1"/>
          <p:nvPr/>
        </p:nvSpPr>
        <p:spPr>
          <a:xfrm>
            <a:off x="8177784"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Read the Strategy Tester</a:t>
            </a:r>
          </a:p>
        </p:txBody>
      </p:sp>
      <p:sp>
        <p:nvSpPr>
          <p:cNvPr id="39" name="TextBox 38"/>
          <p:cNvSpPr txBox="1"/>
          <p:nvPr/>
        </p:nvSpPr>
        <p:spPr>
          <a:xfrm>
            <a:off x="9575292"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40" name="Rectangle 39"/>
          <p:cNvSpPr/>
          <p:nvPr/>
        </p:nvSpPr>
        <p:spPr>
          <a:xfrm>
            <a:off x="9867900"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867900"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10283190"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283190"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6</a:t>
            </a:r>
          </a:p>
        </p:txBody>
      </p:sp>
      <p:sp>
        <p:nvSpPr>
          <p:cNvPr id="44" name="TextBox 43"/>
          <p:cNvSpPr txBox="1"/>
          <p:nvPr/>
        </p:nvSpPr>
        <p:spPr>
          <a:xfrm>
            <a:off x="9995916"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Compare with buy-and-hold</a:t>
            </a:r>
          </a:p>
        </p:txBody>
      </p:sp>
      <p:sp>
        <p:nvSpPr>
          <p:cNvPr id="45" name="Rectangle 44"/>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77240" y="5257800"/>
            <a:ext cx="91440" cy="8229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The Strategy Tester is a first filter; the full test with costs runs in Python.</a:t>
            </a:r>
          </a:p>
        </p:txBody>
      </p:sp>
      <p:sp>
        <p:nvSpPr>
          <p:cNvPr id="48" name="TextBox 4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9" name="TextBox 4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0" name="TextBox 4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Indicator Stage: Pine Script v6 Indicators and their Python Twins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875520" y="475488"/>
            <a:ext cx="1536192"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875520"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0" y="475488"/>
            <a:ext cx="1536192" cy="310896"/>
          </a:xfrm>
          <a:prstGeom prst="rect">
            <a:avLst/>
          </a:prstGeom>
          <a:noFill/>
        </p:spPr>
        <p:txBody>
          <a:bodyPr wrap="square" anchor="ctr">
            <a:spAutoFit/>
          </a:bodyPr>
          <a:lstStyle/>
          <a:p>
            <a:pPr algn="ctr">
              <a:spcAft>
                <a:spcPts val="400"/>
              </a:spcAft>
            </a:pPr>
            <a:r>
              <a:rPr sz="1100" b="1">
                <a:solidFill>
                  <a:srgbClr val="10B981"/>
                </a:solidFill>
                <a:latin typeface="Arial"/>
              </a:rPr>
              <a:t>A3  K3  K7</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05</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Plot SMA/EMA, Bollinger Bands, RSI and MACD and export a Pine Script v6 strategy for TradingView. Then build the same stage in code with your AI assistant.</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807083"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807083"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Overlay trend indicators</a:t>
            </a:r>
          </a:p>
        </p:txBody>
      </p:sp>
      <p:sp>
        <p:nvSpPr>
          <p:cNvPr id="19" name="TextBox 18"/>
          <p:cNvSpPr txBox="1"/>
          <p:nvPr/>
        </p:nvSpPr>
        <p:spPr>
          <a:xfrm>
            <a:off x="321183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3495294"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495294"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525137"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5137"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3605022"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Oscillators</a:t>
            </a:r>
          </a:p>
        </p:txBody>
      </p:sp>
      <p:sp>
        <p:nvSpPr>
          <p:cNvPr id="25" name="TextBox 24"/>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6213348"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13348"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243191"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43191"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6323076"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Export Pine Script v6</a:t>
            </a:r>
          </a:p>
        </p:txBody>
      </p:sp>
      <p:sp>
        <p:nvSpPr>
          <p:cNvPr id="31" name="TextBox 30"/>
          <p:cNvSpPr txBox="1"/>
          <p:nvPr/>
        </p:nvSpPr>
        <p:spPr>
          <a:xfrm>
            <a:off x="864793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8931402"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931402"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9961245"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61245"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9041130"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Code: rebuild the stage with your AI assistant</a:t>
            </a:r>
          </a:p>
        </p:txBody>
      </p:sp>
      <p:sp>
        <p:nvSpPr>
          <p:cNvPr id="37" name="Rectangle 36"/>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0" name="TextBox 39"/>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Pine Script v6 indicators on TradingView and their Python twins, cross-checked value by value.</a:t>
            </a:r>
          </a:p>
        </p:txBody>
      </p:sp>
      <p:sp>
        <p:nvSpPr>
          <p:cNvPr id="41" name="TextBox 40"/>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25 min</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05 · SIMULATOR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05 — In the Trading Simulator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05_indicators_pine.png"/>
          <p:cNvPicPr>
            <a:picLocks noChangeAspect="1"/>
          </p:cNvPicPr>
          <p:nvPr/>
        </p:nvPicPr>
        <p:blipFill>
          <a:blip r:embed="rId2"/>
          <a:stretch>
            <a:fillRect/>
          </a:stretch>
        </p:blipFill>
        <p:spPr>
          <a:xfrm>
            <a:off x="3599738" y="1828800"/>
            <a:ext cx="4992217" cy="3794760"/>
          </a:xfrm>
          <a:prstGeom prst="rect">
            <a:avLst/>
          </a:prstGeom>
        </p:spPr>
      </p:pic>
      <p:sp>
        <p:nvSpPr>
          <p:cNvPr id="8" name="Rectangle 7"/>
          <p:cNvSpPr/>
          <p:nvPr/>
        </p:nvSpPr>
        <p:spPr>
          <a:xfrm>
            <a:off x="3588766" y="1817827"/>
            <a:ext cx="5014163" cy="381670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6986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76986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76986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Course Labs &gt; Lab 05 at http://localhost:8000 - Data &gt; Chart SPY with SMA 50/200 and Bollinger. Offline demo data; connect Alpaca paper keys for live paper trading.</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Strategy Prototype: TradingView Strategy Tester, Paper Trading from the Chart and Pipeline Reconciliation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91472" y="475488"/>
            <a:ext cx="1920240"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491472"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91472" y="475488"/>
            <a:ext cx="1920240" cy="310896"/>
          </a:xfrm>
          <a:prstGeom prst="rect">
            <a:avLst/>
          </a:prstGeom>
          <a:noFill/>
        </p:spPr>
        <p:txBody>
          <a:bodyPr wrap="square" anchor="ctr">
            <a:spAutoFit/>
          </a:bodyPr>
          <a:lstStyle/>
          <a:p>
            <a:pPr algn="ctr">
              <a:spcAft>
                <a:spcPts val="400"/>
              </a:spcAft>
            </a:pPr>
            <a:r>
              <a:rPr sz="1100" b="1">
                <a:solidFill>
                  <a:srgbClr val="10B981"/>
                </a:solidFill>
                <a:latin typeface="Arial"/>
              </a:rPr>
              <a:t>A2  A3  K3  K7</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06</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Run the same MA-crossover in TradingView's Strategy Tester and in the app, reconcile the results, and try TradingView Paper Trading. Then build the same stage in code with your AI assistant.</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807083"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807083"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Backtest the SMA 50/200 crossover in the app</a:t>
            </a:r>
          </a:p>
        </p:txBody>
      </p:sp>
      <p:sp>
        <p:nvSpPr>
          <p:cNvPr id="19" name="TextBox 18"/>
          <p:cNvSpPr txBox="1"/>
          <p:nvPr/>
        </p:nvSpPr>
        <p:spPr>
          <a:xfrm>
            <a:off x="321183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3495294"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495294"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525137"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5137"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3605022"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Run it in TradingView</a:t>
            </a:r>
          </a:p>
        </p:txBody>
      </p:sp>
      <p:sp>
        <p:nvSpPr>
          <p:cNvPr id="25" name="TextBox 24"/>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6213348"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13348"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243191"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43191"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6323076"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Reconcile and paper trade on TradingView</a:t>
            </a:r>
          </a:p>
        </p:txBody>
      </p:sp>
      <p:sp>
        <p:nvSpPr>
          <p:cNvPr id="31" name="TextBox 30"/>
          <p:cNvSpPr txBox="1"/>
          <p:nvPr/>
        </p:nvSpPr>
        <p:spPr>
          <a:xfrm>
            <a:off x="864793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8931402"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931402"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9961245"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61245"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9041130"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Code: rebuild the stage with your AI assistant</a:t>
            </a:r>
          </a:p>
        </p:txBody>
      </p:sp>
      <p:sp>
        <p:nvSpPr>
          <p:cNvPr id="37" name="Rectangle 36"/>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0" name="TextBox 39"/>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 Pine MA-crossover strategy with costs, reconciled with the pipeline and paper-traded from the chart.</a:t>
            </a:r>
          </a:p>
        </p:txBody>
      </p:sp>
      <p:sp>
        <p:nvSpPr>
          <p:cNvPr id="41" name="TextBox 40"/>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30 min</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06 · SIMULATOR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06 — In the Trading Simulator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06_strategy_tester_reconcile.png"/>
          <p:cNvPicPr>
            <a:picLocks noChangeAspect="1"/>
          </p:cNvPicPr>
          <p:nvPr/>
        </p:nvPicPr>
        <p:blipFill>
          <a:blip r:embed="rId2"/>
          <a:stretch>
            <a:fillRect/>
          </a:stretch>
        </p:blipFill>
        <p:spPr>
          <a:xfrm>
            <a:off x="3599738" y="1828800"/>
            <a:ext cx="4992217" cy="3794760"/>
          </a:xfrm>
          <a:prstGeom prst="rect">
            <a:avLst/>
          </a:prstGeom>
        </p:spPr>
      </p:pic>
      <p:sp>
        <p:nvSpPr>
          <p:cNvPr id="8" name="Rectangle 7"/>
          <p:cNvSpPr/>
          <p:nvPr/>
        </p:nvSpPr>
        <p:spPr>
          <a:xfrm>
            <a:off x="3588766" y="1817827"/>
            <a:ext cx="5014163" cy="381670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6986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76986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76986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Course Labs &gt; Lab 06 at http://localhost:8000 - Backtest SPY SMA 50/200, Alpaca costs. Offline demo data; connect Alpaca paper keys for live paper trading.</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5B6372"/>
                </a:solidFill>
                <a:latin typeface="Arial"/>
              </a:rPr>
              <a:t>15 minutes  ·  see you at 15:40</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Signal Stage: a Library of Trend, Mean-Reversion, Momentum and Breakout Signals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875520" y="475488"/>
            <a:ext cx="1536192"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875520"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0" y="475488"/>
            <a:ext cx="1536192" cy="310896"/>
          </a:xfrm>
          <a:prstGeom prst="rect">
            <a:avLst/>
          </a:prstGeom>
          <a:noFill/>
        </p:spPr>
        <p:txBody>
          <a:bodyPr wrap="square" anchor="ctr">
            <a:spAutoFit/>
          </a:bodyPr>
          <a:lstStyle/>
          <a:p>
            <a:pPr algn="ctr">
              <a:spcAft>
                <a:spcPts val="400"/>
              </a:spcAft>
            </a:pPr>
            <a:r>
              <a:rPr sz="1100" b="1">
                <a:solidFill>
                  <a:srgbClr val="10B981"/>
                </a:solidFill>
                <a:latin typeface="Arial"/>
              </a:rPr>
              <a:t>A2  K3  K7</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07</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Pick and customise one strategy from each family and compare them after costs. Then build the same stage in code with your AI assistant.</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1936699"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1936699"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535277"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535277"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1717243" cy="877824"/>
          </a:xfrm>
          <a:prstGeom prst="rect">
            <a:avLst/>
          </a:prstGeom>
          <a:noFill/>
        </p:spPr>
        <p:txBody>
          <a:bodyPr wrap="square" anchor="t">
            <a:spAutoFit/>
          </a:bodyPr>
          <a:lstStyle/>
          <a:p>
            <a:pPr algn="ctr">
              <a:spcAft>
                <a:spcPts val="400"/>
              </a:spcAft>
            </a:pPr>
            <a:r>
              <a:rPr sz="1050" b="0">
                <a:solidFill>
                  <a:srgbClr val="161B26"/>
                </a:solidFill>
                <a:latin typeface="Arial"/>
              </a:rPr>
              <a:t>Simulator: Trend: EMA 20/50 on SPY</a:t>
            </a:r>
          </a:p>
        </p:txBody>
      </p:sp>
      <p:sp>
        <p:nvSpPr>
          <p:cNvPr id="19" name="TextBox 18"/>
          <p:cNvSpPr txBox="1"/>
          <p:nvPr/>
        </p:nvSpPr>
        <p:spPr>
          <a:xfrm>
            <a:off x="2668219"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2951683" y="3456432"/>
            <a:ext cx="1936699"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951683" y="3456432"/>
            <a:ext cx="1936699"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709720"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709720"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3061411" y="4114800"/>
            <a:ext cx="1717243" cy="877824"/>
          </a:xfrm>
          <a:prstGeom prst="rect">
            <a:avLst/>
          </a:prstGeom>
          <a:noFill/>
        </p:spPr>
        <p:txBody>
          <a:bodyPr wrap="square" anchor="t">
            <a:spAutoFit/>
          </a:bodyPr>
          <a:lstStyle/>
          <a:p>
            <a:pPr algn="ctr">
              <a:spcAft>
                <a:spcPts val="400"/>
              </a:spcAft>
            </a:pPr>
            <a:r>
              <a:rPr sz="1050" b="0">
                <a:solidFill>
                  <a:srgbClr val="161B26"/>
                </a:solidFill>
                <a:latin typeface="Arial"/>
              </a:rPr>
              <a:t>Simulator: Mean reversion: Bollinger on KO</a:t>
            </a:r>
          </a:p>
        </p:txBody>
      </p:sp>
      <p:sp>
        <p:nvSpPr>
          <p:cNvPr id="25" name="TextBox 24"/>
          <p:cNvSpPr txBox="1"/>
          <p:nvPr/>
        </p:nvSpPr>
        <p:spPr>
          <a:xfrm>
            <a:off x="4842662"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5126126" y="3456432"/>
            <a:ext cx="1936699"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126126" y="3456432"/>
            <a:ext cx="1936699"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884163"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84163"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5235854" y="4114800"/>
            <a:ext cx="1717243" cy="877824"/>
          </a:xfrm>
          <a:prstGeom prst="rect">
            <a:avLst/>
          </a:prstGeom>
          <a:noFill/>
        </p:spPr>
        <p:txBody>
          <a:bodyPr wrap="square" anchor="t">
            <a:spAutoFit/>
          </a:bodyPr>
          <a:lstStyle/>
          <a:p>
            <a:pPr algn="ctr">
              <a:spcAft>
                <a:spcPts val="400"/>
              </a:spcAft>
            </a:pPr>
            <a:r>
              <a:rPr sz="1050" b="0">
                <a:solidFill>
                  <a:srgbClr val="161B26"/>
                </a:solidFill>
                <a:latin typeface="Arial"/>
              </a:rPr>
              <a:t>Simulator: Momentum and breakout</a:t>
            </a:r>
          </a:p>
        </p:txBody>
      </p:sp>
      <p:sp>
        <p:nvSpPr>
          <p:cNvPr id="31" name="TextBox 30"/>
          <p:cNvSpPr txBox="1"/>
          <p:nvPr/>
        </p:nvSpPr>
        <p:spPr>
          <a:xfrm>
            <a:off x="7017105"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7300569" y="3456432"/>
            <a:ext cx="1936699"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300569" y="3456432"/>
            <a:ext cx="1936699"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05860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5860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7410297" y="4114800"/>
            <a:ext cx="1717243" cy="877824"/>
          </a:xfrm>
          <a:prstGeom prst="rect">
            <a:avLst/>
          </a:prstGeom>
          <a:noFill/>
        </p:spPr>
        <p:txBody>
          <a:bodyPr wrap="square" anchor="t">
            <a:spAutoFit/>
          </a:bodyPr>
          <a:lstStyle/>
          <a:p>
            <a:pPr algn="ctr">
              <a:spcAft>
                <a:spcPts val="400"/>
              </a:spcAft>
            </a:pPr>
            <a:r>
              <a:rPr sz="1050" b="0">
                <a:solidFill>
                  <a:srgbClr val="161B26"/>
                </a:solidFill>
                <a:latin typeface="Arial"/>
              </a:rPr>
              <a:t>Simulator: Read each strategy's explanation</a:t>
            </a:r>
          </a:p>
        </p:txBody>
      </p:sp>
      <p:sp>
        <p:nvSpPr>
          <p:cNvPr id="37" name="TextBox 36"/>
          <p:cNvSpPr txBox="1"/>
          <p:nvPr/>
        </p:nvSpPr>
        <p:spPr>
          <a:xfrm>
            <a:off x="91915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8" name="Rectangle 37"/>
          <p:cNvSpPr/>
          <p:nvPr/>
        </p:nvSpPr>
        <p:spPr>
          <a:xfrm>
            <a:off x="9475012" y="3456432"/>
            <a:ext cx="1936699"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475012" y="3456432"/>
            <a:ext cx="1936699"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233049"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233049"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5</a:t>
            </a:r>
          </a:p>
        </p:txBody>
      </p:sp>
      <p:sp>
        <p:nvSpPr>
          <p:cNvPr id="42" name="TextBox 41"/>
          <p:cNvSpPr txBox="1"/>
          <p:nvPr/>
        </p:nvSpPr>
        <p:spPr>
          <a:xfrm>
            <a:off x="9584740" y="4114800"/>
            <a:ext cx="1717243" cy="877824"/>
          </a:xfrm>
          <a:prstGeom prst="rect">
            <a:avLst/>
          </a:prstGeom>
          <a:noFill/>
        </p:spPr>
        <p:txBody>
          <a:bodyPr wrap="square" anchor="t">
            <a:spAutoFit/>
          </a:bodyPr>
          <a:lstStyle/>
          <a:p>
            <a:pPr algn="ctr">
              <a:spcAft>
                <a:spcPts val="400"/>
              </a:spcAft>
            </a:pPr>
            <a:r>
              <a:rPr sz="1050" b="0">
                <a:solidFill>
                  <a:srgbClr val="161B26"/>
                </a:solidFill>
                <a:latin typeface="Arial"/>
              </a:rPr>
              <a:t>Code: rebuild the stage with your AI assistant</a:t>
            </a:r>
          </a:p>
        </p:txBody>
      </p:sp>
      <p:sp>
        <p:nvSpPr>
          <p:cNvPr id="43" name="Rectangle 42"/>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6" name="TextBox 45"/>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 signal library (trend, mean reversion, momentum, breakout) with next-bar alignment and look-ahead tests.</a:t>
            </a:r>
          </a:p>
        </p:txBody>
      </p:sp>
      <p:sp>
        <p:nvSpPr>
          <p:cNvPr id="47" name="TextBox 46"/>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25 min</a:t>
            </a:r>
          </a:p>
        </p:txBody>
      </p:sp>
      <p:sp>
        <p:nvSpPr>
          <p:cNvPr id="48" name="TextBox 4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9" name="TextBox 4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0" name="TextBox 4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07 · SIMULATOR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07 — In the Trading Simulator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07_strategy_library.png"/>
          <p:cNvPicPr>
            <a:picLocks noChangeAspect="1"/>
          </p:cNvPicPr>
          <p:nvPr/>
        </p:nvPicPr>
        <p:blipFill>
          <a:blip r:embed="rId2"/>
          <a:stretch>
            <a:fillRect/>
          </a:stretch>
        </p:blipFill>
        <p:spPr>
          <a:xfrm>
            <a:off x="3599738" y="1828800"/>
            <a:ext cx="4992217" cy="3794760"/>
          </a:xfrm>
          <a:prstGeom prst="rect">
            <a:avLst/>
          </a:prstGeom>
        </p:spPr>
      </p:pic>
      <p:sp>
        <p:nvSpPr>
          <p:cNvPr id="8" name="Rectangle 7"/>
          <p:cNvSpPr/>
          <p:nvPr/>
        </p:nvSpPr>
        <p:spPr>
          <a:xfrm>
            <a:off x="3588766" y="1817827"/>
            <a:ext cx="5014163" cy="381670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6986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76986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76986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Course Labs &gt; Lab 07 at http://localhost:8000 - Backtest SPY EMA 20/50, Alpaca costs. Offline demo data; connect Alpaca paper keys for live paper trading.</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Execution Stage: an Order Manager that Trades the Paper Account in Any Session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259568" y="475488"/>
            <a:ext cx="1152144"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259568"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475488"/>
            <a:ext cx="1152144" cy="310896"/>
          </a:xfrm>
          <a:prstGeom prst="rect">
            <a:avLst/>
          </a:prstGeom>
          <a:noFill/>
        </p:spPr>
        <p:txBody>
          <a:bodyPr wrap="square" anchor="ctr">
            <a:spAutoFit/>
          </a:bodyPr>
          <a:lstStyle/>
          <a:p>
            <a:pPr algn="ctr">
              <a:spcAft>
                <a:spcPts val="400"/>
              </a:spcAft>
            </a:pPr>
            <a:r>
              <a:rPr sz="1100" b="1">
                <a:solidFill>
                  <a:srgbClr val="10B981"/>
                </a:solidFill>
                <a:latin typeface="Arial"/>
              </a:rPr>
              <a:t>A3  K5</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08</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Place market, limit, stop and bracket paper orders, including an extended-hours limit order, and follow each order's lifecycle. Then build the same stage in code with your AI assistant.</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1936699"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1936699"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535277"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535277"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1717243" cy="877824"/>
          </a:xfrm>
          <a:prstGeom prst="rect">
            <a:avLst/>
          </a:prstGeom>
          <a:noFill/>
        </p:spPr>
        <p:txBody>
          <a:bodyPr wrap="square" anchor="t">
            <a:spAutoFit/>
          </a:bodyPr>
          <a:lstStyle/>
          <a:p>
            <a:pPr algn="ctr">
              <a:spcAft>
                <a:spcPts val="400"/>
              </a:spcAft>
            </a:pPr>
            <a:r>
              <a:rPr sz="1050" b="0">
                <a:solidFill>
                  <a:srgbClr val="161B26"/>
                </a:solidFill>
                <a:latin typeface="Arial"/>
              </a:rPr>
              <a:t>Simulator: Market order in the regular session</a:t>
            </a:r>
          </a:p>
        </p:txBody>
      </p:sp>
      <p:sp>
        <p:nvSpPr>
          <p:cNvPr id="19" name="TextBox 18"/>
          <p:cNvSpPr txBox="1"/>
          <p:nvPr/>
        </p:nvSpPr>
        <p:spPr>
          <a:xfrm>
            <a:off x="2668219"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2951683" y="3456432"/>
            <a:ext cx="1936699"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951683" y="3456432"/>
            <a:ext cx="1936699"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709720"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709720"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3061411" y="4114800"/>
            <a:ext cx="1717243" cy="877824"/>
          </a:xfrm>
          <a:prstGeom prst="rect">
            <a:avLst/>
          </a:prstGeom>
          <a:noFill/>
        </p:spPr>
        <p:txBody>
          <a:bodyPr wrap="square" anchor="t">
            <a:spAutoFit/>
          </a:bodyPr>
          <a:lstStyle/>
          <a:p>
            <a:pPr algn="ctr">
              <a:spcAft>
                <a:spcPts val="400"/>
              </a:spcAft>
            </a:pPr>
            <a:r>
              <a:rPr sz="1050" b="0">
                <a:solidFill>
                  <a:srgbClr val="161B26"/>
                </a:solidFill>
                <a:latin typeface="Arial"/>
              </a:rPr>
              <a:t>Simulator: Extended-hours limit order (Singapore class hours)</a:t>
            </a:r>
          </a:p>
        </p:txBody>
      </p:sp>
      <p:sp>
        <p:nvSpPr>
          <p:cNvPr id="25" name="TextBox 24"/>
          <p:cNvSpPr txBox="1"/>
          <p:nvPr/>
        </p:nvSpPr>
        <p:spPr>
          <a:xfrm>
            <a:off x="4842662"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5126126" y="3456432"/>
            <a:ext cx="1936699"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126126" y="3456432"/>
            <a:ext cx="1936699"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884163"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84163"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5235854" y="4114800"/>
            <a:ext cx="1717243" cy="877824"/>
          </a:xfrm>
          <a:prstGeom prst="rect">
            <a:avLst/>
          </a:prstGeom>
          <a:noFill/>
        </p:spPr>
        <p:txBody>
          <a:bodyPr wrap="square" anchor="t">
            <a:spAutoFit/>
          </a:bodyPr>
          <a:lstStyle/>
          <a:p>
            <a:pPr algn="ctr">
              <a:spcAft>
                <a:spcPts val="400"/>
              </a:spcAft>
            </a:pPr>
            <a:r>
              <a:rPr sz="1050" b="0">
                <a:solidFill>
                  <a:srgbClr val="161B26"/>
                </a:solidFill>
                <a:latin typeface="Arial"/>
              </a:rPr>
              <a:t>Simulator: Bracket order</a:t>
            </a:r>
          </a:p>
        </p:txBody>
      </p:sp>
      <p:sp>
        <p:nvSpPr>
          <p:cNvPr id="31" name="TextBox 30"/>
          <p:cNvSpPr txBox="1"/>
          <p:nvPr/>
        </p:nvSpPr>
        <p:spPr>
          <a:xfrm>
            <a:off x="7017105"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7300569" y="3456432"/>
            <a:ext cx="1936699"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300569" y="3456432"/>
            <a:ext cx="1936699"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05860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5860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7410297" y="4114800"/>
            <a:ext cx="1717243" cy="877824"/>
          </a:xfrm>
          <a:prstGeom prst="rect">
            <a:avLst/>
          </a:prstGeom>
          <a:noFill/>
        </p:spPr>
        <p:txBody>
          <a:bodyPr wrap="square" anchor="t">
            <a:spAutoFit/>
          </a:bodyPr>
          <a:lstStyle/>
          <a:p>
            <a:pPr algn="ctr">
              <a:spcAft>
                <a:spcPts val="400"/>
              </a:spcAft>
            </a:pPr>
            <a:r>
              <a:rPr sz="1050" b="0">
                <a:solidFill>
                  <a:srgbClr val="161B26"/>
                </a:solidFill>
                <a:latin typeface="Arial"/>
              </a:rPr>
              <a:t>Simulator: Queue while closed and cancel</a:t>
            </a:r>
          </a:p>
        </p:txBody>
      </p:sp>
      <p:sp>
        <p:nvSpPr>
          <p:cNvPr id="37" name="TextBox 36"/>
          <p:cNvSpPr txBox="1"/>
          <p:nvPr/>
        </p:nvSpPr>
        <p:spPr>
          <a:xfrm>
            <a:off x="91915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8" name="Rectangle 37"/>
          <p:cNvSpPr/>
          <p:nvPr/>
        </p:nvSpPr>
        <p:spPr>
          <a:xfrm>
            <a:off x="9475012" y="3456432"/>
            <a:ext cx="1936699"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475012" y="3456432"/>
            <a:ext cx="1936699"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233049"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233049"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5</a:t>
            </a:r>
          </a:p>
        </p:txBody>
      </p:sp>
      <p:sp>
        <p:nvSpPr>
          <p:cNvPr id="42" name="TextBox 41"/>
          <p:cNvSpPr txBox="1"/>
          <p:nvPr/>
        </p:nvSpPr>
        <p:spPr>
          <a:xfrm>
            <a:off x="9584740" y="4114800"/>
            <a:ext cx="1717243" cy="877824"/>
          </a:xfrm>
          <a:prstGeom prst="rect">
            <a:avLst/>
          </a:prstGeom>
          <a:noFill/>
        </p:spPr>
        <p:txBody>
          <a:bodyPr wrap="square" anchor="t">
            <a:spAutoFit/>
          </a:bodyPr>
          <a:lstStyle/>
          <a:p>
            <a:pPr algn="ctr">
              <a:spcAft>
                <a:spcPts val="400"/>
              </a:spcAft>
            </a:pPr>
            <a:r>
              <a:rPr sz="1050" b="0">
                <a:solidFill>
                  <a:srgbClr val="161B26"/>
                </a:solidFill>
                <a:latin typeface="Arial"/>
              </a:rPr>
              <a:t>Code: rebuild the stage with your AI assistant</a:t>
            </a:r>
          </a:p>
        </p:txBody>
      </p:sp>
      <p:sp>
        <p:nvSpPr>
          <p:cNvPr id="43" name="Rectangle 42"/>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6" name="TextBox 45"/>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An order manager that turns target positions into paper orders in regular or extended hours.</a:t>
            </a:r>
          </a:p>
        </p:txBody>
      </p:sp>
      <p:sp>
        <p:nvSpPr>
          <p:cNvPr id="47" name="TextBox 46"/>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30 min</a:t>
            </a:r>
          </a:p>
        </p:txBody>
      </p:sp>
      <p:sp>
        <p:nvSpPr>
          <p:cNvPr id="48" name="TextBox 4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9" name="TextBox 4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0" name="TextBox 4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08 · SIMULATOR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08 — In the Trading Simulator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08_paper_orders.png"/>
          <p:cNvPicPr>
            <a:picLocks noChangeAspect="1"/>
          </p:cNvPicPr>
          <p:nvPr/>
        </p:nvPicPr>
        <p:blipFill>
          <a:blip r:embed="rId2"/>
          <a:stretch>
            <a:fillRect/>
          </a:stretch>
        </p:blipFill>
        <p:spPr>
          <a:xfrm>
            <a:off x="3599738" y="1828800"/>
            <a:ext cx="4992217" cy="3794760"/>
          </a:xfrm>
          <a:prstGeom prst="rect">
            <a:avLst/>
          </a:prstGeom>
        </p:spPr>
      </p:pic>
      <p:sp>
        <p:nvSpPr>
          <p:cNvPr id="8" name="Rectangle 7"/>
          <p:cNvSpPr/>
          <p:nvPr/>
        </p:nvSpPr>
        <p:spPr>
          <a:xfrm>
            <a:off x="3588766" y="1817827"/>
            <a:ext cx="5014163" cy="381670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6986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76986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76986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Course Labs &gt; Lab 08 at http://localhost:8000 - Paper Trading &gt; Order ticket. Offline demo data; connect Alpaca paper keys for live paper trading.</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Evaluation Stage: Performance and Risk Metrics with a Benchmark Table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259568" y="475488"/>
            <a:ext cx="1152144"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259568"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475488"/>
            <a:ext cx="1152144" cy="310896"/>
          </a:xfrm>
          <a:prstGeom prst="rect">
            <a:avLst/>
          </a:prstGeom>
          <a:noFill/>
        </p:spPr>
        <p:txBody>
          <a:bodyPr wrap="square" anchor="ctr">
            <a:spAutoFit/>
          </a:bodyPr>
          <a:lstStyle/>
          <a:p>
            <a:pPr algn="ctr">
              <a:spcAft>
                <a:spcPts val="400"/>
              </a:spcAft>
            </a:pPr>
            <a:r>
              <a:rPr sz="1100" b="1">
                <a:solidFill>
                  <a:srgbClr val="10B981"/>
                </a:solidFill>
                <a:latin typeface="Arial"/>
              </a:rPr>
              <a:t>A3  K3</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09</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Read the full metrics table and compare a strategy with buy-and-hold. Then build the same stage in code with your AI assistant.</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807083"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807083"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Open the analytics</a:t>
            </a:r>
          </a:p>
        </p:txBody>
      </p:sp>
      <p:sp>
        <p:nvSpPr>
          <p:cNvPr id="19" name="TextBox 18"/>
          <p:cNvSpPr txBox="1"/>
          <p:nvPr/>
        </p:nvSpPr>
        <p:spPr>
          <a:xfrm>
            <a:off x="321183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3495294"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495294"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525137"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5137"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3605022"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Compare with buy-and-hold</a:t>
            </a:r>
          </a:p>
        </p:txBody>
      </p:sp>
      <p:sp>
        <p:nvSpPr>
          <p:cNvPr id="25" name="TextBox 24"/>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6213348"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13348"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243191"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43191"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6323076"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Glossary</a:t>
            </a:r>
          </a:p>
        </p:txBody>
      </p:sp>
      <p:sp>
        <p:nvSpPr>
          <p:cNvPr id="31" name="TextBox 30"/>
          <p:cNvSpPr txBox="1"/>
          <p:nvPr/>
        </p:nvSpPr>
        <p:spPr>
          <a:xfrm>
            <a:off x="864793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8931402"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931402"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9961245"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61245"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9041130"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Code: rebuild the stage with your AI assistant</a:t>
            </a:r>
          </a:p>
        </p:txBody>
      </p:sp>
      <p:sp>
        <p:nvSpPr>
          <p:cNvPr id="37" name="Rectangle 36"/>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0" name="TextBox 39"/>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An evaluation stage producing the metrics and benchmark table for every strategy.</a:t>
            </a:r>
          </a:p>
        </p:txBody>
      </p:sp>
      <p:sp>
        <p:nvSpPr>
          <p:cNvPr id="41" name="TextBox 40"/>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25 min</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09 · SIMULATOR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09 — In the Trading Simulator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09_analytics.png"/>
          <p:cNvPicPr>
            <a:picLocks noChangeAspect="1"/>
          </p:cNvPicPr>
          <p:nvPr/>
        </p:nvPicPr>
        <p:blipFill>
          <a:blip r:embed="rId2"/>
          <a:stretch>
            <a:fillRect/>
          </a:stretch>
        </p:blipFill>
        <p:spPr>
          <a:xfrm>
            <a:off x="3599738" y="1828800"/>
            <a:ext cx="4992217" cy="3794760"/>
          </a:xfrm>
          <a:prstGeom prst="rect">
            <a:avLst/>
          </a:prstGeom>
        </p:spPr>
      </p:pic>
      <p:sp>
        <p:nvSpPr>
          <p:cNvPr id="8" name="Rectangle 7"/>
          <p:cNvSpPr/>
          <p:nvPr/>
        </p:nvSpPr>
        <p:spPr>
          <a:xfrm>
            <a:off x="3588766" y="1817827"/>
            <a:ext cx="5014163" cy="381670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6986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76986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76986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Course Labs &gt; Lab 09 at http://localhost:8000 - Analytics. Offline demo data; connect Alpaca paper keys for live paper trading.</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WHAT YOU COVERED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Topic 2 Recap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07424" y="475488"/>
            <a:ext cx="2304288"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07424"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07424" y="475488"/>
            <a:ext cx="2304288" cy="310896"/>
          </a:xfrm>
          <a:prstGeom prst="rect">
            <a:avLst/>
          </a:prstGeom>
          <a:noFill/>
        </p:spPr>
        <p:txBody>
          <a:bodyPr wrap="square" anchor="ctr">
            <a:spAutoFit/>
          </a:bodyPr>
          <a:lstStyle/>
          <a:p>
            <a:pPr algn="ctr">
              <a:spcAft>
                <a:spcPts val="400"/>
              </a:spcAft>
            </a:pPr>
            <a:r>
              <a:rPr sz="1100" b="1">
                <a:solidFill>
                  <a:srgbClr val="10B981"/>
                </a:solidFill>
                <a:latin typeface="Arial"/>
              </a:rPr>
              <a:t>A2  A3  K3  K5  K7</a:t>
            </a:r>
          </a:p>
        </p:txBody>
      </p:sp>
      <p:sp>
        <p:nvSpPr>
          <p:cNvPr id="10" name="Rectangle 9"/>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A2</a:t>
            </a:r>
          </a:p>
          <a:p>
            <a:pPr algn="l">
              <a:spcAft>
                <a:spcPts val="300"/>
              </a:spcAft>
            </a:pPr>
            <a:r>
              <a:rPr sz="1000" b="0">
                <a:solidFill>
                  <a:srgbClr val="5B6372"/>
                </a:solidFill>
                <a:latin typeface="Arial"/>
              </a:rPr>
              <a:t>Identify appropriate statistical algorithms and data models to test hypotheses and/or theories</a:t>
            </a:r>
          </a:p>
        </p:txBody>
      </p:sp>
      <p:sp>
        <p:nvSpPr>
          <p:cNvPr id="15" name="Rectangle 14"/>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1764792" y="2832811"/>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A3</a:t>
            </a:r>
          </a:p>
          <a:p>
            <a:pPr algn="l">
              <a:spcAft>
                <a:spcPts val="300"/>
              </a:spcAft>
            </a:pPr>
            <a:r>
              <a:rPr sz="1000" b="0">
                <a:solidFill>
                  <a:srgbClr val="5B6372"/>
                </a:solidFill>
                <a:latin typeface="Arial"/>
              </a:rPr>
              <a:t>Use appropriate analytics platforms, analytical tools, statistical methods and analytical approaches given specific analytics and reporting requirements</a:t>
            </a:r>
          </a:p>
        </p:txBody>
      </p:sp>
      <p:sp>
        <p:nvSpPr>
          <p:cNvPr id="20" name="Rectangle 19"/>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375452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K3</a:t>
            </a:r>
          </a:p>
          <a:p>
            <a:pPr algn="l">
              <a:spcAft>
                <a:spcPts val="300"/>
              </a:spcAft>
            </a:pPr>
            <a:r>
              <a:rPr sz="1000" b="0">
                <a:solidFill>
                  <a:srgbClr val="5B6372"/>
                </a:solidFill>
                <a:latin typeface="Arial"/>
              </a:rPr>
              <a:t>Range and application of various statistical methods and algorithms</a:t>
            </a:r>
          </a:p>
        </p:txBody>
      </p:sp>
      <p:sp>
        <p:nvSpPr>
          <p:cNvPr id="25" name="Rectangle 24"/>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1764792" y="4676241"/>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K5</a:t>
            </a:r>
          </a:p>
          <a:p>
            <a:pPr algn="l">
              <a:spcAft>
                <a:spcPts val="300"/>
              </a:spcAft>
            </a:pPr>
            <a:r>
              <a:rPr sz="1000" b="0">
                <a:solidFill>
                  <a:srgbClr val="5B6372"/>
                </a:solidFill>
                <a:latin typeface="Arial"/>
              </a:rPr>
              <a:t>Usage of analytics platforms and tools</a:t>
            </a:r>
          </a:p>
        </p:txBody>
      </p:sp>
      <p:sp>
        <p:nvSpPr>
          <p:cNvPr id="30" name="Rectangle 29"/>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4" name="TextBox 33"/>
          <p:cNvSpPr txBox="1"/>
          <p:nvPr/>
        </p:nvSpPr>
        <p:spPr>
          <a:xfrm>
            <a:off x="1764792" y="559795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K7</a:t>
            </a:r>
          </a:p>
          <a:p>
            <a:pPr algn="l">
              <a:spcAft>
                <a:spcPts val="300"/>
              </a:spcAft>
            </a:pPr>
            <a:r>
              <a:rPr sz="1000" b="0">
                <a:solidFill>
                  <a:srgbClr val="5B6372"/>
                </a:solidFill>
                <a:latin typeface="Arial"/>
              </a:rPr>
              <a:t>Coding languages for programming of algorithms and signals</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End of Day 1</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5B6372"/>
                </a:solidFill>
                <a:latin typeface="Arial"/>
              </a:rPr>
              <a:t>See you at 09:00 tomorrow</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84048"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1874519"/>
            <a:ext cx="8778240" cy="457200"/>
          </a:xfrm>
          <a:prstGeom prst="rect">
            <a:avLst/>
          </a:prstGeom>
          <a:noFill/>
        </p:spPr>
        <p:txBody>
          <a:bodyPr wrap="square" anchor="t">
            <a:spAutoFit/>
          </a:bodyPr>
          <a:lstStyle/>
          <a:p>
            <a:pPr algn="l">
              <a:spcAft>
                <a:spcPts val="400"/>
              </a:spcAft>
            </a:pPr>
            <a:r>
              <a:rPr sz="1600" b="1">
                <a:solidFill>
                  <a:srgbClr val="7C3AED"/>
                </a:solidFill>
                <a:latin typeface="Arial"/>
              </a:rPr>
              <a:t>TOPIC 3</a:t>
            </a:r>
          </a:p>
        </p:txBody>
      </p:sp>
      <p:sp>
        <p:nvSpPr>
          <p:cNvPr id="5" name="TextBox 4"/>
          <p:cNvSpPr txBox="1"/>
          <p:nvPr/>
        </p:nvSpPr>
        <p:spPr>
          <a:xfrm>
            <a:off x="1188720" y="2331720"/>
            <a:ext cx="9509760" cy="914400"/>
          </a:xfrm>
          <a:prstGeom prst="rect">
            <a:avLst/>
          </a:prstGeom>
          <a:noFill/>
        </p:spPr>
        <p:txBody>
          <a:bodyPr wrap="square" anchor="t">
            <a:spAutoFit/>
          </a:bodyPr>
          <a:lstStyle/>
          <a:p>
            <a:pPr algn="l">
              <a:spcAft>
                <a:spcPts val="400"/>
              </a:spcAft>
            </a:pPr>
            <a:r>
              <a:rPr sz="4000" b="1">
                <a:solidFill>
                  <a:srgbClr val="161B26"/>
                </a:solidFill>
                <a:latin typeface="Arial"/>
              </a:rPr>
              <a:t>ML Models and A/B Testing</a:t>
            </a:r>
          </a:p>
        </p:txBody>
      </p:sp>
      <p:sp>
        <p:nvSpPr>
          <p:cNvPr id="6" name="Rectangle 5"/>
          <p:cNvSpPr/>
          <p:nvPr/>
        </p:nvSpPr>
        <p:spPr>
          <a:xfrm>
            <a:off x="1188720" y="3429000"/>
            <a:ext cx="9509760"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88720" y="3429000"/>
            <a:ext cx="82296" cy="1234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81328" y="3429000"/>
            <a:ext cx="9052560" cy="1234440"/>
          </a:xfrm>
          <a:prstGeom prst="rect">
            <a:avLst/>
          </a:prstGeom>
          <a:noFill/>
        </p:spPr>
        <p:txBody>
          <a:bodyPr wrap="square" anchor="ctr">
            <a:spAutoFit/>
          </a:bodyPr>
          <a:lstStyle/>
          <a:p>
            <a:pPr algn="l">
              <a:spcAft>
                <a:spcPts val="400"/>
              </a:spcAft>
            </a:pPr>
            <a:r>
              <a:rPr sz="1050" b="1">
                <a:solidFill>
                  <a:srgbClr val="7C3AED"/>
                </a:solidFill>
                <a:latin typeface="Arial"/>
              </a:rPr>
              <a:t>LEARNING OUTCOME</a:t>
            </a:r>
          </a:p>
          <a:p>
            <a:pPr algn="l">
              <a:spcAft>
                <a:spcPts val="400"/>
              </a:spcAft>
            </a:pPr>
            <a:r>
              <a:rPr sz="1350" b="0">
                <a:solidFill>
                  <a:srgbClr val="161B26"/>
                </a:solidFill>
                <a:latin typeface="Arial"/>
              </a:rPr>
              <a:t>Conduct statistical modelling of market data with machine learning models to derive patterns and solutions, and perform A/B testing of trading strategies based on different hypotheses.</a:t>
            </a:r>
          </a:p>
        </p:txBody>
      </p:sp>
      <p:sp>
        <p:nvSpPr>
          <p:cNvPr id="9" name="TextBox 8"/>
          <p:cNvSpPr txBox="1"/>
          <p:nvPr/>
        </p:nvSpPr>
        <p:spPr>
          <a:xfrm>
            <a:off x="1188720" y="4892040"/>
            <a:ext cx="9509760" cy="457200"/>
          </a:xfrm>
          <a:prstGeom prst="rect">
            <a:avLst/>
          </a:prstGeom>
          <a:noFill/>
        </p:spPr>
        <p:txBody>
          <a:bodyPr wrap="square" anchor="t">
            <a:spAutoFit/>
          </a:bodyPr>
          <a:lstStyle/>
          <a:p>
            <a:pPr algn="l">
              <a:spcAft>
                <a:spcPts val="400"/>
              </a:spcAft>
            </a:pPr>
            <a:r>
              <a:rPr sz="1150" b="0">
                <a:solidFill>
                  <a:srgbClr val="5B6372"/>
                </a:solidFill>
                <a:latin typeface="Arial"/>
              </a:rPr>
              <a:t>Abilities A4, A5  ·  Knowledge K2, K4, K6   ·   Day 2   ·   Labs 10–14   ·   Assessed by PP Task 3 and WA Q2, Q4, Q6</a:t>
            </a:r>
          </a:p>
        </p:txBody>
      </p:sp>
      <p:sp>
        <p:nvSpPr>
          <p:cNvPr id="10" name="TextBox 9"/>
          <p:cNvSpPr txBox="1"/>
          <p:nvPr/>
        </p:nvSpPr>
        <p:spPr>
          <a:xfrm>
            <a:off x="9692640" y="914400"/>
            <a:ext cx="2011680" cy="2011680"/>
          </a:xfrm>
          <a:prstGeom prst="rect">
            <a:avLst/>
          </a:prstGeom>
          <a:noFill/>
        </p:spPr>
        <p:txBody>
          <a:bodyPr wrap="square" anchor="t">
            <a:spAutoFit/>
          </a:bodyPr>
          <a:lstStyle/>
          <a:p>
            <a:pPr algn="r">
              <a:spcAft>
                <a:spcPts val="400"/>
              </a:spcAft>
            </a:pPr>
            <a:r>
              <a:rPr sz="9600" b="1">
                <a:solidFill>
                  <a:srgbClr val="F5F8FC"/>
                </a:solidFill>
                <a:latin typeface="Arial"/>
              </a:rPr>
              <a:t>03</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K2</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Types of Statistical Analyses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K2</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Descriptive</a:t>
            </a:r>
          </a:p>
          <a:p>
            <a:pPr algn="l">
              <a:spcAft>
                <a:spcPts val="300"/>
              </a:spcAft>
            </a:pPr>
            <a:r>
              <a:rPr sz="1150" b="0">
                <a:solidFill>
                  <a:srgbClr val="5B6372"/>
                </a:solidFill>
                <a:latin typeface="Arial"/>
              </a:rPr>
              <a:t>What happened — mean return, volatility, skew, correlation.</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Inferential</a:t>
            </a:r>
          </a:p>
          <a:p>
            <a:pPr algn="l">
              <a:spcAft>
                <a:spcPts val="300"/>
              </a:spcAft>
            </a:pPr>
            <a:r>
              <a:rPr sz="1150" b="0">
                <a:solidFill>
                  <a:srgbClr val="5B6372"/>
                </a:solidFill>
                <a:latin typeface="Arial"/>
              </a:rPr>
              <a:t>Is it real? — t-test, bootstrap, confidence intervals.</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Predictive</a:t>
            </a:r>
          </a:p>
          <a:p>
            <a:pPr algn="l">
              <a:spcAft>
                <a:spcPts val="300"/>
              </a:spcAft>
            </a:pPr>
            <a:r>
              <a:rPr sz="1150" b="0">
                <a:solidFill>
                  <a:srgbClr val="5B6372"/>
                </a:solidFill>
                <a:latin typeface="Arial"/>
              </a:rPr>
              <a:t>What next? — regression, classification.</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Prescriptive</a:t>
            </a:r>
          </a:p>
          <a:p>
            <a:pPr algn="l">
              <a:spcAft>
                <a:spcPts val="300"/>
              </a:spcAft>
            </a:pPr>
            <a:r>
              <a:rPr sz="1150" b="0">
                <a:solidFill>
                  <a:srgbClr val="5B6372"/>
                </a:solidFill>
                <a:latin typeface="Arial"/>
              </a:rPr>
              <a:t>What to do? — optimisation, position sizing.</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K2</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Families of Learning Algorithms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K2</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Supervised</a:t>
            </a:r>
          </a:p>
          <a:p>
            <a:pPr algn="l">
              <a:spcAft>
                <a:spcPts val="300"/>
              </a:spcAft>
            </a:pPr>
            <a:r>
              <a:rPr sz="1150" b="0">
                <a:solidFill>
                  <a:srgbClr val="5B6372"/>
                </a:solidFill>
                <a:latin typeface="Arial"/>
              </a:rPr>
              <a:t>Features → known target: up/down, next return.</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Unsupervised</a:t>
            </a:r>
          </a:p>
          <a:p>
            <a:pPr algn="l">
              <a:spcAft>
                <a:spcPts val="300"/>
              </a:spcAft>
            </a:pPr>
            <a:r>
              <a:rPr sz="1150" b="0">
                <a:solidFill>
                  <a:srgbClr val="5B6372"/>
                </a:solidFill>
                <a:latin typeface="Arial"/>
              </a:rPr>
              <a:t>Structure without a target: regimes, PCA factors.</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Reinforcement</a:t>
            </a:r>
          </a:p>
          <a:p>
            <a:pPr algn="l">
              <a:spcAft>
                <a:spcPts val="300"/>
              </a:spcAft>
            </a:pPr>
            <a:r>
              <a:rPr sz="1150" b="0">
                <a:solidFill>
                  <a:srgbClr val="5B6372"/>
                </a:solidFill>
                <a:latin typeface="Arial"/>
              </a:rPr>
              <a:t>Learn a policy from rewards — execution research.</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Search &amp; simulation</a:t>
            </a:r>
          </a:p>
          <a:p>
            <a:pPr algn="l">
              <a:spcAft>
                <a:spcPts val="300"/>
              </a:spcAft>
            </a:pPr>
            <a:r>
              <a:rPr sz="1150" b="0">
                <a:solidFill>
                  <a:srgbClr val="5B6372"/>
                </a:solidFill>
                <a:latin typeface="Arial"/>
              </a:rPr>
              <a:t>Grid search, Monte Carlo, bootstrap, walk-forward.</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K4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Supervised Models for Trading Signals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K4</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Linear / logistic regression</a:t>
            </a:r>
          </a:p>
          <a:p>
            <a:pPr algn="l">
              <a:spcAft>
                <a:spcPts val="300"/>
              </a:spcAft>
            </a:pPr>
            <a:r>
              <a:rPr sz="1150" b="0">
                <a:solidFill>
                  <a:srgbClr val="5B6372"/>
                </a:solidFill>
                <a:latin typeface="Arial"/>
              </a:rPr>
              <a:t>Interpretable baselines; P(up) from a weighted sum.</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Decision tree &amp; random forest</a:t>
            </a:r>
          </a:p>
          <a:p>
            <a:pPr algn="l">
              <a:spcAft>
                <a:spcPts val="300"/>
              </a:spcAft>
            </a:pPr>
            <a:r>
              <a:rPr sz="1150" b="0">
                <a:solidFill>
                  <a:srgbClr val="5B6372"/>
                </a:solidFill>
                <a:latin typeface="Arial"/>
              </a:rPr>
              <a:t>Threshold splits; averaged trees reduce variance.</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XGBoost</a:t>
            </a:r>
          </a:p>
          <a:p>
            <a:pPr algn="l">
              <a:spcAft>
                <a:spcPts val="300"/>
              </a:spcAft>
            </a:pPr>
            <a:r>
              <a:rPr sz="1150" b="0">
                <a:solidFill>
                  <a:srgbClr val="5B6372"/>
                </a:solidFill>
                <a:latin typeface="Arial"/>
              </a:rPr>
              <a:t>Sequential boosted trees — strongest on tabular features.</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Neural networks</a:t>
            </a:r>
          </a:p>
          <a:p>
            <a:pPr algn="l">
              <a:spcAft>
                <a:spcPts val="300"/>
              </a:spcAft>
            </a:pPr>
            <a:r>
              <a:rPr sz="1150" b="0">
                <a:solidFill>
                  <a:srgbClr val="5B6372"/>
                </a:solidFill>
                <a:latin typeface="Arial"/>
              </a:rPr>
              <a:t>MLP, LSTM, Transformer — data-hungry, easy to overfit.</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K4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Unsupervised Models for Regimes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K4</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K-means</a:t>
            </a:r>
          </a:p>
          <a:p>
            <a:pPr algn="l">
              <a:spcAft>
                <a:spcPts val="300"/>
              </a:spcAft>
            </a:pPr>
            <a:r>
              <a:rPr sz="1150" b="0">
                <a:solidFill>
                  <a:srgbClr val="5B6372"/>
                </a:solidFill>
                <a:latin typeface="Arial"/>
              </a:rPr>
              <a:t>Minimise within-cluster variance; choose k by elbow or silhouette.</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Hierarchical clustering</a:t>
            </a:r>
          </a:p>
          <a:p>
            <a:pPr algn="l">
              <a:spcAft>
                <a:spcPts val="300"/>
              </a:spcAft>
            </a:pPr>
            <a:r>
              <a:rPr sz="1150" b="0">
                <a:solidFill>
                  <a:srgbClr val="5B6372"/>
                </a:solidFill>
                <a:latin typeface="Arial"/>
              </a:rPr>
              <a:t>Dendrogram of similar assets for diversification.</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PCA</a:t>
            </a:r>
          </a:p>
          <a:p>
            <a:pPr algn="l">
              <a:spcAft>
                <a:spcPts val="300"/>
              </a:spcAft>
            </a:pPr>
            <a:r>
              <a:rPr sz="1150" b="0">
                <a:solidFill>
                  <a:srgbClr val="5B6372"/>
                </a:solidFill>
                <a:latin typeface="Arial"/>
              </a:rPr>
              <a:t>First component ≈ the market; yield curve = level, slope, curvature.</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Fit on the past only</a:t>
            </a:r>
          </a:p>
          <a:p>
            <a:pPr algn="l">
              <a:spcAft>
                <a:spcPts val="300"/>
              </a:spcAft>
            </a:pPr>
            <a:r>
              <a:rPr sz="1150" b="0">
                <a:solidFill>
                  <a:srgbClr val="5B6372"/>
                </a:solidFill>
                <a:latin typeface="Arial"/>
              </a:rPr>
              <a:t>Assign new days to regimes as they arrive.</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K6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Statistical Modelling Techniques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K6</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Returns, not prices</a:t>
            </a:r>
          </a:p>
          <a:p>
            <a:pPr algn="l">
              <a:spcAft>
                <a:spcPts val="300"/>
              </a:spcAft>
            </a:pPr>
            <a:r>
              <a:rPr sz="1150" b="0">
                <a:solidFill>
                  <a:srgbClr val="5B6372"/>
                </a:solidFill>
                <a:latin typeface="Arial"/>
              </a:rPr>
              <a:t>Closer to stationary; avoids spurious regression.</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Time-ordered validation</a:t>
            </a:r>
          </a:p>
          <a:p>
            <a:pPr algn="l">
              <a:spcAft>
                <a:spcPts val="300"/>
              </a:spcAft>
            </a:pPr>
            <a:r>
              <a:rPr sz="1150" b="0">
                <a:solidFill>
                  <a:srgbClr val="5B6372"/>
                </a:solidFill>
                <a:latin typeface="Arial"/>
              </a:rPr>
              <a:t>TimeSeriesSplit and walk-forward — never shuffle.</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Leak-free features</a:t>
            </a:r>
          </a:p>
          <a:p>
            <a:pPr algn="l">
              <a:spcAft>
                <a:spcPts val="300"/>
              </a:spcAft>
            </a:pPr>
            <a:r>
              <a:rPr sz="1150" b="0">
                <a:solidFill>
                  <a:srgbClr val="5B6372"/>
                </a:solidFill>
                <a:latin typeface="Arial"/>
              </a:rPr>
              <a:t>Lags and rolling windows known at decision time.</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Regularise</a:t>
            </a:r>
          </a:p>
          <a:p>
            <a:pPr algn="l">
              <a:spcAft>
                <a:spcPts val="300"/>
              </a:spcAft>
            </a:pPr>
            <a:r>
              <a:rPr sz="1150" b="0">
                <a:solidFill>
                  <a:srgbClr val="5B6372"/>
                </a:solidFill>
                <a:latin typeface="Arial"/>
              </a:rPr>
              <a:t>L1/L2, depth limits, early stopping, fewer features.</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A5</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A/B Testing Two Strategy Variants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A5</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State H0 and H1 first</a:t>
            </a:r>
          </a:p>
          <a:p>
            <a:pPr algn="l">
              <a:spcAft>
                <a:spcPts val="300"/>
              </a:spcAft>
            </a:pPr>
            <a:r>
              <a:rPr sz="1150" b="0">
                <a:solidFill>
                  <a:srgbClr val="5B6372"/>
                </a:solidFill>
                <a:latin typeface="Arial"/>
              </a:rPr>
              <a:t>H0: equal mean returns; H1: B is higher. α = 5%.</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Welch's t-test</a:t>
            </a:r>
          </a:p>
          <a:p>
            <a:pPr algn="l">
              <a:spcAft>
                <a:spcPts val="300"/>
              </a:spcAft>
            </a:pPr>
            <a:r>
              <a:rPr sz="1150" b="0">
                <a:solidFill>
                  <a:srgbClr val="5B6372"/>
                </a:solidFill>
                <a:latin typeface="Arial"/>
              </a:rPr>
              <a:t>Compare mean daily returns with unequal variances.</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Bootstrap the Sharpe difference</a:t>
            </a:r>
          </a:p>
          <a:p>
            <a:pPr algn="l">
              <a:spcAft>
                <a:spcPts val="300"/>
              </a:spcAft>
            </a:pPr>
            <a:r>
              <a:rPr sz="1150" b="0">
                <a:solidFill>
                  <a:srgbClr val="5B6372"/>
                </a:solidFill>
                <a:latin typeface="Arial"/>
              </a:rPr>
              <a:t>Resample returns; 95% CI excluding 0?</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Mind multiple testing</a:t>
            </a:r>
          </a:p>
          <a:p>
            <a:pPr algn="l">
              <a:spcAft>
                <a:spcPts val="300"/>
              </a:spcAft>
            </a:pPr>
            <a:r>
              <a:rPr sz="1150" b="0">
                <a:solidFill>
                  <a:srgbClr val="5B6372"/>
                </a:solidFill>
                <a:latin typeface="Arial"/>
              </a:rPr>
              <a:t>100 variants → ~5 false 'winners' by chance.</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K4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Algorithm: Logistic Regression for Direction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K4</a:t>
            </a:r>
          </a:p>
        </p:txBody>
      </p:sp>
      <p:pic>
        <p:nvPicPr>
          <p:cNvPr id="10" name="Picture 9" descr="algo_logistic.png"/>
          <p:cNvPicPr>
            <a:picLocks noChangeAspect="1"/>
          </p:cNvPicPr>
          <p:nvPr/>
        </p:nvPicPr>
        <p:blipFill>
          <a:blip r:embed="rId2"/>
          <a:stretch>
            <a:fillRect/>
          </a:stretch>
        </p:blipFill>
        <p:spPr>
          <a:xfrm>
            <a:off x="777240" y="2529219"/>
            <a:ext cx="6172200" cy="2942560"/>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Fits P(up tomorrow) = 1 / (1 + e^-(b0 + b1 x1 + ...)) from features known today.</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Go long when P(up) exceeds a threshold such as 0.55; otherwise stay flat.</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A transparent baseline: each coefficient shows how a feature moves the probability.</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Only linear effects unless you engineer features; daily direction is close to a coin toss.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K4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Algorithm: Decision Tree and Random Forest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K4</a:t>
            </a:r>
          </a:p>
        </p:txBody>
      </p:sp>
      <p:pic>
        <p:nvPicPr>
          <p:cNvPr id="10" name="Picture 9" descr="algo_tree.png"/>
          <p:cNvPicPr>
            <a:picLocks noChangeAspect="1"/>
          </p:cNvPicPr>
          <p:nvPr/>
        </p:nvPicPr>
        <p:blipFill>
          <a:blip r:embed="rId2"/>
          <a:stretch>
            <a:fillRect/>
          </a:stretch>
        </p:blipFill>
        <p:spPr>
          <a:xfrm>
            <a:off x="777240" y="2508173"/>
            <a:ext cx="6172200" cy="2984653"/>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A tree splits the data on feature thresholds (e.g. RSI &lt; 30) into leaves with an up/down share.</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A random forest averages hundreds of trees, each grown on a random sample of rows and features.</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Non-linear, interacting signals - e.g. oversold AND low volatility.</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Deep trees memorise noise; limit depth and leaf size and validate walk-forward.</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K4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Algorithm: Gradient Boosting (XGBoost)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K4</a:t>
            </a:r>
          </a:p>
        </p:txBody>
      </p:sp>
      <p:pic>
        <p:nvPicPr>
          <p:cNvPr id="10" name="Picture 9" descr="algo_boosting.png"/>
          <p:cNvPicPr>
            <a:picLocks noChangeAspect="1"/>
          </p:cNvPicPr>
          <p:nvPr/>
        </p:nvPicPr>
        <p:blipFill>
          <a:blip r:embed="rId2"/>
          <a:stretch>
            <a:fillRect/>
          </a:stretch>
        </p:blipFill>
        <p:spPr>
          <a:xfrm>
            <a:off x="777240" y="2398853"/>
            <a:ext cx="6172200" cy="3203293"/>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Builds trees one after another; each new tree corrects the errors of the ensemble so far.</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Prediction = sum of many small trees x learning rate; stop early when test loss stops falling.</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Tabular features such as returns, indicators and volatility - usually the strongest model.</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Training loss keeps falling while test loss rises: classic overfitting (see the chart).</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K4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Algorithm: K-Means Clustering for Market Regimes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K4</a:t>
            </a:r>
          </a:p>
        </p:txBody>
      </p:sp>
      <p:pic>
        <p:nvPicPr>
          <p:cNvPr id="10" name="Picture 9" descr="algo_kmeans.png"/>
          <p:cNvPicPr>
            <a:picLocks noChangeAspect="1"/>
          </p:cNvPicPr>
          <p:nvPr/>
        </p:nvPicPr>
        <p:blipFill>
          <a:blip r:embed="rId2"/>
          <a:stretch>
            <a:fillRect/>
          </a:stretch>
        </p:blipFill>
        <p:spPr>
          <a:xfrm>
            <a:off x="777240" y="2398853"/>
            <a:ext cx="6172200" cy="3203293"/>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Groups days into k clusters by minimising the distance of each day to its cluster centre.</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Features: rolling return and volatility (standardised). Name clusters by their averages.</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Switching or sizing strategies by regime: trend in calm markets, cut risk when stressed.</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Fit on past data only; choose k with the elbow or silhouette method; regimes shift.</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K4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Algorithm: Principal Component Analysis (PCA)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K4</a:t>
            </a:r>
          </a:p>
        </p:txBody>
      </p:sp>
      <p:pic>
        <p:nvPicPr>
          <p:cNvPr id="10" name="Picture 9" descr="algo_pca.png"/>
          <p:cNvPicPr>
            <a:picLocks noChangeAspect="1"/>
          </p:cNvPicPr>
          <p:nvPr/>
        </p:nvPicPr>
        <p:blipFill>
          <a:blip r:embed="rId2"/>
          <a:stretch>
            <a:fillRect/>
          </a:stretch>
        </p:blipFill>
        <p:spPr>
          <a:xfrm>
            <a:off x="777240" y="2398853"/>
            <a:ext cx="6172200" cy="3203293"/>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Finds uncorrelated combinations of assets that explain the most variance of returns.</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PC1 of a stock universe is 'the market'; later PCs are sector or style factors.</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Reducing many correlated features; building factor-neutral and pairs portfolios.</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Standardise first; components change over time; PCs are statistical, not economic, factors.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K6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Method: Walk-Forward Validation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K6</a:t>
            </a:r>
          </a:p>
        </p:txBody>
      </p:sp>
      <p:pic>
        <p:nvPicPr>
          <p:cNvPr id="10" name="Picture 9" descr="algo_walk_forward.png"/>
          <p:cNvPicPr>
            <a:picLocks noChangeAspect="1"/>
          </p:cNvPicPr>
          <p:nvPr/>
        </p:nvPicPr>
        <p:blipFill>
          <a:blip r:embed="rId2"/>
          <a:stretch>
            <a:fillRect/>
          </a:stretch>
        </p:blipFill>
        <p:spPr>
          <a:xfrm>
            <a:off x="777240" y="2633240"/>
            <a:ext cx="6172200" cy="2734518"/>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Train on a past window, test on the next unseen block, then roll forward and repeat.</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Never shuffle time series; each test block is genuinely out of sample.</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Estimating how a model or parameter set would really have performed live.</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Overlapping targets leak information - leave a gap between train and test.</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A5</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Method: A/B Testing Two Strategy Variants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A5</a:t>
            </a:r>
          </a:p>
        </p:txBody>
      </p:sp>
      <p:pic>
        <p:nvPicPr>
          <p:cNvPr id="10" name="Picture 9" descr="algo_ab_test.png"/>
          <p:cNvPicPr>
            <a:picLocks noChangeAspect="1"/>
          </p:cNvPicPr>
          <p:nvPr/>
        </p:nvPicPr>
        <p:blipFill>
          <a:blip r:embed="rId2"/>
          <a:stretch>
            <a:fillRect/>
          </a:stretch>
        </p:blipFill>
        <p:spPr>
          <a:xfrm>
            <a:off x="777240" y="2398853"/>
            <a:ext cx="6172200" cy="3203293"/>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Compare variant A and B on the same days: H0 'no difference' vs H1 'B is better'.</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Welch / paired t-test on daily returns; bootstrap a 95% CI of the Sharpe difference.</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Deciding which parameter set or filter to promote to paper trading.</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If the CI contains 0, do not reject H0; testing 100 variants gives ~5 false winners.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A4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From Probability to Position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A4</a:t>
            </a:r>
          </a:p>
        </p:txBody>
      </p:sp>
      <p:sp>
        <p:nvSpPr>
          <p:cNvPr id="10" name="Rectangle 9"/>
          <p:cNvSpPr/>
          <p:nvPr/>
        </p:nvSpPr>
        <p:spPr>
          <a:xfrm>
            <a:off x="777240"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374343"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74343"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4" name="TextBox 13"/>
          <p:cNvSpPr txBox="1"/>
          <p:nvPr/>
        </p:nvSpPr>
        <p:spPr>
          <a:xfrm>
            <a:off x="905256"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Build leak-free features</a:t>
            </a:r>
          </a:p>
        </p:txBody>
      </p:sp>
      <p:sp>
        <p:nvSpPr>
          <p:cNvPr id="15" name="TextBox 14"/>
          <p:cNvSpPr txBox="1"/>
          <p:nvPr/>
        </p:nvSpPr>
        <p:spPr>
          <a:xfrm>
            <a:off x="2666390"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16" name="Rectangle 15"/>
          <p:cNvSpPr/>
          <p:nvPr/>
        </p:nvSpPr>
        <p:spPr>
          <a:xfrm>
            <a:off x="2958998"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58998"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556101"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56101"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20" name="TextBox 19"/>
          <p:cNvSpPr txBox="1"/>
          <p:nvPr/>
        </p:nvSpPr>
        <p:spPr>
          <a:xfrm>
            <a:off x="3087014"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Train on past window</a:t>
            </a:r>
          </a:p>
        </p:txBody>
      </p:sp>
      <p:sp>
        <p:nvSpPr>
          <p:cNvPr id="21" name="TextBox 20"/>
          <p:cNvSpPr txBox="1"/>
          <p:nvPr/>
        </p:nvSpPr>
        <p:spPr>
          <a:xfrm>
            <a:off x="4848148"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22" name="Rectangle 21"/>
          <p:cNvSpPr/>
          <p:nvPr/>
        </p:nvSpPr>
        <p:spPr>
          <a:xfrm>
            <a:off x="5140756"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40756"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737859"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737859"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6" name="TextBox 25"/>
          <p:cNvSpPr txBox="1"/>
          <p:nvPr/>
        </p:nvSpPr>
        <p:spPr>
          <a:xfrm>
            <a:off x="5268772"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Predict P(up) for tomorrow</a:t>
            </a:r>
          </a:p>
        </p:txBody>
      </p:sp>
      <p:sp>
        <p:nvSpPr>
          <p:cNvPr id="27" name="TextBox 26"/>
          <p:cNvSpPr txBox="1"/>
          <p:nvPr/>
        </p:nvSpPr>
        <p:spPr>
          <a:xfrm>
            <a:off x="7029906"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28" name="Rectangle 27"/>
          <p:cNvSpPr/>
          <p:nvPr/>
        </p:nvSpPr>
        <p:spPr>
          <a:xfrm>
            <a:off x="7322514"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22514"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919617"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19617"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2" name="TextBox 31"/>
          <p:cNvSpPr txBox="1"/>
          <p:nvPr/>
        </p:nvSpPr>
        <p:spPr>
          <a:xfrm>
            <a:off x="7450530"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Long if P(up) &gt; 0.55, else flat</a:t>
            </a:r>
          </a:p>
        </p:txBody>
      </p:sp>
      <p:sp>
        <p:nvSpPr>
          <p:cNvPr id="33" name="TextBox 32"/>
          <p:cNvSpPr txBox="1"/>
          <p:nvPr/>
        </p:nvSpPr>
        <p:spPr>
          <a:xfrm>
            <a:off x="9211664"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34" name="Rectangle 33"/>
          <p:cNvSpPr/>
          <p:nvPr/>
        </p:nvSpPr>
        <p:spPr>
          <a:xfrm>
            <a:off x="9504272"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504272"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01375"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01375"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8" name="TextBox 37"/>
          <p:cNvSpPr txBox="1"/>
          <p:nvPr/>
        </p:nvSpPr>
        <p:spPr>
          <a:xfrm>
            <a:off x="9632288"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Backtest net of costs</a:t>
            </a:r>
          </a:p>
        </p:txBody>
      </p:sp>
      <p:sp>
        <p:nvSpPr>
          <p:cNvPr id="39" name="Rectangle 38"/>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77240" y="5257800"/>
            <a:ext cx="91440" cy="8229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Judge the model by the net-of-cost strategy, not by accuracy alone.</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K6 · PAIRS TRADING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Pairs Trading: a Hedging Algorithm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K6</a:t>
            </a:r>
          </a:p>
        </p:txBody>
      </p:sp>
      <p:sp>
        <p:nvSpPr>
          <p:cNvPr id="10" name="Rectangle 9"/>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Why it is a hedge</a:t>
            </a:r>
          </a:p>
          <a:p>
            <a:pPr algn="l">
              <a:spcAft>
                <a:spcPts val="300"/>
              </a:spcAft>
            </a:pPr>
            <a:r>
              <a:rPr sz="1000" b="0">
                <a:solidFill>
                  <a:srgbClr val="5B6372"/>
                </a:solidFill>
                <a:latin typeface="Arial"/>
              </a:rPr>
              <a:t>Long the cheap stock, short the rich one in hedge-ratio proportion: market moves largely cancel</a:t>
            </a:r>
          </a:p>
        </p:txBody>
      </p:sp>
      <p:sp>
        <p:nvSpPr>
          <p:cNvPr id="15" name="Rectangle 14"/>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Choose the pair</a:t>
            </a:r>
          </a:p>
          <a:p>
            <a:pPr algn="l">
              <a:spcAft>
                <a:spcPts val="300"/>
              </a:spcAft>
            </a:pPr>
            <a:r>
              <a:rPr sz="1000" b="0">
                <a:solidFill>
                  <a:srgbClr val="5B6372"/>
                </a:solidFill>
                <a:latin typeface="Arial"/>
              </a:rPr>
              <a:t>Economically linked stocks (e.g. KO and PEP) that are cointegrated, not merely correlated</a:t>
            </a:r>
          </a:p>
        </p:txBody>
      </p:sp>
      <p:sp>
        <p:nvSpPr>
          <p:cNvPr id="20" name="Rectangle 19"/>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3447288"/>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Hedge ratio and spread</a:t>
            </a:r>
          </a:p>
          <a:p>
            <a:pPr algn="l">
              <a:spcAft>
                <a:spcPts val="300"/>
              </a:spcAft>
            </a:pPr>
            <a:r>
              <a:rPr sz="1000" b="0">
                <a:solidFill>
                  <a:srgbClr val="5B6372"/>
                </a:solidFill>
                <a:latin typeface="Arial"/>
              </a:rPr>
              <a:t>Regress log price A on log price B: slope = hedge ratio, residual = the spread (Engle-Granger)</a:t>
            </a:r>
          </a:p>
        </p:txBody>
      </p:sp>
      <p:sp>
        <p:nvSpPr>
          <p:cNvPr id="25" name="Rectangle 24"/>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3447288"/>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Test the spread</a:t>
            </a:r>
          </a:p>
          <a:p>
            <a:pPr algn="l">
              <a:spcAft>
                <a:spcPts val="300"/>
              </a:spcAft>
            </a:pPr>
            <a:r>
              <a:rPr sz="1000" b="0">
                <a:solidFill>
                  <a:srgbClr val="5B6372"/>
                </a:solidFill>
                <a:latin typeface="Arial"/>
              </a:rPr>
              <a:t>ADF test on the residual: a stationary spread tends to revert to its mean</a:t>
            </a:r>
          </a:p>
        </p:txBody>
      </p:sp>
      <p:sp>
        <p:nvSpPr>
          <p:cNvPr id="30" name="Rectangle 29"/>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4" name="TextBox 33"/>
          <p:cNvSpPr txBox="1"/>
          <p:nvPr/>
        </p:nvSpPr>
        <p:spPr>
          <a:xfrm>
            <a:off x="1764792" y="4983480"/>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Trade the z-score</a:t>
            </a:r>
          </a:p>
          <a:p>
            <a:pPr algn="l">
              <a:spcAft>
                <a:spcPts val="300"/>
              </a:spcAft>
            </a:pPr>
            <a:r>
              <a:rPr sz="1000" b="0">
                <a:solidFill>
                  <a:srgbClr val="5B6372"/>
                </a:solidFill>
                <a:latin typeface="Arial"/>
              </a:rPr>
              <a:t>Enter when |z| &gt; 2, exit as z returns towards 0; trade both legs on the next bar</a:t>
            </a:r>
          </a:p>
        </p:txBody>
      </p:sp>
      <p:sp>
        <p:nvSpPr>
          <p:cNvPr id="35" name="Rectangle 34"/>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9" name="TextBox 38"/>
          <p:cNvSpPr txBox="1"/>
          <p:nvPr/>
        </p:nvSpPr>
        <p:spPr>
          <a:xfrm>
            <a:off x="7219188" y="4983480"/>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Risks</a:t>
            </a:r>
          </a:p>
          <a:p>
            <a:pPr algn="l">
              <a:spcAft>
                <a:spcPts val="300"/>
              </a:spcAft>
            </a:pPr>
            <a:r>
              <a:rPr sz="1000" b="0">
                <a:solidFill>
                  <a:srgbClr val="5B6372"/>
                </a:solidFill>
                <a:latin typeface="Arial"/>
              </a:rPr>
              <a:t>Cointegration breaks, hedge ratio drifts, double costs, short-borrow, multiple testing</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A4 · PAIRS TRADING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Pairs-Trading Algorithm Step by Step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A4</a:t>
            </a:r>
          </a:p>
        </p:txBody>
      </p:sp>
      <p:sp>
        <p:nvSpPr>
          <p:cNvPr id="10" name="Rectangle 9"/>
          <p:cNvSpPr/>
          <p:nvPr/>
        </p:nvSpPr>
        <p:spPr>
          <a:xfrm>
            <a:off x="777240"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40280"/>
            <a:ext cx="154381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92530"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92530"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4" name="TextBox 13"/>
          <p:cNvSpPr txBox="1"/>
          <p:nvPr/>
        </p:nvSpPr>
        <p:spPr>
          <a:xfrm>
            <a:off x="905256"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Select an economically linked pair</a:t>
            </a:r>
          </a:p>
        </p:txBody>
      </p:sp>
      <p:sp>
        <p:nvSpPr>
          <p:cNvPr id="15" name="TextBox 14"/>
          <p:cNvSpPr txBox="1"/>
          <p:nvPr/>
        </p:nvSpPr>
        <p:spPr>
          <a:xfrm>
            <a:off x="2302764"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16" name="Rectangle 15"/>
          <p:cNvSpPr/>
          <p:nvPr/>
        </p:nvSpPr>
        <p:spPr>
          <a:xfrm>
            <a:off x="2595372"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95372" y="2240280"/>
            <a:ext cx="154381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010662"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010662"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20" name="TextBox 19"/>
          <p:cNvSpPr txBox="1"/>
          <p:nvPr/>
        </p:nvSpPr>
        <p:spPr>
          <a:xfrm>
            <a:off x="2723388"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Estimate the hedge ratio (OLS)</a:t>
            </a:r>
          </a:p>
        </p:txBody>
      </p:sp>
      <p:sp>
        <p:nvSpPr>
          <p:cNvPr id="21" name="TextBox 20"/>
          <p:cNvSpPr txBox="1"/>
          <p:nvPr/>
        </p:nvSpPr>
        <p:spPr>
          <a:xfrm>
            <a:off x="4120896"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22" name="Rectangle 21"/>
          <p:cNvSpPr/>
          <p:nvPr/>
        </p:nvSpPr>
        <p:spPr>
          <a:xfrm>
            <a:off x="4413504"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13504" y="2240280"/>
            <a:ext cx="154381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4828794"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28794"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6" name="TextBox 25"/>
          <p:cNvSpPr txBox="1"/>
          <p:nvPr/>
        </p:nvSpPr>
        <p:spPr>
          <a:xfrm>
            <a:off x="4541520"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Test cointegration (ADF on residual)</a:t>
            </a:r>
          </a:p>
        </p:txBody>
      </p:sp>
      <p:sp>
        <p:nvSpPr>
          <p:cNvPr id="27" name="TextBox 26"/>
          <p:cNvSpPr txBox="1"/>
          <p:nvPr/>
        </p:nvSpPr>
        <p:spPr>
          <a:xfrm>
            <a:off x="5939028"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28" name="Rectangle 27"/>
          <p:cNvSpPr/>
          <p:nvPr/>
        </p:nvSpPr>
        <p:spPr>
          <a:xfrm>
            <a:off x="6231636"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31636" y="2240280"/>
            <a:ext cx="154381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646926"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46926"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2" name="TextBox 31"/>
          <p:cNvSpPr txBox="1"/>
          <p:nvPr/>
        </p:nvSpPr>
        <p:spPr>
          <a:xfrm>
            <a:off x="6359652"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Compute the spread z-score</a:t>
            </a:r>
          </a:p>
        </p:txBody>
      </p:sp>
      <p:sp>
        <p:nvSpPr>
          <p:cNvPr id="33" name="TextBox 32"/>
          <p:cNvSpPr txBox="1"/>
          <p:nvPr/>
        </p:nvSpPr>
        <p:spPr>
          <a:xfrm>
            <a:off x="7757160"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34" name="Rectangle 33"/>
          <p:cNvSpPr/>
          <p:nvPr/>
        </p:nvSpPr>
        <p:spPr>
          <a:xfrm>
            <a:off x="8049768"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49768" y="2240280"/>
            <a:ext cx="154381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465058"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65058"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8" name="TextBox 37"/>
          <p:cNvSpPr txBox="1"/>
          <p:nvPr/>
        </p:nvSpPr>
        <p:spPr>
          <a:xfrm>
            <a:off x="8177784"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Enter / exit both legs</a:t>
            </a:r>
          </a:p>
        </p:txBody>
      </p:sp>
      <p:sp>
        <p:nvSpPr>
          <p:cNvPr id="39" name="TextBox 38"/>
          <p:cNvSpPr txBox="1"/>
          <p:nvPr/>
        </p:nvSpPr>
        <p:spPr>
          <a:xfrm>
            <a:off x="9575292"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40" name="Rectangle 39"/>
          <p:cNvSpPr/>
          <p:nvPr/>
        </p:nvSpPr>
        <p:spPr>
          <a:xfrm>
            <a:off x="9867900"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867900" y="2240280"/>
            <a:ext cx="154381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10283190"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283190"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6</a:t>
            </a:r>
          </a:p>
        </p:txBody>
      </p:sp>
      <p:sp>
        <p:nvSpPr>
          <p:cNvPr id="44" name="TextBox 43"/>
          <p:cNvSpPr txBox="1"/>
          <p:nvPr/>
        </p:nvSpPr>
        <p:spPr>
          <a:xfrm>
            <a:off x="9995916"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Monitor and re-test</a:t>
            </a:r>
          </a:p>
        </p:txBody>
      </p:sp>
      <p:sp>
        <p:nvSpPr>
          <p:cNvPr id="45" name="Rectangle 44"/>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77240" y="5257800"/>
            <a:ext cx="91440" cy="8229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Gatev, Goetzmann and Rouwenhorst (2006): a simple pairs rule on US stocks earned average annualised excess returns of up to 11% (1962-2002); later studies find smaller and less consistent profits.</a:t>
            </a:r>
          </a:p>
        </p:txBody>
      </p:sp>
      <p:sp>
        <p:nvSpPr>
          <p:cNvPr id="48" name="TextBox 4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9" name="TextBox 4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0" name="TextBox 4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K6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Algorithm: Pairs Trading (Hedged Statistical Arbitrage)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K6</a:t>
            </a:r>
          </a:p>
        </p:txBody>
      </p:sp>
      <p:pic>
        <p:nvPicPr>
          <p:cNvPr id="10" name="Picture 9" descr="algo_pairs.png"/>
          <p:cNvPicPr>
            <a:picLocks noChangeAspect="1"/>
          </p:cNvPicPr>
          <p:nvPr/>
        </p:nvPicPr>
        <p:blipFill>
          <a:blip r:embed="rId2"/>
          <a:stretch>
            <a:fillRect/>
          </a:stretch>
        </p:blipFill>
        <p:spPr>
          <a:xfrm>
            <a:off x="777240" y="2083742"/>
            <a:ext cx="6172200" cy="3833514"/>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Long one stock, short a cointegrated partner in hedge-ratio proportion: market moves cancel.</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Spread z &gt; +2: short A / long B. z &lt; -2: long A / short B. Exit as z returns to 0.</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Economically linked stocks (KO/PEP) whose spread has a stable mean.</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Cointegration can break; costs on both legs; short-borrow; screening many pairs.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3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Strategy-Search Stage: Grid Search, Out-of-Sample Ranking and Decay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875520" y="475488"/>
            <a:ext cx="1536192"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875520"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0" y="475488"/>
            <a:ext cx="1536192" cy="310896"/>
          </a:xfrm>
          <a:prstGeom prst="rect">
            <a:avLst/>
          </a:prstGeom>
          <a:noFill/>
        </p:spPr>
        <p:txBody>
          <a:bodyPr wrap="square" anchor="ctr">
            <a:spAutoFit/>
          </a:bodyPr>
          <a:lstStyle/>
          <a:p>
            <a:pPr algn="ctr">
              <a:spcAft>
                <a:spcPts val="400"/>
              </a:spcAft>
            </a:pPr>
            <a:r>
              <a:rPr sz="1100" b="1">
                <a:solidFill>
                  <a:srgbClr val="10B981"/>
                </a:solidFill>
                <a:latin typeface="Arial"/>
              </a:rPr>
              <a:t>A2  A4  K2</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10</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Grid-search SMA crossover parameters in-sample and measure how the ranking decays out of sample. Then build the same stage in code with your AI assistant.</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807083"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807083"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Run the grid</a:t>
            </a:r>
          </a:p>
        </p:txBody>
      </p:sp>
      <p:sp>
        <p:nvSpPr>
          <p:cNvPr id="19" name="TextBox 18"/>
          <p:cNvSpPr txBox="1"/>
          <p:nvPr/>
        </p:nvSpPr>
        <p:spPr>
          <a:xfrm>
            <a:off x="321183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3495294"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495294"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525137"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5137"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3605022"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Read the decay</a:t>
            </a:r>
          </a:p>
        </p:txBody>
      </p:sp>
      <p:sp>
        <p:nvSpPr>
          <p:cNvPr id="25" name="TextBox 24"/>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6213348"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13348"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243191"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43191"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6323076"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Walk-forward</a:t>
            </a:r>
          </a:p>
        </p:txBody>
      </p:sp>
      <p:sp>
        <p:nvSpPr>
          <p:cNvPr id="31" name="TextBox 30"/>
          <p:cNvSpPr txBox="1"/>
          <p:nvPr/>
        </p:nvSpPr>
        <p:spPr>
          <a:xfrm>
            <a:off x="864793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8931402"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931402"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9961245"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61245"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9041130"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Code: rebuild the stage with your AI assistant</a:t>
            </a:r>
          </a:p>
        </p:txBody>
      </p:sp>
      <p:sp>
        <p:nvSpPr>
          <p:cNvPr id="37" name="Rectangle 36"/>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0" name="TextBox 39"/>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 strategy-search stage: grid search, out-of-sample ranking and the decay report.</a:t>
            </a:r>
          </a:p>
        </p:txBody>
      </p:sp>
      <p:sp>
        <p:nvSpPr>
          <p:cNvPr id="41" name="TextBox 40"/>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20 min</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10 · SIMULATOR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10 — In the Trading Simulator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10_strategy_search.png"/>
          <p:cNvPicPr>
            <a:picLocks noChangeAspect="1"/>
          </p:cNvPicPr>
          <p:nvPr/>
        </p:nvPicPr>
        <p:blipFill>
          <a:blip r:embed="rId2"/>
          <a:stretch>
            <a:fillRect/>
          </a:stretch>
        </p:blipFill>
        <p:spPr>
          <a:xfrm>
            <a:off x="3599738" y="1828800"/>
            <a:ext cx="4992217" cy="3794760"/>
          </a:xfrm>
          <a:prstGeom prst="rect">
            <a:avLst/>
          </a:prstGeom>
        </p:spPr>
      </p:pic>
      <p:sp>
        <p:nvSpPr>
          <p:cNvPr id="8" name="Rectangle 7"/>
          <p:cNvSpPr/>
          <p:nvPr/>
        </p:nvSpPr>
        <p:spPr>
          <a:xfrm>
            <a:off x="3588766" y="1817827"/>
            <a:ext cx="5014163" cy="381670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6986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76986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76986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Course Labs &gt; Lab 10 at http://localhost:8000 - Research &gt; Grid SPY SMA cross. Offline demo data; connect Alpaca paper keys for live paper trading.</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3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ML-Signal Stage: a Walk-Forward Classifier from Probability to Position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875520" y="475488"/>
            <a:ext cx="1536192"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875520"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0" y="475488"/>
            <a:ext cx="1536192" cy="310896"/>
          </a:xfrm>
          <a:prstGeom prst="rect">
            <a:avLst/>
          </a:prstGeom>
          <a:noFill/>
        </p:spPr>
        <p:txBody>
          <a:bodyPr wrap="square" anchor="ctr">
            <a:spAutoFit/>
          </a:bodyPr>
          <a:lstStyle/>
          <a:p>
            <a:pPr algn="ctr">
              <a:spcAft>
                <a:spcPts val="400"/>
              </a:spcAft>
            </a:pPr>
            <a:r>
              <a:rPr sz="1100" b="1">
                <a:solidFill>
                  <a:srgbClr val="10B981"/>
                </a:solidFill>
                <a:latin typeface="Arial"/>
              </a:rPr>
              <a:t>A4  K4  K6</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11</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Train logistic regression, random forest and XGBoost walk-forward and trade P(up) &gt; threshold. Then build the same stage in code with your AI assistant.</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807083"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807083"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Train the classifiers</a:t>
            </a:r>
          </a:p>
        </p:txBody>
      </p:sp>
      <p:sp>
        <p:nvSpPr>
          <p:cNvPr id="19" name="TextBox 18"/>
          <p:cNvSpPr txBox="1"/>
          <p:nvPr/>
        </p:nvSpPr>
        <p:spPr>
          <a:xfrm>
            <a:off x="321183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3495294"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495294"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525137"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5137"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3605022"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Backtest an ML strategy</a:t>
            </a:r>
          </a:p>
        </p:txBody>
      </p:sp>
      <p:sp>
        <p:nvSpPr>
          <p:cNvPr id="25" name="TextBox 24"/>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6213348"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13348"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243191"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43191"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6323076"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Check for leakage</a:t>
            </a:r>
          </a:p>
        </p:txBody>
      </p:sp>
      <p:sp>
        <p:nvSpPr>
          <p:cNvPr id="31" name="TextBox 30"/>
          <p:cNvSpPr txBox="1"/>
          <p:nvPr/>
        </p:nvSpPr>
        <p:spPr>
          <a:xfrm>
            <a:off x="864793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8931402"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931402"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9961245"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61245"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9041130"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Code: rebuild the stage with your AI assistant</a:t>
            </a:r>
          </a:p>
        </p:txBody>
      </p:sp>
      <p:sp>
        <p:nvSpPr>
          <p:cNvPr id="37" name="Rectangle 36"/>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0" name="TextBox 39"/>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 walk-forward ML signal stage from predicted probability to position, with a leakage check.</a:t>
            </a:r>
          </a:p>
        </p:txBody>
      </p:sp>
      <p:sp>
        <p:nvSpPr>
          <p:cNvPr id="41" name="TextBox 40"/>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20 min</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11 · SIMULATOR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11 — In the Trading Simulator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11_ml_signal.png"/>
          <p:cNvPicPr>
            <a:picLocks noChangeAspect="1"/>
          </p:cNvPicPr>
          <p:nvPr/>
        </p:nvPicPr>
        <p:blipFill>
          <a:blip r:embed="rId2"/>
          <a:stretch>
            <a:fillRect/>
          </a:stretch>
        </p:blipFill>
        <p:spPr>
          <a:xfrm>
            <a:off x="3599738" y="1828800"/>
            <a:ext cx="4992217" cy="3794760"/>
          </a:xfrm>
          <a:prstGeom prst="rect">
            <a:avLst/>
          </a:prstGeom>
        </p:spPr>
      </p:pic>
      <p:sp>
        <p:nvSpPr>
          <p:cNvPr id="8" name="Rectangle 7"/>
          <p:cNvSpPr/>
          <p:nvPr/>
        </p:nvSpPr>
        <p:spPr>
          <a:xfrm>
            <a:off x="3588766" y="1817827"/>
            <a:ext cx="5014163" cy="381670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6986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76986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76986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Course Labs &gt; Lab 11 at http://localhost:8000 - Research &gt; ML SPY. Offline demo data; connect Alpaca paper keys for live paper trading.</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3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Regime-Filter Stage: PCA and K-Means as a Gate on the Signals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875520" y="475488"/>
            <a:ext cx="1536192"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875520"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0" y="475488"/>
            <a:ext cx="1536192" cy="310896"/>
          </a:xfrm>
          <a:prstGeom prst="rect">
            <a:avLst/>
          </a:prstGeom>
          <a:noFill/>
        </p:spPr>
        <p:txBody>
          <a:bodyPr wrap="square" anchor="ctr">
            <a:spAutoFit/>
          </a:bodyPr>
          <a:lstStyle/>
          <a:p>
            <a:pPr algn="ctr">
              <a:spcAft>
                <a:spcPts val="400"/>
              </a:spcAft>
            </a:pPr>
            <a:r>
              <a:rPr sz="1100" b="1">
                <a:solidFill>
                  <a:srgbClr val="10B981"/>
                </a:solidFill>
                <a:latin typeface="Arial"/>
              </a:rPr>
              <a:t>A4  K4  K6</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12</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Find market regimes with walk-forward K-means and gate a signal in the high-volatility regime. Then build the same stage in code with your AI assistant.</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3386328"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3386328"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2260092"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260092"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3166872" cy="877824"/>
          </a:xfrm>
          <a:prstGeom prst="rect">
            <a:avLst/>
          </a:prstGeom>
          <a:noFill/>
        </p:spPr>
        <p:txBody>
          <a:bodyPr wrap="square" anchor="t">
            <a:spAutoFit/>
          </a:bodyPr>
          <a:lstStyle/>
          <a:p>
            <a:pPr algn="ctr">
              <a:spcAft>
                <a:spcPts val="400"/>
              </a:spcAft>
            </a:pPr>
            <a:r>
              <a:rPr sz="1050" b="0">
                <a:solidFill>
                  <a:srgbClr val="161B26"/>
                </a:solidFill>
                <a:latin typeface="Arial"/>
              </a:rPr>
              <a:t>Simulator: Analyse regimes</a:t>
            </a:r>
          </a:p>
        </p:txBody>
      </p:sp>
      <p:sp>
        <p:nvSpPr>
          <p:cNvPr id="19" name="TextBox 18"/>
          <p:cNvSpPr txBox="1"/>
          <p:nvPr/>
        </p:nvSpPr>
        <p:spPr>
          <a:xfrm>
            <a:off x="41178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4401312" y="3456432"/>
            <a:ext cx="3386328"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01312" y="3456432"/>
            <a:ext cx="3386328"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88416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8416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4511040" y="4114800"/>
            <a:ext cx="3166872" cy="877824"/>
          </a:xfrm>
          <a:prstGeom prst="rect">
            <a:avLst/>
          </a:prstGeom>
          <a:noFill/>
        </p:spPr>
        <p:txBody>
          <a:bodyPr wrap="square" anchor="t">
            <a:spAutoFit/>
          </a:bodyPr>
          <a:lstStyle/>
          <a:p>
            <a:pPr algn="ctr">
              <a:spcAft>
                <a:spcPts val="400"/>
              </a:spcAft>
            </a:pPr>
            <a:r>
              <a:rPr sz="1050" b="0">
                <a:solidFill>
                  <a:srgbClr val="161B26"/>
                </a:solidFill>
                <a:latin typeface="Arial"/>
              </a:rPr>
              <a:t>Simulator: Backtest the regime-filtered strategy</a:t>
            </a:r>
          </a:p>
        </p:txBody>
      </p:sp>
      <p:sp>
        <p:nvSpPr>
          <p:cNvPr id="25" name="TextBox 24"/>
          <p:cNvSpPr txBox="1"/>
          <p:nvPr/>
        </p:nvSpPr>
        <p:spPr>
          <a:xfrm>
            <a:off x="774192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8025384" y="3456432"/>
            <a:ext cx="3386328"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25384" y="3456432"/>
            <a:ext cx="3386328"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50823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50823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8135112" y="4114800"/>
            <a:ext cx="3166872" cy="877824"/>
          </a:xfrm>
          <a:prstGeom prst="rect">
            <a:avLst/>
          </a:prstGeom>
          <a:noFill/>
        </p:spPr>
        <p:txBody>
          <a:bodyPr wrap="square" anchor="t">
            <a:spAutoFit/>
          </a:bodyPr>
          <a:lstStyle/>
          <a:p>
            <a:pPr algn="ctr">
              <a:spcAft>
                <a:spcPts val="400"/>
              </a:spcAft>
            </a:pPr>
            <a:r>
              <a:rPr sz="1050" b="0">
                <a:solidFill>
                  <a:srgbClr val="161B26"/>
                </a:solidFill>
                <a:latin typeface="Arial"/>
              </a:rPr>
              <a:t>Code: rebuild the stage with your AI assistant</a:t>
            </a:r>
          </a:p>
        </p:txBody>
      </p:sp>
      <p:sp>
        <p:nvSpPr>
          <p:cNvPr id="31" name="Rectangle 30"/>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34" name="TextBox 33"/>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 PCA / K-means regime gate applied to the signals, with before-and-after performance.</a:t>
            </a:r>
          </a:p>
        </p:txBody>
      </p:sp>
      <p:sp>
        <p:nvSpPr>
          <p:cNvPr id="35" name="TextBox 34"/>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15 min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12 · SIMULATOR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12 — In the Trading Simulator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12_regimes.png"/>
          <p:cNvPicPr>
            <a:picLocks noChangeAspect="1"/>
          </p:cNvPicPr>
          <p:nvPr/>
        </p:nvPicPr>
        <p:blipFill>
          <a:blip r:embed="rId2"/>
          <a:stretch>
            <a:fillRect/>
          </a:stretch>
        </p:blipFill>
        <p:spPr>
          <a:xfrm>
            <a:off x="3599738" y="1828800"/>
            <a:ext cx="4992217" cy="3794760"/>
          </a:xfrm>
          <a:prstGeom prst="rect">
            <a:avLst/>
          </a:prstGeom>
        </p:spPr>
      </p:pic>
      <p:sp>
        <p:nvSpPr>
          <p:cNvPr id="8" name="Rectangle 7"/>
          <p:cNvSpPr/>
          <p:nvPr/>
        </p:nvSpPr>
        <p:spPr>
          <a:xfrm>
            <a:off x="3588766" y="1817827"/>
            <a:ext cx="5014163" cy="381670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6986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76986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76986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Course Labs &gt; Lab 12 at http://localhost:8000 - Research &gt; Regimes SPY. Offline demo data; connect Alpaca paper keys for live paper trading.</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3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A/B-Test Stage: a Statistical Decision before Capital Moves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259568" y="475488"/>
            <a:ext cx="1152144"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259568"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475488"/>
            <a:ext cx="1152144" cy="310896"/>
          </a:xfrm>
          <a:prstGeom prst="rect">
            <a:avLst/>
          </a:prstGeom>
          <a:noFill/>
        </p:spPr>
        <p:txBody>
          <a:bodyPr wrap="square" anchor="ctr">
            <a:spAutoFit/>
          </a:bodyPr>
          <a:lstStyle/>
          <a:p>
            <a:pPr algn="ctr">
              <a:spcAft>
                <a:spcPts val="400"/>
              </a:spcAft>
            </a:pPr>
            <a:r>
              <a:rPr sz="1100" b="1">
                <a:solidFill>
                  <a:srgbClr val="10B981"/>
                </a:solidFill>
                <a:latin typeface="Arial"/>
              </a:rPr>
              <a:t>A5  K2</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13</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Decide statistically between two variants before moving capital. Then build the same stage in code with your AI assistant.</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3386328"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3386328"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2260092"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260092"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3166872" cy="877824"/>
          </a:xfrm>
          <a:prstGeom prst="rect">
            <a:avLst/>
          </a:prstGeom>
          <a:noFill/>
        </p:spPr>
        <p:txBody>
          <a:bodyPr wrap="square" anchor="t">
            <a:spAutoFit/>
          </a:bodyPr>
          <a:lstStyle/>
          <a:p>
            <a:pPr algn="ctr">
              <a:spcAft>
                <a:spcPts val="400"/>
              </a:spcAft>
            </a:pPr>
            <a:r>
              <a:rPr sz="1050" b="0">
                <a:solidFill>
                  <a:srgbClr val="161B26"/>
                </a:solidFill>
                <a:latin typeface="Arial"/>
              </a:rPr>
              <a:t>Simulator: Run the A/B test</a:t>
            </a:r>
          </a:p>
        </p:txBody>
      </p:sp>
      <p:sp>
        <p:nvSpPr>
          <p:cNvPr id="19" name="TextBox 18"/>
          <p:cNvSpPr txBox="1"/>
          <p:nvPr/>
        </p:nvSpPr>
        <p:spPr>
          <a:xfrm>
            <a:off x="41178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4401312" y="3456432"/>
            <a:ext cx="3386328"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01312" y="3456432"/>
            <a:ext cx="3386328"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88416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8416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4511040" y="4114800"/>
            <a:ext cx="3166872" cy="877824"/>
          </a:xfrm>
          <a:prstGeom prst="rect">
            <a:avLst/>
          </a:prstGeom>
          <a:noFill/>
        </p:spPr>
        <p:txBody>
          <a:bodyPr wrap="square" anchor="t">
            <a:spAutoFit/>
          </a:bodyPr>
          <a:lstStyle/>
          <a:p>
            <a:pPr algn="ctr">
              <a:spcAft>
                <a:spcPts val="400"/>
              </a:spcAft>
            </a:pPr>
            <a:r>
              <a:rPr sz="1050" b="0">
                <a:solidFill>
                  <a:srgbClr val="161B26"/>
                </a:solidFill>
                <a:latin typeface="Arial"/>
              </a:rPr>
              <a:t>Simulator: Your own variants</a:t>
            </a:r>
          </a:p>
        </p:txBody>
      </p:sp>
      <p:sp>
        <p:nvSpPr>
          <p:cNvPr id="25" name="TextBox 24"/>
          <p:cNvSpPr txBox="1"/>
          <p:nvPr/>
        </p:nvSpPr>
        <p:spPr>
          <a:xfrm>
            <a:off x="774192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8025384" y="3456432"/>
            <a:ext cx="3386328"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25384" y="3456432"/>
            <a:ext cx="3386328"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50823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50823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8135112" y="4114800"/>
            <a:ext cx="3166872" cy="877824"/>
          </a:xfrm>
          <a:prstGeom prst="rect">
            <a:avLst/>
          </a:prstGeom>
          <a:noFill/>
        </p:spPr>
        <p:txBody>
          <a:bodyPr wrap="square" anchor="t">
            <a:spAutoFit/>
          </a:bodyPr>
          <a:lstStyle/>
          <a:p>
            <a:pPr algn="ctr">
              <a:spcAft>
                <a:spcPts val="400"/>
              </a:spcAft>
            </a:pPr>
            <a:r>
              <a:rPr sz="1050" b="0">
                <a:solidFill>
                  <a:srgbClr val="161B26"/>
                </a:solidFill>
                <a:latin typeface="Arial"/>
              </a:rPr>
              <a:t>Code: rebuild the stage with your AI assistant</a:t>
            </a:r>
          </a:p>
        </p:txBody>
      </p:sp>
      <p:sp>
        <p:nvSpPr>
          <p:cNvPr id="31" name="Rectangle 30"/>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34" name="TextBox 33"/>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An A/B-test stage that issues a statistical decision before capital moves.</a:t>
            </a:r>
          </a:p>
        </p:txBody>
      </p:sp>
      <p:sp>
        <p:nvSpPr>
          <p:cNvPr id="35" name="TextBox 34"/>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15 min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13 · SIMULATOR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13 — In the Trading Simulator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13_ab_test.png"/>
          <p:cNvPicPr>
            <a:picLocks noChangeAspect="1"/>
          </p:cNvPicPr>
          <p:nvPr/>
        </p:nvPicPr>
        <p:blipFill>
          <a:blip r:embed="rId2"/>
          <a:stretch>
            <a:fillRect/>
          </a:stretch>
        </p:blipFill>
        <p:spPr>
          <a:xfrm>
            <a:off x="3599738" y="1828800"/>
            <a:ext cx="4992217" cy="3794760"/>
          </a:xfrm>
          <a:prstGeom prst="rect">
            <a:avLst/>
          </a:prstGeom>
        </p:spPr>
      </p:pic>
      <p:sp>
        <p:nvSpPr>
          <p:cNvPr id="8" name="Rectangle 7"/>
          <p:cNvSpPr/>
          <p:nvPr/>
        </p:nvSpPr>
        <p:spPr>
          <a:xfrm>
            <a:off x="3588766" y="1817827"/>
            <a:ext cx="5014163" cy="381670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6986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76986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76986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Course Labs &gt; Lab 13 at http://localhost:8000 - Research &gt; A/B trend_filter vs dip_buy. Offline demo data; connect Alpaca paper keys for live paper trading.</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3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Pairs Stage: a Hedged, Market-Neutral Statistical-Arbitrage Sleeve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259568" y="475488"/>
            <a:ext cx="1152144"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259568"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475488"/>
            <a:ext cx="1152144" cy="310896"/>
          </a:xfrm>
          <a:prstGeom prst="rect">
            <a:avLst/>
          </a:prstGeom>
          <a:noFill/>
        </p:spPr>
        <p:txBody>
          <a:bodyPr wrap="square" anchor="ctr">
            <a:spAutoFit/>
          </a:bodyPr>
          <a:lstStyle/>
          <a:p>
            <a:pPr algn="ctr">
              <a:spcAft>
                <a:spcPts val="400"/>
              </a:spcAft>
            </a:pPr>
            <a:r>
              <a:rPr sz="1100" b="1">
                <a:solidFill>
                  <a:srgbClr val="10B981"/>
                </a:solidFill>
                <a:latin typeface="Arial"/>
              </a:rPr>
              <a:t>A4  K6</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14</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Screen pairs for cointegration and backtest a market-neutral KO/PEP spread. Then build the same stage in code with your AI assistant.</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3386328"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3386328"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2260092"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260092"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3166872" cy="877824"/>
          </a:xfrm>
          <a:prstGeom prst="rect">
            <a:avLst/>
          </a:prstGeom>
          <a:noFill/>
        </p:spPr>
        <p:txBody>
          <a:bodyPr wrap="square" anchor="t">
            <a:spAutoFit/>
          </a:bodyPr>
          <a:lstStyle/>
          <a:p>
            <a:pPr algn="ctr">
              <a:spcAft>
                <a:spcPts val="400"/>
              </a:spcAft>
            </a:pPr>
            <a:r>
              <a:rPr sz="1050" b="0">
                <a:solidFill>
                  <a:srgbClr val="161B26"/>
                </a:solidFill>
                <a:latin typeface="Arial"/>
              </a:rPr>
              <a:t>Simulator: Screen the pairs</a:t>
            </a:r>
          </a:p>
        </p:txBody>
      </p:sp>
      <p:sp>
        <p:nvSpPr>
          <p:cNvPr id="19" name="TextBox 18"/>
          <p:cNvSpPr txBox="1"/>
          <p:nvPr/>
        </p:nvSpPr>
        <p:spPr>
          <a:xfrm>
            <a:off x="41178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4401312" y="3456432"/>
            <a:ext cx="3386328"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01312" y="3456432"/>
            <a:ext cx="3386328"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88416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8416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4511040" y="4114800"/>
            <a:ext cx="3166872" cy="877824"/>
          </a:xfrm>
          <a:prstGeom prst="rect">
            <a:avLst/>
          </a:prstGeom>
          <a:noFill/>
        </p:spPr>
        <p:txBody>
          <a:bodyPr wrap="square" anchor="t">
            <a:spAutoFit/>
          </a:bodyPr>
          <a:lstStyle/>
          <a:p>
            <a:pPr algn="ctr">
              <a:spcAft>
                <a:spcPts val="400"/>
              </a:spcAft>
            </a:pPr>
            <a:r>
              <a:rPr sz="1050" b="0">
                <a:solidFill>
                  <a:srgbClr val="161B26"/>
                </a:solidFill>
                <a:latin typeface="Arial"/>
              </a:rPr>
              <a:t>Simulator: Backtest KO/PEP</a:t>
            </a:r>
          </a:p>
        </p:txBody>
      </p:sp>
      <p:sp>
        <p:nvSpPr>
          <p:cNvPr id="25" name="TextBox 24"/>
          <p:cNvSpPr txBox="1"/>
          <p:nvPr/>
        </p:nvSpPr>
        <p:spPr>
          <a:xfrm>
            <a:off x="774192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8025384" y="3456432"/>
            <a:ext cx="3386328"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25384" y="3456432"/>
            <a:ext cx="3386328"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50823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50823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8135112" y="4114800"/>
            <a:ext cx="3166872" cy="877824"/>
          </a:xfrm>
          <a:prstGeom prst="rect">
            <a:avLst/>
          </a:prstGeom>
          <a:noFill/>
        </p:spPr>
        <p:txBody>
          <a:bodyPr wrap="square" anchor="t">
            <a:spAutoFit/>
          </a:bodyPr>
          <a:lstStyle/>
          <a:p>
            <a:pPr algn="ctr">
              <a:spcAft>
                <a:spcPts val="400"/>
              </a:spcAft>
            </a:pPr>
            <a:r>
              <a:rPr sz="1050" b="0">
                <a:solidFill>
                  <a:srgbClr val="161B26"/>
                </a:solidFill>
                <a:latin typeface="Arial"/>
              </a:rPr>
              <a:t>Code: rebuild the stage with your AI assistant</a:t>
            </a:r>
          </a:p>
        </p:txBody>
      </p:sp>
      <p:sp>
        <p:nvSpPr>
          <p:cNvPr id="31" name="Rectangle 30"/>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34" name="TextBox 33"/>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 hedged pairs sleeve: cointegration screen, hedge ratio and a market-neutral spread strategy.</a:t>
            </a:r>
          </a:p>
        </p:txBody>
      </p:sp>
      <p:sp>
        <p:nvSpPr>
          <p:cNvPr id="35" name="TextBox 34"/>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20 min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14 · SIMULATOR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14 — In the Trading Simulator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14_pairs.png"/>
          <p:cNvPicPr>
            <a:picLocks noChangeAspect="1"/>
          </p:cNvPicPr>
          <p:nvPr/>
        </p:nvPicPr>
        <p:blipFill>
          <a:blip r:embed="rId2"/>
          <a:stretch>
            <a:fillRect/>
          </a:stretch>
        </p:blipFill>
        <p:spPr>
          <a:xfrm>
            <a:off x="3599738" y="1828800"/>
            <a:ext cx="4992217" cy="3794760"/>
          </a:xfrm>
          <a:prstGeom prst="rect">
            <a:avLst/>
          </a:prstGeom>
        </p:spPr>
      </p:pic>
      <p:sp>
        <p:nvSpPr>
          <p:cNvPr id="8" name="Rectangle 7"/>
          <p:cNvSpPr/>
          <p:nvPr/>
        </p:nvSpPr>
        <p:spPr>
          <a:xfrm>
            <a:off x="3588766" y="1817827"/>
            <a:ext cx="5014163" cy="381670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6986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76986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76986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Course Labs &gt; Lab 14 at http://localhost:8000 - Research &gt; Pairs screen. Offline demo data; connect Alpaca paper keys for live paper trading.</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WHAT YOU COVERED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Topic 3 Recap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07424" y="475488"/>
            <a:ext cx="2304288"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07424"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07424" y="475488"/>
            <a:ext cx="2304288" cy="310896"/>
          </a:xfrm>
          <a:prstGeom prst="rect">
            <a:avLst/>
          </a:prstGeom>
          <a:noFill/>
        </p:spPr>
        <p:txBody>
          <a:bodyPr wrap="square" anchor="ctr">
            <a:spAutoFit/>
          </a:bodyPr>
          <a:lstStyle/>
          <a:p>
            <a:pPr algn="ctr">
              <a:spcAft>
                <a:spcPts val="400"/>
              </a:spcAft>
            </a:pPr>
            <a:r>
              <a:rPr sz="1100" b="1">
                <a:solidFill>
                  <a:srgbClr val="7C3AED"/>
                </a:solidFill>
                <a:latin typeface="Arial"/>
              </a:rPr>
              <a:t>A4  A5  K2  K4  K6</a:t>
            </a:r>
          </a:p>
        </p:txBody>
      </p:sp>
      <p:sp>
        <p:nvSpPr>
          <p:cNvPr id="10" name="Rectangle 9"/>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A4</a:t>
            </a:r>
          </a:p>
          <a:p>
            <a:pPr algn="l">
              <a:spcAft>
                <a:spcPts val="300"/>
              </a:spcAft>
            </a:pPr>
            <a:r>
              <a:rPr sz="1000" b="0">
                <a:solidFill>
                  <a:srgbClr val="5B6372"/>
                </a:solidFill>
                <a:latin typeface="Arial"/>
              </a:rPr>
              <a:t>Conduct statistical modelling of data to derive patterns and solutions</a:t>
            </a:r>
          </a:p>
        </p:txBody>
      </p:sp>
      <p:sp>
        <p:nvSpPr>
          <p:cNvPr id="15" name="Rectangle 14"/>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1764792" y="2832811"/>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A5</a:t>
            </a:r>
          </a:p>
          <a:p>
            <a:pPr algn="l">
              <a:spcAft>
                <a:spcPts val="300"/>
              </a:spcAft>
            </a:pPr>
            <a:r>
              <a:rPr sz="1000" b="0">
                <a:solidFill>
                  <a:srgbClr val="5B6372"/>
                </a:solidFill>
                <a:latin typeface="Arial"/>
              </a:rPr>
              <a:t>Perform A/B testing based on different hypotheses</a:t>
            </a:r>
          </a:p>
        </p:txBody>
      </p:sp>
      <p:sp>
        <p:nvSpPr>
          <p:cNvPr id="20" name="Rectangle 19"/>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375452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K2</a:t>
            </a:r>
          </a:p>
          <a:p>
            <a:pPr algn="l">
              <a:spcAft>
                <a:spcPts val="300"/>
              </a:spcAft>
            </a:pPr>
            <a:r>
              <a:rPr sz="1000" b="0">
                <a:solidFill>
                  <a:srgbClr val="5B6372"/>
                </a:solidFill>
                <a:latin typeface="Arial"/>
              </a:rPr>
              <a:t>Types of statistical analyses, data models, algorithms and advanced computational methods</a:t>
            </a:r>
          </a:p>
        </p:txBody>
      </p:sp>
      <p:sp>
        <p:nvSpPr>
          <p:cNvPr id="25" name="Rectangle 24"/>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1764792" y="4676241"/>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K4</a:t>
            </a:r>
          </a:p>
          <a:p>
            <a:pPr algn="l">
              <a:spcAft>
                <a:spcPts val="300"/>
              </a:spcAft>
            </a:pPr>
            <a:r>
              <a:rPr sz="1000" b="0">
                <a:solidFill>
                  <a:srgbClr val="5B6372"/>
                </a:solidFill>
                <a:latin typeface="Arial"/>
              </a:rPr>
              <a:t>Range and application of various types of data models</a:t>
            </a:r>
          </a:p>
        </p:txBody>
      </p:sp>
      <p:sp>
        <p:nvSpPr>
          <p:cNvPr id="30" name="Rectangle 29"/>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4" name="TextBox 33"/>
          <p:cNvSpPr txBox="1"/>
          <p:nvPr/>
        </p:nvSpPr>
        <p:spPr>
          <a:xfrm>
            <a:off x="1764792" y="559795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K6</a:t>
            </a:r>
          </a:p>
          <a:p>
            <a:pPr algn="l">
              <a:spcAft>
                <a:spcPts val="300"/>
              </a:spcAft>
            </a:pPr>
            <a:r>
              <a:rPr sz="1000" b="0">
                <a:solidFill>
                  <a:srgbClr val="5B6372"/>
                </a:solidFill>
                <a:latin typeface="Arial"/>
              </a:rPr>
              <a:t>Statistical modelling techniques</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84048"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1874519"/>
            <a:ext cx="8778240" cy="457200"/>
          </a:xfrm>
          <a:prstGeom prst="rect">
            <a:avLst/>
          </a:prstGeom>
          <a:noFill/>
        </p:spPr>
        <p:txBody>
          <a:bodyPr wrap="square" anchor="t">
            <a:spAutoFit/>
          </a:bodyPr>
          <a:lstStyle/>
          <a:p>
            <a:pPr algn="l">
              <a:spcAft>
                <a:spcPts val="400"/>
              </a:spcAft>
            </a:pPr>
            <a:r>
              <a:rPr sz="1600" b="1">
                <a:solidFill>
                  <a:srgbClr val="F59E0B"/>
                </a:solidFill>
                <a:latin typeface="Arial"/>
              </a:rPr>
              <a:t>TOPIC 4</a:t>
            </a:r>
          </a:p>
        </p:txBody>
      </p:sp>
      <p:sp>
        <p:nvSpPr>
          <p:cNvPr id="5" name="TextBox 4"/>
          <p:cNvSpPr txBox="1"/>
          <p:nvPr/>
        </p:nvSpPr>
        <p:spPr>
          <a:xfrm>
            <a:off x="1188720" y="2331720"/>
            <a:ext cx="9509760" cy="914400"/>
          </a:xfrm>
          <a:prstGeom prst="rect">
            <a:avLst/>
          </a:prstGeom>
          <a:noFill/>
        </p:spPr>
        <p:txBody>
          <a:bodyPr wrap="square" anchor="t">
            <a:spAutoFit/>
          </a:bodyPr>
          <a:lstStyle/>
          <a:p>
            <a:pPr algn="l">
              <a:spcAft>
                <a:spcPts val="400"/>
              </a:spcAft>
            </a:pPr>
            <a:r>
              <a:rPr sz="4000" b="1">
                <a:solidFill>
                  <a:srgbClr val="161B26"/>
                </a:solidFill>
                <a:latin typeface="Arial"/>
              </a:rPr>
              <a:t>End-to-End Trading Pipeline</a:t>
            </a:r>
          </a:p>
        </p:txBody>
      </p:sp>
      <p:sp>
        <p:nvSpPr>
          <p:cNvPr id="6" name="Rectangle 5"/>
          <p:cNvSpPr/>
          <p:nvPr/>
        </p:nvSpPr>
        <p:spPr>
          <a:xfrm>
            <a:off x="1188720" y="3429000"/>
            <a:ext cx="9509760"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88720" y="3429000"/>
            <a:ext cx="82296" cy="1234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81328" y="3429000"/>
            <a:ext cx="9052560" cy="1234440"/>
          </a:xfrm>
          <a:prstGeom prst="rect">
            <a:avLst/>
          </a:prstGeom>
          <a:noFill/>
        </p:spPr>
        <p:txBody>
          <a:bodyPr wrap="square" anchor="ctr">
            <a:spAutoFit/>
          </a:bodyPr>
          <a:lstStyle/>
          <a:p>
            <a:pPr algn="l">
              <a:spcAft>
                <a:spcPts val="400"/>
              </a:spcAft>
            </a:pPr>
            <a:r>
              <a:rPr sz="1050" b="1">
                <a:solidFill>
                  <a:srgbClr val="F59E0B"/>
                </a:solidFill>
                <a:latin typeface="Arial"/>
              </a:rPr>
              <a:t>LEARNING OUTCOME</a:t>
            </a:r>
          </a:p>
          <a:p>
            <a:pPr algn="l">
              <a:spcAft>
                <a:spcPts val="400"/>
              </a:spcAft>
            </a:pPr>
            <a:r>
              <a:rPr sz="1350" b="0">
                <a:solidFill>
                  <a:srgbClr val="161B26"/>
                </a:solidFill>
                <a:latin typeface="Arial"/>
              </a:rPr>
              <a:t>Perform coding and configuration of an automated trading program based on selected models or algorithms, conduct tests on its actions and outcomes, diagnose unintended outcomes, and draw insights from the results to support decisions and report accordingly.</a:t>
            </a:r>
          </a:p>
        </p:txBody>
      </p:sp>
      <p:sp>
        <p:nvSpPr>
          <p:cNvPr id="9" name="TextBox 8"/>
          <p:cNvSpPr txBox="1"/>
          <p:nvPr/>
        </p:nvSpPr>
        <p:spPr>
          <a:xfrm>
            <a:off x="1188720" y="4892040"/>
            <a:ext cx="9509760" cy="457200"/>
          </a:xfrm>
          <a:prstGeom prst="rect">
            <a:avLst/>
          </a:prstGeom>
          <a:noFill/>
        </p:spPr>
        <p:txBody>
          <a:bodyPr wrap="square" anchor="t">
            <a:spAutoFit/>
          </a:bodyPr>
          <a:lstStyle/>
          <a:p>
            <a:pPr algn="l">
              <a:spcAft>
                <a:spcPts val="400"/>
              </a:spcAft>
            </a:pPr>
            <a:r>
              <a:rPr sz="1150" b="0">
                <a:solidFill>
                  <a:srgbClr val="5B6372"/>
                </a:solidFill>
                <a:latin typeface="Arial"/>
              </a:rPr>
              <a:t>Abilities A7, A8, A9, A10  ·  Knowledge K7, K8   ·   Day 2   ·   Labs 15–20   ·   Assessed by PP Task 4 and WA Q7, Q8</a:t>
            </a:r>
          </a:p>
        </p:txBody>
      </p:sp>
      <p:sp>
        <p:nvSpPr>
          <p:cNvPr id="10" name="TextBox 9"/>
          <p:cNvSpPr txBox="1"/>
          <p:nvPr/>
        </p:nvSpPr>
        <p:spPr>
          <a:xfrm>
            <a:off x="9692640" y="914400"/>
            <a:ext cx="2011680" cy="2011680"/>
          </a:xfrm>
          <a:prstGeom prst="rect">
            <a:avLst/>
          </a:prstGeom>
          <a:noFill/>
        </p:spPr>
        <p:txBody>
          <a:bodyPr wrap="square" anchor="t">
            <a:spAutoFit/>
          </a:bodyPr>
          <a:lstStyle/>
          <a:p>
            <a:pPr algn="r">
              <a:spcAft>
                <a:spcPts val="400"/>
              </a:spcAft>
            </a:pPr>
            <a:r>
              <a:rPr sz="9600" b="1">
                <a:solidFill>
                  <a:srgbClr val="F5F8FC"/>
                </a:solidFill>
                <a:latin typeface="Arial"/>
              </a:rPr>
              <a:t>04</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4 · A7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Pre-Trade Risk Controls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F59E0B"/>
                </a:solidFill>
                <a:latin typeface="Arial"/>
              </a:rPr>
              <a:t>A7</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Position and order limits</a:t>
            </a:r>
          </a:p>
          <a:p>
            <a:pPr algn="l">
              <a:spcAft>
                <a:spcPts val="300"/>
              </a:spcAft>
            </a:pPr>
            <a:r>
              <a:rPr sz="1150" b="0">
                <a:solidFill>
                  <a:srgbClr val="5B6372"/>
                </a:solidFill>
                <a:latin typeface="Arial"/>
              </a:rPr>
              <a:t>Maximum shares, maximum order value per symbol.</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Maximum daily loss</a:t>
            </a:r>
          </a:p>
          <a:p>
            <a:pPr algn="l">
              <a:spcAft>
                <a:spcPts val="300"/>
              </a:spcAft>
            </a:pPr>
            <a:r>
              <a:rPr sz="1150" b="0">
                <a:solidFill>
                  <a:srgbClr val="5B6372"/>
                </a:solidFill>
                <a:latin typeface="Arial"/>
              </a:rPr>
              <a:t>Stop trading for the day when breached.</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Market-hours and duplicate checks</a:t>
            </a:r>
          </a:p>
          <a:p>
            <a:pPr algn="l">
              <a:spcAft>
                <a:spcPts val="300"/>
              </a:spcAft>
            </a:pPr>
            <a:r>
              <a:rPr sz="1150" b="0">
                <a:solidFill>
                  <a:srgbClr val="5B6372"/>
                </a:solidFill>
                <a:latin typeface="Arial"/>
              </a:rPr>
              <a:t>Alpaca clock; never resend an open order.</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Kill switch</a:t>
            </a:r>
          </a:p>
          <a:p>
            <a:pPr algn="l">
              <a:spcAft>
                <a:spcPts val="300"/>
              </a:spcAft>
            </a:pPr>
            <a:r>
              <a:rPr sz="1150" b="0">
                <a:solidFill>
                  <a:srgbClr val="5B6372"/>
                </a:solidFill>
                <a:latin typeface="Arial"/>
              </a:rPr>
              <a:t>One file or flag halts all trading immediately.</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4 · K7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Trading Costs You Must Model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F59E0B"/>
                </a:solidFill>
                <a:latin typeface="Arial"/>
              </a:rPr>
              <a:t>K7</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Commission</a:t>
            </a:r>
          </a:p>
          <a:p>
            <a:pPr algn="l">
              <a:spcAft>
                <a:spcPts val="300"/>
              </a:spcAft>
            </a:pPr>
            <a:r>
              <a:rPr sz="1150" b="0">
                <a:solidFill>
                  <a:srgbClr val="5B6372"/>
                </a:solidFill>
                <a:latin typeface="Arial"/>
              </a:rPr>
              <a:t>Zero on Alpaca US equities — not on most brokers.</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Spread and slippage</a:t>
            </a:r>
          </a:p>
          <a:p>
            <a:pPr algn="l">
              <a:spcAft>
                <a:spcPts val="300"/>
              </a:spcAft>
            </a:pPr>
            <a:r>
              <a:rPr sz="1150" b="0">
                <a:solidFill>
                  <a:srgbClr val="5B6372"/>
                </a:solidFill>
                <a:latin typeface="Arial"/>
              </a:rPr>
              <a:t>Half-spread + slippage on every fill, in bps.</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Regulatory fees on sells</a:t>
            </a:r>
          </a:p>
          <a:p>
            <a:pPr algn="l">
              <a:spcAft>
                <a:spcPts val="300"/>
              </a:spcAft>
            </a:pPr>
            <a:r>
              <a:rPr sz="1150" b="0">
                <a:solidFill>
                  <a:srgbClr val="5B6372"/>
                </a:solidFill>
                <a:latin typeface="Arial"/>
              </a:rPr>
              <a:t>SEC Section 31 fee and FINRA TAF.</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Borrow and impact</a:t>
            </a:r>
          </a:p>
          <a:p>
            <a:pPr algn="l">
              <a:spcAft>
                <a:spcPts val="300"/>
              </a:spcAft>
            </a:pPr>
            <a:r>
              <a:rPr sz="1150" b="0">
                <a:solidFill>
                  <a:srgbClr val="5B6372"/>
                </a:solidFill>
                <a:latin typeface="Arial"/>
              </a:rPr>
              <a:t>Short-borrow costs; your own market impact.</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4 · K8</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Potential Reasons for Unintended Outcomes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F59E0B"/>
                </a:solidFill>
                <a:latin typeface="Arial"/>
              </a:rPr>
              <a:t>K8</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Overfitting and data snooping</a:t>
            </a:r>
          </a:p>
          <a:p>
            <a:pPr algn="l">
              <a:spcAft>
                <a:spcPts val="300"/>
              </a:spcAft>
            </a:pPr>
            <a:r>
              <a:rPr sz="1150" b="0">
                <a:solidFill>
                  <a:srgbClr val="5B6372"/>
                </a:solidFill>
                <a:latin typeface="Arial"/>
              </a:rPr>
              <a:t>Great in-sample, collapses out of sample.</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Look-ahead and survivorship bias</a:t>
            </a:r>
          </a:p>
          <a:p>
            <a:pPr algn="l">
              <a:spcAft>
                <a:spcPts val="300"/>
              </a:spcAft>
            </a:pPr>
            <a:r>
              <a:rPr sz="1150" b="0">
                <a:solidFill>
                  <a:srgbClr val="5B6372"/>
                </a:solidFill>
                <a:latin typeface="Arial"/>
              </a:rPr>
              <a:t>Same-bar fills; only today's survivors.</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Cost and execution drag</a:t>
            </a:r>
          </a:p>
          <a:p>
            <a:pPr algn="l">
              <a:spcAft>
                <a:spcPts val="300"/>
              </a:spcAft>
            </a:pPr>
            <a:r>
              <a:rPr sz="1150" b="0">
                <a:solidFill>
                  <a:srgbClr val="5B6372"/>
                </a:solidFill>
                <a:latin typeface="Arial"/>
              </a:rPr>
              <a:t>Live returns trail the backtest by turnover × cost.</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Regime change, data and code errors</a:t>
            </a:r>
          </a:p>
          <a:p>
            <a:pPr algn="l">
              <a:spcAft>
                <a:spcPts val="300"/>
              </a:spcAft>
            </a:pPr>
            <a:r>
              <a:rPr sz="1150" b="0">
                <a:solidFill>
                  <a:srgbClr val="5B6372"/>
                </a:solidFill>
                <a:latin typeface="Arial"/>
              </a:rPr>
              <a:t>Drift, bad splits, time zones, duplicate orders.</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4 · A10</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Goes on a Tearsheet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F59E0B"/>
                </a:solidFill>
                <a:latin typeface="Arial"/>
              </a:rPr>
              <a:t>A10</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Equity versus benchmark</a:t>
            </a:r>
          </a:p>
          <a:p>
            <a:pPr algn="l">
              <a:spcAft>
                <a:spcPts val="300"/>
              </a:spcAft>
            </a:pPr>
            <a:r>
              <a:rPr sz="1150" b="0">
                <a:solidFill>
                  <a:srgbClr val="5B6372"/>
                </a:solidFill>
                <a:latin typeface="Arial"/>
              </a:rPr>
              <a:t>Growth of USD 100,000, strategy and buy-and-hold.</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Drawdown and rolling Sharpe</a:t>
            </a:r>
          </a:p>
          <a:p>
            <a:pPr algn="l">
              <a:spcAft>
                <a:spcPts val="300"/>
              </a:spcAft>
            </a:pPr>
            <a:r>
              <a:rPr sz="1150" b="0">
                <a:solidFill>
                  <a:srgbClr val="5B6372"/>
                </a:solidFill>
                <a:latin typeface="Arial"/>
              </a:rPr>
              <a:t>Depth, length and stability of the edge.</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Monthly returns heatmap</a:t>
            </a:r>
          </a:p>
          <a:p>
            <a:pPr algn="l">
              <a:spcAft>
                <a:spcPts val="300"/>
              </a:spcAft>
            </a:pPr>
            <a:r>
              <a:rPr sz="1150" b="0">
                <a:solidFill>
                  <a:srgbClr val="5B6372"/>
                </a:solidFill>
                <a:latin typeface="Arial"/>
              </a:rPr>
              <a:t>When did it make — and lose — money?</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Metrics and cost table</a:t>
            </a:r>
          </a:p>
          <a:p>
            <a:pPr algn="l">
              <a:spcAft>
                <a:spcPts val="300"/>
              </a:spcAft>
            </a:pPr>
            <a:r>
              <a:rPr sz="1150" b="0">
                <a:solidFill>
                  <a:srgbClr val="5B6372"/>
                </a:solidFill>
                <a:latin typeface="Arial"/>
              </a:rPr>
              <a:t>Gross versus net; backtest versus forward.</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4 · A7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End-to-End Algorithmic Trading Pipeline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F59E0B"/>
                </a:solidFill>
                <a:latin typeface="Arial"/>
              </a:rPr>
              <a:t>A7</a:t>
            </a:r>
          </a:p>
        </p:txBody>
      </p:sp>
      <p:sp>
        <p:nvSpPr>
          <p:cNvPr id="10" name="Rectangle 9"/>
          <p:cNvSpPr/>
          <p:nvPr/>
        </p:nvSpPr>
        <p:spPr>
          <a:xfrm>
            <a:off x="777240" y="2240280"/>
            <a:ext cx="1089279"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40280"/>
            <a:ext cx="1089279"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65263"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5263"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4" name="TextBox 13"/>
          <p:cNvSpPr txBox="1"/>
          <p:nvPr/>
        </p:nvSpPr>
        <p:spPr>
          <a:xfrm>
            <a:off x="905256" y="3483864"/>
            <a:ext cx="833247" cy="1371600"/>
          </a:xfrm>
          <a:prstGeom prst="rect">
            <a:avLst/>
          </a:prstGeom>
          <a:noFill/>
        </p:spPr>
        <p:txBody>
          <a:bodyPr wrap="square" anchor="t">
            <a:spAutoFit/>
          </a:bodyPr>
          <a:lstStyle/>
          <a:p>
            <a:pPr algn="ctr">
              <a:spcAft>
                <a:spcPts val="400"/>
              </a:spcAft>
            </a:pPr>
            <a:r>
              <a:rPr sz="1200" b="0">
                <a:solidFill>
                  <a:srgbClr val="161B26"/>
                </a:solidFill>
                <a:latin typeface="Arial"/>
              </a:rPr>
              <a:t>Strategy search</a:t>
            </a:r>
          </a:p>
        </p:txBody>
      </p:sp>
      <p:sp>
        <p:nvSpPr>
          <p:cNvPr id="15" name="TextBox 14"/>
          <p:cNvSpPr txBox="1"/>
          <p:nvPr/>
        </p:nvSpPr>
        <p:spPr>
          <a:xfrm>
            <a:off x="1848231"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16" name="Rectangle 15"/>
          <p:cNvSpPr/>
          <p:nvPr/>
        </p:nvSpPr>
        <p:spPr>
          <a:xfrm>
            <a:off x="2140839" y="2240280"/>
            <a:ext cx="1089279"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140839" y="2240280"/>
            <a:ext cx="1089279"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2328862"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28862"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20" name="TextBox 19"/>
          <p:cNvSpPr txBox="1"/>
          <p:nvPr/>
        </p:nvSpPr>
        <p:spPr>
          <a:xfrm>
            <a:off x="2268855" y="3483864"/>
            <a:ext cx="833247" cy="1371600"/>
          </a:xfrm>
          <a:prstGeom prst="rect">
            <a:avLst/>
          </a:prstGeom>
          <a:noFill/>
        </p:spPr>
        <p:txBody>
          <a:bodyPr wrap="square" anchor="t">
            <a:spAutoFit/>
          </a:bodyPr>
          <a:lstStyle/>
          <a:p>
            <a:pPr algn="ctr">
              <a:spcAft>
                <a:spcPts val="400"/>
              </a:spcAft>
            </a:pPr>
            <a:r>
              <a:rPr sz="1200" b="0">
                <a:solidFill>
                  <a:srgbClr val="161B26"/>
                </a:solidFill>
                <a:latin typeface="Arial"/>
              </a:rPr>
              <a:t>Data ingestion</a:t>
            </a:r>
          </a:p>
        </p:txBody>
      </p:sp>
      <p:sp>
        <p:nvSpPr>
          <p:cNvPr id="21" name="TextBox 20"/>
          <p:cNvSpPr txBox="1"/>
          <p:nvPr/>
        </p:nvSpPr>
        <p:spPr>
          <a:xfrm>
            <a:off x="3211830"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22" name="Rectangle 21"/>
          <p:cNvSpPr/>
          <p:nvPr/>
        </p:nvSpPr>
        <p:spPr>
          <a:xfrm>
            <a:off x="3504438" y="2240280"/>
            <a:ext cx="1089279"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504438" y="2240280"/>
            <a:ext cx="1089279"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3692461"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92461"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6" name="TextBox 25"/>
          <p:cNvSpPr txBox="1"/>
          <p:nvPr/>
        </p:nvSpPr>
        <p:spPr>
          <a:xfrm>
            <a:off x="3632454" y="3483864"/>
            <a:ext cx="833247" cy="1371600"/>
          </a:xfrm>
          <a:prstGeom prst="rect">
            <a:avLst/>
          </a:prstGeom>
          <a:noFill/>
        </p:spPr>
        <p:txBody>
          <a:bodyPr wrap="square" anchor="t">
            <a:spAutoFit/>
          </a:bodyPr>
          <a:lstStyle/>
          <a:p>
            <a:pPr algn="ctr">
              <a:spcAft>
                <a:spcPts val="400"/>
              </a:spcAft>
            </a:pPr>
            <a:r>
              <a:rPr sz="1200" b="0">
                <a:solidFill>
                  <a:srgbClr val="161B26"/>
                </a:solidFill>
                <a:latin typeface="Arial"/>
              </a:rPr>
              <a:t>Signal</a:t>
            </a:r>
          </a:p>
        </p:txBody>
      </p:sp>
      <p:sp>
        <p:nvSpPr>
          <p:cNvPr id="27" name="TextBox 26"/>
          <p:cNvSpPr txBox="1"/>
          <p:nvPr/>
        </p:nvSpPr>
        <p:spPr>
          <a:xfrm>
            <a:off x="4575429"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28" name="Rectangle 27"/>
          <p:cNvSpPr/>
          <p:nvPr/>
        </p:nvSpPr>
        <p:spPr>
          <a:xfrm>
            <a:off x="4868037" y="2240280"/>
            <a:ext cx="1089279"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868037" y="2240280"/>
            <a:ext cx="1089279"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056060"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56060"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2" name="TextBox 31"/>
          <p:cNvSpPr txBox="1"/>
          <p:nvPr/>
        </p:nvSpPr>
        <p:spPr>
          <a:xfrm>
            <a:off x="4996053" y="3483864"/>
            <a:ext cx="833247" cy="1371600"/>
          </a:xfrm>
          <a:prstGeom prst="rect">
            <a:avLst/>
          </a:prstGeom>
          <a:noFill/>
        </p:spPr>
        <p:txBody>
          <a:bodyPr wrap="square" anchor="t">
            <a:spAutoFit/>
          </a:bodyPr>
          <a:lstStyle/>
          <a:p>
            <a:pPr algn="ctr">
              <a:spcAft>
                <a:spcPts val="400"/>
              </a:spcAft>
            </a:pPr>
            <a:r>
              <a:rPr sz="1200" b="0">
                <a:solidFill>
                  <a:srgbClr val="161B26"/>
                </a:solidFill>
                <a:latin typeface="Arial"/>
              </a:rPr>
              <a:t>Backtest with costs</a:t>
            </a:r>
          </a:p>
        </p:txBody>
      </p:sp>
      <p:sp>
        <p:nvSpPr>
          <p:cNvPr id="33" name="TextBox 32"/>
          <p:cNvSpPr txBox="1"/>
          <p:nvPr/>
        </p:nvSpPr>
        <p:spPr>
          <a:xfrm>
            <a:off x="5939028"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34" name="Rectangle 33"/>
          <p:cNvSpPr/>
          <p:nvPr/>
        </p:nvSpPr>
        <p:spPr>
          <a:xfrm>
            <a:off x="6231636" y="2240280"/>
            <a:ext cx="1089279"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231636" y="2240280"/>
            <a:ext cx="1089279"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419659"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9659"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8" name="TextBox 37"/>
          <p:cNvSpPr txBox="1"/>
          <p:nvPr/>
        </p:nvSpPr>
        <p:spPr>
          <a:xfrm>
            <a:off x="6359652" y="3483864"/>
            <a:ext cx="833247" cy="1371600"/>
          </a:xfrm>
          <a:prstGeom prst="rect">
            <a:avLst/>
          </a:prstGeom>
          <a:noFill/>
        </p:spPr>
        <p:txBody>
          <a:bodyPr wrap="square" anchor="t">
            <a:spAutoFit/>
          </a:bodyPr>
          <a:lstStyle/>
          <a:p>
            <a:pPr algn="ctr">
              <a:spcAft>
                <a:spcPts val="400"/>
              </a:spcAft>
            </a:pPr>
            <a:r>
              <a:rPr sz="1200" b="0">
                <a:solidFill>
                  <a:srgbClr val="161B26"/>
                </a:solidFill>
                <a:latin typeface="Arial"/>
              </a:rPr>
              <a:t>Risk checks</a:t>
            </a:r>
          </a:p>
        </p:txBody>
      </p:sp>
      <p:sp>
        <p:nvSpPr>
          <p:cNvPr id="39" name="TextBox 38"/>
          <p:cNvSpPr txBox="1"/>
          <p:nvPr/>
        </p:nvSpPr>
        <p:spPr>
          <a:xfrm>
            <a:off x="7302627"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40" name="Rectangle 39"/>
          <p:cNvSpPr/>
          <p:nvPr/>
        </p:nvSpPr>
        <p:spPr>
          <a:xfrm>
            <a:off x="7595235" y="2240280"/>
            <a:ext cx="1089279"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595235" y="2240280"/>
            <a:ext cx="1089279"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7783258"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783258"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6</a:t>
            </a:r>
          </a:p>
        </p:txBody>
      </p:sp>
      <p:sp>
        <p:nvSpPr>
          <p:cNvPr id="44" name="TextBox 43"/>
          <p:cNvSpPr txBox="1"/>
          <p:nvPr/>
        </p:nvSpPr>
        <p:spPr>
          <a:xfrm>
            <a:off x="7723251" y="3483864"/>
            <a:ext cx="833247" cy="1371600"/>
          </a:xfrm>
          <a:prstGeom prst="rect">
            <a:avLst/>
          </a:prstGeom>
          <a:noFill/>
        </p:spPr>
        <p:txBody>
          <a:bodyPr wrap="square" anchor="t">
            <a:spAutoFit/>
          </a:bodyPr>
          <a:lstStyle/>
          <a:p>
            <a:pPr algn="ctr">
              <a:spcAft>
                <a:spcPts val="400"/>
              </a:spcAft>
            </a:pPr>
            <a:r>
              <a:rPr sz="1200" b="0">
                <a:solidFill>
                  <a:srgbClr val="161B26"/>
                </a:solidFill>
                <a:latin typeface="Arial"/>
              </a:rPr>
              <a:t>Order execution</a:t>
            </a:r>
          </a:p>
        </p:txBody>
      </p:sp>
      <p:sp>
        <p:nvSpPr>
          <p:cNvPr id="45" name="TextBox 44"/>
          <p:cNvSpPr txBox="1"/>
          <p:nvPr/>
        </p:nvSpPr>
        <p:spPr>
          <a:xfrm>
            <a:off x="8666226"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46" name="Rectangle 45"/>
          <p:cNvSpPr/>
          <p:nvPr/>
        </p:nvSpPr>
        <p:spPr>
          <a:xfrm>
            <a:off x="8958834" y="2240280"/>
            <a:ext cx="1089279"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8958834" y="2240280"/>
            <a:ext cx="1089279"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9146857"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146857"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7</a:t>
            </a:r>
          </a:p>
        </p:txBody>
      </p:sp>
      <p:sp>
        <p:nvSpPr>
          <p:cNvPr id="50" name="TextBox 49"/>
          <p:cNvSpPr txBox="1"/>
          <p:nvPr/>
        </p:nvSpPr>
        <p:spPr>
          <a:xfrm>
            <a:off x="9086850" y="3483864"/>
            <a:ext cx="833247" cy="1371600"/>
          </a:xfrm>
          <a:prstGeom prst="rect">
            <a:avLst/>
          </a:prstGeom>
          <a:noFill/>
        </p:spPr>
        <p:txBody>
          <a:bodyPr wrap="square" anchor="t">
            <a:spAutoFit/>
          </a:bodyPr>
          <a:lstStyle/>
          <a:p>
            <a:pPr algn="ctr">
              <a:spcAft>
                <a:spcPts val="400"/>
              </a:spcAft>
            </a:pPr>
            <a:r>
              <a:rPr sz="1200" b="0">
                <a:solidFill>
                  <a:srgbClr val="161B26"/>
                </a:solidFill>
                <a:latin typeface="Arial"/>
              </a:rPr>
              <a:t>Forward test</a:t>
            </a:r>
          </a:p>
        </p:txBody>
      </p:sp>
      <p:sp>
        <p:nvSpPr>
          <p:cNvPr id="51" name="TextBox 50"/>
          <p:cNvSpPr txBox="1"/>
          <p:nvPr/>
        </p:nvSpPr>
        <p:spPr>
          <a:xfrm>
            <a:off x="10029825"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52" name="Rectangle 51"/>
          <p:cNvSpPr/>
          <p:nvPr/>
        </p:nvSpPr>
        <p:spPr>
          <a:xfrm>
            <a:off x="10322433" y="2240280"/>
            <a:ext cx="1089279"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0322433" y="2240280"/>
            <a:ext cx="1089279"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10510456"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0510456"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8</a:t>
            </a:r>
          </a:p>
        </p:txBody>
      </p:sp>
      <p:sp>
        <p:nvSpPr>
          <p:cNvPr id="56" name="TextBox 55"/>
          <p:cNvSpPr txBox="1"/>
          <p:nvPr/>
        </p:nvSpPr>
        <p:spPr>
          <a:xfrm>
            <a:off x="10450449" y="3483864"/>
            <a:ext cx="833247" cy="1371600"/>
          </a:xfrm>
          <a:prstGeom prst="rect">
            <a:avLst/>
          </a:prstGeom>
          <a:noFill/>
        </p:spPr>
        <p:txBody>
          <a:bodyPr wrap="square" anchor="t">
            <a:spAutoFit/>
          </a:bodyPr>
          <a:lstStyle/>
          <a:p>
            <a:pPr algn="ctr">
              <a:spcAft>
                <a:spcPts val="400"/>
              </a:spcAft>
            </a:pPr>
            <a:r>
              <a:rPr sz="1200" b="0">
                <a:solidFill>
                  <a:srgbClr val="161B26"/>
                </a:solidFill>
                <a:latin typeface="Arial"/>
              </a:rPr>
              <a:t>Monitor and report</a:t>
            </a:r>
          </a:p>
        </p:txBody>
      </p:sp>
      <p:sp>
        <p:nvSpPr>
          <p:cNvPr id="57" name="Rectangle 56"/>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777240" y="5257800"/>
            <a:ext cx="91440" cy="8229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Configuration — symbols, parameters, limits, keys — lives outside the code.</a:t>
            </a:r>
          </a:p>
        </p:txBody>
      </p:sp>
      <p:sp>
        <p:nvSpPr>
          <p:cNvPr id="60" name="TextBox 5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61" name="TextBox 6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62" name="TextBox 6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4 · A8</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Automated Paper-Trading Bot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F59E0B"/>
                </a:solidFill>
                <a:latin typeface="Arial"/>
              </a:rPr>
              <a:t>A8</a:t>
            </a:r>
          </a:p>
        </p:txBody>
      </p:sp>
      <p:sp>
        <p:nvSpPr>
          <p:cNvPr id="10" name="TextBox 9"/>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One cycle per closed bar.</a:t>
            </a:r>
          </a:p>
        </p:txBody>
      </p:sp>
      <p:sp>
        <p:nvSpPr>
          <p:cNvPr id="11" name="Rectangle 10"/>
          <p:cNvSpPr/>
          <p:nvPr/>
        </p:nvSpPr>
        <p:spPr>
          <a:xfrm>
            <a:off x="777240" y="2240280"/>
            <a:ext cx="12840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240280"/>
            <a:ext cx="1284078"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62663"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2663"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5" name="TextBox 14"/>
          <p:cNvSpPr txBox="1"/>
          <p:nvPr/>
        </p:nvSpPr>
        <p:spPr>
          <a:xfrm>
            <a:off x="905256" y="3483864"/>
            <a:ext cx="1028046" cy="1371600"/>
          </a:xfrm>
          <a:prstGeom prst="rect">
            <a:avLst/>
          </a:prstGeom>
          <a:noFill/>
        </p:spPr>
        <p:txBody>
          <a:bodyPr wrap="square" anchor="t">
            <a:spAutoFit/>
          </a:bodyPr>
          <a:lstStyle/>
          <a:p>
            <a:pPr algn="ctr">
              <a:spcAft>
                <a:spcPts val="400"/>
              </a:spcAft>
            </a:pPr>
            <a:r>
              <a:rPr sz="1200" b="0">
                <a:solidFill>
                  <a:srgbClr val="161B26"/>
                </a:solidFill>
                <a:latin typeface="Arial"/>
              </a:rPr>
              <a:t>Bar closes</a:t>
            </a:r>
          </a:p>
        </p:txBody>
      </p:sp>
      <p:sp>
        <p:nvSpPr>
          <p:cNvPr id="16" name="TextBox 15"/>
          <p:cNvSpPr txBox="1"/>
          <p:nvPr/>
        </p:nvSpPr>
        <p:spPr>
          <a:xfrm>
            <a:off x="2043030"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17" name="Rectangle 16"/>
          <p:cNvSpPr/>
          <p:nvPr/>
        </p:nvSpPr>
        <p:spPr>
          <a:xfrm>
            <a:off x="2335638" y="2240280"/>
            <a:ext cx="12840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335638" y="2240280"/>
            <a:ext cx="1284078"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621061"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621061"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21" name="TextBox 20"/>
          <p:cNvSpPr txBox="1"/>
          <p:nvPr/>
        </p:nvSpPr>
        <p:spPr>
          <a:xfrm>
            <a:off x="2463654" y="3483864"/>
            <a:ext cx="1028046" cy="1371600"/>
          </a:xfrm>
          <a:prstGeom prst="rect">
            <a:avLst/>
          </a:prstGeom>
          <a:noFill/>
        </p:spPr>
        <p:txBody>
          <a:bodyPr wrap="square" anchor="t">
            <a:spAutoFit/>
          </a:bodyPr>
          <a:lstStyle/>
          <a:p>
            <a:pPr algn="ctr">
              <a:spcAft>
                <a:spcPts val="400"/>
              </a:spcAft>
            </a:pPr>
            <a:r>
              <a:rPr sz="1200" b="0">
                <a:solidFill>
                  <a:srgbClr val="161B26"/>
                </a:solidFill>
                <a:latin typeface="Arial"/>
              </a:rPr>
              <a:t>Fetch latest bars</a:t>
            </a:r>
          </a:p>
        </p:txBody>
      </p:sp>
      <p:sp>
        <p:nvSpPr>
          <p:cNvPr id="22" name="TextBox 21"/>
          <p:cNvSpPr txBox="1"/>
          <p:nvPr/>
        </p:nvSpPr>
        <p:spPr>
          <a:xfrm>
            <a:off x="3601428"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23" name="Rectangle 22"/>
          <p:cNvSpPr/>
          <p:nvPr/>
        </p:nvSpPr>
        <p:spPr>
          <a:xfrm>
            <a:off x="3894036" y="2240280"/>
            <a:ext cx="12840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894036" y="2240280"/>
            <a:ext cx="1284078"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179459"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79459"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7" name="TextBox 26"/>
          <p:cNvSpPr txBox="1"/>
          <p:nvPr/>
        </p:nvSpPr>
        <p:spPr>
          <a:xfrm>
            <a:off x="4022052" y="3483864"/>
            <a:ext cx="1028046" cy="1371600"/>
          </a:xfrm>
          <a:prstGeom prst="rect">
            <a:avLst/>
          </a:prstGeom>
          <a:noFill/>
        </p:spPr>
        <p:txBody>
          <a:bodyPr wrap="square" anchor="t">
            <a:spAutoFit/>
          </a:bodyPr>
          <a:lstStyle/>
          <a:p>
            <a:pPr algn="ctr">
              <a:spcAft>
                <a:spcPts val="400"/>
              </a:spcAft>
            </a:pPr>
            <a:r>
              <a:rPr sz="1200" b="0">
                <a:solidFill>
                  <a:srgbClr val="161B26"/>
                </a:solidFill>
                <a:latin typeface="Arial"/>
              </a:rPr>
              <a:t>Compute signal</a:t>
            </a:r>
          </a:p>
        </p:txBody>
      </p:sp>
      <p:sp>
        <p:nvSpPr>
          <p:cNvPr id="28" name="TextBox 27"/>
          <p:cNvSpPr txBox="1"/>
          <p:nvPr/>
        </p:nvSpPr>
        <p:spPr>
          <a:xfrm>
            <a:off x="5159826"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29" name="Rectangle 28"/>
          <p:cNvSpPr/>
          <p:nvPr/>
        </p:nvSpPr>
        <p:spPr>
          <a:xfrm>
            <a:off x="5452434" y="2240280"/>
            <a:ext cx="12840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452434" y="2240280"/>
            <a:ext cx="1284078"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5737857"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737857"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3" name="TextBox 32"/>
          <p:cNvSpPr txBox="1"/>
          <p:nvPr/>
        </p:nvSpPr>
        <p:spPr>
          <a:xfrm>
            <a:off x="5580450" y="3483864"/>
            <a:ext cx="1028046" cy="1371600"/>
          </a:xfrm>
          <a:prstGeom prst="rect">
            <a:avLst/>
          </a:prstGeom>
          <a:noFill/>
        </p:spPr>
        <p:txBody>
          <a:bodyPr wrap="square" anchor="t">
            <a:spAutoFit/>
          </a:bodyPr>
          <a:lstStyle/>
          <a:p>
            <a:pPr algn="ctr">
              <a:spcAft>
                <a:spcPts val="400"/>
              </a:spcAft>
            </a:pPr>
            <a:r>
              <a:rPr sz="1200" b="0">
                <a:solidFill>
                  <a:srgbClr val="161B26"/>
                </a:solidFill>
                <a:latin typeface="Arial"/>
              </a:rPr>
              <a:t>Run risk checks</a:t>
            </a:r>
          </a:p>
        </p:txBody>
      </p:sp>
      <p:sp>
        <p:nvSpPr>
          <p:cNvPr id="34" name="TextBox 33"/>
          <p:cNvSpPr txBox="1"/>
          <p:nvPr/>
        </p:nvSpPr>
        <p:spPr>
          <a:xfrm>
            <a:off x="6718224"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35" name="Rectangle 34"/>
          <p:cNvSpPr/>
          <p:nvPr/>
        </p:nvSpPr>
        <p:spPr>
          <a:xfrm>
            <a:off x="7010832" y="2240280"/>
            <a:ext cx="12840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010832" y="2240280"/>
            <a:ext cx="1284078"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296255"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296255"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9" name="TextBox 38"/>
          <p:cNvSpPr txBox="1"/>
          <p:nvPr/>
        </p:nvSpPr>
        <p:spPr>
          <a:xfrm>
            <a:off x="7138848" y="3483864"/>
            <a:ext cx="1028046" cy="1371600"/>
          </a:xfrm>
          <a:prstGeom prst="rect">
            <a:avLst/>
          </a:prstGeom>
          <a:noFill/>
        </p:spPr>
        <p:txBody>
          <a:bodyPr wrap="square" anchor="t">
            <a:spAutoFit/>
          </a:bodyPr>
          <a:lstStyle/>
          <a:p>
            <a:pPr algn="ctr">
              <a:spcAft>
                <a:spcPts val="400"/>
              </a:spcAft>
            </a:pPr>
            <a:r>
              <a:rPr sz="1200" b="0">
                <a:solidFill>
                  <a:srgbClr val="161B26"/>
                </a:solidFill>
                <a:latin typeface="Arial"/>
              </a:rPr>
              <a:t>Target vs actual position</a:t>
            </a:r>
          </a:p>
        </p:txBody>
      </p:sp>
      <p:sp>
        <p:nvSpPr>
          <p:cNvPr id="40" name="TextBox 39"/>
          <p:cNvSpPr txBox="1"/>
          <p:nvPr/>
        </p:nvSpPr>
        <p:spPr>
          <a:xfrm>
            <a:off x="8276622"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41" name="Rectangle 40"/>
          <p:cNvSpPr/>
          <p:nvPr/>
        </p:nvSpPr>
        <p:spPr>
          <a:xfrm>
            <a:off x="8569230" y="2240280"/>
            <a:ext cx="12840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569230" y="2240280"/>
            <a:ext cx="1284078"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8854653"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854653"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6</a:t>
            </a:r>
          </a:p>
        </p:txBody>
      </p:sp>
      <p:sp>
        <p:nvSpPr>
          <p:cNvPr id="45" name="TextBox 44"/>
          <p:cNvSpPr txBox="1"/>
          <p:nvPr/>
        </p:nvSpPr>
        <p:spPr>
          <a:xfrm>
            <a:off x="8697246" y="3483864"/>
            <a:ext cx="1028046" cy="1371600"/>
          </a:xfrm>
          <a:prstGeom prst="rect">
            <a:avLst/>
          </a:prstGeom>
          <a:noFill/>
        </p:spPr>
        <p:txBody>
          <a:bodyPr wrap="square" anchor="t">
            <a:spAutoFit/>
          </a:bodyPr>
          <a:lstStyle/>
          <a:p>
            <a:pPr algn="ctr">
              <a:spcAft>
                <a:spcPts val="400"/>
              </a:spcAft>
            </a:pPr>
            <a:r>
              <a:rPr sz="1200" b="0">
                <a:solidFill>
                  <a:srgbClr val="161B26"/>
                </a:solidFill>
                <a:latin typeface="Arial"/>
              </a:rPr>
              <a:t>Submit order; read status</a:t>
            </a:r>
          </a:p>
        </p:txBody>
      </p:sp>
      <p:sp>
        <p:nvSpPr>
          <p:cNvPr id="46" name="TextBox 45"/>
          <p:cNvSpPr txBox="1"/>
          <p:nvPr/>
        </p:nvSpPr>
        <p:spPr>
          <a:xfrm>
            <a:off x="9835020"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47" name="Rectangle 46"/>
          <p:cNvSpPr/>
          <p:nvPr/>
        </p:nvSpPr>
        <p:spPr>
          <a:xfrm>
            <a:off x="10127628" y="2240280"/>
            <a:ext cx="12840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127628" y="2240280"/>
            <a:ext cx="1284078"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0413051"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413051"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7</a:t>
            </a:r>
          </a:p>
        </p:txBody>
      </p:sp>
      <p:sp>
        <p:nvSpPr>
          <p:cNvPr id="51" name="TextBox 50"/>
          <p:cNvSpPr txBox="1"/>
          <p:nvPr/>
        </p:nvSpPr>
        <p:spPr>
          <a:xfrm>
            <a:off x="10255644" y="3483864"/>
            <a:ext cx="1028046" cy="1371600"/>
          </a:xfrm>
          <a:prstGeom prst="rect">
            <a:avLst/>
          </a:prstGeom>
          <a:noFill/>
        </p:spPr>
        <p:txBody>
          <a:bodyPr wrap="square" anchor="t">
            <a:spAutoFit/>
          </a:bodyPr>
          <a:lstStyle/>
          <a:p>
            <a:pPr algn="ctr">
              <a:spcAft>
                <a:spcPts val="400"/>
              </a:spcAft>
            </a:pPr>
            <a:r>
              <a:rPr sz="1200" b="0">
                <a:solidFill>
                  <a:srgbClr val="161B26"/>
                </a:solidFill>
                <a:latin typeface="Arial"/>
              </a:rPr>
              <a:t>Log and sleep</a:t>
            </a:r>
          </a:p>
        </p:txBody>
      </p:sp>
      <p:sp>
        <p:nvSpPr>
          <p:cNvPr id="52" name="Rectangle 51"/>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777240" y="5257800"/>
            <a:ext cx="91440" cy="8229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Every cycle writes to the trade log — the evidence for performance and audit.</a:t>
            </a:r>
          </a:p>
        </p:txBody>
      </p:sp>
      <p:sp>
        <p:nvSpPr>
          <p:cNvPr id="55" name="TextBox 5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6" name="TextBox 5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7" name="TextBox 5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4 · A7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TradingView Alert to Alpaca Order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F59E0B"/>
                </a:solidFill>
                <a:latin typeface="Arial"/>
              </a:rPr>
              <a:t>A7</a:t>
            </a:r>
          </a:p>
        </p:txBody>
      </p:sp>
      <p:sp>
        <p:nvSpPr>
          <p:cNvPr id="10" name="TextBox 9"/>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Webhook-driven execution.</a:t>
            </a:r>
          </a:p>
        </p:txBody>
      </p:sp>
      <p:sp>
        <p:nvSpPr>
          <p:cNvPr id="11" name="Rectangle 10"/>
          <p:cNvSpPr/>
          <p:nvPr/>
        </p:nvSpPr>
        <p:spPr>
          <a:xfrm>
            <a:off x="777240"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240280"/>
            <a:ext cx="154381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92530"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92530"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5" name="TextBox 14"/>
          <p:cNvSpPr txBox="1"/>
          <p:nvPr/>
        </p:nvSpPr>
        <p:spPr>
          <a:xfrm>
            <a:off x="905256"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Pine strategy fires alert</a:t>
            </a:r>
          </a:p>
        </p:txBody>
      </p:sp>
      <p:sp>
        <p:nvSpPr>
          <p:cNvPr id="16" name="TextBox 15"/>
          <p:cNvSpPr txBox="1"/>
          <p:nvPr/>
        </p:nvSpPr>
        <p:spPr>
          <a:xfrm>
            <a:off x="2302764"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17" name="Rectangle 16"/>
          <p:cNvSpPr/>
          <p:nvPr/>
        </p:nvSpPr>
        <p:spPr>
          <a:xfrm>
            <a:off x="2595372"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95372" y="2240280"/>
            <a:ext cx="154381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010662"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10662"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21" name="TextBox 20"/>
          <p:cNvSpPr txBox="1"/>
          <p:nvPr/>
        </p:nvSpPr>
        <p:spPr>
          <a:xfrm>
            <a:off x="2723388"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TradingView POSTs JSON</a:t>
            </a:r>
          </a:p>
        </p:txBody>
      </p:sp>
      <p:sp>
        <p:nvSpPr>
          <p:cNvPr id="22" name="TextBox 21"/>
          <p:cNvSpPr txBox="1"/>
          <p:nvPr/>
        </p:nvSpPr>
        <p:spPr>
          <a:xfrm>
            <a:off x="4120896"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23" name="Rectangle 22"/>
          <p:cNvSpPr/>
          <p:nvPr/>
        </p:nvSpPr>
        <p:spPr>
          <a:xfrm>
            <a:off x="4413504"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413504" y="2240280"/>
            <a:ext cx="154381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828794"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28794"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7" name="TextBox 26"/>
          <p:cNvSpPr txBox="1"/>
          <p:nvPr/>
        </p:nvSpPr>
        <p:spPr>
          <a:xfrm>
            <a:off x="4541520"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Your server checks secret</a:t>
            </a:r>
          </a:p>
        </p:txBody>
      </p:sp>
      <p:sp>
        <p:nvSpPr>
          <p:cNvPr id="28" name="TextBox 27"/>
          <p:cNvSpPr txBox="1"/>
          <p:nvPr/>
        </p:nvSpPr>
        <p:spPr>
          <a:xfrm>
            <a:off x="5939028"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29" name="Rectangle 28"/>
          <p:cNvSpPr/>
          <p:nvPr/>
        </p:nvSpPr>
        <p:spPr>
          <a:xfrm>
            <a:off x="6231636"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231636" y="2240280"/>
            <a:ext cx="154381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646926"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46926"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3" name="TextBox 32"/>
          <p:cNvSpPr txBox="1"/>
          <p:nvPr/>
        </p:nvSpPr>
        <p:spPr>
          <a:xfrm>
            <a:off x="6359652"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Risk checks</a:t>
            </a:r>
          </a:p>
        </p:txBody>
      </p:sp>
      <p:sp>
        <p:nvSpPr>
          <p:cNvPr id="34" name="TextBox 33"/>
          <p:cNvSpPr txBox="1"/>
          <p:nvPr/>
        </p:nvSpPr>
        <p:spPr>
          <a:xfrm>
            <a:off x="7757160"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35" name="Rectangle 34"/>
          <p:cNvSpPr/>
          <p:nvPr/>
        </p:nvSpPr>
        <p:spPr>
          <a:xfrm>
            <a:off x="8049768"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049768" y="2240280"/>
            <a:ext cx="154381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465058"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465058"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9" name="TextBox 38"/>
          <p:cNvSpPr txBox="1"/>
          <p:nvPr/>
        </p:nvSpPr>
        <p:spPr>
          <a:xfrm>
            <a:off x="8177784"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alpaca-py submits paper order</a:t>
            </a:r>
          </a:p>
        </p:txBody>
      </p:sp>
      <p:sp>
        <p:nvSpPr>
          <p:cNvPr id="40" name="TextBox 39"/>
          <p:cNvSpPr txBox="1"/>
          <p:nvPr/>
        </p:nvSpPr>
        <p:spPr>
          <a:xfrm>
            <a:off x="9575292"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41" name="Rectangle 40"/>
          <p:cNvSpPr/>
          <p:nvPr/>
        </p:nvSpPr>
        <p:spPr>
          <a:xfrm>
            <a:off x="9867900"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867900" y="2240280"/>
            <a:ext cx="154381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10283190"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283190"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6</a:t>
            </a:r>
          </a:p>
        </p:txBody>
      </p:sp>
      <p:sp>
        <p:nvSpPr>
          <p:cNvPr id="45" name="TextBox 44"/>
          <p:cNvSpPr txBox="1"/>
          <p:nvPr/>
        </p:nvSpPr>
        <p:spPr>
          <a:xfrm>
            <a:off x="9995916"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Log and respond 200</a:t>
            </a:r>
          </a:p>
        </p:txBody>
      </p:sp>
      <p:sp>
        <p:nvSpPr>
          <p:cNvPr id="46" name="Rectangle 45"/>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77240" y="5257800"/>
            <a:ext cx="91440" cy="8229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Webhook alerts need a paid TradingView plan and a public URL (e.g. a tunnel).</a:t>
            </a:r>
          </a:p>
        </p:txBody>
      </p:sp>
      <p:sp>
        <p:nvSpPr>
          <p:cNvPr id="49" name="TextBox 4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0" name="TextBox 4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1" name="TextBox 5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4 · A9</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Diagnosing an Unintended Outcome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F59E0B"/>
                </a:solidFill>
                <a:latin typeface="Arial"/>
              </a:rPr>
              <a:t>A9</a:t>
            </a:r>
          </a:p>
        </p:txBody>
      </p:sp>
      <p:sp>
        <p:nvSpPr>
          <p:cNvPr id="10" name="Rectangle 9"/>
          <p:cNvSpPr/>
          <p:nvPr/>
        </p:nvSpPr>
        <p:spPr>
          <a:xfrm>
            <a:off x="777240"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40280"/>
            <a:ext cx="1907438"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374343"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74343"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4" name="TextBox 13"/>
          <p:cNvSpPr txBox="1"/>
          <p:nvPr/>
        </p:nvSpPr>
        <p:spPr>
          <a:xfrm>
            <a:off x="905256"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Reproduce the result</a:t>
            </a:r>
          </a:p>
        </p:txBody>
      </p:sp>
      <p:sp>
        <p:nvSpPr>
          <p:cNvPr id="15" name="TextBox 14"/>
          <p:cNvSpPr txBox="1"/>
          <p:nvPr/>
        </p:nvSpPr>
        <p:spPr>
          <a:xfrm>
            <a:off x="2666390"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16" name="Rectangle 15"/>
          <p:cNvSpPr/>
          <p:nvPr/>
        </p:nvSpPr>
        <p:spPr>
          <a:xfrm>
            <a:off x="2958998"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58998" y="2240280"/>
            <a:ext cx="1907438"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556101"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56101"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20" name="TextBox 19"/>
          <p:cNvSpPr txBox="1"/>
          <p:nvPr/>
        </p:nvSpPr>
        <p:spPr>
          <a:xfrm>
            <a:off x="3087014"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Isolate the first divergent step</a:t>
            </a:r>
          </a:p>
        </p:txBody>
      </p:sp>
      <p:sp>
        <p:nvSpPr>
          <p:cNvPr id="21" name="TextBox 20"/>
          <p:cNvSpPr txBox="1"/>
          <p:nvPr/>
        </p:nvSpPr>
        <p:spPr>
          <a:xfrm>
            <a:off x="4848148"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22" name="Rectangle 21"/>
          <p:cNvSpPr/>
          <p:nvPr/>
        </p:nvSpPr>
        <p:spPr>
          <a:xfrm>
            <a:off x="5140756"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40756" y="2240280"/>
            <a:ext cx="1907438"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737859"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737859"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6" name="TextBox 25"/>
          <p:cNvSpPr txBox="1"/>
          <p:nvPr/>
        </p:nvSpPr>
        <p:spPr>
          <a:xfrm>
            <a:off x="5268772"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Data · signal · order · fill?</a:t>
            </a:r>
          </a:p>
        </p:txBody>
      </p:sp>
      <p:sp>
        <p:nvSpPr>
          <p:cNvPr id="27" name="TextBox 26"/>
          <p:cNvSpPr txBox="1"/>
          <p:nvPr/>
        </p:nvSpPr>
        <p:spPr>
          <a:xfrm>
            <a:off x="7029906"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28" name="Rectangle 27"/>
          <p:cNvSpPr/>
          <p:nvPr/>
        </p:nvSpPr>
        <p:spPr>
          <a:xfrm>
            <a:off x="7322514"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22514" y="2240280"/>
            <a:ext cx="1907438"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919617"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19617"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2" name="TextBox 31"/>
          <p:cNvSpPr txBox="1"/>
          <p:nvPr/>
        </p:nvSpPr>
        <p:spPr>
          <a:xfrm>
            <a:off x="7450530"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Compare with a known-good run</a:t>
            </a:r>
          </a:p>
        </p:txBody>
      </p:sp>
      <p:sp>
        <p:nvSpPr>
          <p:cNvPr id="33" name="TextBox 32"/>
          <p:cNvSpPr txBox="1"/>
          <p:nvPr/>
        </p:nvSpPr>
        <p:spPr>
          <a:xfrm>
            <a:off x="9211664"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34" name="Rectangle 33"/>
          <p:cNvSpPr/>
          <p:nvPr/>
        </p:nvSpPr>
        <p:spPr>
          <a:xfrm>
            <a:off x="9504272"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504272" y="2240280"/>
            <a:ext cx="1907438"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01375"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01375"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8" name="TextBox 37"/>
          <p:cNvSpPr txBox="1"/>
          <p:nvPr/>
        </p:nvSpPr>
        <p:spPr>
          <a:xfrm>
            <a:off x="9632288"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Fix and re-test</a:t>
            </a:r>
          </a:p>
        </p:txBody>
      </p:sp>
      <p:sp>
        <p:nvSpPr>
          <p:cNvPr id="39" name="Rectangle 38"/>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77240" y="5257800"/>
            <a:ext cx="91440" cy="8229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Read the first failure, not the last — everything after it is a consequence.</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5B6372"/>
                </a:solidFill>
                <a:latin typeface="Arial"/>
              </a:rPr>
              <a:t>1 hour  ·  see you at 13:30</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4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Backtest-Engine Stage: Cost Models, Execution Timing and Break-Even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875520" y="475488"/>
            <a:ext cx="1536192"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875520"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0" y="475488"/>
            <a:ext cx="1536192" cy="310896"/>
          </a:xfrm>
          <a:prstGeom prst="rect">
            <a:avLst/>
          </a:prstGeom>
          <a:noFill/>
        </p:spPr>
        <p:txBody>
          <a:bodyPr wrap="square" anchor="ctr">
            <a:spAutoFit/>
          </a:bodyPr>
          <a:lstStyle/>
          <a:p>
            <a:pPr algn="ctr">
              <a:spcAft>
                <a:spcPts val="400"/>
              </a:spcAft>
            </a:pPr>
            <a:r>
              <a:rPr sz="1100" b="1">
                <a:solidFill>
                  <a:srgbClr val="10B981"/>
                </a:solidFill>
                <a:latin typeface="Arial"/>
              </a:rPr>
              <a:t>A7  A8  K7</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15</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Run the same strategy under four cost models and find its break-even cost. Then build the same stage in code with your AI assistant.</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807083"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807083"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Zero vs Alpaca vs high-cost</a:t>
            </a:r>
          </a:p>
        </p:txBody>
      </p:sp>
      <p:sp>
        <p:nvSpPr>
          <p:cNvPr id="19" name="TextBox 18"/>
          <p:cNvSpPr txBox="1"/>
          <p:nvPr/>
        </p:nvSpPr>
        <p:spPr>
          <a:xfrm>
            <a:off x="321183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3495294"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495294"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525137"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5137"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3605022"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Break-even and execution timing</a:t>
            </a:r>
          </a:p>
        </p:txBody>
      </p:sp>
      <p:sp>
        <p:nvSpPr>
          <p:cNvPr id="25" name="TextBox 24"/>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6213348"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13348"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243191"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43191"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6323076"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Stops and sizing</a:t>
            </a:r>
          </a:p>
        </p:txBody>
      </p:sp>
      <p:sp>
        <p:nvSpPr>
          <p:cNvPr id="31" name="TextBox 30"/>
          <p:cNvSpPr txBox="1"/>
          <p:nvPr/>
        </p:nvSpPr>
        <p:spPr>
          <a:xfrm>
            <a:off x="864793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8931402"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931402"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9961245"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61245"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9041130"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Code: rebuild the stage with your AI assistant</a:t>
            </a:r>
          </a:p>
        </p:txBody>
      </p:sp>
      <p:sp>
        <p:nvSpPr>
          <p:cNvPr id="37" name="Rectangle 36"/>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0" name="TextBox 39"/>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 backtest engine with three cost models, execution timing and break-even cost.</a:t>
            </a:r>
          </a:p>
        </p:txBody>
      </p:sp>
      <p:sp>
        <p:nvSpPr>
          <p:cNvPr id="41" name="TextBox 40"/>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25 min</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15 · SIMULATOR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15 — In the Trading Simulator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15_costs_break_even.png"/>
          <p:cNvPicPr>
            <a:picLocks noChangeAspect="1"/>
          </p:cNvPicPr>
          <p:nvPr/>
        </p:nvPicPr>
        <p:blipFill>
          <a:blip r:embed="rId2"/>
          <a:stretch>
            <a:fillRect/>
          </a:stretch>
        </p:blipFill>
        <p:spPr>
          <a:xfrm>
            <a:off x="3599738" y="1828800"/>
            <a:ext cx="4992217" cy="3794760"/>
          </a:xfrm>
          <a:prstGeom prst="rect">
            <a:avLst/>
          </a:prstGeom>
        </p:spPr>
      </p:pic>
      <p:sp>
        <p:nvSpPr>
          <p:cNvPr id="8" name="Rectangle 7"/>
          <p:cNvSpPr/>
          <p:nvPr/>
        </p:nvSpPr>
        <p:spPr>
          <a:xfrm>
            <a:off x="3588766" y="1817827"/>
            <a:ext cx="5014163" cy="381670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6986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76986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76986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Course Labs &gt; Lab 15 at http://localhost:8000 - Backtest SPY dip-buy, high-cost route. Offline demo data; connect Alpaca paper keys for live paper trading.</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4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Automation Stage: a Scheduled, Risk-Checked Forward Test and Live Paper Trading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875520" y="475488"/>
            <a:ext cx="1536192"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875520"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0" y="475488"/>
            <a:ext cx="1536192" cy="310896"/>
          </a:xfrm>
          <a:prstGeom prst="rect">
            <a:avLst/>
          </a:prstGeom>
          <a:noFill/>
        </p:spPr>
        <p:txBody>
          <a:bodyPr wrap="square" anchor="ctr">
            <a:spAutoFit/>
          </a:bodyPr>
          <a:lstStyle/>
          <a:p>
            <a:pPr algn="ctr">
              <a:spcAft>
                <a:spcPts val="400"/>
              </a:spcAft>
            </a:pPr>
            <a:r>
              <a:rPr sz="1100" b="1">
                <a:solidFill>
                  <a:srgbClr val="10B981"/>
                </a:solidFill>
                <a:latin typeface="Arial"/>
              </a:rPr>
              <a:t>A7  A8  K7</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16</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Create a bot, run it on a schedule, watch orders, positions and P&amp;L live, and halt it with the kill switch. Then build the same stage in code with your AI assistant.</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1936699"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1936699"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535277"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535277"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1717243" cy="877824"/>
          </a:xfrm>
          <a:prstGeom prst="rect">
            <a:avLst/>
          </a:prstGeom>
          <a:noFill/>
        </p:spPr>
        <p:txBody>
          <a:bodyPr wrap="square" anchor="t">
            <a:spAutoFit/>
          </a:bodyPr>
          <a:lstStyle/>
          <a:p>
            <a:pPr algn="ctr">
              <a:spcAft>
                <a:spcPts val="400"/>
              </a:spcAft>
            </a:pPr>
            <a:r>
              <a:rPr sz="1050" b="0">
                <a:solidFill>
                  <a:srgbClr val="161B26"/>
                </a:solidFill>
                <a:latin typeface="Arial"/>
              </a:rPr>
              <a:t>Simulator: Create the bot</a:t>
            </a:r>
          </a:p>
        </p:txBody>
      </p:sp>
      <p:sp>
        <p:nvSpPr>
          <p:cNvPr id="19" name="TextBox 18"/>
          <p:cNvSpPr txBox="1"/>
          <p:nvPr/>
        </p:nvSpPr>
        <p:spPr>
          <a:xfrm>
            <a:off x="2668219"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2951683" y="3456432"/>
            <a:ext cx="1936699"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951683" y="3456432"/>
            <a:ext cx="1936699"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709720"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709720"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3061411" y="4114800"/>
            <a:ext cx="1717243" cy="877824"/>
          </a:xfrm>
          <a:prstGeom prst="rect">
            <a:avLst/>
          </a:prstGeom>
          <a:noFill/>
        </p:spPr>
        <p:txBody>
          <a:bodyPr wrap="square" anchor="t">
            <a:spAutoFit/>
          </a:bodyPr>
          <a:lstStyle/>
          <a:p>
            <a:pPr algn="ctr">
              <a:spcAft>
                <a:spcPts val="400"/>
              </a:spcAft>
            </a:pPr>
            <a:r>
              <a:rPr sz="1050" b="0">
                <a:solidFill>
                  <a:srgbClr val="161B26"/>
                </a:solidFill>
                <a:latin typeface="Arial"/>
              </a:rPr>
              <a:t>Simulator: Start it and watch</a:t>
            </a:r>
          </a:p>
        </p:txBody>
      </p:sp>
      <p:sp>
        <p:nvSpPr>
          <p:cNvPr id="25" name="TextBox 24"/>
          <p:cNvSpPr txBox="1"/>
          <p:nvPr/>
        </p:nvSpPr>
        <p:spPr>
          <a:xfrm>
            <a:off x="4842662"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5126126" y="3456432"/>
            <a:ext cx="1936699"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126126" y="3456432"/>
            <a:ext cx="1936699"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884163"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84163"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5235854" y="4114800"/>
            <a:ext cx="1717243" cy="877824"/>
          </a:xfrm>
          <a:prstGeom prst="rect">
            <a:avLst/>
          </a:prstGeom>
          <a:noFill/>
        </p:spPr>
        <p:txBody>
          <a:bodyPr wrap="square" anchor="t">
            <a:spAutoFit/>
          </a:bodyPr>
          <a:lstStyle/>
          <a:p>
            <a:pPr algn="ctr">
              <a:spcAft>
                <a:spcPts val="400"/>
              </a:spcAft>
            </a:pPr>
            <a:r>
              <a:rPr sz="1050" b="0">
                <a:solidFill>
                  <a:srgbClr val="161B26"/>
                </a:solidFill>
                <a:latin typeface="Arial"/>
              </a:rPr>
              <a:t>Simulator: Kill switch</a:t>
            </a:r>
          </a:p>
        </p:txBody>
      </p:sp>
      <p:sp>
        <p:nvSpPr>
          <p:cNvPr id="31" name="TextBox 30"/>
          <p:cNvSpPr txBox="1"/>
          <p:nvPr/>
        </p:nvSpPr>
        <p:spPr>
          <a:xfrm>
            <a:off x="7017105"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7300569" y="3456432"/>
            <a:ext cx="1936699"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300569" y="3456432"/>
            <a:ext cx="1936699"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05860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5860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7410297" y="4114800"/>
            <a:ext cx="1717243" cy="877824"/>
          </a:xfrm>
          <a:prstGeom prst="rect">
            <a:avLst/>
          </a:prstGeom>
          <a:noFill/>
        </p:spPr>
        <p:txBody>
          <a:bodyPr wrap="square" anchor="t">
            <a:spAutoFit/>
          </a:bodyPr>
          <a:lstStyle/>
          <a:p>
            <a:pPr algn="ctr">
              <a:spcAft>
                <a:spcPts val="400"/>
              </a:spcAft>
            </a:pPr>
            <a:r>
              <a:rPr sz="1050" b="0">
                <a:solidFill>
                  <a:srgbClr val="161B26"/>
                </a:solidFill>
                <a:latin typeface="Arial"/>
              </a:rPr>
              <a:t>Simulator: Backtest vs forward</a:t>
            </a:r>
          </a:p>
        </p:txBody>
      </p:sp>
      <p:sp>
        <p:nvSpPr>
          <p:cNvPr id="37" name="TextBox 36"/>
          <p:cNvSpPr txBox="1"/>
          <p:nvPr/>
        </p:nvSpPr>
        <p:spPr>
          <a:xfrm>
            <a:off x="91915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8" name="Rectangle 37"/>
          <p:cNvSpPr/>
          <p:nvPr/>
        </p:nvSpPr>
        <p:spPr>
          <a:xfrm>
            <a:off x="9475012" y="3456432"/>
            <a:ext cx="1936699"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475012" y="3456432"/>
            <a:ext cx="1936699"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233049"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233049"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5</a:t>
            </a:r>
          </a:p>
        </p:txBody>
      </p:sp>
      <p:sp>
        <p:nvSpPr>
          <p:cNvPr id="42" name="TextBox 41"/>
          <p:cNvSpPr txBox="1"/>
          <p:nvPr/>
        </p:nvSpPr>
        <p:spPr>
          <a:xfrm>
            <a:off x="9584740" y="4114800"/>
            <a:ext cx="1717243" cy="877824"/>
          </a:xfrm>
          <a:prstGeom prst="rect">
            <a:avLst/>
          </a:prstGeom>
          <a:noFill/>
        </p:spPr>
        <p:txBody>
          <a:bodyPr wrap="square" anchor="t">
            <a:spAutoFit/>
          </a:bodyPr>
          <a:lstStyle/>
          <a:p>
            <a:pPr algn="ctr">
              <a:spcAft>
                <a:spcPts val="400"/>
              </a:spcAft>
            </a:pPr>
            <a:r>
              <a:rPr sz="1050" b="0">
                <a:solidFill>
                  <a:srgbClr val="161B26"/>
                </a:solidFill>
                <a:latin typeface="Arial"/>
              </a:rPr>
              <a:t>Code: rebuild the stage with your AI assistant</a:t>
            </a:r>
          </a:p>
        </p:txBody>
      </p:sp>
      <p:sp>
        <p:nvSpPr>
          <p:cNvPr id="43" name="Rectangle 42"/>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6" name="TextBox 45"/>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 scheduled, risk-checked bot trading the paper account live, with a trade log and kill switch.</a:t>
            </a:r>
          </a:p>
        </p:txBody>
      </p:sp>
      <p:sp>
        <p:nvSpPr>
          <p:cNvPr id="47" name="TextBox 46"/>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25 min</a:t>
            </a:r>
          </a:p>
        </p:txBody>
      </p:sp>
      <p:sp>
        <p:nvSpPr>
          <p:cNvPr id="48" name="TextBox 4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9" name="TextBox 4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0" name="TextBox 4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16 · SIMULATOR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16 — In the Trading Simulator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16_forward_test_bot.png"/>
          <p:cNvPicPr>
            <a:picLocks noChangeAspect="1"/>
          </p:cNvPicPr>
          <p:nvPr/>
        </p:nvPicPr>
        <p:blipFill>
          <a:blip r:embed="rId2"/>
          <a:stretch>
            <a:fillRect/>
          </a:stretch>
        </p:blipFill>
        <p:spPr>
          <a:xfrm>
            <a:off x="3599738" y="1828800"/>
            <a:ext cx="4992217" cy="3794760"/>
          </a:xfrm>
          <a:prstGeom prst="rect">
            <a:avLst/>
          </a:prstGeom>
        </p:spPr>
      </p:pic>
      <p:sp>
        <p:nvSpPr>
          <p:cNvPr id="8" name="Rectangle 7"/>
          <p:cNvSpPr/>
          <p:nvPr/>
        </p:nvSpPr>
        <p:spPr>
          <a:xfrm>
            <a:off x="3588766" y="1817827"/>
            <a:ext cx="5014163" cy="381670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6986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76986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76986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Course Labs &gt; Lab 16 at http://localhost:8000 - Paper Trading &gt; New bot (EMA cross). Offline demo data; connect Alpaca paper keys for live paper trading.</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4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Event-Driven Automation: TradingView Webhook to Signal, Risk and Execution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875520" y="475488"/>
            <a:ext cx="1536192"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875520"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0" y="475488"/>
            <a:ext cx="1536192" cy="310896"/>
          </a:xfrm>
          <a:prstGeom prst="rect">
            <a:avLst/>
          </a:prstGeom>
          <a:noFill/>
        </p:spPr>
        <p:txBody>
          <a:bodyPr wrap="square" anchor="ctr">
            <a:spAutoFit/>
          </a:bodyPr>
          <a:lstStyle/>
          <a:p>
            <a:pPr algn="ctr">
              <a:spcAft>
                <a:spcPts val="400"/>
              </a:spcAft>
            </a:pPr>
            <a:r>
              <a:rPr sz="1100" b="1">
                <a:solidFill>
                  <a:srgbClr val="10B981"/>
                </a:solidFill>
                <a:latin typeface="Arial"/>
              </a:rPr>
              <a:t>A7  K5  K7</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17</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Send TradingView alerts to the app's webhook and see them pass validation, signal confirmation and risk into paper orders. Then build the same stage in code with your AI assistant.</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807083"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807083"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Copy the alert template</a:t>
            </a:r>
          </a:p>
        </p:txBody>
      </p:sp>
      <p:sp>
        <p:nvSpPr>
          <p:cNvPr id="19" name="TextBox 18"/>
          <p:cNvSpPr txBox="1"/>
          <p:nvPr/>
        </p:nvSpPr>
        <p:spPr>
          <a:xfrm>
            <a:off x="321183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3495294"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495294"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525137"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5137"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3605022"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Run the self-test</a:t>
            </a:r>
          </a:p>
        </p:txBody>
      </p:sp>
      <p:sp>
        <p:nvSpPr>
          <p:cNvPr id="25" name="TextBox 24"/>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6213348"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13348"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243191"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43191"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6323076"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Real alerts (paid TradingView plan)</a:t>
            </a:r>
          </a:p>
        </p:txBody>
      </p:sp>
      <p:sp>
        <p:nvSpPr>
          <p:cNvPr id="31" name="TextBox 30"/>
          <p:cNvSpPr txBox="1"/>
          <p:nvPr/>
        </p:nvSpPr>
        <p:spPr>
          <a:xfrm>
            <a:off x="864793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8931402"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931402"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9961245"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61245"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9041130"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Code: rebuild the stage with your AI assistant</a:t>
            </a:r>
          </a:p>
        </p:txBody>
      </p:sp>
      <p:sp>
        <p:nvSpPr>
          <p:cNvPr id="37" name="Rectangle 36"/>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0" name="TextBox 39"/>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Event-driven automation: TradingView alert to webhook to signal, risk and paper execution.</a:t>
            </a:r>
          </a:p>
        </p:txBody>
      </p:sp>
      <p:sp>
        <p:nvSpPr>
          <p:cNvPr id="41" name="TextBox 40"/>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20 min</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17 · SIMULATOR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17 — In the Trading Simulator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17_tradingview_webhook.png"/>
          <p:cNvPicPr>
            <a:picLocks noChangeAspect="1"/>
          </p:cNvPicPr>
          <p:nvPr/>
        </p:nvPicPr>
        <p:blipFill>
          <a:blip r:embed="rId2"/>
          <a:stretch>
            <a:fillRect/>
          </a:stretch>
        </p:blipFill>
        <p:spPr>
          <a:xfrm>
            <a:off x="3599738" y="1828800"/>
            <a:ext cx="4992217" cy="3794760"/>
          </a:xfrm>
          <a:prstGeom prst="rect">
            <a:avLst/>
          </a:prstGeom>
        </p:spPr>
      </p:pic>
      <p:sp>
        <p:nvSpPr>
          <p:cNvPr id="8" name="Rectangle 7"/>
          <p:cNvSpPr/>
          <p:nvPr/>
        </p:nvSpPr>
        <p:spPr>
          <a:xfrm>
            <a:off x="3588766" y="1817827"/>
            <a:ext cx="5014163" cy="381670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6986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76986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76986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Course Labs &gt; Lab 17 at http://localhost:8000 - Integrations &gt; TradingView webhook. Offline demo data; connect Alpaca paper keys for live paper trading.</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4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Diagnostics Stage: Automated Bias Checks before Go-Live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259568" y="475488"/>
            <a:ext cx="1152144"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259568"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475488"/>
            <a:ext cx="1152144" cy="310896"/>
          </a:xfrm>
          <a:prstGeom prst="rect">
            <a:avLst/>
          </a:prstGeom>
          <a:noFill/>
        </p:spPr>
        <p:txBody>
          <a:bodyPr wrap="square" anchor="ctr">
            <a:spAutoFit/>
          </a:bodyPr>
          <a:lstStyle/>
          <a:p>
            <a:pPr algn="ctr">
              <a:spcAft>
                <a:spcPts val="400"/>
              </a:spcAft>
            </a:pPr>
            <a:r>
              <a:rPr sz="1100" b="1">
                <a:solidFill>
                  <a:srgbClr val="10B981"/>
                </a:solidFill>
                <a:latin typeface="Arial"/>
              </a:rPr>
              <a:t>A9  K8</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18</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Run the automated diagnostics on a deliberately biased strategy, fix it, and re-run. Then build the same stage in code with your AI assistant.</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807083"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807083"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Diagnose the biased exhibit</a:t>
            </a:r>
          </a:p>
        </p:txBody>
      </p:sp>
      <p:sp>
        <p:nvSpPr>
          <p:cNvPr id="19" name="TextBox 18"/>
          <p:cNvSpPr txBox="1"/>
          <p:nvPr/>
        </p:nvSpPr>
        <p:spPr>
          <a:xfrm>
            <a:off x="321183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3495294"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495294"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525137"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5137"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3605022"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Fix it in the Strategy Builder</a:t>
            </a:r>
          </a:p>
        </p:txBody>
      </p:sp>
      <p:sp>
        <p:nvSpPr>
          <p:cNvPr id="25" name="TextBox 24"/>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6213348"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13348"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243191"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43191"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6323076"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Re-run diagnostics</a:t>
            </a:r>
          </a:p>
        </p:txBody>
      </p:sp>
      <p:sp>
        <p:nvSpPr>
          <p:cNvPr id="31" name="TextBox 30"/>
          <p:cNvSpPr txBox="1"/>
          <p:nvPr/>
        </p:nvSpPr>
        <p:spPr>
          <a:xfrm>
            <a:off x="864793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8931402"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931402"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9961245"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61245"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9041130"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Code: rebuild the stage with your AI assistant</a:t>
            </a:r>
          </a:p>
        </p:txBody>
      </p:sp>
      <p:sp>
        <p:nvSpPr>
          <p:cNvPr id="37" name="Rectangle 36"/>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0" name="TextBox 39"/>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Automated bias diagnostics (look-ahead, costs, overfitting, survivorship) before go-live.</a:t>
            </a:r>
          </a:p>
        </p:txBody>
      </p:sp>
      <p:sp>
        <p:nvSpPr>
          <p:cNvPr id="41" name="TextBox 40"/>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20 min</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18 · SIMULATOR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18 — In the Trading Simulator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18_diagnostics.png"/>
          <p:cNvPicPr>
            <a:picLocks noChangeAspect="1"/>
          </p:cNvPicPr>
          <p:nvPr/>
        </p:nvPicPr>
        <p:blipFill>
          <a:blip r:embed="rId2"/>
          <a:stretch>
            <a:fillRect/>
          </a:stretch>
        </p:blipFill>
        <p:spPr>
          <a:xfrm>
            <a:off x="3599738" y="1828800"/>
            <a:ext cx="4992217" cy="3794760"/>
          </a:xfrm>
          <a:prstGeom prst="rect">
            <a:avLst/>
          </a:prstGeom>
        </p:spPr>
      </p:pic>
      <p:sp>
        <p:nvSpPr>
          <p:cNvPr id="8" name="Rectangle 7"/>
          <p:cNvSpPr/>
          <p:nvPr/>
        </p:nvSpPr>
        <p:spPr>
          <a:xfrm>
            <a:off x="3588766" y="1817827"/>
            <a:ext cx="5014163" cy="381670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6986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76986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76986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Course Labs &gt; Lab 18 at http://localhost:8000 - Research &gt; Diagnostics (Lab 18 exhibit). Offline demo data; connect Alpaca paper keys for live paper trading.</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155</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4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Monitoring and Reporting Stage: Automated Tearsheet and Backtest-vs-Forward Report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259568" y="475488"/>
            <a:ext cx="1152144"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259568"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475488"/>
            <a:ext cx="1152144" cy="310896"/>
          </a:xfrm>
          <a:prstGeom prst="rect">
            <a:avLst/>
          </a:prstGeom>
          <a:noFill/>
        </p:spPr>
        <p:txBody>
          <a:bodyPr wrap="square" anchor="ctr">
            <a:spAutoFit/>
          </a:bodyPr>
          <a:lstStyle/>
          <a:p>
            <a:pPr algn="ctr">
              <a:spcAft>
                <a:spcPts val="400"/>
              </a:spcAft>
            </a:pPr>
            <a:r>
              <a:rPr sz="1100" b="1">
                <a:solidFill>
                  <a:srgbClr val="10B981"/>
                </a:solidFill>
                <a:latin typeface="Arial"/>
              </a:rPr>
              <a:t>A8  A10</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19</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Produce a one-page tearsheet and explain the gap between backtest and forward test. Then build the same stage in code with your AI assistant.</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807083"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807083"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Export the tearsheet</a:t>
            </a:r>
          </a:p>
        </p:txBody>
      </p:sp>
      <p:sp>
        <p:nvSpPr>
          <p:cNvPr id="19" name="TextBox 18"/>
          <p:cNvSpPr txBox="1"/>
          <p:nvPr/>
        </p:nvSpPr>
        <p:spPr>
          <a:xfrm>
            <a:off x="321183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3495294"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495294"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525137"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5137"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3605022"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Backtest vs forward</a:t>
            </a:r>
          </a:p>
        </p:txBody>
      </p:sp>
      <p:sp>
        <p:nvSpPr>
          <p:cNvPr id="25" name="TextBox 24"/>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6213348"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13348"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243191"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43191"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6323076"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Draw insights</a:t>
            </a:r>
          </a:p>
        </p:txBody>
      </p:sp>
      <p:sp>
        <p:nvSpPr>
          <p:cNvPr id="31" name="TextBox 30"/>
          <p:cNvSpPr txBox="1"/>
          <p:nvPr/>
        </p:nvSpPr>
        <p:spPr>
          <a:xfrm>
            <a:off x="864793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8931402"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931402"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9961245"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61245"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9041130"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Code: rebuild the stage with your AI assistant</a:t>
            </a:r>
          </a:p>
        </p:txBody>
      </p:sp>
      <p:sp>
        <p:nvSpPr>
          <p:cNvPr id="37" name="Rectangle 36"/>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0" name="TextBox 39"/>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An automated tearsheet and backtest-versus-forward-test report with monitoring checks.</a:t>
            </a:r>
          </a:p>
        </p:txBody>
      </p:sp>
      <p:sp>
        <p:nvSpPr>
          <p:cNvPr id="41" name="TextBox 40"/>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25 min</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19 · SIMULATOR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19 — In the Trading Simulator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19_performance_report.png"/>
          <p:cNvPicPr>
            <a:picLocks noChangeAspect="1"/>
          </p:cNvPicPr>
          <p:nvPr/>
        </p:nvPicPr>
        <p:blipFill>
          <a:blip r:embed="rId2"/>
          <a:stretch>
            <a:fillRect/>
          </a:stretch>
        </p:blipFill>
        <p:spPr>
          <a:xfrm>
            <a:off x="3599738" y="1828800"/>
            <a:ext cx="4992217" cy="3794760"/>
          </a:xfrm>
          <a:prstGeom prst="rect">
            <a:avLst/>
          </a:prstGeom>
        </p:spPr>
      </p:pic>
      <p:sp>
        <p:nvSpPr>
          <p:cNvPr id="8" name="Rectangle 7"/>
          <p:cNvSpPr/>
          <p:nvPr/>
        </p:nvSpPr>
        <p:spPr>
          <a:xfrm>
            <a:off x="3588766" y="1817827"/>
            <a:ext cx="5014163" cy="381670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6986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76986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76986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Course Labs &gt; Lab 19 at http://localhost:8000 - Analytics &gt; PDF tearsheet. Offline demo data; connect Alpaca paper keys for live paper trading.</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157</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4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Capstone: One Command Runs the Pipeline End to End, with an Agentic Layer and Human Approval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875520" y="475488"/>
            <a:ext cx="1536192"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875520"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0" y="475488"/>
            <a:ext cx="1536192" cy="310896"/>
          </a:xfrm>
          <a:prstGeom prst="rect">
            <a:avLst/>
          </a:prstGeom>
          <a:noFill/>
        </p:spPr>
        <p:txBody>
          <a:bodyPr wrap="square" anchor="ctr">
            <a:spAutoFit/>
          </a:bodyPr>
          <a:lstStyle/>
          <a:p>
            <a:pPr algn="ctr">
              <a:spcAft>
                <a:spcPts val="400"/>
              </a:spcAft>
            </a:pPr>
            <a:r>
              <a:rPr sz="1100" b="1">
                <a:solidFill>
                  <a:srgbClr val="10B981"/>
                </a:solidFill>
                <a:latin typeface="Arial"/>
              </a:rPr>
              <a:t>A7  A10  K1</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20</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Run the whole pipeline end to end, get a human-approved proposal from the multi-agent desk, switch on the always-on agent, and write, backtest and forward-test your own Python strategy. Then build the same stage in code with your AI assistant.</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35407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5407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Simulator: Run the multi-agent desk</a:t>
            </a:r>
          </a:p>
        </p:txBody>
      </p:sp>
      <p:sp>
        <p:nvSpPr>
          <p:cNvPr id="19" name="TextBox 18"/>
          <p:cNvSpPr txBox="1"/>
          <p:nvPr/>
        </p:nvSpPr>
        <p:spPr>
          <a:xfrm>
            <a:off x="2305812"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2589276"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89276"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166110"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66110"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2699004"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Simulator: Human approval</a:t>
            </a:r>
          </a:p>
        </p:txBody>
      </p:sp>
      <p:sp>
        <p:nvSpPr>
          <p:cNvPr id="25" name="TextBox 24"/>
          <p:cNvSpPr txBox="1"/>
          <p:nvPr/>
        </p:nvSpPr>
        <p:spPr>
          <a:xfrm>
            <a:off x="41178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4401312"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401312"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97814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7814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4511040"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Simulator: Always-on agent</a:t>
            </a:r>
          </a:p>
        </p:txBody>
      </p:sp>
      <p:sp>
        <p:nvSpPr>
          <p:cNvPr id="31" name="TextBox 30"/>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6213348"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13348"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790182"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90182"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6323076"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Simulator: Write your own strategy</a:t>
            </a:r>
          </a:p>
        </p:txBody>
      </p:sp>
      <p:sp>
        <p:nvSpPr>
          <p:cNvPr id="37" name="TextBox 36"/>
          <p:cNvSpPr txBox="1"/>
          <p:nvPr/>
        </p:nvSpPr>
        <p:spPr>
          <a:xfrm>
            <a:off x="774192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8" name="Rectangle 37"/>
          <p:cNvSpPr/>
          <p:nvPr/>
        </p:nvSpPr>
        <p:spPr>
          <a:xfrm>
            <a:off x="8025384"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25384"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602218"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02218"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5</a:t>
            </a:r>
          </a:p>
        </p:txBody>
      </p:sp>
      <p:sp>
        <p:nvSpPr>
          <p:cNvPr id="42" name="TextBox 41"/>
          <p:cNvSpPr txBox="1"/>
          <p:nvPr/>
        </p:nvSpPr>
        <p:spPr>
          <a:xfrm>
            <a:off x="8135112"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Simulator: Backtest, diagnose and forward-test it</a:t>
            </a:r>
          </a:p>
        </p:txBody>
      </p:sp>
      <p:sp>
        <p:nvSpPr>
          <p:cNvPr id="43" name="TextBox 42"/>
          <p:cNvSpPr txBox="1"/>
          <p:nvPr/>
        </p:nvSpPr>
        <p:spPr>
          <a:xfrm>
            <a:off x="9553956"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44" name="Rectangle 43"/>
          <p:cNvSpPr/>
          <p:nvPr/>
        </p:nvSpPr>
        <p:spPr>
          <a:xfrm>
            <a:off x="983742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83742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41425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41425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6</a:t>
            </a:r>
          </a:p>
        </p:txBody>
      </p:sp>
      <p:sp>
        <p:nvSpPr>
          <p:cNvPr id="48" name="TextBox 47"/>
          <p:cNvSpPr txBox="1"/>
          <p:nvPr/>
        </p:nvSpPr>
        <p:spPr>
          <a:xfrm>
            <a:off x="994714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Code: rebuild the stage with your AI assistant</a:t>
            </a:r>
          </a:p>
        </p:txBody>
      </p:sp>
      <p:sp>
        <p:nvSpPr>
          <p:cNvPr id="49" name="Rectangle 48"/>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52" name="TextBox 51"/>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One command running the whole pipeline end to end, with a human-approved agentic layer.</a:t>
            </a:r>
          </a:p>
        </p:txBody>
      </p:sp>
      <p:sp>
        <p:nvSpPr>
          <p:cNvPr id="53" name="TextBox 52"/>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20 min</a:t>
            </a:r>
          </a:p>
        </p:txBody>
      </p:sp>
      <p:sp>
        <p:nvSpPr>
          <p:cNvPr id="54" name="TextBox 5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5" name="TextBox 5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6" name="TextBox 5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158</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20 · SIMULATOR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20 — In the Trading Simulator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20_capstone_agents.png"/>
          <p:cNvPicPr>
            <a:picLocks noChangeAspect="1"/>
          </p:cNvPicPr>
          <p:nvPr/>
        </p:nvPicPr>
        <p:blipFill>
          <a:blip r:embed="rId2"/>
          <a:stretch>
            <a:fillRect/>
          </a:stretch>
        </p:blipFill>
        <p:spPr>
          <a:xfrm>
            <a:off x="3599738" y="1828800"/>
            <a:ext cx="4992217" cy="3794760"/>
          </a:xfrm>
          <a:prstGeom prst="rect">
            <a:avLst/>
          </a:prstGeom>
        </p:spPr>
      </p:pic>
      <p:sp>
        <p:nvSpPr>
          <p:cNvPr id="8" name="Rectangle 7"/>
          <p:cNvSpPr/>
          <p:nvPr/>
        </p:nvSpPr>
        <p:spPr>
          <a:xfrm>
            <a:off x="3588766" y="1817827"/>
            <a:ext cx="5014163" cy="381670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6986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76986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76986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Course Labs &gt; Lab 20 at http://localhost:8000 - AI Agents &gt; desk. Offline demo data; connect Alpaca paper keys for live paper trading.</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159</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4 · WHAT YOU COVERED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Topic 4 Recap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23376" y="475488"/>
            <a:ext cx="268833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723376" y="475488"/>
            <a:ext cx="54864" cy="3108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23376" y="475488"/>
            <a:ext cx="2688336" cy="310896"/>
          </a:xfrm>
          <a:prstGeom prst="rect">
            <a:avLst/>
          </a:prstGeom>
          <a:noFill/>
        </p:spPr>
        <p:txBody>
          <a:bodyPr wrap="square" anchor="ctr">
            <a:spAutoFit/>
          </a:bodyPr>
          <a:lstStyle/>
          <a:p>
            <a:pPr algn="ctr">
              <a:spcAft>
                <a:spcPts val="400"/>
              </a:spcAft>
            </a:pPr>
            <a:r>
              <a:rPr sz="1100" b="1">
                <a:solidFill>
                  <a:srgbClr val="F59E0B"/>
                </a:solidFill>
                <a:latin typeface="Arial"/>
              </a:rPr>
              <a:t>A7  A8  A9  A10  K7  K8</a:t>
            </a:r>
          </a:p>
        </p:txBody>
      </p:sp>
      <p:sp>
        <p:nvSpPr>
          <p:cNvPr id="10" name="Rectangle 9"/>
          <p:cNvSpPr/>
          <p:nvPr/>
        </p:nvSpPr>
        <p:spPr>
          <a:xfrm>
            <a:off x="777240" y="178308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177393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177393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9427464" cy="347472"/>
          </a:xfrm>
          <a:prstGeom prst="rect">
            <a:avLst/>
          </a:prstGeom>
          <a:noFill/>
        </p:spPr>
        <p:txBody>
          <a:bodyPr wrap="square" anchor="ctr">
            <a:spAutoFit/>
          </a:bodyPr>
          <a:lstStyle/>
          <a:p>
            <a:pPr algn="l">
              <a:spcAft>
                <a:spcPts val="300"/>
              </a:spcAft>
            </a:pPr>
            <a:r>
              <a:rPr sz="1300" b="1">
                <a:solidFill>
                  <a:srgbClr val="161B26"/>
                </a:solidFill>
                <a:latin typeface="Arial"/>
              </a:rPr>
              <a:t>A7</a:t>
            </a:r>
          </a:p>
          <a:p>
            <a:pPr algn="l">
              <a:spcAft>
                <a:spcPts val="300"/>
              </a:spcAft>
            </a:pPr>
            <a:r>
              <a:rPr sz="900" b="0">
                <a:solidFill>
                  <a:srgbClr val="5B6372"/>
                </a:solidFill>
                <a:latin typeface="Arial"/>
              </a:rPr>
              <a:t>Perform coding and configuration of software agents or programs based on selected models or algorithms</a:t>
            </a:r>
          </a:p>
        </p:txBody>
      </p:sp>
      <p:sp>
        <p:nvSpPr>
          <p:cNvPr id="15" name="Rectangle 14"/>
          <p:cNvSpPr/>
          <p:nvPr/>
        </p:nvSpPr>
        <p:spPr>
          <a:xfrm>
            <a:off x="777240" y="2551176"/>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551176"/>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33272"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1764792" y="2679192"/>
            <a:ext cx="9427464" cy="347472"/>
          </a:xfrm>
          <a:prstGeom prst="rect">
            <a:avLst/>
          </a:prstGeom>
          <a:noFill/>
        </p:spPr>
        <p:txBody>
          <a:bodyPr wrap="square" anchor="ctr">
            <a:spAutoFit/>
          </a:bodyPr>
          <a:lstStyle/>
          <a:p>
            <a:pPr algn="l">
              <a:spcAft>
                <a:spcPts val="300"/>
              </a:spcAft>
            </a:pPr>
            <a:r>
              <a:rPr sz="1300" b="1">
                <a:solidFill>
                  <a:srgbClr val="161B26"/>
                </a:solidFill>
                <a:latin typeface="Arial"/>
              </a:rPr>
              <a:t>A8</a:t>
            </a:r>
          </a:p>
          <a:p>
            <a:pPr algn="l">
              <a:spcAft>
                <a:spcPts val="300"/>
              </a:spcAft>
            </a:pPr>
            <a:r>
              <a:rPr sz="900" b="0">
                <a:solidFill>
                  <a:srgbClr val="5B6372"/>
                </a:solidFill>
                <a:latin typeface="Arial"/>
              </a:rPr>
              <a:t>Conduct tests on the actions taken and outcomes to assess effectiveness of the models</a:t>
            </a:r>
          </a:p>
        </p:txBody>
      </p:sp>
      <p:sp>
        <p:nvSpPr>
          <p:cNvPr id="20" name="Rectangle 19"/>
          <p:cNvSpPr/>
          <p:nvPr/>
        </p:nvSpPr>
        <p:spPr>
          <a:xfrm>
            <a:off x="777240" y="3319272"/>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319272"/>
            <a:ext cx="91440" cy="5303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331012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331012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3447288"/>
            <a:ext cx="9427464" cy="347472"/>
          </a:xfrm>
          <a:prstGeom prst="rect">
            <a:avLst/>
          </a:prstGeom>
          <a:noFill/>
        </p:spPr>
        <p:txBody>
          <a:bodyPr wrap="square" anchor="ctr">
            <a:spAutoFit/>
          </a:bodyPr>
          <a:lstStyle/>
          <a:p>
            <a:pPr algn="l">
              <a:spcAft>
                <a:spcPts val="300"/>
              </a:spcAft>
            </a:pPr>
            <a:r>
              <a:rPr sz="1300" b="1">
                <a:solidFill>
                  <a:srgbClr val="161B26"/>
                </a:solidFill>
                <a:latin typeface="Arial"/>
              </a:rPr>
              <a:t>A9</a:t>
            </a:r>
          </a:p>
          <a:p>
            <a:pPr algn="l">
              <a:spcAft>
                <a:spcPts val="300"/>
              </a:spcAft>
            </a:pPr>
            <a:r>
              <a:rPr sz="900" b="0">
                <a:solidFill>
                  <a:srgbClr val="5B6372"/>
                </a:solidFill>
                <a:latin typeface="Arial"/>
              </a:rPr>
              <a:t>Diagnose unintended outcomes produced by statistical models</a:t>
            </a:r>
          </a:p>
        </p:txBody>
      </p:sp>
      <p:sp>
        <p:nvSpPr>
          <p:cNvPr id="25" name="Rectangle 24"/>
          <p:cNvSpPr/>
          <p:nvPr/>
        </p:nvSpPr>
        <p:spPr>
          <a:xfrm>
            <a:off x="777240" y="4087368"/>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087368"/>
            <a:ext cx="91440" cy="5303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33272" y="407822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3272" y="407822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1764792" y="4215384"/>
            <a:ext cx="9427464" cy="347472"/>
          </a:xfrm>
          <a:prstGeom prst="rect">
            <a:avLst/>
          </a:prstGeom>
          <a:noFill/>
        </p:spPr>
        <p:txBody>
          <a:bodyPr wrap="square" anchor="ctr">
            <a:spAutoFit/>
          </a:bodyPr>
          <a:lstStyle/>
          <a:p>
            <a:pPr algn="l">
              <a:spcAft>
                <a:spcPts val="300"/>
              </a:spcAft>
            </a:pPr>
            <a:r>
              <a:rPr sz="1300" b="1">
                <a:solidFill>
                  <a:srgbClr val="161B26"/>
                </a:solidFill>
                <a:latin typeface="Arial"/>
              </a:rPr>
              <a:t>A10</a:t>
            </a:r>
          </a:p>
          <a:p>
            <a:pPr algn="l">
              <a:spcAft>
                <a:spcPts val="300"/>
              </a:spcAft>
            </a:pPr>
            <a:r>
              <a:rPr sz="900" b="0">
                <a:solidFill>
                  <a:srgbClr val="5B6372"/>
                </a:solidFill>
                <a:latin typeface="Arial"/>
              </a:rPr>
              <a:t>Draw relevant trends and insights from data analysis to support decisions and report accordingly</a:t>
            </a:r>
          </a:p>
        </p:txBody>
      </p:sp>
      <p:sp>
        <p:nvSpPr>
          <p:cNvPr id="30" name="Rectangle 29"/>
          <p:cNvSpPr/>
          <p:nvPr/>
        </p:nvSpPr>
        <p:spPr>
          <a:xfrm>
            <a:off x="777240" y="4855464"/>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4855464"/>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33272" y="484632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4" name="TextBox 33"/>
          <p:cNvSpPr txBox="1"/>
          <p:nvPr/>
        </p:nvSpPr>
        <p:spPr>
          <a:xfrm>
            <a:off x="1764792" y="4983480"/>
            <a:ext cx="9427464" cy="347472"/>
          </a:xfrm>
          <a:prstGeom prst="rect">
            <a:avLst/>
          </a:prstGeom>
          <a:noFill/>
        </p:spPr>
        <p:txBody>
          <a:bodyPr wrap="square" anchor="ctr">
            <a:spAutoFit/>
          </a:bodyPr>
          <a:lstStyle/>
          <a:p>
            <a:pPr algn="l">
              <a:spcAft>
                <a:spcPts val="300"/>
              </a:spcAft>
            </a:pPr>
            <a:r>
              <a:rPr sz="1300" b="1">
                <a:solidFill>
                  <a:srgbClr val="161B26"/>
                </a:solidFill>
                <a:latin typeface="Arial"/>
              </a:rPr>
              <a:t>K7</a:t>
            </a:r>
          </a:p>
          <a:p>
            <a:pPr algn="l">
              <a:spcAft>
                <a:spcPts val="300"/>
              </a:spcAft>
            </a:pPr>
            <a:r>
              <a:rPr sz="900" b="0">
                <a:solidFill>
                  <a:srgbClr val="5B6372"/>
                </a:solidFill>
                <a:latin typeface="Arial"/>
              </a:rPr>
              <a:t>Coding languages for programming of algorithms and signals</a:t>
            </a:r>
          </a:p>
        </p:txBody>
      </p:sp>
      <p:sp>
        <p:nvSpPr>
          <p:cNvPr id="35" name="Rectangle 34"/>
          <p:cNvSpPr/>
          <p:nvPr/>
        </p:nvSpPr>
        <p:spPr>
          <a:xfrm>
            <a:off x="777240" y="562356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77240" y="5623560"/>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33272" y="561441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33272" y="561441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9" name="TextBox 38"/>
          <p:cNvSpPr txBox="1"/>
          <p:nvPr/>
        </p:nvSpPr>
        <p:spPr>
          <a:xfrm>
            <a:off x="1764792" y="5751576"/>
            <a:ext cx="9427464" cy="347472"/>
          </a:xfrm>
          <a:prstGeom prst="rect">
            <a:avLst/>
          </a:prstGeom>
          <a:noFill/>
        </p:spPr>
        <p:txBody>
          <a:bodyPr wrap="square" anchor="ctr">
            <a:spAutoFit/>
          </a:bodyPr>
          <a:lstStyle/>
          <a:p>
            <a:pPr algn="l">
              <a:spcAft>
                <a:spcPts val="300"/>
              </a:spcAft>
            </a:pPr>
            <a:r>
              <a:rPr sz="1300" b="1">
                <a:solidFill>
                  <a:srgbClr val="161B26"/>
                </a:solidFill>
                <a:latin typeface="Arial"/>
              </a:rPr>
              <a:t>K8</a:t>
            </a:r>
          </a:p>
          <a:p>
            <a:pPr algn="l">
              <a:spcAft>
                <a:spcPts val="300"/>
              </a:spcAft>
            </a:pPr>
            <a:r>
              <a:rPr sz="900" b="0">
                <a:solidFill>
                  <a:srgbClr val="5B6372"/>
                </a:solidFill>
                <a:latin typeface="Arial"/>
              </a:rPr>
              <a:t>Potential reasons for unintended outcomes</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160</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SUMMARY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You Achieved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Framed testable hypotheses</a:t>
            </a:r>
          </a:p>
          <a:p>
            <a:pPr algn="l">
              <a:spcAft>
                <a:spcPts val="300"/>
              </a:spcAft>
            </a:pPr>
            <a:r>
              <a:rPr sz="1300" b="0">
                <a:solidFill>
                  <a:srgbClr val="5B6372"/>
                </a:solidFill>
                <a:latin typeface="Arial"/>
              </a:rPr>
              <a:t>Instrument, signal, holding period, effect, benchmark.</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Coded indicators and strategies</a:t>
            </a:r>
          </a:p>
          <a:p>
            <a:pPr algn="l">
              <a:spcAft>
                <a:spcPts val="300"/>
              </a:spcAft>
            </a:pPr>
            <a:r>
              <a:rPr sz="1300" b="0">
                <a:solidFill>
                  <a:srgbClr val="5B6372"/>
                </a:solidFill>
                <a:latin typeface="Arial"/>
              </a:rPr>
              <a:t>Pine Script on TradingView; Python on Alpaca data.</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Modelled and A/B-tested</a:t>
            </a:r>
          </a:p>
          <a:p>
            <a:pPr algn="l">
              <a:spcAft>
                <a:spcPts val="300"/>
              </a:spcAft>
            </a:pPr>
            <a:r>
              <a:rPr sz="1300" b="0">
                <a:solidFill>
                  <a:srgbClr val="5B6372"/>
                </a:solidFill>
                <a:latin typeface="Arial"/>
              </a:rPr>
              <a:t>ML classifiers, regimes, Welch's t-test and bootstrap.</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Backtested net of costs</a:t>
            </a:r>
          </a:p>
          <a:p>
            <a:pPr algn="l">
              <a:spcAft>
                <a:spcPts val="300"/>
              </a:spcAft>
            </a:pPr>
            <a:r>
              <a:rPr sz="1300" b="0">
                <a:solidFill>
                  <a:srgbClr val="5B6372"/>
                </a:solidFill>
                <a:latin typeface="Arial"/>
              </a:rPr>
              <a:t>Commission, spread, slippage and regulatory fees.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Forward-tested automatically</a:t>
            </a:r>
          </a:p>
          <a:p>
            <a:pPr algn="l">
              <a:spcAft>
                <a:spcPts val="300"/>
              </a:spcAft>
            </a:pPr>
            <a:r>
              <a:rPr sz="1300" b="0">
                <a:solidFill>
                  <a:srgbClr val="5B6372"/>
                </a:solidFill>
                <a:latin typeface="Arial"/>
              </a:rPr>
              <a:t>A paper-trading bot with risk checks and a trade log.</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Diagnosed and reported</a:t>
            </a:r>
          </a:p>
          <a:p>
            <a:pPr algn="l">
              <a:spcAft>
                <a:spcPts val="300"/>
              </a:spcAft>
            </a:pPr>
            <a:r>
              <a:rPr sz="1300" b="0">
                <a:solidFill>
                  <a:srgbClr val="5B6372"/>
                </a:solidFill>
                <a:latin typeface="Arial"/>
              </a:rPr>
              <a:t>Found the bias, fixed it, and wrote the recommendation.</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161</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PORTAL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Courseware &amp; Assessment on the LMS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Everything for the open-book assessment — slides, Learner Guide and submissions — lives on the LMS.</a:t>
            </a:r>
          </a:p>
        </p:txBody>
      </p:sp>
      <p:sp>
        <p:nvSpPr>
          <p:cNvPr id="8" name="Rectangle 7"/>
          <p:cNvSpPr/>
          <p:nvPr/>
        </p:nvSpPr>
        <p:spPr>
          <a:xfrm>
            <a:off x="777240" y="2148840"/>
            <a:ext cx="3749039" cy="3566160"/>
          </a:xfrm>
          <a:prstGeom prst="rect">
            <a:avLst/>
          </a:prstGeom>
          <a:solidFill>
            <a:srgbClr val="0F2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240279" y="2514600"/>
            <a:ext cx="822960" cy="8229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40279" y="2514600"/>
            <a:ext cx="822960" cy="822960"/>
          </a:xfrm>
          <a:prstGeom prst="rect">
            <a:avLst/>
          </a:prstGeom>
          <a:noFill/>
        </p:spPr>
        <p:txBody>
          <a:bodyPr wrap="square" anchor="ctr">
            <a:spAutoFit/>
          </a:bodyPr>
          <a:lstStyle/>
          <a:p>
            <a:pPr algn="ctr">
              <a:spcAft>
                <a:spcPts val="400"/>
              </a:spcAft>
            </a:pPr>
            <a:r>
              <a:rPr sz="3200" b="1">
                <a:solidFill>
                  <a:srgbClr val="0F2A5F"/>
                </a:solidFill>
                <a:latin typeface="Arial"/>
              </a:rPr>
              <a:t>T</a:t>
            </a:r>
          </a:p>
        </p:txBody>
      </p:sp>
      <p:sp>
        <p:nvSpPr>
          <p:cNvPr id="11" name="TextBox 10"/>
          <p:cNvSpPr txBox="1"/>
          <p:nvPr/>
        </p:nvSpPr>
        <p:spPr>
          <a:xfrm>
            <a:off x="777240" y="3520440"/>
            <a:ext cx="3749039" cy="457200"/>
          </a:xfrm>
          <a:prstGeom prst="rect">
            <a:avLst/>
          </a:prstGeom>
          <a:noFill/>
        </p:spPr>
        <p:txBody>
          <a:bodyPr wrap="square" anchor="t">
            <a:spAutoFit/>
          </a:bodyPr>
          <a:lstStyle/>
          <a:p>
            <a:pPr algn="ctr">
              <a:spcAft>
                <a:spcPts val="400"/>
              </a:spcAft>
            </a:pPr>
            <a:r>
              <a:rPr sz="1700" b="1">
                <a:solidFill>
                  <a:srgbClr val="FFFFFF"/>
                </a:solidFill>
                <a:latin typeface="Arial"/>
              </a:rPr>
              <a:t>Tertiary Infotech Academy</a:t>
            </a:r>
          </a:p>
        </p:txBody>
      </p:sp>
      <p:sp>
        <p:nvSpPr>
          <p:cNvPr id="12" name="TextBox 11"/>
          <p:cNvSpPr txBox="1"/>
          <p:nvPr/>
        </p:nvSpPr>
        <p:spPr>
          <a:xfrm>
            <a:off x="777240" y="3977640"/>
            <a:ext cx="3749039" cy="365760"/>
          </a:xfrm>
          <a:prstGeom prst="rect">
            <a:avLst/>
          </a:prstGeom>
          <a:noFill/>
        </p:spPr>
        <p:txBody>
          <a:bodyPr wrap="square" anchor="t">
            <a:spAutoFit/>
          </a:bodyPr>
          <a:lstStyle/>
          <a:p>
            <a:pPr algn="ctr">
              <a:spcAft>
                <a:spcPts val="400"/>
              </a:spcAft>
            </a:pPr>
            <a:r>
              <a:rPr sz="1200" b="0">
                <a:solidFill>
                  <a:srgbClr val="B8C7E0"/>
                </a:solidFill>
                <a:latin typeface="Arial"/>
              </a:rPr>
              <a:t>LMS for IBF-STS courses</a:t>
            </a:r>
          </a:p>
        </p:txBody>
      </p:sp>
      <p:sp>
        <p:nvSpPr>
          <p:cNvPr id="13" name="Rectangle 12"/>
          <p:cNvSpPr/>
          <p:nvPr/>
        </p:nvSpPr>
        <p:spPr>
          <a:xfrm>
            <a:off x="1737360" y="4526280"/>
            <a:ext cx="1828800"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737360" y="4526280"/>
            <a:ext cx="1828800" cy="502920"/>
          </a:xfrm>
          <a:prstGeom prst="rect">
            <a:avLst/>
          </a:prstGeom>
          <a:noFill/>
        </p:spPr>
        <p:txBody>
          <a:bodyPr wrap="square" anchor="ctr">
            <a:spAutoFit/>
          </a:bodyPr>
          <a:lstStyle/>
          <a:p>
            <a:pPr algn="ctr">
              <a:spcAft>
                <a:spcPts val="400"/>
              </a:spcAft>
            </a:pPr>
            <a:r>
              <a:rPr sz="1400" b="1">
                <a:solidFill>
                  <a:srgbClr val="FFFFFF"/>
                </a:solidFill>
                <a:latin typeface="Arial"/>
              </a:rPr>
              <a:t>Sign in / OTP</a:t>
            </a:r>
          </a:p>
        </p:txBody>
      </p:sp>
      <p:sp>
        <p:nvSpPr>
          <p:cNvPr id="15" name="TextBox 14"/>
          <p:cNvSpPr txBox="1"/>
          <p:nvPr/>
        </p:nvSpPr>
        <p:spPr>
          <a:xfrm>
            <a:off x="777240" y="5166360"/>
            <a:ext cx="3749039" cy="365760"/>
          </a:xfrm>
          <a:prstGeom prst="rect">
            <a:avLst/>
          </a:prstGeom>
          <a:noFill/>
        </p:spPr>
        <p:txBody>
          <a:bodyPr wrap="square" anchor="t">
            <a:spAutoFit/>
          </a:bodyPr>
          <a:lstStyle/>
          <a:p>
            <a:pPr algn="ctr">
              <a:spcAft>
                <a:spcPts val="400"/>
              </a:spcAft>
            </a:pPr>
            <a:r>
              <a:rPr sz="1200" b="1">
                <a:solidFill>
                  <a:srgbClr val="9CDCFE"/>
                </a:solidFill>
                <a:latin typeface="Arial"/>
              </a:rPr>
              <a:t>lms-tms.tertiaryinfotech.com</a:t>
            </a:r>
          </a:p>
        </p:txBody>
      </p:sp>
      <p:sp>
        <p:nvSpPr>
          <p:cNvPr id="16" name="Rectangle 15"/>
          <p:cNvSpPr/>
          <p:nvPr/>
        </p:nvSpPr>
        <p:spPr>
          <a:xfrm>
            <a:off x="4846320" y="2148840"/>
            <a:ext cx="656539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46320" y="2148840"/>
            <a:ext cx="91440" cy="8229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5120640" y="235915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20640" y="2359152"/>
            <a:ext cx="402336" cy="402336"/>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20" name="TextBox 19"/>
          <p:cNvSpPr txBox="1"/>
          <p:nvPr/>
        </p:nvSpPr>
        <p:spPr>
          <a:xfrm>
            <a:off x="5715000" y="2148840"/>
            <a:ext cx="5468112" cy="822960"/>
          </a:xfrm>
          <a:prstGeom prst="rect">
            <a:avLst/>
          </a:prstGeom>
          <a:noFill/>
        </p:spPr>
        <p:txBody>
          <a:bodyPr wrap="square" anchor="ctr">
            <a:spAutoFit/>
          </a:bodyPr>
          <a:lstStyle/>
          <a:p>
            <a:pPr algn="l">
              <a:spcAft>
                <a:spcPts val="200"/>
              </a:spcAft>
            </a:pPr>
            <a:r>
              <a:rPr sz="1400" b="1">
                <a:solidFill>
                  <a:srgbClr val="161B26"/>
                </a:solidFill>
                <a:latin typeface="Arial"/>
              </a:rPr>
              <a:t>Sign in</a:t>
            </a:r>
          </a:p>
          <a:p>
            <a:pPr algn="l">
              <a:spcAft>
                <a:spcPts val="200"/>
              </a:spcAft>
            </a:pPr>
            <a:r>
              <a:rPr sz="1150" b="0">
                <a:solidFill>
                  <a:srgbClr val="5B6372"/>
                </a:solidFill>
                <a:latin typeface="Arial"/>
              </a:rPr>
              <a:t>Log in with your registered email (OTP or password).</a:t>
            </a:r>
          </a:p>
        </p:txBody>
      </p:sp>
      <p:sp>
        <p:nvSpPr>
          <p:cNvPr id="21" name="Rectangle 20"/>
          <p:cNvSpPr/>
          <p:nvPr/>
        </p:nvSpPr>
        <p:spPr>
          <a:xfrm>
            <a:off x="4846320" y="3072384"/>
            <a:ext cx="656539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846320" y="3072384"/>
            <a:ext cx="91440" cy="8229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120640" y="3282696"/>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3282696"/>
            <a:ext cx="402336" cy="402336"/>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25" name="TextBox 24"/>
          <p:cNvSpPr txBox="1"/>
          <p:nvPr/>
        </p:nvSpPr>
        <p:spPr>
          <a:xfrm>
            <a:off x="5715000" y="3072384"/>
            <a:ext cx="5468112" cy="822960"/>
          </a:xfrm>
          <a:prstGeom prst="rect">
            <a:avLst/>
          </a:prstGeom>
          <a:noFill/>
        </p:spPr>
        <p:txBody>
          <a:bodyPr wrap="square" anchor="ctr">
            <a:spAutoFit/>
          </a:bodyPr>
          <a:lstStyle/>
          <a:p>
            <a:pPr algn="l">
              <a:spcAft>
                <a:spcPts val="200"/>
              </a:spcAft>
            </a:pPr>
            <a:r>
              <a:rPr sz="1400" b="1">
                <a:solidFill>
                  <a:srgbClr val="161B26"/>
                </a:solidFill>
                <a:latin typeface="Arial"/>
              </a:rPr>
              <a:t>Download the courseware</a:t>
            </a:r>
          </a:p>
          <a:p>
            <a:pPr algn="l">
              <a:spcAft>
                <a:spcPts val="200"/>
              </a:spcAft>
            </a:pPr>
            <a:r>
              <a:rPr sz="1150" b="0">
                <a:solidFill>
                  <a:srgbClr val="5B6372"/>
                </a:solidFill>
                <a:latin typeface="Arial"/>
              </a:rPr>
              <a:t>Trainer slides, Learner Guide and lab artefacts.</a:t>
            </a:r>
          </a:p>
        </p:txBody>
      </p:sp>
      <p:sp>
        <p:nvSpPr>
          <p:cNvPr id="26" name="Rectangle 25"/>
          <p:cNvSpPr/>
          <p:nvPr/>
        </p:nvSpPr>
        <p:spPr>
          <a:xfrm>
            <a:off x="4846320" y="3995928"/>
            <a:ext cx="656539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846320" y="3995928"/>
            <a:ext cx="91440" cy="8229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120640" y="4206240"/>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120640" y="4206240"/>
            <a:ext cx="402336" cy="402336"/>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30" name="TextBox 29"/>
          <p:cNvSpPr txBox="1"/>
          <p:nvPr/>
        </p:nvSpPr>
        <p:spPr>
          <a:xfrm>
            <a:off x="5715000" y="3995928"/>
            <a:ext cx="5468112" cy="822960"/>
          </a:xfrm>
          <a:prstGeom prst="rect">
            <a:avLst/>
          </a:prstGeom>
          <a:noFill/>
        </p:spPr>
        <p:txBody>
          <a:bodyPr wrap="square" anchor="ctr">
            <a:spAutoFit/>
          </a:bodyPr>
          <a:lstStyle/>
          <a:p>
            <a:pPr algn="l">
              <a:spcAft>
                <a:spcPts val="200"/>
              </a:spcAft>
            </a:pPr>
            <a:r>
              <a:rPr sz="1400" b="1">
                <a:solidFill>
                  <a:srgbClr val="161B26"/>
                </a:solidFill>
                <a:latin typeface="Arial"/>
              </a:rPr>
              <a:t>Mark attendance</a:t>
            </a:r>
          </a:p>
          <a:p>
            <a:pPr algn="l">
              <a:spcAft>
                <a:spcPts val="200"/>
              </a:spcAft>
            </a:pPr>
            <a:r>
              <a:rPr sz="1150" b="0">
                <a:solidFill>
                  <a:srgbClr val="5B6372"/>
                </a:solidFill>
                <a:latin typeface="Arial"/>
              </a:rPr>
              <a:t>Sign in for each session — IBF-STS funding needs 75% attendance.</a:t>
            </a:r>
          </a:p>
        </p:txBody>
      </p:sp>
      <p:sp>
        <p:nvSpPr>
          <p:cNvPr id="31" name="Rectangle 30"/>
          <p:cNvSpPr/>
          <p:nvPr/>
        </p:nvSpPr>
        <p:spPr>
          <a:xfrm>
            <a:off x="4846320" y="4919472"/>
            <a:ext cx="656539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846320" y="4919472"/>
            <a:ext cx="91440" cy="8229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120640" y="5129784"/>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120640" y="5129784"/>
            <a:ext cx="402336" cy="402336"/>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5" name="TextBox 34"/>
          <p:cNvSpPr txBox="1"/>
          <p:nvPr/>
        </p:nvSpPr>
        <p:spPr>
          <a:xfrm>
            <a:off x="5715000" y="4919472"/>
            <a:ext cx="5468112" cy="822960"/>
          </a:xfrm>
          <a:prstGeom prst="rect">
            <a:avLst/>
          </a:prstGeom>
          <a:noFill/>
        </p:spPr>
        <p:txBody>
          <a:bodyPr wrap="square" anchor="ctr">
            <a:spAutoFit/>
          </a:bodyPr>
          <a:lstStyle/>
          <a:p>
            <a:pPr algn="l">
              <a:spcAft>
                <a:spcPts val="200"/>
              </a:spcAft>
            </a:pPr>
            <a:r>
              <a:rPr sz="1400" b="1">
                <a:solidFill>
                  <a:srgbClr val="161B26"/>
                </a:solidFill>
                <a:latin typeface="Arial"/>
              </a:rPr>
              <a:t>Submit the assessment</a:t>
            </a:r>
          </a:p>
          <a:p>
            <a:pPr algn="l">
              <a:spcAft>
                <a:spcPts val="200"/>
              </a:spcAft>
            </a:pPr>
            <a:r>
              <a:rPr sz="1150" b="0">
                <a:solidFill>
                  <a:srgbClr val="5B6372"/>
                </a:solidFill>
                <a:latin typeface="Arial"/>
              </a:rPr>
              <a:t>Upload your WA answers and PP evidence here.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162</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ASSESSMENT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Assessment — Reminder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965960"/>
            <a:ext cx="5180076" cy="3566160"/>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965960"/>
            <a:ext cx="5180076"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6696" y="2331720"/>
            <a:ext cx="4741164" cy="548640"/>
          </a:xfrm>
          <a:prstGeom prst="rect">
            <a:avLst/>
          </a:prstGeom>
          <a:noFill/>
        </p:spPr>
        <p:txBody>
          <a:bodyPr wrap="square" anchor="t">
            <a:spAutoFit/>
          </a:bodyPr>
          <a:lstStyle/>
          <a:p>
            <a:pPr algn="l">
              <a:spcAft>
                <a:spcPts val="400"/>
              </a:spcAft>
            </a:pPr>
            <a:r>
              <a:rPr sz="1600" b="1">
                <a:solidFill>
                  <a:srgbClr val="1F6FEB"/>
                </a:solidFill>
                <a:latin typeface="Arial"/>
              </a:rPr>
              <a:t>Written Assessment</a:t>
            </a:r>
          </a:p>
        </p:txBody>
      </p:sp>
      <p:sp>
        <p:nvSpPr>
          <p:cNvPr id="10" name="TextBox 9"/>
          <p:cNvSpPr txBox="1"/>
          <p:nvPr/>
        </p:nvSpPr>
        <p:spPr>
          <a:xfrm>
            <a:off x="996696" y="2926080"/>
            <a:ext cx="4741164" cy="2377440"/>
          </a:xfrm>
          <a:prstGeom prst="rect">
            <a:avLst/>
          </a:prstGeom>
          <a:noFill/>
        </p:spPr>
        <p:txBody>
          <a:bodyPr wrap="square" anchor="t">
            <a:spAutoFit/>
          </a:bodyPr>
          <a:lstStyle/>
          <a:p>
            <a:pPr algn="l">
              <a:spcAft>
                <a:spcPts val="400"/>
              </a:spcAft>
            </a:pPr>
            <a:r>
              <a:rPr sz="1200" b="0">
                <a:solidFill>
                  <a:srgbClr val="161B26"/>
                </a:solidFill>
                <a:latin typeface="Arial"/>
              </a:rPr>
              <a:t>45 minutes · open book · 9 short-answer questions covering K1 - K9.</a:t>
            </a:r>
          </a:p>
        </p:txBody>
      </p:sp>
      <p:sp>
        <p:nvSpPr>
          <p:cNvPr id="11" name="Rectangle 10"/>
          <p:cNvSpPr/>
          <p:nvPr/>
        </p:nvSpPr>
        <p:spPr>
          <a:xfrm>
            <a:off x="6231636" y="1965960"/>
            <a:ext cx="5180076" cy="356616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965960"/>
            <a:ext cx="5180076"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51092" y="2331720"/>
            <a:ext cx="4741164" cy="548640"/>
          </a:xfrm>
          <a:prstGeom prst="rect">
            <a:avLst/>
          </a:prstGeom>
          <a:noFill/>
        </p:spPr>
        <p:txBody>
          <a:bodyPr wrap="square" anchor="t">
            <a:spAutoFit/>
          </a:bodyPr>
          <a:lstStyle/>
          <a:p>
            <a:pPr algn="l">
              <a:spcAft>
                <a:spcPts val="400"/>
              </a:spcAft>
            </a:pPr>
            <a:r>
              <a:rPr sz="1600" b="1">
                <a:solidFill>
                  <a:srgbClr val="10B981"/>
                </a:solidFill>
                <a:latin typeface="Arial"/>
              </a:rPr>
              <a:t>Practical Performance</a:t>
            </a:r>
          </a:p>
        </p:txBody>
      </p:sp>
      <p:sp>
        <p:nvSpPr>
          <p:cNvPr id="14" name="TextBox 13"/>
          <p:cNvSpPr txBox="1"/>
          <p:nvPr/>
        </p:nvSpPr>
        <p:spPr>
          <a:xfrm>
            <a:off x="6451092" y="2926080"/>
            <a:ext cx="4741164" cy="2377440"/>
          </a:xfrm>
          <a:prstGeom prst="rect">
            <a:avLst/>
          </a:prstGeom>
          <a:noFill/>
        </p:spPr>
        <p:txBody>
          <a:bodyPr wrap="square" anchor="t">
            <a:spAutoFit/>
          </a:bodyPr>
          <a:lstStyle/>
          <a:p>
            <a:pPr algn="l">
              <a:spcAft>
                <a:spcPts val="400"/>
              </a:spcAft>
            </a:pPr>
            <a:r>
              <a:rPr sz="1200" b="0">
                <a:solidFill>
                  <a:srgbClr val="161B26"/>
                </a:solidFill>
                <a:latin typeface="Arial"/>
              </a:rPr>
              <a:t>75 minutes · open book · 4 tasks in Python with Alpaca paper trading, A1 - A10.</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ON ASSESSMENT DAY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4343"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4343"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1" name="TextBox 10"/>
          <p:cNvSpPr txBox="1"/>
          <p:nvPr/>
        </p:nvSpPr>
        <p:spPr>
          <a:xfrm>
            <a:off x="905256"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Sign the assessment attendance record</a:t>
            </a:r>
          </a:p>
        </p:txBody>
      </p:sp>
      <p:sp>
        <p:nvSpPr>
          <p:cNvPr id="12" name="TextBox 11"/>
          <p:cNvSpPr txBox="1"/>
          <p:nvPr/>
        </p:nvSpPr>
        <p:spPr>
          <a:xfrm>
            <a:off x="2666390"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13" name="Rectangle 12"/>
          <p:cNvSpPr/>
          <p:nvPr/>
        </p:nvSpPr>
        <p:spPr>
          <a:xfrm>
            <a:off x="2958998"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58998"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56101"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6101"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17" name="TextBox 16"/>
          <p:cNvSpPr txBox="1"/>
          <p:nvPr/>
        </p:nvSpPr>
        <p:spPr>
          <a:xfrm>
            <a:off x="3087014"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Assessor briefing (not assessed)</a:t>
            </a:r>
          </a:p>
        </p:txBody>
      </p:sp>
      <p:sp>
        <p:nvSpPr>
          <p:cNvPr id="18" name="TextBox 17"/>
          <p:cNvSpPr txBox="1"/>
          <p:nvPr/>
        </p:nvSpPr>
        <p:spPr>
          <a:xfrm>
            <a:off x="4848148"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19" name="Rectangle 18"/>
          <p:cNvSpPr/>
          <p:nvPr/>
        </p:nvSpPr>
        <p:spPr>
          <a:xfrm>
            <a:off x="5140756"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0756"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37859"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37859"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3" name="TextBox 22"/>
          <p:cNvSpPr txBox="1"/>
          <p:nvPr/>
        </p:nvSpPr>
        <p:spPr>
          <a:xfrm>
            <a:off x="5268772"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Sit the WA (45 min) then the PP (75 min) — open book</a:t>
            </a:r>
          </a:p>
        </p:txBody>
      </p:sp>
      <p:sp>
        <p:nvSpPr>
          <p:cNvPr id="24" name="TextBox 23"/>
          <p:cNvSpPr txBox="1"/>
          <p:nvPr/>
        </p:nvSpPr>
        <p:spPr>
          <a:xfrm>
            <a:off x="7029906"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25" name="Rectangle 24"/>
          <p:cNvSpPr/>
          <p:nvPr/>
        </p:nvSpPr>
        <p:spPr>
          <a:xfrm>
            <a:off x="7322514"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22514"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19617"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19617"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29" name="TextBox 28"/>
          <p:cNvSpPr txBox="1"/>
          <p:nvPr/>
        </p:nvSpPr>
        <p:spPr>
          <a:xfrm>
            <a:off x="7450530"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Submit your answers on the LMS</a:t>
            </a:r>
          </a:p>
        </p:txBody>
      </p:sp>
      <p:sp>
        <p:nvSpPr>
          <p:cNvPr id="30" name="TextBox 29"/>
          <p:cNvSpPr txBox="1"/>
          <p:nvPr/>
        </p:nvSpPr>
        <p:spPr>
          <a:xfrm>
            <a:off x="9211664"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31" name="Rectangle 30"/>
          <p:cNvSpPr/>
          <p:nvPr/>
        </p:nvSpPr>
        <p:spPr>
          <a:xfrm>
            <a:off x="9504272"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04272"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101375"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101375"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5" name="TextBox 34"/>
          <p:cNvSpPr txBox="1"/>
          <p:nvPr/>
        </p:nvSpPr>
        <p:spPr>
          <a:xfrm>
            <a:off x="9632288"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Sign the Assessment Summary Record</a:t>
            </a:r>
          </a:p>
        </p:txBody>
      </p:sp>
      <p:sp>
        <p:nvSpPr>
          <p:cNvPr id="36" name="Rectangle 35"/>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 y="5257800"/>
            <a:ext cx="91440" cy="8229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Sign the assessment attendance record BEFORE you begin. Submit on the LMS.</a:t>
            </a:r>
          </a:p>
        </p:txBody>
      </p:sp>
      <p:sp>
        <p:nvSpPr>
          <p:cNvPr id="39" name="TextBox 3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0" name="TextBox 3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1" name="TextBox 4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164</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CLOSING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Before You Leave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Attendance</a:t>
            </a:r>
          </a:p>
          <a:p>
            <a:pPr algn="l">
              <a:spcAft>
                <a:spcPts val="300"/>
              </a:spcAft>
            </a:pPr>
            <a:r>
              <a:rPr sz="1300" b="0">
                <a:solidFill>
                  <a:srgbClr val="5B6372"/>
                </a:solidFill>
                <a:latin typeface="Arial"/>
              </a:rPr>
              <a:t>Make sure every session is signed — 75% is required for IBF-STS funding.</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Course feedback</a:t>
            </a:r>
          </a:p>
          <a:p>
            <a:pPr algn="l">
              <a:spcAft>
                <a:spcPts val="300"/>
              </a:spcAft>
            </a:pPr>
            <a:r>
              <a:rPr sz="1300" b="0">
                <a:solidFill>
                  <a:srgbClr val="5B6372"/>
                </a:solidFill>
                <a:latin typeface="Arial"/>
              </a:rPr>
              <a:t>Complete the feedback form on the LMS.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Keep practising on paper</a:t>
            </a:r>
          </a:p>
          <a:p>
            <a:pPr algn="l">
              <a:spcAft>
                <a:spcPts val="300"/>
              </a:spcAft>
            </a:pPr>
            <a:r>
              <a:rPr sz="1300" b="0">
                <a:solidFill>
                  <a:srgbClr val="5B6372"/>
                </a:solidFill>
                <a:latin typeface="Arial"/>
              </a:rPr>
              <a:t>Your Alpaca paper account and lab code are yours to keep.</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Not investment advice</a:t>
            </a:r>
          </a:p>
          <a:p>
            <a:pPr algn="l">
              <a:spcAft>
                <a:spcPts val="300"/>
              </a:spcAft>
            </a:pPr>
            <a:r>
              <a:rPr sz="1300" b="0">
                <a:solidFill>
                  <a:srgbClr val="5B6372"/>
                </a:solidFill>
                <a:latin typeface="Arial"/>
              </a:rPr>
              <a:t>Scenarios are fictitious; trade real money only with proper advice.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165</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651760"/>
            <a:ext cx="12191695" cy="1097280"/>
          </a:xfrm>
          <a:prstGeom prst="rect">
            <a:avLst/>
          </a:prstGeom>
          <a:noFill/>
        </p:spPr>
        <p:txBody>
          <a:bodyPr wrap="square" anchor="t">
            <a:spAutoFit/>
          </a:bodyPr>
          <a:lstStyle/>
          <a:p>
            <a:pPr algn="ctr">
              <a:spcAft>
                <a:spcPts val="400"/>
              </a:spcAft>
            </a:pPr>
            <a:r>
              <a:rPr sz="5400" b="1">
                <a:solidFill>
                  <a:srgbClr val="161B26"/>
                </a:solidFill>
                <a:latin typeface="Arial"/>
              </a:rPr>
              <a:t>Thank You</a:t>
            </a:r>
          </a:p>
        </p:txBody>
      </p:sp>
      <p:sp>
        <p:nvSpPr>
          <p:cNvPr id="6" name="TextBox 5"/>
          <p:cNvSpPr txBox="1"/>
          <p:nvPr/>
        </p:nvSpPr>
        <p:spPr>
          <a:xfrm>
            <a:off x="0" y="3840480"/>
            <a:ext cx="12191695" cy="548640"/>
          </a:xfrm>
          <a:prstGeom prst="rect">
            <a:avLst/>
          </a:prstGeom>
          <a:noFill/>
        </p:spPr>
        <p:txBody>
          <a:bodyPr wrap="square" anchor="t">
            <a:spAutoFit/>
          </a:bodyPr>
          <a:lstStyle/>
          <a:p>
            <a:pPr algn="ctr">
              <a:spcAft>
                <a:spcPts val="400"/>
              </a:spcAft>
            </a:pPr>
            <a:r>
              <a:rPr sz="1600" b="0">
                <a:solidFill>
                  <a:srgbClr val="5B6372"/>
                </a:solidFill>
                <a:latin typeface="Arial"/>
              </a:rPr>
              <a:t>Machine Learning 101 for Financial Trading  ·  FSE-DAT-3019-1.1</a:t>
            </a:r>
          </a:p>
        </p:txBody>
      </p:sp>
      <p:sp>
        <p:nvSpPr>
          <p:cNvPr id="7" name="TextBox 6"/>
          <p:cNvSpPr txBox="1"/>
          <p:nvPr/>
        </p:nvSpPr>
        <p:spPr>
          <a:xfrm>
            <a:off x="0" y="4434840"/>
            <a:ext cx="12191695" cy="548640"/>
          </a:xfrm>
          <a:prstGeom prst="rect">
            <a:avLst/>
          </a:prstGeom>
          <a:noFill/>
        </p:spPr>
        <p:txBody>
          <a:bodyPr wrap="square" anchor="t">
            <a:spAutoFit/>
          </a:bodyPr>
          <a:lstStyle/>
          <a:p>
            <a:pPr algn="ctr">
              <a:spcAft>
                <a:spcPts val="400"/>
              </a:spcAft>
            </a:pPr>
            <a:r>
              <a:rPr sz="1300" b="0">
                <a:solidFill>
                  <a:srgbClr val="5B6372"/>
                </a:solidFill>
                <a:latin typeface="Arial"/>
              </a:rPr>
              <a:t>Tertiary Infotech Academy Pte Ltd  ·  UEN 201200696W</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
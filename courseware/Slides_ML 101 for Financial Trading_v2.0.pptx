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685800"/>
            <a:ext cx="822960" cy="822960"/>
          </a:xfrm>
          <a:prstGeom prst="ellipse">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85800"/>
            <a:ext cx="822960" cy="822960"/>
          </a:xfrm>
          <a:prstGeom prst="rect">
            <a:avLst/>
          </a:prstGeom>
          <a:noFill/>
        </p:spPr>
        <p:txBody>
          <a:bodyPr wrap="square" anchor="ctr">
            <a:spAutoFit/>
          </a:bodyPr>
          <a:lstStyle/>
          <a:p>
            <a:pPr algn="ctr">
              <a:spcAft>
                <a:spcPts val="400"/>
              </a:spcAft>
            </a:pPr>
            <a:r>
              <a:rPr sz="3400" b="1">
                <a:solidFill>
                  <a:srgbClr val="FFFFFF"/>
                </a:solidFill>
                <a:latin typeface="Arial"/>
              </a:rPr>
              <a:t>T</a:t>
            </a:r>
          </a:p>
        </p:txBody>
      </p:sp>
      <p:sp>
        <p:nvSpPr>
          <p:cNvPr id="7" name="TextBox 6"/>
          <p:cNvSpPr txBox="1"/>
          <p:nvPr/>
        </p:nvSpPr>
        <p:spPr>
          <a:xfrm>
            <a:off x="731520" y="1874519"/>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TRAINER SLIDES  ·  IBF-STS ACCREDITED</a:t>
            </a:r>
          </a:p>
        </p:txBody>
      </p:sp>
      <p:sp>
        <p:nvSpPr>
          <p:cNvPr id="8" name="TextBox 7"/>
          <p:cNvSpPr txBox="1"/>
          <p:nvPr/>
        </p:nvSpPr>
        <p:spPr>
          <a:xfrm>
            <a:off x="731520" y="2331720"/>
            <a:ext cx="10607040" cy="1097280"/>
          </a:xfrm>
          <a:prstGeom prst="rect">
            <a:avLst/>
          </a:prstGeom>
          <a:noFill/>
        </p:spPr>
        <p:txBody>
          <a:bodyPr wrap="square" anchor="t">
            <a:spAutoFit/>
          </a:bodyPr>
          <a:lstStyle/>
          <a:p>
            <a:pPr algn="l">
              <a:spcAft>
                <a:spcPts val="400"/>
              </a:spcAft>
            </a:pPr>
            <a:r>
              <a:rPr sz="3400" b="1">
                <a:solidFill>
                  <a:srgbClr val="161B26"/>
                </a:solidFill>
                <a:latin typeface="Arial"/>
              </a:rPr>
              <a:t>Machine Learning 101 for Financial Trading</a:t>
            </a:r>
          </a:p>
        </p:txBody>
      </p:sp>
      <p:sp>
        <p:nvSpPr>
          <p:cNvPr id="9" name="Rectangle 8"/>
          <p:cNvSpPr/>
          <p:nvPr/>
        </p:nvSpPr>
        <p:spPr>
          <a:xfrm>
            <a:off x="731520" y="3611880"/>
            <a:ext cx="20116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886200"/>
            <a:ext cx="10607040" cy="1371600"/>
          </a:xfrm>
          <a:prstGeom prst="rect">
            <a:avLst/>
          </a:prstGeom>
          <a:noFill/>
        </p:spPr>
        <p:txBody>
          <a:bodyPr wrap="square" anchor="t">
            <a:spAutoFit/>
          </a:bodyPr>
          <a:lstStyle/>
          <a:p>
            <a:pPr algn="l">
              <a:spcAft>
                <a:spcPts val="700"/>
              </a:spcAft>
            </a:pPr>
            <a:r>
              <a:rPr sz="1500" b="0">
                <a:solidFill>
                  <a:srgbClr val="5B6372"/>
                </a:solidFill>
                <a:latin typeface="Arial"/>
              </a:rPr>
              <a:t>FSE-DAT-3019-1.1  ·  Data Analytics and Computational Modelling  ·  Proficiency Level 3</a:t>
            </a:r>
          </a:p>
          <a:p>
            <a:pPr algn="l">
              <a:spcAft>
                <a:spcPts val="700"/>
              </a:spcAft>
            </a:pPr>
            <a:r>
              <a:rPr sz="1500" b="0">
                <a:solidFill>
                  <a:srgbClr val="5B6372"/>
                </a:solidFill>
                <a:latin typeface="Arial"/>
              </a:rPr>
              <a:t>Conducted by Tertiary Infotech Academy Pte Ltd  ·  UEN 201200696W</a:t>
            </a:r>
          </a:p>
          <a:p>
            <a:pPr algn="l">
              <a:spcAft>
                <a:spcPts val="700"/>
              </a:spcAft>
            </a:pPr>
            <a:r>
              <a:rPr sz="1400" b="1">
                <a:solidFill>
                  <a:srgbClr val="1F6FEB"/>
                </a:solidFill>
                <a:latin typeface="Arial"/>
              </a:rPr>
              <a:t>Version 2.0  ·  18 October 2026</a:t>
            </a:r>
          </a:p>
        </p:txBody>
      </p:sp>
      <p:sp>
        <p:nvSpPr>
          <p:cNvPr id="11" name="TextBox 10"/>
          <p:cNvSpPr txBox="1"/>
          <p:nvPr/>
        </p:nvSpPr>
        <p:spPr>
          <a:xfrm>
            <a:off x="731520" y="5943600"/>
            <a:ext cx="10607040" cy="365760"/>
          </a:xfrm>
          <a:prstGeom prst="rect">
            <a:avLst/>
          </a:prstGeom>
          <a:noFill/>
        </p:spPr>
        <p:txBody>
          <a:bodyPr wrap="square" anchor="t">
            <a:spAutoFit/>
          </a:bodyPr>
          <a:lstStyle/>
          <a:p>
            <a:pPr algn="l">
              <a:spcAft>
                <a:spcPts val="400"/>
              </a:spcAft>
            </a:pPr>
            <a:r>
              <a:rPr sz="1000" b="0">
                <a:solidFill>
                  <a:srgbClr val="5B6372"/>
                </a:solidFill>
                <a:latin typeface="Arial"/>
              </a:rPr>
              <a:t>© Tertiary Infotech Academy Pte Ltd. All rights reserved.  ·  www.tertiarycourses.com.sg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ATTENDANCE · IBF-STS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Attendance and IBF-STS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Sign in every session</a:t>
            </a:r>
          </a:p>
          <a:p>
            <a:pPr algn="l">
              <a:spcAft>
                <a:spcPts val="300"/>
              </a:spcAft>
            </a:pPr>
            <a:r>
              <a:rPr sz="1300" b="0">
                <a:solidFill>
                  <a:srgbClr val="5B6372"/>
                </a:solidFill>
                <a:latin typeface="Arial"/>
              </a:rPr>
              <a:t>Mark attendance at the start of each session and after lunch.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attendance</a:t>
            </a:r>
          </a:p>
          <a:p>
            <a:pPr algn="l">
              <a:spcAft>
                <a:spcPts val="300"/>
              </a:spcAft>
            </a:pPr>
            <a:r>
              <a:rPr sz="1300" b="0">
                <a:solidFill>
                  <a:srgbClr val="5B6372"/>
                </a:solidFill>
                <a:latin typeface="Arial"/>
              </a:rPr>
              <a:t>IBF-STS funding requires at least 75% attendance.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Pass the assessment</a:t>
            </a:r>
          </a:p>
          <a:p>
            <a:pPr algn="l">
              <a:spcAft>
                <a:spcPts val="300"/>
              </a:spcAft>
            </a:pPr>
            <a:r>
              <a:rPr sz="1300" b="0">
                <a:solidFill>
                  <a:srgbClr val="5B6372"/>
                </a:solidFill>
                <a:latin typeface="Arial"/>
              </a:rPr>
              <a:t>Funding also requires passing both assessment components.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 attendance</a:t>
            </a:r>
          </a:p>
          <a:p>
            <a:pPr algn="l">
              <a:spcAft>
                <a:spcPts val="300"/>
              </a:spcAft>
            </a:pPr>
            <a:r>
              <a:rPr sz="1300" b="0">
                <a:solidFill>
                  <a:srgbClr val="5B6372"/>
                </a:solidFill>
                <a:latin typeface="Arial"/>
              </a:rPr>
              <a:t>A separate record is signed before the assessment begins.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________________________</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this panel with your own details before delivery.</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Course Developer · Trainer · Assessor for this IBF-STS programme.</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Course Developer, Trainer and Assessor</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300" b="0">
                <a:solidFill>
                  <a:srgbClr val="161B26"/>
                </a:solidFill>
                <a:latin typeface="Arial"/>
              </a:rPr>
              <a:t>ACTA · DACE · PhD</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FINANCIAL SERVICES</a:t>
            </a:r>
          </a:p>
          <a:p>
            <a:pPr algn="l">
              <a:spcAft>
                <a:spcPts val="300"/>
              </a:spcAft>
            </a:pPr>
            <a:r>
              <a:rPr sz="1300" b="0">
                <a:solidFill>
                  <a:srgbClr val="161B26"/>
                </a:solidFill>
                <a:latin typeface="Arial"/>
              </a:rPr>
              <a:t>IBF-STS programmes in AI, algorithmic trading and fintech</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300" b="0">
                <a:solidFill>
                  <a:srgbClr val="161B26"/>
                </a:solidFill>
                <a:latin typeface="Arial"/>
              </a:rPr>
              <a:t>AI, machine learning and data programmes for financial institutions</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300" b="0">
                <a:solidFill>
                  <a:srgbClr val="161B26"/>
                </a:solidFill>
                <a:latin typeface="Arial"/>
              </a:rPr>
              <a:t>Tertiary Infotech Academy Pte Ltd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10515600" cy="4297680"/>
          </a:xfrm>
          <a:prstGeom prst="rect">
            <a:avLst/>
          </a:prstGeom>
          <a:noFill/>
        </p:spPr>
        <p:txBody>
          <a:bodyPr wrap="square">
            <a:spAutoFit/>
          </a:bodyPr>
          <a:lstStyle/>
          <a:p>
            <a:pPr>
              <a:spcAft>
                <a:spcPts val="1000"/>
              </a:spcAft>
            </a:pPr>
            <a:r>
              <a:rPr sz="1700">
                <a:solidFill>
                  <a:srgbClr val="161B26"/>
                </a:solidFill>
                <a:latin typeface="Arial"/>
              </a:rPr>
              <a:t>•  Your name, your institution and your role.</a:t>
            </a:r>
          </a:p>
          <a:p>
            <a:pPr>
              <a:spcAft>
                <a:spcPts val="1000"/>
              </a:spcAft>
            </a:pPr>
            <a:r>
              <a:rPr sz="1700">
                <a:solidFill>
                  <a:srgbClr val="161B26"/>
                </a:solidFill>
                <a:latin typeface="Arial"/>
              </a:rPr>
              <a:t>•  Do you trade, invest, analyse or build systems for markets today?</a:t>
            </a:r>
          </a:p>
          <a:p>
            <a:pPr>
              <a:spcAft>
                <a:spcPts val="1000"/>
              </a:spcAft>
            </a:pPr>
            <a:r>
              <a:rPr sz="1700">
                <a:solidFill>
                  <a:srgbClr val="161B26"/>
                </a:solidFill>
                <a:latin typeface="Arial"/>
              </a:rPr>
              <a:t>•  Have you used TradingView, a broker API or Python before?</a:t>
            </a:r>
          </a:p>
          <a:p>
            <a:pPr>
              <a:spcAft>
                <a:spcPts val="1000"/>
              </a:spcAft>
            </a:pPr>
            <a:r>
              <a:rPr sz="1700">
                <a:solidFill>
                  <a:srgbClr val="161B26"/>
                </a:solidFill>
                <a:latin typeface="Arial"/>
              </a:rPr>
              <a:t>•  One trading rule you believe works — we will test it this week.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Be on time</a:t>
            </a:r>
          </a:p>
          <a:p>
            <a:pPr algn="l">
              <a:spcAft>
                <a:spcPts val="300"/>
              </a:spcAft>
            </a:pPr>
            <a:r>
              <a:rPr sz="1300" b="0">
                <a:solidFill>
                  <a:srgbClr val="5B6372"/>
                </a:solidFill>
                <a:latin typeface="Arial"/>
              </a:rPr>
              <a:t>Sessions restart promptly after each break.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Phones on silent</a:t>
            </a:r>
          </a:p>
          <a:p>
            <a:pPr algn="l">
              <a:spcAft>
                <a:spcPts val="300"/>
              </a:spcAft>
            </a:pPr>
            <a:r>
              <a:rPr sz="1300" b="0">
                <a:solidFill>
                  <a:srgbClr val="5B6372"/>
                </a:solidFill>
                <a:latin typeface="Arial"/>
              </a:rPr>
              <a:t>Take calls outside the room.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as we go</a:t>
            </a:r>
          </a:p>
          <a:p>
            <a:pPr algn="l">
              <a:spcAft>
                <a:spcPts val="300"/>
              </a:spcAft>
            </a:pPr>
            <a:r>
              <a:rPr sz="1300" b="0">
                <a:solidFill>
                  <a:srgbClr val="5B6372"/>
                </a:solidFill>
                <a:latin typeface="Arial"/>
              </a:rPr>
              <a:t>Questions are welcome at any point.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Hands on the keyboard</a:t>
            </a:r>
          </a:p>
          <a:p>
            <a:pPr algn="l">
              <a:spcAft>
                <a:spcPts val="300"/>
              </a:spcAft>
            </a:pPr>
            <a:r>
              <a:rPr sz="1300" b="0">
                <a:solidFill>
                  <a:srgbClr val="5B6372"/>
                </a:solidFill>
                <a:latin typeface="Arial"/>
              </a:rPr>
              <a:t>Twenty labs — follow along on your own laptop.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Paper trading only</a:t>
            </a:r>
          </a:p>
          <a:p>
            <a:pPr algn="l">
              <a:spcAft>
                <a:spcPts val="300"/>
              </a:spcAft>
            </a:pPr>
            <a:r>
              <a:rPr sz="1300" b="0">
                <a:solidFill>
                  <a:srgbClr val="5B6372"/>
                </a:solidFill>
                <a:latin typeface="Arial"/>
              </a:rPr>
              <a:t>No real money is used anywhere in this course.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Lion City Capital and all scenarios are fictitious.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You'll Achieve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LO1  ·  A1, A6</a:t>
            </a:r>
          </a:p>
          <a:p>
            <a:pPr algn="l">
              <a:spcAft>
                <a:spcPts val="300"/>
              </a:spcAft>
            </a:pPr>
            <a:r>
              <a:rPr sz="1000" b="0">
                <a:solidFill>
                  <a:srgbClr val="5B6372"/>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LO2  ·  A2, A3</a:t>
            </a:r>
          </a:p>
          <a:p>
            <a:pPr algn="l">
              <a:spcAft>
                <a:spcPts val="300"/>
              </a:spcAft>
            </a:pPr>
            <a:r>
              <a:rPr sz="1000" b="0">
                <a:solidFill>
                  <a:srgbClr val="5B6372"/>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LO3  ·  A4, A5</a:t>
            </a:r>
          </a:p>
          <a:p>
            <a:pPr algn="l">
              <a:spcAft>
                <a:spcPts val="300"/>
              </a:spcAft>
            </a:pPr>
            <a:r>
              <a:rPr sz="1000" b="0">
                <a:solidFill>
                  <a:srgbClr val="5B6372"/>
                </a:solidFill>
                <a:latin typeface="Arial"/>
              </a:rPr>
              <a:t>Conduct statistical modelling of market data with machine learning models to derive patterns and solutions, and perform A/B testing of trading strategies based on different hypotheses.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LO4  ·  A7, A8, A9, A10</a:t>
            </a:r>
          </a:p>
          <a:p>
            <a:pPr algn="l">
              <a:spcAft>
                <a:spcPts val="300"/>
              </a:spcAft>
            </a:pPr>
            <a:r>
              <a:rPr sz="1000" b="0">
                <a:solidFill>
                  <a:srgbClr val="5B6372"/>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Course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1 — Quant and Algo Trading Foundations</a:t>
            </a:r>
          </a:p>
          <a:p>
            <a:pPr algn="l">
              <a:spcAft>
                <a:spcPts val="300"/>
              </a:spcAft>
            </a:pPr>
            <a:r>
              <a:rPr sz="1100" b="0">
                <a:solidFill>
                  <a:srgbClr val="5B6372"/>
                </a:solidFill>
                <a:latin typeface="Arial"/>
              </a:rPr>
              <a:t>Day 1  ·  Labs 1–4  ·  A1, A6, K1, K9  ·  Foundations of Quant and Algorithmic Trading: From Thorp to AI Agents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2 — Indicators, Strategies and Metrics</a:t>
            </a:r>
          </a:p>
          <a:p>
            <a:pPr algn="l">
              <a:spcAft>
                <a:spcPts val="300"/>
              </a:spcAft>
            </a:pPr>
            <a:r>
              <a:rPr sz="1100" b="0">
                <a:solidFill>
                  <a:srgbClr val="5B6372"/>
                </a:solidFill>
                <a:latin typeface="Arial"/>
              </a:rPr>
              <a:t>Day 1  ·  Labs 5–9  ·  A2, A3, K3, K5, K7  ·  Technical Indicators, Trading Strategies and Metrics with TradingView and Alpaca</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3 — ML Models and A/B Testing</a:t>
            </a:r>
          </a:p>
          <a:p>
            <a:pPr algn="l">
              <a:spcAft>
                <a:spcPts val="300"/>
              </a:spcAft>
            </a:pPr>
            <a:r>
              <a:rPr sz="1100" b="0">
                <a:solidFill>
                  <a:srgbClr val="5B6372"/>
                </a:solidFill>
                <a:latin typeface="Arial"/>
              </a:rPr>
              <a:t>Day 2  ·  Labs 10–14  ·  A4, A5, K2, K4, K6  ·  Machine Learning Models, Statistical Modelling and A/B Testing for Trading Signals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4 — End-to-End Trading Pipeline</a:t>
            </a:r>
          </a:p>
          <a:p>
            <a:pPr algn="l">
              <a:spcAft>
                <a:spcPts val="300"/>
              </a:spcAft>
            </a:pPr>
            <a:r>
              <a:rPr sz="1100" b="0">
                <a:solidFill>
                  <a:srgbClr val="5B6372"/>
                </a:solidFill>
                <a:latin typeface="Arial"/>
              </a:rPr>
              <a:t>Day 2  ·  Labs 15–20  ·  A7, A8, A9, A10, K7, K8  ·  Building an End-to-End Algorithmic Trading Pipeline: Backtest, Forward Test and Performance Analysis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 · HOW THIS COURSE WORKS</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AI writes the code. You own the algorithm.</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In this course the code is written by AI - AI coding assistants and the simulator software do the programming. What matters is the big concepts: the hypothesis, how each algorithm makes its decision, how it is tested without bias and with costs, how risk is controlled, and how the results are judged.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Role versus the AI's Role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hypothesis</a:t>
            </a:r>
          </a:p>
          <a:p>
            <a:pPr algn="l">
              <a:spcAft>
                <a:spcPts val="300"/>
              </a:spcAft>
            </a:pPr>
            <a:r>
              <a:rPr sz="1050" b="0">
                <a:solidFill>
                  <a:srgbClr val="5B6372"/>
                </a:solidFill>
                <a:latin typeface="Arial"/>
              </a:rPr>
              <a:t>What edge do you expect, why, and how will you know it is real?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algorithm's logic</a:t>
            </a:r>
          </a:p>
          <a:p>
            <a:pPr algn="l">
              <a:spcAft>
                <a:spcPts val="300"/>
              </a:spcAft>
            </a:pPr>
            <a:r>
              <a:rPr sz="1050" b="0">
                <a:solidFill>
                  <a:srgbClr val="5B6372"/>
                </a:solidFill>
                <a:latin typeface="Arial"/>
              </a:rPr>
              <a:t>The rule or model, its inputs, and when it buys or sells.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testing and judgement</a:t>
            </a:r>
          </a:p>
          <a:p>
            <a:pPr algn="l">
              <a:spcAft>
                <a:spcPts val="300"/>
              </a:spcAft>
            </a:pPr>
            <a:r>
              <a:rPr sz="1050" b="0">
                <a:solidFill>
                  <a:srgbClr val="5B6372"/>
                </a:solidFill>
                <a:latin typeface="Arial"/>
              </a:rPr>
              <a:t>Out-of-sample, next-bar, net of costs; read the metrics.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risk and accountability</a:t>
            </a:r>
          </a:p>
          <a:p>
            <a:pPr algn="l">
              <a:spcAft>
                <a:spcPts val="300"/>
              </a:spcAft>
            </a:pPr>
            <a:r>
              <a:rPr sz="1050" b="0">
                <a:solidFill>
                  <a:srgbClr val="5B6372"/>
                </a:solidFill>
                <a:latin typeface="Arial"/>
              </a:rPr>
              <a:t>Limits, kill switch, approval - you answer for every trade.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AI</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AI's job: the code</a:t>
            </a:r>
          </a:p>
          <a:p>
            <a:pPr algn="l">
              <a:spcAft>
                <a:spcPts val="300"/>
              </a:spcAft>
            </a:pPr>
            <a:r>
              <a:rPr sz="1050" b="0">
                <a:solidFill>
                  <a:srgbClr val="5B6372"/>
                </a:solidFill>
                <a:latin typeface="Arial"/>
              </a:rPr>
              <a:t>AI assistants and the simulator write, run and fix the Python and Pine.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AI</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AI's job: the drudgery</a:t>
            </a:r>
          </a:p>
          <a:p>
            <a:pPr algn="l">
              <a:spcAft>
                <a:spcPts val="300"/>
              </a:spcAft>
            </a:pPr>
            <a:r>
              <a:rPr sz="1050" b="0">
                <a:solidFill>
                  <a:srgbClr val="5B6372"/>
                </a:solidFill>
                <a:latin typeface="Arial"/>
              </a:rPr>
              <a:t>Data plumbing, charts, reports - you review what it produces.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6-10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A7</a:t>
            </a:r>
          </a:p>
          <a:p>
            <a:pPr algn="l">
              <a:spcAft>
                <a:spcPts val="300"/>
              </a:spcAft>
            </a:pPr>
            <a:r>
              <a:rPr sz="1000" b="0">
                <a:solidFill>
                  <a:srgbClr val="5B6372"/>
                </a:solidFill>
                <a:latin typeface="Arial"/>
              </a:rPr>
              <a:t>Perform coding and configuration of software agents or programs based on selected models or algorithms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A8</a:t>
            </a:r>
          </a:p>
          <a:p>
            <a:pPr algn="l">
              <a:spcAft>
                <a:spcPts val="300"/>
              </a:spcAft>
            </a:pPr>
            <a:r>
              <a:rPr sz="1000" b="0">
                <a:solidFill>
                  <a:srgbClr val="5B6372"/>
                </a:solidFill>
                <a:latin typeface="Arial"/>
              </a:rPr>
              <a:t>Conduct tests on the actions taken and outcomes to assess effectiveness of the models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A9</a:t>
            </a:r>
          </a:p>
          <a:p>
            <a:pPr algn="l">
              <a:spcAft>
                <a:spcPts val="300"/>
              </a:spcAft>
            </a:pPr>
            <a:r>
              <a:rPr sz="1000" b="0">
                <a:solidFill>
                  <a:srgbClr val="5B6372"/>
                </a:solidFill>
                <a:latin typeface="Arial"/>
              </a:rPr>
              <a:t>Diagnose unintended outcomes produced by statistical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A10</a:t>
            </a:r>
          </a:p>
          <a:p>
            <a:pPr algn="l">
              <a:spcAft>
                <a:spcPts val="300"/>
              </a:spcAft>
            </a:pPr>
            <a:r>
              <a:rPr sz="1000" b="0">
                <a:solidFill>
                  <a:srgbClr val="5B6372"/>
                </a:solidFill>
                <a:latin typeface="Arial"/>
              </a:rPr>
              <a:t>Draw relevant trends and insights from data analysis to support decisions and report accordingly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6-9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K8</a:t>
            </a:r>
          </a:p>
          <a:p>
            <a:pPr algn="l">
              <a:spcAft>
                <a:spcPts val="300"/>
              </a:spcAft>
            </a:pPr>
            <a:r>
              <a:rPr sz="1000" b="0">
                <a:solidFill>
                  <a:srgbClr val="5B6372"/>
                </a:solidFill>
                <a:latin typeface="Arial"/>
              </a:rPr>
              <a:t>Potential reasons for unintended outcomes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09:00 - 09:30</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Course Overview, Trainer Introduction and Ground Rules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09:30 - 10:45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T1.1-1.3 History of AI, AI Agents versus Agentic AI, and the History of Algorithmic Trading</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K1, K9</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10:45 - 11:00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11:00 - 11:30</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T1.4-1.5 Forms of Financial Data, Big Data Applications and Trading Hypotheses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 K9</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11:30 - 11:50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1: Pipeline Skeleton, Configuration and the Alpaca Paper Account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K5</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11:50 - 12:10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2: Data-Validation Stage: Cross-Check Pipeline Bars against TradingView</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K9</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12:10 - 12:30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3: Ingestion Stage: Multi-Timeframe Bars, Headlines and Data Quality</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A6, K9</a:t>
            </a:r>
          </a:p>
        </p:txBody>
      </p:sp>
      <p:sp>
        <p:nvSpPr>
          <p:cNvPr id="28" name="Rectangle 27"/>
          <p:cNvSpPr/>
          <p:nvPr/>
        </p:nvSpPr>
        <p:spPr>
          <a:xfrm>
            <a:off x="777240" y="470001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70001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30" name="TextBox 29"/>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13:30 - 13:45</a:t>
            </a:r>
          </a:p>
        </p:txBody>
      </p:sp>
      <p:sp>
        <p:nvSpPr>
          <p:cNvPr id="31" name="TextBox 30"/>
          <p:cNvSpPr txBox="1"/>
          <p:nvPr/>
        </p:nvSpPr>
        <p:spPr>
          <a:xfrm>
            <a:off x="2377440" y="508406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4: Hypothesis Stage: from a Written Card to an Automated Statistical Test</a:t>
            </a:r>
          </a:p>
        </p:txBody>
      </p:sp>
      <p:sp>
        <p:nvSpPr>
          <p:cNvPr id="32" name="TextBox 31"/>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a:t>
            </a:r>
          </a:p>
        </p:txBody>
      </p:sp>
      <p:sp>
        <p:nvSpPr>
          <p:cNvPr id="33" name="TextBox 32"/>
          <p:cNvSpPr txBox="1"/>
          <p:nvPr/>
        </p:nvSpPr>
        <p:spPr>
          <a:xfrm>
            <a:off x="822960" y="546811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13:45 - 14:30</a:t>
            </a:r>
          </a:p>
        </p:txBody>
      </p:sp>
      <p:sp>
        <p:nvSpPr>
          <p:cNvPr id="34" name="TextBox 33"/>
          <p:cNvSpPr txBox="1"/>
          <p:nvPr/>
        </p:nvSpPr>
        <p:spPr>
          <a:xfrm>
            <a:off x="2377440" y="546811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T2.1-2.2 Technical Indicators and Standard Algorithmic Trading Strategies</a:t>
            </a:r>
          </a:p>
        </p:txBody>
      </p:sp>
      <p:sp>
        <p:nvSpPr>
          <p:cNvPr id="35" name="TextBox 34"/>
          <p:cNvSpPr txBox="1"/>
          <p:nvPr/>
        </p:nvSpPr>
        <p:spPr>
          <a:xfrm>
            <a:off x="10287000" y="546811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14:30 - 14:55</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5: Indicator Stage: Pine Script v6 Indicators and their Python Twins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 K7</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14:55 - 15:25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6: Strategy Prototype: TradingView Strategy Tester, Paper Trading from the Chart and Pipeline Reconciliation</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A3, K3, K7</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15:25 - 15:40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15:40 - 16:05</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7: Signal Stage: a Library of Trend, Mean-Reversion, Momentum and Breakout Signals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 K7</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16:05 - 16:50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T2.3-2.4 Analytics Platforms, Coding Languages and Order Placement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K7</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16:50 - 17:20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8: Execution Stage: an Order Manager that Trades the Paper Account in Any Session</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17:20 - 17:50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T2.5 Performance and Risk Metric Definitions</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28" name="TextBox 27"/>
          <p:cNvSpPr txBox="1"/>
          <p:nvPr/>
        </p:nvSpPr>
        <p:spPr>
          <a:xfrm>
            <a:off x="822960" y="470001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17:50 - 18:15</a:t>
            </a:r>
          </a:p>
        </p:txBody>
      </p:sp>
      <p:sp>
        <p:nvSpPr>
          <p:cNvPr id="29" name="TextBox 28"/>
          <p:cNvSpPr txBox="1"/>
          <p:nvPr/>
        </p:nvSpPr>
        <p:spPr>
          <a:xfrm>
            <a:off x="2377440" y="4700016"/>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9: Evaluation Stage: Performance and Risk Metrics with a Benchmark Table</a:t>
            </a:r>
          </a:p>
        </p:txBody>
      </p:sp>
      <p:sp>
        <p:nvSpPr>
          <p:cNvPr id="30" name="TextBox 29"/>
          <p:cNvSpPr txBox="1"/>
          <p:nvPr/>
        </p:nvSpPr>
        <p:spPr>
          <a:xfrm>
            <a:off x="10287000" y="470001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31" name="TextBox 30"/>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18:15 - 18:30</a:t>
            </a:r>
          </a:p>
        </p:txBody>
      </p:sp>
      <p:sp>
        <p:nvSpPr>
          <p:cNvPr id="32" name="TextBox 31"/>
          <p:cNvSpPr txBox="1"/>
          <p:nvPr/>
        </p:nvSpPr>
        <p:spPr>
          <a:xfrm>
            <a:off x="2377440" y="508406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Day 1 Recap and Q&amp;A</a:t>
            </a:r>
          </a:p>
        </p:txBody>
      </p:sp>
      <p:sp>
        <p:nvSpPr>
          <p:cNvPr id="33" name="TextBox 32"/>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09:00 - 09:15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Day 1 Recap and Day 2 Overview</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09:15 - 09:40</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T3.1-3.2 Statistical Analyses, Algorithms and Supervised Learning Models</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K2, K4</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09:40 - 10:00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10: Strategy-Search Stage: Grid Search, Out-of-Sample Ranking and Decay</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A2, A4, K2</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10:00 - 10:20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11: ML-Signal Stage: a Walk-Forward Classifier from Probability to Position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0" name="Rectangle 19"/>
          <p:cNvSpPr/>
          <p:nvPr/>
        </p:nvSpPr>
        <p:spPr>
          <a:xfrm>
            <a:off x="777240" y="339852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339852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10:20 - 10:35      Tea Break</a:t>
            </a:r>
          </a:p>
        </p:txBody>
      </p:sp>
      <p:sp>
        <p:nvSpPr>
          <p:cNvPr id="22" name="TextBox 21"/>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10:35 - 10:55</a:t>
            </a:r>
          </a:p>
        </p:txBody>
      </p:sp>
      <p:sp>
        <p:nvSpPr>
          <p:cNvPr id="23" name="TextBox 22"/>
          <p:cNvSpPr txBox="1"/>
          <p:nvPr/>
        </p:nvSpPr>
        <p:spPr>
          <a:xfrm>
            <a:off x="2377440" y="374523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T3.3-3.4 Unsupervised Learning and Statistical Modelling Techniques</a:t>
            </a:r>
          </a:p>
        </p:txBody>
      </p:sp>
      <p:sp>
        <p:nvSpPr>
          <p:cNvPr id="24" name="TextBox 23"/>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5" name="TextBox 24"/>
          <p:cNvSpPr txBox="1"/>
          <p:nvPr/>
        </p:nvSpPr>
        <p:spPr>
          <a:xfrm>
            <a:off x="822960" y="4091939"/>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10:55 - 11:10</a:t>
            </a:r>
          </a:p>
        </p:txBody>
      </p:sp>
      <p:sp>
        <p:nvSpPr>
          <p:cNvPr id="26" name="TextBox 25"/>
          <p:cNvSpPr txBox="1"/>
          <p:nvPr/>
        </p:nvSpPr>
        <p:spPr>
          <a:xfrm>
            <a:off x="2377440" y="4091939"/>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12: Regime-Filter Stage: PCA and K-Means as a Gate on the Signals</a:t>
            </a:r>
          </a:p>
        </p:txBody>
      </p:sp>
      <p:sp>
        <p:nvSpPr>
          <p:cNvPr id="27" name="TextBox 26"/>
          <p:cNvSpPr txBox="1"/>
          <p:nvPr/>
        </p:nvSpPr>
        <p:spPr>
          <a:xfrm>
            <a:off x="10287000" y="4091939"/>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11:10 - 11:25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T3.5-3.6 A/B Testing, and Pairs Trading as a Hedging Algorithm</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A5, K2, K6</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11:25 - 11:40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13: A/B-Test Stage: a Statistical Decision before Capital Moves</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A5, K2</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11:40 - 12:00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14: Pairs Stage: a Hedged, Market-Neutral Statistical-Arbitrage Sleeve</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K6</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12:00 - 12:30</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T4.1-4.2 Pipeline Architecture and Backtesting with Trading Costs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40" name="Rectangle 39"/>
          <p:cNvSpPr/>
          <p:nvPr/>
        </p:nvSpPr>
        <p:spPr>
          <a:xfrm>
            <a:off x="777240" y="582549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582549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13:30 - 13:55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15: Backtest-Engine Stage: Cost Models, Execution Timing and Break-Even</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13:55 - 14:05</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T4.3 Forward Testing with Automated Paper Trading</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14:05 - 14:30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16: Automation Stage: a Scheduled, Risk-Checked Forward Test and Live Paper Trading</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14:30 - 14:50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17: Event-Driven Automation: TradingView Webhook to Signal, Risk and Execution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K5, K7</a:t>
            </a:r>
          </a:p>
        </p:txBody>
      </p:sp>
      <p:sp>
        <p:nvSpPr>
          <p:cNvPr id="20" name="TextBox 19"/>
          <p:cNvSpPr txBox="1"/>
          <p:nvPr/>
        </p:nvSpPr>
        <p:spPr>
          <a:xfrm>
            <a:off x="822960" y="339852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14:50 - 15:00</a:t>
            </a:r>
          </a:p>
        </p:txBody>
      </p:sp>
      <p:sp>
        <p:nvSpPr>
          <p:cNvPr id="21" name="TextBox 20"/>
          <p:cNvSpPr txBox="1"/>
          <p:nvPr/>
        </p:nvSpPr>
        <p:spPr>
          <a:xfrm>
            <a:off x="2377440" y="339852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T4.4 Potential Reasons for Unintended Outcomes</a:t>
            </a:r>
          </a:p>
        </p:txBody>
      </p:sp>
      <p:sp>
        <p:nvSpPr>
          <p:cNvPr id="22" name="TextBox 21"/>
          <p:cNvSpPr txBox="1"/>
          <p:nvPr/>
        </p:nvSpPr>
        <p:spPr>
          <a:xfrm>
            <a:off x="10287000" y="339852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3" name="TextBox 22"/>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15:00 - 15:20</a:t>
            </a:r>
          </a:p>
        </p:txBody>
      </p:sp>
      <p:sp>
        <p:nvSpPr>
          <p:cNvPr id="24" name="TextBox 23"/>
          <p:cNvSpPr txBox="1"/>
          <p:nvPr/>
        </p:nvSpPr>
        <p:spPr>
          <a:xfrm>
            <a:off x="2377440" y="374523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18: Diagnostics Stage: Automated Bias Checks before Go-Live</a:t>
            </a:r>
          </a:p>
        </p:txBody>
      </p:sp>
      <p:sp>
        <p:nvSpPr>
          <p:cNvPr id="25" name="TextBox 24"/>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6" name="Rectangle 25"/>
          <p:cNvSpPr/>
          <p:nvPr/>
        </p:nvSpPr>
        <p:spPr>
          <a:xfrm>
            <a:off x="777240" y="4091939"/>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091939"/>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15:20 - 15:35      Tea Break</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15:35 - 15:45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T4.5 Performance Analysis, Insights and Reporting</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A10</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15:45 - 16:10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19: Monitoring and Reporting Stage: Automated Tearsheet and Backtest-vs-Forward Report</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A8, A10</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16:10 - 16:30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20: Capstone: One Command Runs the Pipeline End to End, with an Agentic Layer and Human Approval</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A10, K1</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16:30 - 17:15</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Written Assessment (Short Answer Questions)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K1 - K9</a:t>
            </a:r>
          </a:p>
        </p:txBody>
      </p:sp>
      <p:sp>
        <p:nvSpPr>
          <p:cNvPr id="40" name="TextBox 39"/>
          <p:cNvSpPr txBox="1"/>
          <p:nvPr/>
        </p:nvSpPr>
        <p:spPr>
          <a:xfrm>
            <a:off x="822960" y="58254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17:15 - 18:30</a:t>
            </a:r>
          </a:p>
        </p:txBody>
      </p:sp>
      <p:sp>
        <p:nvSpPr>
          <p:cNvPr id="41" name="TextBox 40"/>
          <p:cNvSpPr txBox="1"/>
          <p:nvPr/>
        </p:nvSpPr>
        <p:spPr>
          <a:xfrm>
            <a:off x="2377440" y="582549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Practical Performance Assessment</a:t>
            </a:r>
          </a:p>
        </p:txBody>
      </p:sp>
      <p:sp>
        <p:nvSpPr>
          <p:cNvPr id="42" name="TextBox 41"/>
          <p:cNvSpPr txBox="1"/>
          <p:nvPr/>
        </p:nvSpPr>
        <p:spPr>
          <a:xfrm>
            <a:off x="10287000" y="58254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A1 - A10</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Open book</a:t>
            </a:r>
          </a:p>
          <a:p>
            <a:pPr algn="l">
              <a:spcAft>
                <a:spcPts val="300"/>
              </a:spcAft>
            </a:pPr>
            <a:r>
              <a:rPr sz="1300" b="0">
                <a:solidFill>
                  <a:srgbClr val="5B6372"/>
                </a:solidFill>
                <a:latin typeface="Arial"/>
              </a:rPr>
              <a:t>You may use your Learner Guide, lab code and your own notes.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Two components</a:t>
            </a:r>
          </a:p>
          <a:p>
            <a:pPr algn="l">
              <a:spcAft>
                <a:spcPts val="300"/>
              </a:spcAft>
            </a:pPr>
            <a:r>
              <a:rPr sz="1300" b="0">
                <a:solidFill>
                  <a:srgbClr val="5B6372"/>
                </a:solidFill>
                <a:latin typeface="Arial"/>
              </a:rPr>
              <a:t>Written Assessment (45 min) and Practical Performance (75 min).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Both must be passed</a:t>
            </a:r>
          </a:p>
          <a:p>
            <a:pPr algn="l">
              <a:spcAft>
                <a:spcPts val="300"/>
              </a:spcAft>
            </a:pPr>
            <a:r>
              <a:rPr sz="1300" b="0">
                <a:solidFill>
                  <a:srgbClr val="5B6372"/>
                </a:solidFill>
                <a:latin typeface="Arial"/>
              </a:rPr>
              <a:t>Competent in BOTH is required to be awarded the module.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All your own work</a:t>
            </a:r>
          </a:p>
          <a:p>
            <a:pPr algn="l">
              <a:spcAft>
                <a:spcPts val="300"/>
              </a:spcAft>
            </a:pPr>
            <a:r>
              <a:rPr sz="1300" b="0">
                <a:solidFill>
                  <a:srgbClr val="5B6372"/>
                </a:solidFill>
                <a:latin typeface="Arial"/>
              </a:rPr>
              <a:t>Collaboration results in a Not Yet Competent outcome.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if unclear</a:t>
            </a:r>
          </a:p>
          <a:p>
            <a:pPr algn="l">
              <a:spcAft>
                <a:spcPts val="300"/>
              </a:spcAft>
            </a:pPr>
            <a:r>
              <a:rPr sz="1300" b="0">
                <a:solidFill>
                  <a:srgbClr val="5B6372"/>
                </a:solidFill>
                <a:latin typeface="Arial"/>
              </a:rPr>
              <a:t>The assessor can explain a question, but not how to answer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Yet Competent?</a:t>
            </a:r>
          </a:p>
          <a:p>
            <a:pPr algn="l">
              <a:spcAft>
                <a:spcPts val="300"/>
              </a:spcAft>
            </a:pPr>
            <a:r>
              <a:rPr sz="1300" b="0">
                <a:solidFill>
                  <a:srgbClr val="5B6372"/>
                </a:solidFill>
                <a:latin typeface="Arial"/>
              </a:rPr>
              <a:t>You will be counselled on the gaps and offered a re-assessment.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Short Answer Questions · 45 minutes · open book.
9 open-ended questions — one for each knowledge statement K1 - K9.
No multiple-choice questions.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Python + Alpaca paper trading · 75 minutes · open book.
4 practical tasks covering ability statements A1 - A10.
A new trading scenario, using the same pipeline tool-kit as the labs.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Both components are open book. You must be Competent in BOTH to be awarded the module.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GETTING STARTED</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Set Up Alpaca and TradingView</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Create the free accounts and the Python environment every lab uses. Everything runs on paper — no real money at any point.</a:t>
            </a:r>
          </a:p>
        </p:txBody>
      </p:sp>
      <p:sp>
        <p:nvSpPr>
          <p:cNvPr id="9" name="TextBox 8"/>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Download the Course Materials: Learner Guide, Slides and Lab Manual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in at lms-tms.tertiaryinfotech.com</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Download Learner Guide + Learner Slides PDFs</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Activities / Lab: download the labs folder (lab manuals)</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Or GitHub: Code &gt; Download ZIP</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Unzip into one course folder</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Each lab folder has its own LabNN_Instructions.pdf - the step-by-step lab manual.</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Download, Install and Start the Trading Simulator Software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Install Git, Python 3.11+ and uv (or Docker)</a:t>
            </a:r>
          </a:p>
        </p:txBody>
      </p:sp>
      <p:sp>
        <p:nvSpPr>
          <p:cNvPr id="13" name="TextBox 12"/>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git clone the simulator - or Download ZIP</a:t>
            </a:r>
          </a:p>
        </p:txBody>
      </p:sp>
      <p:sp>
        <p:nvSpPr>
          <p:cNvPr id="19" name="TextBox 18"/>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Copy .env.example to .env</a:t>
            </a:r>
          </a:p>
        </p:txBody>
      </p:sp>
      <p:sp>
        <p:nvSpPr>
          <p:cNvPr id="25" name="TextBox 24"/>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uv sync &gt; uv run trader seed &gt; uv run trader serve</a:t>
            </a:r>
          </a:p>
        </p:txBody>
      </p:sp>
      <p:sp>
        <p:nvSpPr>
          <p:cNvPr id="31" name="TextBox 30"/>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Or: docker compose up -d --build</a:t>
            </a:r>
          </a:p>
        </p:txBody>
      </p:sp>
      <p:sp>
        <p:nvSpPr>
          <p:cNvPr id="37" name="TextBox 36"/>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8" name="Rectangle 37"/>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2" name="TextBox 41"/>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Open http://localhost:8000 &gt; Course Labs</a:t>
            </a:r>
          </a:p>
        </p:txBody>
      </p:sp>
      <p:sp>
        <p:nvSpPr>
          <p:cNvPr id="43" name="Rectangle 4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Simulator: github.com/alfredang/algorithmic-trader-bot - the README has the full start-up steps and troubleshooting.</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Alpaca and Open the Paper-Trading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alpaca.markets and verify your email</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Log in; choose 'Paper Trading' (upper left)</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API section: generate key - copy the secret once</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Paste keys into labs/.env</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Run python -m pipeline check - must say ONLINE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No funding needed. Paper keys only work on paper-api.alpaca.markets. No account? Every lab also runs offline.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TradingView and Find the Tools You Will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tradingview.com (email, Google or Apple)</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Keep the free plan</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Products &gt; Supercharts; search NASDAQ:AAPL or SGX:D05</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Set time zone to Singapore</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Find Indicators, Pine Editor, Strategy Tester, Trade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free plan covers Labs 2, 5 and 6. Webhook alerts in Lab 17 need a paid plan - the lab includes a local simulator.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PLATFORM · THE IDEA THAT MATTERS MOST</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Paper first. Always.</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strategy in this course is tested on history, then forward-tested on a paper account with automatic orders, before anyone would consider real capital. That discipline is the course.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TOPIC 1</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Quant and Algo Trading Foundations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A1, A6  ·  Knowledge K1, K9   ·   Day 1   ·   Labs 1–4   ·   Assessed by PP Task 1 and WA Q1, Q9</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 Success Stories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Ed Thorp - Princeton Newport  ·  1969</a:t>
            </a:r>
          </a:p>
          <a:p>
            <a:pPr algn="l">
              <a:spcAft>
                <a:spcPts val="300"/>
              </a:spcAft>
            </a:pPr>
            <a:r>
              <a:rPr sz="1000" b="0">
                <a:solidFill>
                  <a:srgbClr val="5B6372"/>
                </a:solidFill>
                <a:latin typeface="Arial"/>
              </a:rPr>
              <a:t>First market-neutral quant fund: about 20% a year after fees for two decades by hedging warrants and convertibles</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Renaissance - Medallion  ·  1988</a:t>
            </a:r>
          </a:p>
          <a:p>
            <a:pPr algn="l">
              <a:spcAft>
                <a:spcPts val="300"/>
              </a:spcAft>
            </a:pPr>
            <a:r>
              <a:rPr sz="1000" b="0">
                <a:solidFill>
                  <a:srgbClr val="5B6372"/>
                </a:solidFill>
                <a:latin typeface="Arial"/>
              </a:rPr>
              <a:t>Purely model-driven; about 66% a year before fees, 39% after (1988-2018); closed to outsiders, employee-owned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D.E. Shaw  ·  1988</a:t>
            </a:r>
          </a:p>
          <a:p>
            <a:pPr algn="l">
              <a:spcAft>
                <a:spcPts val="300"/>
              </a:spcAft>
            </a:pPr>
            <a:r>
              <a:rPr sz="1000" b="0">
                <a:solidFill>
                  <a:srgbClr val="5B6372"/>
                </a:solidFill>
                <a:latin typeface="Arial"/>
              </a:rPr>
              <a:t>Founded by a computer-science professor from Morgan Stanley's quant group; models and software; about US$60-65bn</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Man AHL  ·  1987</a:t>
            </a:r>
          </a:p>
          <a:p>
            <a:pPr algn="l">
              <a:spcAft>
                <a:spcPts val="300"/>
              </a:spcAft>
            </a:pPr>
            <a:r>
              <a:rPr sz="1000" b="0">
                <a:solidFill>
                  <a:srgbClr val="5B6372"/>
                </a:solidFill>
                <a:latin typeface="Arial"/>
              </a:rPr>
              <a:t>Systematic trend following from hand-typed price histories to momentum models across 800+ markets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Two Sigma  ·  2001</a:t>
            </a:r>
          </a:p>
          <a:p>
            <a:pPr algn="l">
              <a:spcAft>
                <a:spcPts val="300"/>
              </a:spcAft>
            </a:pPr>
            <a:r>
              <a:rPr sz="1000" b="0">
                <a:solidFill>
                  <a:srgbClr val="5B6372"/>
                </a:solidFill>
                <a:latin typeface="Arial"/>
              </a:rPr>
              <a:t>AI, machine learning and distributed computing applied to trading; about US$70bn under management</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Jane Street  ·  2024</a:t>
            </a:r>
          </a:p>
          <a:p>
            <a:pPr algn="l">
              <a:spcAft>
                <a:spcPts val="300"/>
              </a:spcAft>
            </a:pPr>
            <a:r>
              <a:rPr sz="1000" b="0">
                <a:solidFill>
                  <a:srgbClr val="5B6372"/>
                </a:solidFill>
                <a:latin typeface="Arial"/>
              </a:rPr>
              <a:t>Quant market maker: about US$20.5bn net trading revenue; nearly a quarter of primary US ETF activity</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Spotlight: Renaissance Technologies and the Medallion Fund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Founded by a mathematician</a:t>
            </a:r>
          </a:p>
          <a:p>
            <a:pPr algn="l">
              <a:spcAft>
                <a:spcPts val="300"/>
              </a:spcAft>
            </a:pPr>
            <a:r>
              <a:rPr sz="1100" b="0">
                <a:solidFill>
                  <a:srgbClr val="5B6372"/>
                </a:solidFill>
                <a:latin typeface="Arial"/>
              </a:rPr>
              <a:t>Jim Simons founds Monemetrics in 1978; renamed Renaissance Technologies in 1982</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Medallion fund, 1988</a:t>
            </a:r>
          </a:p>
          <a:p>
            <a:pPr algn="l">
              <a:spcAft>
                <a:spcPts val="300"/>
              </a:spcAft>
            </a:pPr>
            <a:r>
              <a:rPr sz="1100" b="0">
                <a:solidFill>
                  <a:srgbClr val="5B6372"/>
                </a:solidFill>
                <a:latin typeface="Arial"/>
              </a:rPr>
              <a:t>The flagship fund trades purely on mathematical models of market data</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About 66% a year before fees</a:t>
            </a:r>
          </a:p>
          <a:p>
            <a:pPr algn="l">
              <a:spcAft>
                <a:spcPts val="300"/>
              </a:spcAft>
            </a:pPr>
            <a:r>
              <a:rPr sz="1100" b="0">
                <a:solidFill>
                  <a:srgbClr val="5B6372"/>
                </a:solidFill>
                <a:latin typeface="Arial"/>
              </a:rPr>
              <a:t>Average gross return 1988-2018, about 39% after its high fees; closed to outsiders, employee-owned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lesson for this course</a:t>
            </a:r>
          </a:p>
          <a:p>
            <a:pPr algn="l">
              <a:spcAft>
                <a:spcPts val="300"/>
              </a:spcAft>
            </a:pPr>
            <a:r>
              <a:rPr sz="1100" b="0">
                <a:solidFill>
                  <a:srgbClr val="5B6372"/>
                </a:solidFill>
                <a:latin typeface="Arial"/>
              </a:rPr>
              <a:t>The edge came from data, rigorous testing, costs and risk control - not from one clever indicator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the Success Stories Have in Common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Hypothesis first</a:t>
            </a:r>
          </a:p>
          <a:p>
            <a:pPr algn="l">
              <a:spcAft>
                <a:spcPts val="300"/>
              </a:spcAft>
            </a:pPr>
            <a:r>
              <a:rPr sz="1050" b="0">
                <a:solidFill>
                  <a:srgbClr val="5B6372"/>
                </a:solidFill>
                <a:latin typeface="Arial"/>
              </a:rPr>
              <a:t>Each started from a testable idea about prices, not from a tool</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Data and testing</a:t>
            </a:r>
          </a:p>
          <a:p>
            <a:pPr algn="l">
              <a:spcAft>
                <a:spcPts val="300"/>
              </a:spcAft>
            </a:pPr>
            <a:r>
              <a:rPr sz="1050" b="0">
                <a:solidFill>
                  <a:srgbClr val="5B6372"/>
                </a:solidFill>
                <a:latin typeface="Arial"/>
              </a:rPr>
              <a:t>Clean data and out-of-sample tests before capital</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Many small edges</a:t>
            </a:r>
          </a:p>
          <a:p>
            <a:pPr algn="l">
              <a:spcAft>
                <a:spcPts val="300"/>
              </a:spcAft>
            </a:pPr>
            <a:r>
              <a:rPr sz="1050" b="0">
                <a:solidFill>
                  <a:srgbClr val="5B6372"/>
                </a:solidFill>
                <a:latin typeface="Arial"/>
              </a:rPr>
              <a:t>Diversified, market-neutral bets rather than one big call</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Costs and risk</a:t>
            </a:r>
          </a:p>
          <a:p>
            <a:pPr algn="l">
              <a:spcAft>
                <a:spcPts val="300"/>
              </a:spcAft>
            </a:pPr>
            <a:r>
              <a:rPr sz="1050" b="0">
                <a:solidFill>
                  <a:srgbClr val="5B6372"/>
                </a:solidFill>
                <a:latin typeface="Arial"/>
              </a:rPr>
              <a:t>Execution cost, leverage and risk limits decide survival - see LTCM 1998</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Citadel Securities</a:t>
            </a:r>
          </a:p>
          <a:p>
            <a:pPr algn="l">
              <a:spcAft>
                <a:spcPts val="300"/>
              </a:spcAft>
            </a:pPr>
            <a:r>
              <a:rPr sz="1050" b="0">
                <a:solidFill>
                  <a:srgbClr val="5B6372"/>
                </a:solidFill>
                <a:latin typeface="Arial"/>
              </a:rPr>
              <a:t>Quant market maker estimated to handle about a quarter of all US equities trading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F6FEB"/>
                </a:solidFill>
                <a:latin typeface="Arial"/>
              </a:rPr>
              <a:t>TOPIC 1 · DEFINITION</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Algorithmic trading</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Using computer programs that follow predefined rules on price, timing, volume or models to generate and execute orders automatically, with limited or no human intervention.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EVOLUTION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Evolution of Quant: From Thorp to HFT to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26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1950s-70s: portfolio theory, arbitrage and option pricing</a:t>
            </a:r>
          </a:p>
        </p:txBody>
      </p:sp>
      <p:sp>
        <p:nvSpPr>
          <p:cNvPr id="15" name="TextBox 14"/>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3563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6210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1970s-80s: factor risk models and program trading</a:t>
            </a:r>
          </a:p>
        </p:txBody>
      </p:sp>
      <p:sp>
        <p:nvSpPr>
          <p:cNvPr id="21" name="TextBox 20"/>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94036"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179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1980s-90s: statistical arbitrage and pairs trading</a:t>
            </a:r>
          </a:p>
        </p:txBody>
      </p:sp>
      <p:sp>
        <p:nvSpPr>
          <p:cNvPr id="27" name="TextBox 26"/>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52434"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378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1988 on: fully systematic signal mining (Renaissance, D.E. Shaw)</a:t>
            </a:r>
          </a:p>
        </p:txBody>
      </p:sp>
      <p:sp>
        <p:nvSpPr>
          <p:cNvPr id="33" name="TextBox 32"/>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10832"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29625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2000s: electronic market making and HFT</a:t>
            </a:r>
          </a:p>
        </p:txBody>
      </p:sp>
      <p:sp>
        <p:nvSpPr>
          <p:cNvPr id="39" name="TextBox 38"/>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6923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85465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2010s: speed race - co-location, microwave, microseconds</a:t>
            </a:r>
          </a:p>
        </p:txBody>
      </p:sp>
      <p:sp>
        <p:nvSpPr>
          <p:cNvPr id="45" name="TextBox 44"/>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6" name="Rectangle 45"/>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12762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41305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2020s: ML on alternative data, then LLM and agentic quant</a:t>
            </a:r>
          </a:p>
        </p:txBody>
      </p:sp>
      <p:sp>
        <p:nvSpPr>
          <p:cNvPr id="51" name="Rectangle 5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Each era kept the last era's discipline - hypothesis, data, testing, costs, risk - and added speed or new data.</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1952</a:t>
            </a:r>
          </a:p>
          <a:p>
            <a:pPr algn="ctr">
              <a:spcAft>
                <a:spcPts val="100"/>
              </a:spcAft>
            </a:pPr>
            <a:r>
              <a:rPr sz="1150" b="1">
                <a:solidFill>
                  <a:srgbClr val="161B26"/>
                </a:solidFill>
                <a:latin typeface="Arial"/>
              </a:rPr>
              <a:t>Modern portfolio theory</a:t>
            </a:r>
          </a:p>
          <a:p>
            <a:pPr algn="ctr">
              <a:spcAft>
                <a:spcPts val="100"/>
              </a:spcAft>
            </a:pPr>
            <a:r>
              <a:rPr sz="950" b="0">
                <a:solidFill>
                  <a:srgbClr val="5B6372"/>
                </a:solidFill>
                <a:latin typeface="Arial"/>
              </a:rPr>
              <a:t>Markowitz's 'Portfolio Selection' measures risk as variance: diversification becomes maths</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1967</a:t>
            </a:r>
          </a:p>
          <a:p>
            <a:pPr algn="ctr">
              <a:spcAft>
                <a:spcPts val="100"/>
              </a:spcAft>
            </a:pPr>
            <a:r>
              <a:rPr sz="1150" b="1">
                <a:solidFill>
                  <a:srgbClr val="161B26"/>
                </a:solidFill>
                <a:latin typeface="Arial"/>
              </a:rPr>
              <a:t>Thorp's 'Beat the Market'</a:t>
            </a:r>
          </a:p>
          <a:p>
            <a:pPr algn="ctr">
              <a:spcAft>
                <a:spcPts val="100"/>
              </a:spcAft>
            </a:pPr>
            <a:r>
              <a:rPr sz="950" b="0">
                <a:solidFill>
                  <a:srgbClr val="5B6372"/>
                </a:solidFill>
                <a:latin typeface="Arial"/>
              </a:rPr>
              <a:t>Ed Thorp applies probability to hedging warrants - an early quant trading playbook</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1969</a:t>
            </a:r>
          </a:p>
          <a:p>
            <a:pPr algn="ctr">
              <a:spcAft>
                <a:spcPts val="100"/>
              </a:spcAft>
            </a:pPr>
            <a:r>
              <a:rPr sz="1150" b="1">
                <a:solidFill>
                  <a:srgbClr val="161B26"/>
                </a:solidFill>
                <a:latin typeface="Arial"/>
              </a:rPr>
              <a:t>First market-neutral quant fund</a:t>
            </a:r>
          </a:p>
          <a:p>
            <a:pPr algn="ctr">
              <a:spcAft>
                <a:spcPts val="100"/>
              </a:spcAft>
            </a:pPr>
            <a:r>
              <a:rPr sz="950" b="0">
                <a:solidFill>
                  <a:srgbClr val="5B6372"/>
                </a:solidFill>
                <a:latin typeface="Arial"/>
              </a:rPr>
              <a:t>Thorp's fund (Princeton Newport from 1974) earns about 20% a year after fees for two decades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1973</a:t>
            </a:r>
          </a:p>
          <a:p>
            <a:pPr algn="ctr">
              <a:spcAft>
                <a:spcPts val="100"/>
              </a:spcAft>
            </a:pPr>
            <a:r>
              <a:rPr sz="1150" b="1">
                <a:solidFill>
                  <a:srgbClr val="161B26"/>
                </a:solidFill>
                <a:latin typeface="Arial"/>
              </a:rPr>
              <a:t>Black-Scholes and the CBOE</a:t>
            </a:r>
          </a:p>
          <a:p>
            <a:pPr algn="ctr">
              <a:spcAft>
                <a:spcPts val="100"/>
              </a:spcAft>
            </a:pPr>
            <a:r>
              <a:rPr sz="950" b="0">
                <a:solidFill>
                  <a:srgbClr val="5B6372"/>
                </a:solidFill>
                <a:latin typeface="Arial"/>
              </a:rPr>
              <a:t>Option-pricing formula published as the CBOE opens (Apr 1973); CBOE adopts it by 1975</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Mid-1970s</a:t>
            </a:r>
          </a:p>
          <a:p>
            <a:pPr algn="ctr">
              <a:spcAft>
                <a:spcPts val="100"/>
              </a:spcAft>
            </a:pPr>
            <a:r>
              <a:rPr sz="1150" b="1">
                <a:solidFill>
                  <a:srgbClr val="161B26"/>
                </a:solidFill>
                <a:latin typeface="Arial"/>
              </a:rPr>
              <a:t>Factor risk models</a:t>
            </a:r>
          </a:p>
          <a:p>
            <a:pPr algn="ctr">
              <a:spcAft>
                <a:spcPts val="100"/>
              </a:spcAft>
            </a:pPr>
            <a:r>
              <a:rPr sz="950" b="0">
                <a:solidFill>
                  <a:srgbClr val="5B6372"/>
                </a:solidFill>
                <a:latin typeface="Arial"/>
              </a:rPr>
              <a:t>Barr Rosenberg's Barra models portfolio risk from style, industry and size factors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1978</a:t>
            </a:r>
          </a:p>
          <a:p>
            <a:pPr algn="ctr">
              <a:spcAft>
                <a:spcPts val="100"/>
              </a:spcAft>
            </a:pPr>
            <a:r>
              <a:rPr sz="1150" b="1">
                <a:solidFill>
                  <a:srgbClr val="161B26"/>
                </a:solidFill>
                <a:latin typeface="Arial"/>
              </a:rPr>
              <a:t>Renaissance is founded</a:t>
            </a:r>
          </a:p>
          <a:p>
            <a:pPr algn="ctr">
              <a:spcAft>
                <a:spcPts val="100"/>
              </a:spcAft>
            </a:pPr>
            <a:r>
              <a:rPr sz="950" b="0">
                <a:solidFill>
                  <a:srgbClr val="5B6372"/>
                </a:solidFill>
                <a:latin typeface="Arial"/>
              </a:rPr>
              <a:t>Mathematician Jim Simons founds Monemetrics; renamed Renaissance Technologies in 1982</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1980s</a:t>
            </a:r>
          </a:p>
          <a:p>
            <a:pPr algn="ctr">
              <a:spcAft>
                <a:spcPts val="100"/>
              </a:spcAft>
            </a:pPr>
            <a:r>
              <a:rPr sz="1150" b="1">
                <a:solidFill>
                  <a:srgbClr val="161B26"/>
                </a:solidFill>
                <a:latin typeface="Arial"/>
              </a:rPr>
              <a:t>Statistical arbitrage</a:t>
            </a:r>
          </a:p>
          <a:p>
            <a:pPr algn="ctr">
              <a:spcAft>
                <a:spcPts val="100"/>
              </a:spcAft>
            </a:pPr>
            <a:r>
              <a:rPr sz="950" b="0">
                <a:solidFill>
                  <a:srgbClr val="5B6372"/>
                </a:solidFill>
                <a:latin typeface="Arial"/>
              </a:rPr>
              <a:t>Bamberger and Tartaglia's Morgan Stanley group trades pairs of co-moving stocks by rule</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1987</a:t>
            </a:r>
          </a:p>
          <a:p>
            <a:pPr algn="ctr">
              <a:spcAft>
                <a:spcPts val="100"/>
              </a:spcAft>
            </a:pPr>
            <a:r>
              <a:rPr sz="1150" b="1">
                <a:solidFill>
                  <a:srgbClr val="161B26"/>
                </a:solidFill>
                <a:latin typeface="Arial"/>
              </a:rPr>
              <a:t>Black Monday</a:t>
            </a:r>
          </a:p>
          <a:p>
            <a:pPr algn="ctr">
              <a:spcAft>
                <a:spcPts val="100"/>
              </a:spcAft>
            </a:pPr>
            <a:r>
              <a:rPr sz="950" b="0">
                <a:solidFill>
                  <a:srgbClr val="5B6372"/>
                </a:solidFill>
                <a:latin typeface="Arial"/>
              </a:rPr>
              <a:t>Dow falls 22.6% on 19 Oct; portfolio-insurance program selling deepens the crash</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1988</a:t>
            </a:r>
          </a:p>
          <a:p>
            <a:pPr algn="ctr">
              <a:spcAft>
                <a:spcPts val="100"/>
              </a:spcAft>
            </a:pPr>
            <a:r>
              <a:rPr sz="1150" b="1">
                <a:solidFill>
                  <a:srgbClr val="161B26"/>
                </a:solidFill>
                <a:latin typeface="Arial"/>
              </a:rPr>
              <a:t>Medallion and D.E. Shaw</a:t>
            </a:r>
          </a:p>
          <a:p>
            <a:pPr algn="ctr">
              <a:spcAft>
                <a:spcPts val="100"/>
              </a:spcAft>
            </a:pPr>
            <a:r>
              <a:rPr sz="950" b="0">
                <a:solidFill>
                  <a:srgbClr val="5B6372"/>
                </a:solidFill>
                <a:latin typeface="Arial"/>
              </a:rPr>
              <a:t>Renaissance launches Medallion; ex-Morgan Stanley quant David Shaw founds D.E. Shaw</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1996</a:t>
            </a:r>
          </a:p>
          <a:p>
            <a:pPr algn="ctr">
              <a:spcAft>
                <a:spcPts val="100"/>
              </a:spcAft>
            </a:pPr>
            <a:r>
              <a:rPr sz="1150" b="1">
                <a:solidFill>
                  <a:srgbClr val="161B26"/>
                </a:solidFill>
                <a:latin typeface="Arial"/>
              </a:rPr>
              <a:t>Island ECN</a:t>
            </a:r>
          </a:p>
          <a:p>
            <a:pPr algn="ctr">
              <a:spcAft>
                <a:spcPts val="100"/>
              </a:spcAft>
            </a:pPr>
            <a:r>
              <a:rPr sz="950" b="0">
                <a:solidFill>
                  <a:srgbClr val="5B6372"/>
                </a:solidFill>
                <a:latin typeface="Arial"/>
              </a:rPr>
              <a:t>Fast electronic order book (trading from 1997) becomes a hub for early HFT firms</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1998</a:t>
            </a:r>
          </a:p>
          <a:p>
            <a:pPr algn="ctr">
              <a:spcAft>
                <a:spcPts val="100"/>
              </a:spcAft>
            </a:pPr>
            <a:r>
              <a:rPr sz="1150" b="1">
                <a:solidFill>
                  <a:srgbClr val="161B26"/>
                </a:solidFill>
                <a:latin typeface="Arial"/>
              </a:rPr>
              <a:t>LTCM collapses</a:t>
            </a:r>
          </a:p>
          <a:p>
            <a:pPr algn="ctr">
              <a:spcAft>
                <a:spcPts val="100"/>
              </a:spcAft>
            </a:pPr>
            <a:r>
              <a:rPr sz="950" b="0">
                <a:solidFill>
                  <a:srgbClr val="5B6372"/>
                </a:solidFill>
                <a:latin typeface="Arial"/>
              </a:rPr>
              <a:t>Leveraged relative-value fund loses US$4.6bn; Fed-supervised US$3.65bn recapitalisation</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2001</a:t>
            </a:r>
          </a:p>
          <a:p>
            <a:pPr algn="ctr">
              <a:spcAft>
                <a:spcPts val="100"/>
              </a:spcAft>
            </a:pPr>
            <a:r>
              <a:rPr sz="1150" b="1">
                <a:solidFill>
                  <a:srgbClr val="161B26"/>
                </a:solidFill>
                <a:latin typeface="Arial"/>
              </a:rPr>
              <a:t>Decimalisation</a:t>
            </a:r>
          </a:p>
          <a:p>
            <a:pPr algn="ctr">
              <a:spcAft>
                <a:spcPts val="100"/>
              </a:spcAft>
            </a:pPr>
            <a:r>
              <a:rPr sz="950" b="0">
                <a:solidFill>
                  <a:srgbClr val="5B6372"/>
                </a:solidFill>
                <a:latin typeface="Arial"/>
              </a:rPr>
              <a:t>US stocks quote in cents, not 1/16ths; spreads narrow and electronic market making grows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2005</a:t>
            </a:r>
          </a:p>
          <a:p>
            <a:pPr algn="ctr">
              <a:spcAft>
                <a:spcPts val="100"/>
              </a:spcAft>
            </a:pPr>
            <a:r>
              <a:rPr sz="1150" b="1">
                <a:solidFill>
                  <a:srgbClr val="161B26"/>
                </a:solidFill>
                <a:latin typeface="Arial"/>
              </a:rPr>
              <a:t>Regulation NMS</a:t>
            </a:r>
          </a:p>
          <a:p>
            <a:pPr algn="ctr">
              <a:spcAft>
                <a:spcPts val="100"/>
              </a:spcAft>
            </a:pPr>
            <a:r>
              <a:rPr sz="950" b="0">
                <a:solidFill>
                  <a:srgbClr val="5B6372"/>
                </a:solidFill>
                <a:latin typeface="Arial"/>
              </a:rPr>
              <a:t>SEC rule (in force 2007) links venues; fragmentation rewards speed and smart order routing</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2007</a:t>
            </a:r>
          </a:p>
          <a:p>
            <a:pPr algn="ctr">
              <a:spcAft>
                <a:spcPts val="100"/>
              </a:spcAft>
            </a:pPr>
            <a:r>
              <a:rPr sz="1150" b="1">
                <a:solidFill>
                  <a:srgbClr val="161B26"/>
                </a:solidFill>
                <a:latin typeface="Arial"/>
              </a:rPr>
              <a:t>The quant quake</a:t>
            </a:r>
          </a:p>
          <a:p>
            <a:pPr algn="ctr">
              <a:spcAft>
                <a:spcPts val="100"/>
              </a:spcAft>
            </a:pPr>
            <a:r>
              <a:rPr sz="950" b="0">
                <a:solidFill>
                  <a:srgbClr val="5B6372"/>
                </a:solidFill>
                <a:latin typeface="Arial"/>
              </a:rPr>
              <a:t>Week of 6 Aug: crowded quant market-neutral funds suffer sudden losses as positions unwind</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2010</a:t>
            </a:r>
          </a:p>
          <a:p>
            <a:pPr algn="ctr">
              <a:spcAft>
                <a:spcPts val="100"/>
              </a:spcAft>
            </a:pPr>
            <a:r>
              <a:rPr sz="1150" b="1">
                <a:solidFill>
                  <a:srgbClr val="161B26"/>
                </a:solidFill>
                <a:latin typeface="Arial"/>
              </a:rPr>
              <a:t>Flash Crash</a:t>
            </a:r>
          </a:p>
          <a:p>
            <a:pPr algn="ctr">
              <a:spcAft>
                <a:spcPts val="100"/>
              </a:spcAft>
            </a:pPr>
            <a:r>
              <a:rPr sz="950" b="0">
                <a:solidFill>
                  <a:srgbClr val="5B6372"/>
                </a:solidFill>
                <a:latin typeface="Arial"/>
              </a:rPr>
              <a:t>6 May: the Dow drops nearly 1,000 points in minutes after a large algorithmic sell order</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2010</a:t>
            </a:r>
          </a:p>
          <a:p>
            <a:pPr algn="ctr">
              <a:spcAft>
                <a:spcPts val="100"/>
              </a:spcAft>
            </a:pPr>
            <a:r>
              <a:rPr sz="1150" b="1">
                <a:solidFill>
                  <a:srgbClr val="161B26"/>
                </a:solidFill>
                <a:latin typeface="Arial"/>
              </a:rPr>
              <a:t>The speed race</a:t>
            </a:r>
          </a:p>
          <a:p>
            <a:pPr algn="ctr">
              <a:spcAft>
                <a:spcPts val="100"/>
              </a:spcAft>
            </a:pPr>
            <a:r>
              <a:rPr sz="950" b="0">
                <a:solidFill>
                  <a:srgbClr val="5B6372"/>
                </a:solidFill>
                <a:latin typeface="Arial"/>
              </a:rPr>
              <a:t>US$300m straight fibre New York-Chicago cuts about 3 ms; microwave links soon beat it</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2012</a:t>
            </a:r>
          </a:p>
          <a:p>
            <a:pPr algn="ctr">
              <a:spcAft>
                <a:spcPts val="100"/>
              </a:spcAft>
            </a:pPr>
            <a:r>
              <a:rPr sz="1150" b="1">
                <a:solidFill>
                  <a:srgbClr val="161B26"/>
                </a:solidFill>
                <a:latin typeface="Arial"/>
              </a:rPr>
              <a:t>Knight Capital</a:t>
            </a:r>
          </a:p>
          <a:p>
            <a:pPr algn="ctr">
              <a:spcAft>
                <a:spcPts val="100"/>
              </a:spcAft>
            </a:pPr>
            <a:r>
              <a:rPr sz="950" b="0">
                <a:solidFill>
                  <a:srgbClr val="5B6372"/>
                </a:solidFill>
                <a:latin typeface="Arial"/>
              </a:rPr>
              <a:t>A faulty deployment sends millions of orders in 45 minutes; Knight loses over US$460m</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2016</a:t>
            </a:r>
          </a:p>
          <a:p>
            <a:pPr algn="ctr">
              <a:spcAft>
                <a:spcPts val="100"/>
              </a:spcAft>
            </a:pPr>
            <a:r>
              <a:rPr sz="1150" b="1">
                <a:solidFill>
                  <a:srgbClr val="161B26"/>
                </a:solidFill>
                <a:latin typeface="Arial"/>
              </a:rPr>
              <a:t>IEX speed bump</a:t>
            </a:r>
          </a:p>
          <a:p>
            <a:pPr algn="ctr">
              <a:spcAft>
                <a:spcPts val="100"/>
              </a:spcAft>
            </a:pPr>
            <a:r>
              <a:rPr sz="950" b="0">
                <a:solidFill>
                  <a:srgbClr val="5B6372"/>
                </a:solidFill>
                <a:latin typeface="Arial"/>
              </a:rPr>
              <a:t>SEC approves IEX as an exchange with a 350-microsecond delay against latency arbitrage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2018</a:t>
            </a:r>
          </a:p>
          <a:p>
            <a:pPr algn="ctr">
              <a:spcAft>
                <a:spcPts val="100"/>
              </a:spcAft>
            </a:pPr>
            <a:r>
              <a:rPr sz="1150" b="1">
                <a:solidFill>
                  <a:srgbClr val="161B26"/>
                </a:solidFill>
                <a:latin typeface="Arial"/>
              </a:rPr>
              <a:t>MiFID II</a:t>
            </a:r>
          </a:p>
          <a:p>
            <a:pPr algn="ctr">
              <a:spcAft>
                <a:spcPts val="100"/>
              </a:spcAft>
            </a:pPr>
            <a:r>
              <a:rPr sz="950" b="0">
                <a:solidFill>
                  <a:srgbClr val="5B6372"/>
                </a:solidFill>
                <a:latin typeface="Arial"/>
              </a:rPr>
              <a:t>EU requires algorithm testing, kill switches and records; HFT formally defined</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2018</a:t>
            </a:r>
          </a:p>
          <a:p>
            <a:pPr algn="ctr">
              <a:spcAft>
                <a:spcPts val="100"/>
              </a:spcAft>
            </a:pPr>
            <a:r>
              <a:rPr sz="1150" b="1">
                <a:solidFill>
                  <a:srgbClr val="161B26"/>
                </a:solidFill>
                <a:latin typeface="Arial"/>
              </a:rPr>
              <a:t>API-first brokers</a:t>
            </a:r>
          </a:p>
          <a:p>
            <a:pPr algn="ctr">
              <a:spcAft>
                <a:spcPts val="100"/>
              </a:spcAft>
            </a:pPr>
            <a:r>
              <a:rPr sz="950" b="0">
                <a:solidFill>
                  <a:srgbClr val="5B6372"/>
                </a:solidFill>
                <a:latin typeface="Arial"/>
              </a:rPr>
              <a:t>Alpaca's commission-free trading API opens algorithmic stock trading to individuals</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2020</a:t>
            </a:r>
          </a:p>
          <a:p>
            <a:pPr algn="ctr">
              <a:spcAft>
                <a:spcPts val="100"/>
              </a:spcAft>
            </a:pPr>
            <a:r>
              <a:rPr sz="1150" b="1">
                <a:solidFill>
                  <a:srgbClr val="161B26"/>
                </a:solidFill>
                <a:latin typeface="Arial"/>
              </a:rPr>
              <a:t>SGX RegCo algo guide</a:t>
            </a:r>
          </a:p>
          <a:p>
            <a:pPr algn="ctr">
              <a:spcAft>
                <a:spcPts val="100"/>
              </a:spcAft>
            </a:pPr>
            <a:r>
              <a:rPr sz="950" b="0">
                <a:solidFill>
                  <a:srgbClr val="5B6372"/>
                </a:solidFill>
                <a:latin typeface="Arial"/>
              </a:rPr>
              <a:t>Sets expectations for governance, risk controls and testing of algorithms by SGX members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2023</a:t>
            </a:r>
          </a:p>
          <a:p>
            <a:pPr algn="ctr">
              <a:spcAft>
                <a:spcPts val="100"/>
              </a:spcAft>
            </a:pPr>
            <a:r>
              <a:rPr sz="1150" b="1">
                <a:solidFill>
                  <a:srgbClr val="161B26"/>
                </a:solidFill>
                <a:latin typeface="Arial"/>
              </a:rPr>
              <a:t>LLM trading signals</a:t>
            </a:r>
          </a:p>
          <a:p>
            <a:pPr algn="ctr">
              <a:spcAft>
                <a:spcPts val="100"/>
              </a:spcAft>
            </a:pPr>
            <a:r>
              <a:rPr sz="950" b="0">
                <a:solidFill>
                  <a:srgbClr val="5B6372"/>
                </a:solidFill>
                <a:latin typeface="Arial"/>
              </a:rPr>
              <a:t>ChatGPT headline sentiment predicts next-day stock returns (Lopez-Lira and Tang)</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2024</a:t>
            </a:r>
          </a:p>
          <a:p>
            <a:pPr algn="ctr">
              <a:spcAft>
                <a:spcPts val="100"/>
              </a:spcAft>
            </a:pPr>
            <a:r>
              <a:rPr sz="1150" b="1">
                <a:solidFill>
                  <a:srgbClr val="161B26"/>
                </a:solidFill>
                <a:latin typeface="Arial"/>
              </a:rPr>
              <a:t>Multi-agent LLM trading</a:t>
            </a:r>
          </a:p>
          <a:p>
            <a:pPr algn="ctr">
              <a:spcAft>
                <a:spcPts val="100"/>
              </a:spcAft>
            </a:pPr>
            <a:r>
              <a:rPr sz="950" b="0">
                <a:solidFill>
                  <a:srgbClr val="5B6372"/>
                </a:solidFill>
                <a:latin typeface="Arial"/>
              </a:rPr>
              <a:t>TradingAgents (Dec 2024): analyst, debate, trader and risk agents trade stocks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MAS AI Risk Management</a:t>
            </a:r>
          </a:p>
          <a:p>
            <a:pPr algn="ctr">
              <a:spcAft>
                <a:spcPts val="100"/>
              </a:spcAft>
            </a:pPr>
            <a:r>
              <a:rPr sz="950" b="0">
                <a:solidFill>
                  <a:srgbClr val="5B6372"/>
                </a:solidFill>
                <a:latin typeface="Arial"/>
              </a:rPr>
              <a:t>Guidelines issued 7 Oct 2026, effective 7 Oct 2027: AI inventories and lifecycle controls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PARADIGM SHIFTS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Six Paradigm Shifts in Quant and Algorithmic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intuition to probability  ·  1950s-1970s</a:t>
            </a:r>
          </a:p>
          <a:p>
            <a:pPr algn="l">
              <a:spcAft>
                <a:spcPts val="300"/>
              </a:spcAft>
            </a:pPr>
            <a:r>
              <a:rPr sz="950" b="0">
                <a:solidFill>
                  <a:srgbClr val="5B6372"/>
                </a:solidFill>
                <a:latin typeface="Arial"/>
              </a:rPr>
              <a:t>Markowitz, Thorp and Black-Scholes make risk, hedging and option value mathematical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stocks to factors  ·  1970s-1980s</a:t>
            </a:r>
          </a:p>
          <a:p>
            <a:pPr algn="l">
              <a:spcAft>
                <a:spcPts val="300"/>
              </a:spcAft>
            </a:pPr>
            <a:r>
              <a:rPr sz="950" b="0">
                <a:solidFill>
                  <a:srgbClr val="5B6372"/>
                </a:solidFill>
                <a:latin typeface="Arial"/>
              </a:rPr>
              <a:t>Barra factor models and program trading treat portfolios as baskets of risk exposures</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factors to statistical arbitrage  ·  1980s-2000s</a:t>
            </a:r>
          </a:p>
          <a:p>
            <a:pPr algn="l">
              <a:spcAft>
                <a:spcPts val="300"/>
              </a:spcAft>
            </a:pPr>
            <a:r>
              <a:rPr sz="950" b="0">
                <a:solidFill>
                  <a:srgbClr val="5B6372"/>
                </a:solidFill>
                <a:latin typeface="Arial"/>
              </a:rPr>
              <a:t>Morgan Stanley's pairs group, D.E. Shaw and Renaissance harvest many small market-neutral edges</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floors to electronic speed  ·  1996-2010s</a:t>
            </a:r>
          </a:p>
          <a:p>
            <a:pPr algn="l">
              <a:spcAft>
                <a:spcPts val="300"/>
              </a:spcAft>
            </a:pPr>
            <a:r>
              <a:rPr sz="950" b="0">
                <a:solidFill>
                  <a:srgbClr val="5B6372"/>
                </a:solidFill>
                <a:latin typeface="Arial"/>
              </a:rPr>
              <a:t>ECNs, decimalisation and Reg NMS enable HFT: co-location, microwave links, microseconds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statistics to machine learning  ·  2000s-2010s</a:t>
            </a:r>
          </a:p>
          <a:p>
            <a:pPr algn="l">
              <a:spcAft>
                <a:spcPts val="300"/>
              </a:spcAft>
            </a:pPr>
            <a:r>
              <a:rPr sz="950" b="0">
                <a:solidFill>
                  <a:srgbClr val="5B6372"/>
                </a:solidFill>
                <a:latin typeface="Arial"/>
              </a:rPr>
              <a:t>Models learn non-linear patterns from prices, order books and alternative data</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writing code to directing AI  ·  2023-present</a:t>
            </a:r>
          </a:p>
          <a:p>
            <a:pPr algn="l">
              <a:spcAft>
                <a:spcPts val="300"/>
              </a:spcAft>
            </a:pPr>
            <a:r>
              <a:rPr sz="950" b="0">
                <a:solidFill>
                  <a:srgbClr val="5B6372"/>
                </a:solidFill>
                <a:latin typeface="Arial"/>
              </a:rPr>
              <a:t>AI writes and runs the code; quants own the big concepts - hypothesis, algorithm logic, testing, risk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Algorithms - and What Can Go Wrong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10235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4645152" cy="365760"/>
          </a:xfrm>
          <a:prstGeom prst="rect">
            <a:avLst/>
          </a:prstGeom>
          <a:noFill/>
        </p:spPr>
        <p:txBody>
          <a:bodyPr wrap="square" anchor="t">
            <a:spAutoFit/>
          </a:bodyPr>
          <a:lstStyle/>
          <a:p>
            <a:pPr algn="l">
              <a:spcAft>
                <a:spcPts val="400"/>
              </a:spcAft>
            </a:pPr>
            <a:r>
              <a:rPr sz="1500" b="1">
                <a:solidFill>
                  <a:srgbClr val="1F6FEB"/>
                </a:solidFill>
                <a:latin typeface="Arial"/>
              </a:rPr>
              <a:t>Benefits</a:t>
            </a:r>
          </a:p>
        </p:txBody>
      </p:sp>
      <p:sp>
        <p:nvSpPr>
          <p:cNvPr id="10" name="TextBox 9"/>
          <p:cNvSpPr txBox="1"/>
          <p:nvPr/>
        </p:nvSpPr>
        <p:spPr>
          <a:xfrm>
            <a:off x="1005840" y="2514600"/>
            <a:ext cx="4645152" cy="3291840"/>
          </a:xfrm>
          <a:prstGeom prst="rect">
            <a:avLst/>
          </a:prstGeom>
          <a:noFill/>
        </p:spPr>
        <p:txBody>
          <a:bodyPr wrap="square">
            <a:spAutoFit/>
          </a:bodyPr>
          <a:lstStyle/>
          <a:p>
            <a:pPr>
              <a:spcAft>
                <a:spcPts val="800"/>
              </a:spcAft>
            </a:pPr>
            <a:r>
              <a:rPr sz="1250">
                <a:solidFill>
                  <a:srgbClr val="161B26"/>
                </a:solidFill>
                <a:latin typeface="Arial"/>
              </a:rPr>
              <a:t>•  Speed: reacts and executes in milliseconds</a:t>
            </a:r>
          </a:p>
          <a:p>
            <a:pPr>
              <a:spcAft>
                <a:spcPts val="800"/>
              </a:spcAft>
            </a:pPr>
            <a:r>
              <a:rPr sz="1250">
                <a:solidFill>
                  <a:srgbClr val="161B26"/>
                </a:solidFill>
                <a:latin typeface="Arial"/>
              </a:rPr>
              <a:t>•  Discipline: rules remove fear, greed and fatigue</a:t>
            </a:r>
          </a:p>
          <a:p>
            <a:pPr>
              <a:spcAft>
                <a:spcPts val="800"/>
              </a:spcAft>
            </a:pPr>
            <a:r>
              <a:rPr sz="1250">
                <a:solidFill>
                  <a:srgbClr val="161B26"/>
                </a:solidFill>
                <a:latin typeface="Arial"/>
              </a:rPr>
              <a:t>•  Backtesting: test ideas on historical data first</a:t>
            </a:r>
          </a:p>
          <a:p>
            <a:pPr>
              <a:spcAft>
                <a:spcPts val="800"/>
              </a:spcAft>
            </a:pPr>
            <a:r>
              <a:rPr sz="1250">
                <a:solidFill>
                  <a:srgbClr val="161B26"/>
                </a:solidFill>
                <a:latin typeface="Arial"/>
              </a:rPr>
              <a:t>•  Lower costs: split large orders to reduce market impact</a:t>
            </a:r>
          </a:p>
          <a:p>
            <a:pPr>
              <a:spcAft>
                <a:spcPts val="800"/>
              </a:spcAft>
            </a:pPr>
            <a:r>
              <a:rPr sz="1250">
                <a:solidFill>
                  <a:srgbClr val="161B26"/>
                </a:solidFill>
                <a:latin typeface="Arial"/>
              </a:rPr>
              <a:t>•  Scale: monitors many markets and assets around the clock</a:t>
            </a:r>
          </a:p>
        </p:txBody>
      </p:sp>
      <p:sp>
        <p:nvSpPr>
          <p:cNvPr id="11" name="Rectangle 10"/>
          <p:cNvSpPr/>
          <p:nvPr/>
        </p:nvSpPr>
        <p:spPr>
          <a:xfrm>
            <a:off x="630936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828800"/>
            <a:ext cx="510235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057400"/>
            <a:ext cx="4645152" cy="365760"/>
          </a:xfrm>
          <a:prstGeom prst="rect">
            <a:avLst/>
          </a:prstGeom>
          <a:noFill/>
        </p:spPr>
        <p:txBody>
          <a:bodyPr wrap="square" anchor="t">
            <a:spAutoFit/>
          </a:bodyPr>
          <a:lstStyle/>
          <a:p>
            <a:pPr algn="l">
              <a:spcAft>
                <a:spcPts val="400"/>
              </a:spcAft>
            </a:pPr>
            <a:r>
              <a:rPr sz="1500" b="1">
                <a:solidFill>
                  <a:srgbClr val="10B981"/>
                </a:solidFill>
                <a:latin typeface="Arial"/>
              </a:rPr>
              <a:t>Risks</a:t>
            </a:r>
          </a:p>
        </p:txBody>
      </p:sp>
      <p:sp>
        <p:nvSpPr>
          <p:cNvPr id="14" name="TextBox 13"/>
          <p:cNvSpPr txBox="1"/>
          <p:nvPr/>
        </p:nvSpPr>
        <p:spPr>
          <a:xfrm>
            <a:off x="6537960" y="2514600"/>
            <a:ext cx="4645152" cy="3291840"/>
          </a:xfrm>
          <a:prstGeom prst="rect">
            <a:avLst/>
          </a:prstGeom>
          <a:noFill/>
        </p:spPr>
        <p:txBody>
          <a:bodyPr wrap="square">
            <a:spAutoFit/>
          </a:bodyPr>
          <a:lstStyle/>
          <a:p>
            <a:pPr>
              <a:spcAft>
                <a:spcPts val="800"/>
              </a:spcAft>
            </a:pPr>
            <a:r>
              <a:rPr sz="1250">
                <a:solidFill>
                  <a:srgbClr val="161B26"/>
                </a:solidFill>
                <a:latin typeface="Arial"/>
              </a:rPr>
              <a:t>•  Technical failure: bugs and outages (Knight Capital, 2012)</a:t>
            </a:r>
          </a:p>
          <a:p>
            <a:pPr>
              <a:spcAft>
                <a:spcPts val="800"/>
              </a:spcAft>
            </a:pPr>
            <a:r>
              <a:rPr sz="1250">
                <a:solidFill>
                  <a:srgbClr val="161B26"/>
                </a:solidFill>
                <a:latin typeface="Arial"/>
              </a:rPr>
              <a:t>•  Overfitting: great backtests that fail on live data</a:t>
            </a:r>
          </a:p>
          <a:p>
            <a:pPr>
              <a:spcAft>
                <a:spcPts val="800"/>
              </a:spcAft>
            </a:pPr>
            <a:r>
              <a:rPr sz="1250">
                <a:solidFill>
                  <a:srgbClr val="161B26"/>
                </a:solidFill>
                <a:latin typeface="Arial"/>
              </a:rPr>
              <a:t>•  Black swans and regime change the model has never seen</a:t>
            </a:r>
          </a:p>
          <a:p>
            <a:pPr>
              <a:spcAft>
                <a:spcPts val="800"/>
              </a:spcAft>
            </a:pPr>
            <a:r>
              <a:rPr sz="1250">
                <a:solidFill>
                  <a:srgbClr val="161B26"/>
                </a:solidFill>
                <a:latin typeface="Arial"/>
              </a:rPr>
              <a:t>•  Feedback loops between algorithms (2010 Flash Crash)</a:t>
            </a:r>
          </a:p>
          <a:p>
            <a:pPr>
              <a:spcAft>
                <a:spcPts val="800"/>
              </a:spcAft>
            </a:pPr>
            <a:r>
              <a:rPr sz="1250">
                <a:solidFill>
                  <a:srgbClr val="161B26"/>
                </a:solidFill>
                <a:latin typeface="Arial"/>
              </a:rPr>
              <a:t>•  Set-up, data and compliance costs; no guaranteed profit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Eras of AI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Symbolic AI  ·  1956-1980s</a:t>
            </a:r>
          </a:p>
          <a:p>
            <a:pPr algn="l">
              <a:spcAft>
                <a:spcPts val="300"/>
              </a:spcAft>
            </a:pPr>
            <a:r>
              <a:rPr sz="1000" b="0">
                <a:solidFill>
                  <a:srgbClr val="5B6372"/>
                </a:solidFill>
                <a:latin typeface="Arial"/>
              </a:rPr>
              <a:t>Hand-written rules: expert systems and rule-based program trading; brittle when markets change</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Machine learning  ·  1990s-2000s</a:t>
            </a:r>
          </a:p>
          <a:p>
            <a:pPr algn="l">
              <a:spcAft>
                <a:spcPts val="300"/>
              </a:spcAft>
            </a:pPr>
            <a:r>
              <a:rPr sz="1000" b="0">
                <a:solidFill>
                  <a:srgbClr val="5B6372"/>
                </a:solidFill>
                <a:latin typeface="Arial"/>
              </a:rPr>
              <a:t>Models learn from data: regression, tree and boosting signals; statistical arbitrage at scale</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Deep learning  ·  2012-2017</a:t>
            </a:r>
          </a:p>
          <a:p>
            <a:pPr algn="l">
              <a:spcAft>
                <a:spcPts val="300"/>
              </a:spcAft>
            </a:pPr>
            <a:r>
              <a:rPr sz="1000" b="0">
                <a:solidFill>
                  <a:srgbClr val="5B6372"/>
                </a:solidFill>
                <a:latin typeface="Arial"/>
              </a:rPr>
              <a:t>Many-layer networks on GPUs find non-linear patterns in prices, order books and alternative data</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Generative AI  ·  2017-2023</a:t>
            </a:r>
          </a:p>
          <a:p>
            <a:pPr algn="l">
              <a:spcAft>
                <a:spcPts val="300"/>
              </a:spcAft>
            </a:pPr>
            <a:r>
              <a:rPr sz="1000" b="0">
                <a:solidFill>
                  <a:srgbClr val="5B6372"/>
                </a:solidFill>
                <a:latin typeface="Arial"/>
              </a:rPr>
              <a:t>Transformers and LLMs turn news, filings and earnings calls into trading signals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Agentic AI  ·  2024-present</a:t>
            </a:r>
          </a:p>
          <a:p>
            <a:pPr algn="l">
              <a:spcAft>
                <a:spcPts val="300"/>
              </a:spcAft>
            </a:pPr>
            <a:r>
              <a:rPr sz="1000" b="0">
                <a:solidFill>
                  <a:srgbClr val="5B6372"/>
                </a:solidFill>
                <a:latin typeface="Arial"/>
              </a:rPr>
              <a:t>LLM agents research, code, backtest and paper-trade strategies under hard risk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1950</a:t>
            </a:r>
          </a:p>
          <a:p>
            <a:pPr algn="ctr">
              <a:spcAft>
                <a:spcPts val="100"/>
              </a:spcAft>
            </a:pPr>
            <a:r>
              <a:rPr sz="1150" b="1">
                <a:solidFill>
                  <a:srgbClr val="161B26"/>
                </a:solidFill>
                <a:latin typeface="Arial"/>
              </a:rPr>
              <a:t>Turing Test</a:t>
            </a:r>
          </a:p>
          <a:p>
            <a:pPr algn="ctr">
              <a:spcAft>
                <a:spcPts val="100"/>
              </a:spcAft>
            </a:pPr>
            <a:r>
              <a:rPr sz="950" b="0">
                <a:solidFill>
                  <a:srgbClr val="5B6372"/>
                </a:solidFill>
                <a:latin typeface="Arial"/>
              </a:rPr>
              <a:t>Turing asks if machines can think; in 1952 Markowitz turns portfolio choice into maths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1956</a:t>
            </a:r>
          </a:p>
          <a:p>
            <a:pPr algn="ctr">
              <a:spcAft>
                <a:spcPts val="100"/>
              </a:spcAft>
            </a:pPr>
            <a:r>
              <a:rPr sz="1150" b="1">
                <a:solidFill>
                  <a:srgbClr val="161B26"/>
                </a:solidFill>
                <a:latin typeface="Arial"/>
              </a:rPr>
              <a:t>'AI' is named</a:t>
            </a:r>
          </a:p>
          <a:p>
            <a:pPr algn="ctr">
              <a:spcAft>
                <a:spcPts val="100"/>
              </a:spcAft>
            </a:pPr>
            <a:r>
              <a:rPr sz="950" b="0">
                <a:solidFill>
                  <a:srgbClr val="5B6372"/>
                </a:solidFill>
                <a:latin typeface="Arial"/>
              </a:rPr>
              <a:t>AI becomes a field; Ed Thorp soon applies computers and probability to blackjack, then markets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1980s</a:t>
            </a:r>
          </a:p>
          <a:p>
            <a:pPr algn="ctr">
              <a:spcAft>
                <a:spcPts val="100"/>
              </a:spcAft>
            </a:pPr>
            <a:r>
              <a:rPr sz="1150" b="1">
                <a:solidFill>
                  <a:srgbClr val="161B26"/>
                </a:solidFill>
                <a:latin typeface="Arial"/>
              </a:rPr>
              <a:t>Expert systems</a:t>
            </a:r>
          </a:p>
          <a:p>
            <a:pPr algn="ctr">
              <a:spcAft>
                <a:spcPts val="100"/>
              </a:spcAft>
            </a:pPr>
            <a:r>
              <a:rPr sz="950" b="0">
                <a:solidFill>
                  <a:srgbClr val="5B6372"/>
                </a:solidFill>
                <a:latin typeface="Arial"/>
              </a:rPr>
              <a:t>Hand-written if-then rules - the same logic as the rule-based program trading of the 1980s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1986</a:t>
            </a:r>
          </a:p>
          <a:p>
            <a:pPr algn="ctr">
              <a:spcAft>
                <a:spcPts val="100"/>
              </a:spcAft>
            </a:pPr>
            <a:r>
              <a:rPr sz="1150" b="1">
                <a:solidFill>
                  <a:srgbClr val="161B26"/>
                </a:solidFill>
                <a:latin typeface="Arial"/>
              </a:rPr>
              <a:t>Backpropagation</a:t>
            </a:r>
          </a:p>
          <a:p>
            <a:pPr algn="ctr">
              <a:spcAft>
                <a:spcPts val="100"/>
              </a:spcAft>
            </a:pPr>
            <a:r>
              <a:rPr sz="950" b="0">
                <a:solidFill>
                  <a:srgbClr val="5B6372"/>
                </a:solidFill>
                <a:latin typeface="Arial"/>
              </a:rPr>
              <a:t>Multi-layer neural networks become trainable - the ancestor of today's price-prediction nets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1988</a:t>
            </a:r>
          </a:p>
          <a:p>
            <a:pPr algn="ctr">
              <a:spcAft>
                <a:spcPts val="100"/>
              </a:spcAft>
            </a:pPr>
            <a:r>
              <a:rPr sz="1150" b="1">
                <a:solidFill>
                  <a:srgbClr val="161B26"/>
                </a:solidFill>
                <a:latin typeface="Arial"/>
              </a:rPr>
              <a:t>Models trade markets</a:t>
            </a:r>
          </a:p>
          <a:p>
            <a:pPr algn="ctr">
              <a:spcAft>
                <a:spcPts val="100"/>
              </a:spcAft>
            </a:pPr>
            <a:r>
              <a:rPr sz="950" b="0">
                <a:solidFill>
                  <a:srgbClr val="5B6372"/>
                </a:solidFill>
                <a:latin typeface="Arial"/>
              </a:rPr>
              <a:t>Renaissance's Medallion fund launches, trading purely on mathematical models of market data</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1997</a:t>
            </a:r>
          </a:p>
          <a:p>
            <a:pPr algn="ctr">
              <a:spcAft>
                <a:spcPts val="100"/>
              </a:spcAft>
            </a:pPr>
            <a:r>
              <a:rPr sz="1150" b="1">
                <a:solidFill>
                  <a:srgbClr val="161B26"/>
                </a:solidFill>
                <a:latin typeface="Arial"/>
              </a:rPr>
              <a:t>Deep Blue</a:t>
            </a:r>
          </a:p>
          <a:p>
            <a:pPr algn="ctr">
              <a:spcAft>
                <a:spcPts val="100"/>
              </a:spcAft>
            </a:pPr>
            <a:r>
              <a:rPr sz="950" b="0">
                <a:solidFill>
                  <a:srgbClr val="5B6372"/>
                </a:solidFill>
                <a:latin typeface="Arial"/>
              </a:rPr>
              <a:t>IBM beats Kasparov at chess; computer-driven quant firms such as D.E. Shaw are already trading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2012</a:t>
            </a:r>
          </a:p>
          <a:p>
            <a:pPr algn="ctr">
              <a:spcAft>
                <a:spcPts val="100"/>
              </a:spcAft>
            </a:pPr>
            <a:r>
              <a:rPr sz="1150" b="1">
                <a:solidFill>
                  <a:srgbClr val="161B26"/>
                </a:solidFill>
                <a:latin typeface="Arial"/>
              </a:rPr>
              <a:t>Deep learning</a:t>
            </a:r>
          </a:p>
          <a:p>
            <a:pPr algn="ctr">
              <a:spcAft>
                <a:spcPts val="100"/>
              </a:spcAft>
            </a:pPr>
            <a:r>
              <a:rPr sz="950" b="0">
                <a:solidFill>
                  <a:srgbClr val="5B6372"/>
                </a:solidFill>
                <a:latin typeface="Arial"/>
              </a:rPr>
              <a:t>GPU-trained deep networks win ImageNet; deep learning becomes a new tool for market data</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2016</a:t>
            </a:r>
          </a:p>
          <a:p>
            <a:pPr algn="ctr">
              <a:spcAft>
                <a:spcPts val="100"/>
              </a:spcAft>
            </a:pPr>
            <a:r>
              <a:rPr sz="1150" b="1">
                <a:solidFill>
                  <a:srgbClr val="161B26"/>
                </a:solidFill>
                <a:latin typeface="Arial"/>
              </a:rPr>
              <a:t>AlphaGo</a:t>
            </a:r>
          </a:p>
          <a:p>
            <a:pPr algn="ctr">
              <a:spcAft>
                <a:spcPts val="100"/>
              </a:spcAft>
            </a:pPr>
            <a:r>
              <a:rPr sz="950" b="0">
                <a:solidFill>
                  <a:srgbClr val="5B6372"/>
                </a:solidFill>
                <a:latin typeface="Arial"/>
              </a:rPr>
              <a:t>Deep reinforcement learning wins at Go; RL is researched for order execution and portfolios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2017</a:t>
            </a:r>
          </a:p>
          <a:p>
            <a:pPr algn="ctr">
              <a:spcAft>
                <a:spcPts val="100"/>
              </a:spcAft>
            </a:pPr>
            <a:r>
              <a:rPr sz="1150" b="1">
                <a:solidFill>
                  <a:srgbClr val="161B26"/>
                </a:solidFill>
                <a:latin typeface="Arial"/>
              </a:rPr>
              <a:t>Transformer</a:t>
            </a:r>
          </a:p>
          <a:p>
            <a:pPr algn="ctr">
              <a:spcAft>
                <a:spcPts val="100"/>
              </a:spcAft>
            </a:pPr>
            <a:r>
              <a:rPr sz="950" b="0">
                <a:solidFill>
                  <a:srgbClr val="5B6372"/>
                </a:solidFill>
                <a:latin typeface="Arial"/>
              </a:rPr>
              <a:t>The architecture behind every LLM - later used to read news and filings for trading signals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2023</a:t>
            </a:r>
          </a:p>
          <a:p>
            <a:pPr algn="ctr">
              <a:spcAft>
                <a:spcPts val="100"/>
              </a:spcAft>
            </a:pPr>
            <a:r>
              <a:rPr sz="1150" b="1">
                <a:solidFill>
                  <a:srgbClr val="161B26"/>
                </a:solidFill>
                <a:latin typeface="Arial"/>
              </a:rPr>
              <a:t>LLMs meet markets</a:t>
            </a:r>
          </a:p>
          <a:p>
            <a:pPr algn="ctr">
              <a:spcAft>
                <a:spcPts val="100"/>
              </a:spcAft>
            </a:pPr>
            <a:r>
              <a:rPr sz="950" b="0">
                <a:solidFill>
                  <a:srgbClr val="5B6372"/>
                </a:solidFill>
                <a:latin typeface="Arial"/>
              </a:rPr>
              <a:t>BloombergGPT (50bn parameters); ChatGPT headline sentiment predicts next-day stock returns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2024</a:t>
            </a:r>
          </a:p>
          <a:p>
            <a:pPr algn="ctr">
              <a:spcAft>
                <a:spcPts val="100"/>
              </a:spcAft>
            </a:pPr>
            <a:r>
              <a:rPr sz="1150" b="1">
                <a:solidFill>
                  <a:srgbClr val="161B26"/>
                </a:solidFill>
                <a:latin typeface="Arial"/>
              </a:rPr>
              <a:t>Multi-agent trading</a:t>
            </a:r>
          </a:p>
          <a:p>
            <a:pPr algn="ctr">
              <a:spcAft>
                <a:spcPts val="100"/>
              </a:spcAft>
            </a:pPr>
            <a:r>
              <a:rPr sz="950" b="0">
                <a:solidFill>
                  <a:srgbClr val="5B6372"/>
                </a:solidFill>
                <a:latin typeface="Arial"/>
              </a:rPr>
              <a:t>TradingAgents models a trading firm: analyst, bull/bear debate, trader and risk agents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2025</a:t>
            </a:r>
          </a:p>
          <a:p>
            <a:pPr algn="ctr">
              <a:spcAft>
                <a:spcPts val="100"/>
              </a:spcAft>
            </a:pPr>
            <a:r>
              <a:rPr sz="1150" b="1">
                <a:solidFill>
                  <a:srgbClr val="161B26"/>
                </a:solidFill>
                <a:latin typeface="Arial"/>
              </a:rPr>
              <a:t>Agentic quant research</a:t>
            </a:r>
          </a:p>
          <a:p>
            <a:pPr algn="ctr">
              <a:spcAft>
                <a:spcPts val="100"/>
              </a:spcAft>
            </a:pPr>
            <a:r>
              <a:rPr sz="950" b="0">
                <a:solidFill>
                  <a:srgbClr val="5B6372"/>
                </a:solidFill>
                <a:latin typeface="Arial"/>
              </a:rPr>
              <a:t>LLM agents mine formulaic alphas and write backtests (e.g. Alpha-GPT, AlphaAgent)</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Always-on AI agents</a:t>
            </a:r>
          </a:p>
          <a:p>
            <a:pPr algn="ctr">
              <a:spcAft>
                <a:spcPts val="100"/>
              </a:spcAft>
            </a:pPr>
            <a:r>
              <a:rPr sz="950" b="0">
                <a:solidFill>
                  <a:srgbClr val="5B6372"/>
                </a:solidFill>
                <a:latin typeface="Arial"/>
              </a:rPr>
              <a:t>OpenClaw, Hermes Agent and OpenAI Dots stand by 24/7: agentic AI that keeps working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2026</a:t>
            </a:r>
          </a:p>
          <a:p>
            <a:pPr algn="ctr">
              <a:spcAft>
                <a:spcPts val="100"/>
              </a:spcAft>
            </a:pPr>
            <a:r>
              <a:rPr sz="1150" b="1">
                <a:solidFill>
                  <a:srgbClr val="161B26"/>
                </a:solidFill>
                <a:latin typeface="Arial"/>
              </a:rPr>
              <a:t>Governed AI</a:t>
            </a:r>
          </a:p>
          <a:p>
            <a:pPr algn="ctr">
              <a:spcAft>
                <a:spcPts val="100"/>
              </a:spcAft>
            </a:pPr>
            <a:r>
              <a:rPr sz="950" b="0">
                <a:solidFill>
                  <a:srgbClr val="5B6372"/>
                </a:solidFill>
                <a:latin typeface="Arial"/>
              </a:rPr>
              <a:t>MAS AI Risk Management Guidelines (7 Oct 2026) set lifecycle controls for AI in finance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Paradigm Shift: Machine-Learning Quant versus LLM-Era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Machine-learning quant</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LLM-era quant</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data</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Structured: prices, volumes, fundamentals</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Adds unstructured text: news, filings, earnings calls, research</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Features</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Hand-engineered by the quant (lags, RSI, factors)</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Text read directly; LLM scores sentiment and events</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Model building</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Fit regressions, trees, boosting on labelled data</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Prompt or fine-tune pretrained LLMs; agents propose alphas</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Who writes the code</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line by line</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AI writes it; the quant directs and reviews</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Research workflow</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writes every line of code</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Coding agents draft code and backtests; the quant reviews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Alpha decay</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Signals fade as more funds trade them</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signals fade too as LLM adoption rises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New risks</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in features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training-data look-ahead and 'distraction'; homogeneous factors</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Human role</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Model builder</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Supervisor: hypothesis, testing, risk sign-off</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Impact of LLMs on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Text becomes a signal</a:t>
            </a:r>
          </a:p>
          <a:p>
            <a:pPr algn="l">
              <a:spcAft>
                <a:spcPts val="300"/>
              </a:spcAft>
            </a:pPr>
            <a:r>
              <a:rPr sz="950" b="0">
                <a:solidFill>
                  <a:srgbClr val="5B6372"/>
                </a:solidFill>
                <a:latin typeface="Arial"/>
              </a:rPr>
              <a:t>ChatGPT headline scores predict next-day returns, strongest for small stocks and bad news (Lopez-Lira and Tang)</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Finance-specific LLMs</a:t>
            </a:r>
          </a:p>
          <a:p>
            <a:pPr algn="l">
              <a:spcAft>
                <a:spcPts val="300"/>
              </a:spcAft>
            </a:pPr>
            <a:r>
              <a:rPr sz="950" b="0">
                <a:solidFill>
                  <a:srgbClr val="5B6372"/>
                </a:solidFill>
                <a:latin typeface="Arial"/>
              </a:rPr>
              <a:t>BloombergGPT (2023): 50bn parameters trained with 363bn tokens of Bloomberg financial data</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Automated alpha mining</a:t>
            </a:r>
          </a:p>
          <a:p>
            <a:pPr algn="l">
              <a:spcAft>
                <a:spcPts val="300"/>
              </a:spcAft>
            </a:pPr>
            <a:r>
              <a:rPr sz="950" b="0">
                <a:solidFill>
                  <a:srgbClr val="5B6372"/>
                </a:solidFill>
                <a:latin typeface="Arial"/>
              </a:rPr>
              <a:t>Alpha-GPT turns ideas into formulaic alphas; AlphaAgent targets alpha decay and crowding</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Backtests need new controls</a:t>
            </a:r>
          </a:p>
          <a:p>
            <a:pPr algn="l">
              <a:spcAft>
                <a:spcPts val="300"/>
              </a:spcAft>
            </a:pPr>
            <a:r>
              <a:rPr sz="950" b="0">
                <a:solidFill>
                  <a:srgbClr val="5B6372"/>
                </a:solidFill>
                <a:latin typeface="Arial"/>
              </a:rPr>
              <a:t>LLMs may 'know' in-sample history: test after the knowledge cutoff and anonymise firms (Glasserman and Lin)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Faster crowding</a:t>
            </a:r>
          </a:p>
          <a:p>
            <a:pPr algn="l">
              <a:spcAft>
                <a:spcPts val="300"/>
              </a:spcAft>
            </a:pPr>
            <a:r>
              <a:rPr sz="950" b="0">
                <a:solidFill>
                  <a:srgbClr val="5B6372"/>
                </a:solidFill>
                <a:latin typeface="Arial"/>
              </a:rPr>
              <a:t>Strategy returns decline as LLM adoption rises - prices become more efficient (Lopez-Lira and Tang)</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Agents still need limits</a:t>
            </a:r>
          </a:p>
          <a:p>
            <a:pPr algn="l">
              <a:spcAft>
                <a:spcPts val="300"/>
              </a:spcAft>
            </a:pPr>
            <a:r>
              <a:rPr sz="950" b="0">
                <a:solidFill>
                  <a:srgbClr val="5B6372"/>
                </a:solidFill>
                <a:latin typeface="Arial"/>
              </a:rPr>
              <a:t>Agents propose trades; hard-coded risk checks and humans approve them</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Agentic AI versus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Agentic AI - the capability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The capability of AI to plan and act: it calls tools, uses skills and memory, and follows instructions to complete multi-step work when it is asked.
Trading example: On request, an LLM fetches a stock's bars and news through tools, checks its memory of past trades and proposes an order within its instructions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AI Agent - always on, 24/7</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A special class of agentic AI that stands by 24/7 and works all the time: always on, woken by schedules, events and messages, with its own long-term memory.
Examples: OpenClaw, Hermes Agent, OpenAI Dots.
Trading example: A round-the-clock trading agent that watches prices and news overnight and proposes paper trades within risk limits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Agents vs Agentic AI - Side by Side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AI Agents</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Agentic AI</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 special class of agentic AI that is always on</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Capability to plan and act with tools, skills, memory</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Runtime</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Persistent: stands by 24/7 on a server or PC</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Runs when invoked: a chat, workflow or pipeline</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Trigger</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Schedules, events, messages - unprompted</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 user prompt or a pipeline step</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Memory</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Long-term memory across days and tasks</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Session or task memory; can use long-term memory</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Building blocks</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Agentic AI + always-on runtime and scheduler</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 tools + skills + memory + instructions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OpenClaw, Hermes Agent, OpenAI Dots</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Claude Code, ChatGPT with tools, TradingAgents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Trading example</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24/7 market and news monitor proposing trades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On-demand multi-agent analysis before a trade</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risks</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Acting unsupervised overnight; runaway loops</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Hallucination; prompt injection; tool misuse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Chatbot to Always-On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470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70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1 · Chatbot: Answers one prompt at a time; no tools, no actions</a:t>
            </a:r>
          </a:p>
        </p:txBody>
      </p:sp>
      <p:sp>
        <p:nvSpPr>
          <p:cNvPr id="15" name="TextBox 14"/>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4438"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742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42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632454"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2 · Agentic AI: Plans and calls tools, skills, memory and instructions when asked</a:t>
            </a:r>
          </a:p>
        </p:txBody>
      </p:sp>
      <p:sp>
        <p:nvSpPr>
          <p:cNvPr id="21" name="TextBox 20"/>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01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1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6359652"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3 · Multi-agent agentic system: Specialist agents coordinate: analysts, debate, trader, risk manager</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286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86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9086850"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4 · AI agent (always on): Stands by 24/7, wakes on schedules and events, works continuously within limits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An AI agent is agentic AI that never switches off - so its limits, kill switch and monitoring matter most.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Roles in a Multi-Agent Trading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Fundamental Analyst</a:t>
            </a:r>
          </a:p>
          <a:p>
            <a:pPr algn="l">
              <a:spcAft>
                <a:spcPts val="300"/>
              </a:spcAft>
            </a:pPr>
            <a:r>
              <a:rPr sz="1000" b="0">
                <a:solidFill>
                  <a:srgbClr val="5B6372"/>
                </a:solidFill>
                <a:latin typeface="Arial"/>
              </a:rPr>
              <a:t>Reads filings, earnings and balance sheets to judge intrinsic value</a:t>
            </a:r>
          </a:p>
        </p:txBody>
      </p:sp>
      <p:sp>
        <p:nvSpPr>
          <p:cNvPr id="15" name="Rectangle 14"/>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Technical Analyst</a:t>
            </a:r>
          </a:p>
          <a:p>
            <a:pPr algn="l">
              <a:spcAft>
                <a:spcPts val="300"/>
              </a:spcAft>
            </a:pPr>
            <a:r>
              <a:rPr sz="1000" b="0">
                <a:solidFill>
                  <a:srgbClr val="5B6372"/>
                </a:solidFill>
                <a:latin typeface="Arial"/>
              </a:rPr>
              <a:t>Reads price, volume and indicators such as MACD and RSI</a:t>
            </a:r>
          </a:p>
        </p:txBody>
      </p:sp>
      <p:sp>
        <p:nvSpPr>
          <p:cNvPr id="20" name="Rectangle 19"/>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Sentiment Analyst</a:t>
            </a:r>
          </a:p>
          <a:p>
            <a:pPr algn="l">
              <a:spcAft>
                <a:spcPts val="300"/>
              </a:spcAft>
            </a:pPr>
            <a:r>
              <a:rPr sz="1000" b="0">
                <a:solidFill>
                  <a:srgbClr val="5B6372"/>
                </a:solidFill>
                <a:latin typeface="Arial"/>
              </a:rPr>
              <a:t>Gauges mood from social media, analyst ratings and options flow</a:t>
            </a:r>
          </a:p>
        </p:txBody>
      </p:sp>
      <p:sp>
        <p:nvSpPr>
          <p:cNvPr id="25" name="Rectangle 24"/>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News Analyst</a:t>
            </a:r>
          </a:p>
          <a:p>
            <a:pPr algn="l">
              <a:spcAft>
                <a:spcPts val="300"/>
              </a:spcAft>
            </a:pPr>
            <a:r>
              <a:rPr sz="1000" b="0">
                <a:solidFill>
                  <a:srgbClr val="5B6372"/>
                </a:solidFill>
                <a:latin typeface="Arial"/>
              </a:rPr>
              <a:t>Tracks news wires, press releases and macro events</a:t>
            </a:r>
          </a:p>
        </p:txBody>
      </p:sp>
      <p:sp>
        <p:nvSpPr>
          <p:cNvPr id="30" name="Rectangle 29"/>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Bull / Bear Researchers</a:t>
            </a:r>
          </a:p>
          <a:p>
            <a:pPr algn="l">
              <a:spcAft>
                <a:spcPts val="300"/>
              </a:spcAft>
            </a:pPr>
            <a:r>
              <a:rPr sz="1000" b="0">
                <a:solidFill>
                  <a:srgbClr val="5B6372"/>
                </a:solidFill>
                <a:latin typeface="Arial"/>
              </a:rPr>
              <a:t>Argue for and against the trade so weak ideas are challenged</a:t>
            </a:r>
          </a:p>
        </p:txBody>
      </p:sp>
      <p:sp>
        <p:nvSpPr>
          <p:cNvPr id="35" name="Rectangle 34"/>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Trader</a:t>
            </a:r>
          </a:p>
          <a:p>
            <a:pPr algn="l">
              <a:spcAft>
                <a:spcPts val="300"/>
              </a:spcAft>
            </a:pPr>
            <a:r>
              <a:rPr sz="1000" b="0">
                <a:solidFill>
                  <a:srgbClr val="5B6372"/>
                </a:solidFill>
                <a:latin typeface="Arial"/>
              </a:rPr>
              <a:t>Combines the reports into a buy, sell or hold call with timing and size</a:t>
            </a:r>
          </a:p>
        </p:txBody>
      </p:sp>
      <p:sp>
        <p:nvSpPr>
          <p:cNvPr id="40" name="Rectangle 39"/>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4" name="TextBox 43"/>
          <p:cNvSpPr txBox="1"/>
          <p:nvPr/>
        </p:nvSpPr>
        <p:spPr>
          <a:xfrm>
            <a:off x="1764792"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Risk Manager</a:t>
            </a:r>
          </a:p>
          <a:p>
            <a:pPr algn="l">
              <a:spcAft>
                <a:spcPts val="300"/>
              </a:spcAft>
            </a:pPr>
            <a:r>
              <a:rPr sz="1000" b="0">
                <a:solidFill>
                  <a:srgbClr val="5B6372"/>
                </a:solidFill>
                <a:latin typeface="Arial"/>
              </a:rPr>
              <a:t>Checks volatility, liquidity, exposure and drawdown limits</a:t>
            </a:r>
          </a:p>
        </p:txBody>
      </p:sp>
      <p:sp>
        <p:nvSpPr>
          <p:cNvPr id="45" name="Rectangle 44"/>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9" name="TextBox 48"/>
          <p:cNvSpPr txBox="1"/>
          <p:nvPr/>
        </p:nvSpPr>
        <p:spPr>
          <a:xfrm>
            <a:off x="7219188"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Portfolio Manager</a:t>
            </a:r>
          </a:p>
          <a:p>
            <a:pPr algn="l">
              <a:spcAft>
                <a:spcPts val="300"/>
              </a:spcAft>
            </a:pPr>
            <a:r>
              <a:rPr sz="1000" b="0">
                <a:solidFill>
                  <a:srgbClr val="5B6372"/>
                </a:solidFill>
                <a:latin typeface="Arial"/>
              </a:rPr>
              <a:t>Approves or rejects the proposal and fits it into the whole portfolio</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TradingAgents (Xiao et al., 2024)</a:t>
            </a:r>
          </a:p>
          <a:p>
            <a:pPr algn="l">
              <a:spcAft>
                <a:spcPts val="300"/>
              </a:spcAft>
            </a:pPr>
            <a:r>
              <a:rPr sz="950" b="0">
                <a:solidFill>
                  <a:srgbClr val="5B6372"/>
                </a:solidFill>
                <a:latin typeface="Arial"/>
              </a:rPr>
              <a:t>Simulated stock-trading firm: fundamental, sentiment, news and technical analysts, bull/bear debate, trader, risk team</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FinMem (Yu et al., 2023)</a:t>
            </a:r>
          </a:p>
          <a:p>
            <a:pPr algn="l">
              <a:spcAft>
                <a:spcPts val="300"/>
              </a:spcAft>
            </a:pPr>
            <a:r>
              <a:rPr sz="950" b="0">
                <a:solidFill>
                  <a:srgbClr val="5B6372"/>
                </a:solidFill>
                <a:latin typeface="Arial"/>
              </a:rPr>
              <a:t>LLM trading agent with profiling and layered memory making Buy / Sell / Hold decisions on individual stocks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FinAgent (Zhang et al., 2024)</a:t>
            </a:r>
          </a:p>
          <a:p>
            <a:pPr algn="l">
              <a:spcAft>
                <a:spcPts val="300"/>
              </a:spcAft>
            </a:pPr>
            <a:r>
              <a:rPr sz="950" b="0">
                <a:solidFill>
                  <a:srgbClr val="5B6372"/>
                </a:solidFill>
                <a:latin typeface="Arial"/>
              </a:rPr>
              <a:t>Multimodal agent reading prices, news and chart images, with dual-level reflection; tested on stocks and crypto</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StockAgent (2024)</a:t>
            </a:r>
          </a:p>
          <a:p>
            <a:pPr algn="l">
              <a:spcAft>
                <a:spcPts val="300"/>
              </a:spcAft>
            </a:pPr>
            <a:r>
              <a:rPr sz="950" b="0">
                <a:solidFill>
                  <a:srgbClr val="5B6372"/>
                </a:solidFill>
                <a:latin typeface="Arial"/>
              </a:rPr>
              <a:t>LLM investor agents trade a simulated stock market under macro, policy and event shocks; avoids test-set leakage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QuantAgent (2025)</a:t>
            </a:r>
          </a:p>
          <a:p>
            <a:pPr algn="l">
              <a:spcAft>
                <a:spcPts val="300"/>
              </a:spcAft>
            </a:pPr>
            <a:r>
              <a:rPr sz="950" b="0">
                <a:solidFill>
                  <a:srgbClr val="5B6372"/>
                </a:solidFill>
                <a:latin typeface="Arial"/>
              </a:rPr>
              <a:t>Price-driven multi-agent system for high-frequency trading: Indicator, Pattern, Trend and Risk agents</a:t>
            </a:r>
          </a:p>
        </p:txBody>
      </p:sp>
      <p:sp>
        <p:nvSpPr>
          <p:cNvPr id="15" name="Rectangle 14"/>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447288"/>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AI Hedge Fund (open source)</a:t>
            </a:r>
          </a:p>
          <a:p>
            <a:pPr algn="l">
              <a:spcAft>
                <a:spcPts val="300"/>
              </a:spcAft>
            </a:pPr>
            <a:r>
              <a:rPr sz="950" b="0">
                <a:solidFill>
                  <a:srgbClr val="5B6372"/>
                </a:solidFill>
                <a:latin typeface="Arial"/>
              </a:rPr>
              <a:t>Investor-persona agents (e.g. Warren Buffett), a risk manager and a portfolio manager decide trades for chosen tickers</a:t>
            </a:r>
          </a:p>
        </p:txBody>
      </p:sp>
      <p:sp>
        <p:nvSpPr>
          <p:cNvPr id="20" name="Rectangle 19"/>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983480"/>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Agentic Trading Lab (Open-Finance-Lab)</a:t>
            </a:r>
          </a:p>
          <a:p>
            <a:pPr algn="l">
              <a:spcAft>
                <a:spcPts val="300"/>
              </a:spcAft>
            </a:pPr>
            <a:r>
              <a:rPr sz="950" b="0">
                <a:solidFill>
                  <a:srgbClr val="5B6372"/>
                </a:solidFill>
                <a:latin typeface="Arial"/>
              </a:rPr>
              <a:t>Agent-run stock portfolios with backtests and paper trading through the Alpaca API</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Risks and Controls for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What goes wrong</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Control</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Hallucination</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An LLM states a wrong earnings figure or invents a signal with confidence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Ground answers in tool or RAG data, log the reasoning, review unusual calls</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Prompt injection</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Malicious text in news, web pages or files hijacks the agent's instructions</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Input and output guardrails, least-privilege API keys, no secrets in prompts</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Overtrading and runaway loops</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Agents trade too often or amplify each other, compounding losses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Order and position caps, daily-loss circuit breaker, kill switch</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Model and backtest risk</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bias and regime change: strong backtests, weak live results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Walk-forward tests, paper trade first, monitor drift and costs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Accountability</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Unclear who answers for an autonomous agent's trade or a vendor's AI</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The firm stays accountable: human sign-off, audit trails, clear owners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Regulation (MAS)</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FEAT principles (2018) and MAS AI Risk Management Guidelines (issued Oct 2026)</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Board oversight, AI inventory, materiality assessment and lifecycle controls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Forms of Data within Financial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K9</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data</a:t>
            </a:r>
          </a:p>
          <a:p>
            <a:pPr algn="l">
              <a:spcAft>
                <a:spcPts val="300"/>
              </a:spcAft>
            </a:pPr>
            <a:r>
              <a:rPr sz="1150" b="0">
                <a:solidFill>
                  <a:srgbClr val="5B6372"/>
                </a:solidFill>
                <a:latin typeface="Arial"/>
              </a:rPr>
              <a:t>OHLCV bars, quotes, trades, order-book depth — Alpaca serves bars, quotes, trades, news.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Reference &amp; corporate actions</a:t>
            </a:r>
          </a:p>
          <a:p>
            <a:pPr algn="l">
              <a:spcAft>
                <a:spcPts val="300"/>
              </a:spcAft>
            </a:pPr>
            <a:r>
              <a:rPr sz="1150" b="0">
                <a:solidFill>
                  <a:srgbClr val="5B6372"/>
                </a:solidFill>
                <a:latin typeface="Arial"/>
              </a:rPr>
              <a:t>Symbols, calendars, splits, dividends — unadjusted splits fake a crash.</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Fundamental &amp; macro</a:t>
            </a:r>
          </a:p>
          <a:p>
            <a:pPr algn="l">
              <a:spcAft>
                <a:spcPts val="300"/>
              </a:spcAft>
            </a:pPr>
            <a:r>
              <a:rPr sz="1150" b="0">
                <a:solidFill>
                  <a:srgbClr val="5B6372"/>
                </a:solidFill>
                <a:latin typeface="Arial"/>
              </a:rPr>
              <a:t>Statements, ratios, earnings; rates, inflation, central-bank decisions.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Alternative data</a:t>
            </a:r>
          </a:p>
          <a:p>
            <a:pPr algn="l">
              <a:spcAft>
                <a:spcPts val="300"/>
              </a:spcAft>
            </a:pPr>
            <a:r>
              <a:rPr sz="1150" b="0">
                <a:solidFill>
                  <a:srgbClr val="5B6372"/>
                </a:solidFill>
                <a:latin typeface="Arial"/>
              </a:rPr>
              <a:t>News and social sentiment, web traffic, satellite, card spend, ESG.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in Trading — the Four Vs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Volume</a:t>
            </a:r>
          </a:p>
          <a:p>
            <a:pPr algn="l">
              <a:spcAft>
                <a:spcPts val="300"/>
              </a:spcAft>
            </a:pPr>
            <a:r>
              <a:rPr sz="1150" b="0">
                <a:solidFill>
                  <a:srgbClr val="5B6372"/>
                </a:solidFill>
                <a:latin typeface="Arial"/>
              </a:rPr>
              <a:t>Tick data runs to billions of rows per year for one exchange.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Velocity</a:t>
            </a:r>
          </a:p>
          <a:p>
            <a:pPr algn="l">
              <a:spcAft>
                <a:spcPts val="300"/>
              </a:spcAft>
            </a:pPr>
            <a:r>
              <a:rPr sz="1150" b="0">
                <a:solidFill>
                  <a:srgbClr val="5B6372"/>
                </a:solidFill>
                <a:latin typeface="Arial"/>
              </a:rPr>
              <a:t>Streaming quotes and news arrive in milliseconds.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Variety</a:t>
            </a:r>
          </a:p>
          <a:p>
            <a:pPr algn="l">
              <a:spcAft>
                <a:spcPts val="300"/>
              </a:spcAft>
            </a:pPr>
            <a:r>
              <a:rPr sz="1150" b="0">
                <a:solidFill>
                  <a:srgbClr val="5B6372"/>
                </a:solidFill>
                <a:latin typeface="Arial"/>
              </a:rPr>
              <a:t>Prices, text, images, transcripts — structured and unstructured.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Veracity</a:t>
            </a:r>
          </a:p>
          <a:p>
            <a:pPr algn="l">
              <a:spcAft>
                <a:spcPts val="300"/>
              </a:spcAft>
            </a:pPr>
            <a:r>
              <a:rPr sz="1150" b="0">
                <a:solidFill>
                  <a:srgbClr val="5B6372"/>
                </a:solidFill>
                <a:latin typeface="Arial"/>
              </a:rPr>
              <a:t>Bad ticks, survivorship, restatements — verify before you trust.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Applications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 analytics</a:t>
            </a:r>
          </a:p>
          <a:p>
            <a:pPr algn="l">
              <a:spcAft>
                <a:spcPts val="300"/>
              </a:spcAft>
            </a:pPr>
            <a:r>
              <a:rPr sz="1150" b="0">
                <a:solidFill>
                  <a:srgbClr val="5B6372"/>
                </a:solidFill>
                <a:latin typeface="Arial"/>
              </a:rPr>
              <a:t>Tick and quote data to measure and cut slippage.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Sentiment and event trading</a:t>
            </a:r>
          </a:p>
          <a:p>
            <a:pPr algn="l">
              <a:spcAft>
                <a:spcPts val="300"/>
              </a:spcAft>
            </a:pPr>
            <a:r>
              <a:rPr sz="1150" b="0">
                <a:solidFill>
                  <a:srgbClr val="5B6372"/>
                </a:solidFill>
                <a:latin typeface="Arial"/>
              </a:rPr>
              <a:t>News and social text scored by NLP and LLMs.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detection</a:t>
            </a:r>
          </a:p>
          <a:p>
            <a:pPr algn="l">
              <a:spcAft>
                <a:spcPts val="300"/>
              </a:spcAft>
            </a:pPr>
            <a:r>
              <a:rPr sz="1150" b="0">
                <a:solidFill>
                  <a:srgbClr val="5B6372"/>
                </a:solidFill>
                <a:latin typeface="Arial"/>
              </a:rPr>
              <a:t>Cross-asset returns clustered into market states.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Surveillance and risk</a:t>
            </a:r>
          </a:p>
          <a:p>
            <a:pPr algn="l">
              <a:spcAft>
                <a:spcPts val="300"/>
              </a:spcAft>
            </a:pPr>
            <a:r>
              <a:rPr sz="1150" b="0">
                <a:solidFill>
                  <a:srgbClr val="5B6372"/>
                </a:solidFill>
                <a:latin typeface="Arial"/>
              </a:rPr>
              <a:t>Order and trade data scanned for market abuse; intraday risk.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Analytics and Modelling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generation</a:t>
            </a:r>
          </a:p>
          <a:p>
            <a:pPr algn="l">
              <a:spcAft>
                <a:spcPts val="300"/>
              </a:spcAft>
            </a:pPr>
            <a:r>
              <a:rPr sz="1150" b="0">
                <a:solidFill>
                  <a:srgbClr val="5B6372"/>
                </a:solidFill>
                <a:latin typeface="Arial"/>
              </a:rPr>
              <a:t>Find repeatable return — judged by out-of-sample, net Sharpe.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a:t>
            </a:r>
          </a:p>
          <a:p>
            <a:pPr algn="l">
              <a:spcAft>
                <a:spcPts val="300"/>
              </a:spcAft>
            </a:pPr>
            <a:r>
              <a:rPr sz="1150" b="0">
                <a:solidFill>
                  <a:srgbClr val="5B6372"/>
                </a:solidFill>
                <a:latin typeface="Arial"/>
              </a:rPr>
              <a:t>VWAP / TWAP / shortfall — judged by slippage in basis points.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 forecasting &amp; sizing</a:t>
            </a:r>
          </a:p>
          <a:p>
            <a:pPr algn="l">
              <a:spcAft>
                <a:spcPts val="300"/>
              </a:spcAft>
            </a:pPr>
            <a:r>
              <a:rPr sz="1150" b="0">
                <a:solidFill>
                  <a:srgbClr val="5B6372"/>
                </a:solidFill>
                <a:latin typeface="Arial"/>
              </a:rPr>
              <a:t>Volatility and VaR models — judged by limit breaches.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Research at scale</a:t>
            </a:r>
          </a:p>
          <a:p>
            <a:pPr algn="l">
              <a:spcAft>
                <a:spcPts val="300"/>
              </a:spcAft>
            </a:pPr>
            <a:r>
              <a:rPr sz="1150" b="0">
                <a:solidFill>
                  <a:srgbClr val="5B6372"/>
                </a:solidFill>
                <a:latin typeface="Arial"/>
              </a:rPr>
              <a:t>LLMs read filings and news — judged by accuracy and hours saved.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Hypothesis Testable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Instrument and universe</a:t>
            </a:r>
          </a:p>
          <a:p>
            <a:pPr algn="l">
              <a:spcAft>
                <a:spcPts val="300"/>
              </a:spcAft>
            </a:pPr>
            <a:r>
              <a:rPr sz="1150" b="0">
                <a:solidFill>
                  <a:srgbClr val="5B6372"/>
                </a:solidFill>
                <a:latin typeface="Arial"/>
              </a:rPr>
              <a:t>e.g. SPY, daily bars, 2018 – 2025.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and holding period</a:t>
            </a:r>
          </a:p>
          <a:p>
            <a:pPr algn="l">
              <a:spcAft>
                <a:spcPts val="300"/>
              </a:spcAft>
            </a:pPr>
            <a:r>
              <a:rPr sz="1150" b="0">
                <a:solidFill>
                  <a:srgbClr val="5B6372"/>
                </a:solidFill>
                <a:latin typeface="Arial"/>
              </a:rPr>
              <a:t>e.g. three down closes in a row; hold 5 days.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Expected effect and benchmark</a:t>
            </a:r>
          </a:p>
          <a:p>
            <a:pPr algn="l">
              <a:spcAft>
                <a:spcPts val="300"/>
              </a:spcAft>
            </a:pPr>
            <a:r>
              <a:rPr sz="1150" b="0">
                <a:solidFill>
                  <a:srgbClr val="5B6372"/>
                </a:solidFill>
                <a:latin typeface="Arial"/>
              </a:rPr>
              <a:t>Forward return exceeds the unconditional 5-day return.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Written BEFORE the test</a:t>
            </a:r>
          </a:p>
          <a:p>
            <a:pPr algn="l">
              <a:spcAft>
                <a:spcPts val="300"/>
              </a:spcAft>
            </a:pPr>
            <a:r>
              <a:rPr sz="1150" b="0">
                <a:solidFill>
                  <a:srgbClr val="5B6372"/>
                </a:solidFill>
                <a:latin typeface="Arial"/>
              </a:rPr>
              <a:t>H0, H1 and the significance level chosen first.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Implementation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Frame the problem and hypothesis</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Collect and clean the data</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Define target and features</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Split by time; train and validate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out of sample</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Paper trade, then review</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model that skips the out-of-sample test and the paper trade has not been tested.</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Pipeline Skeleton, Configuration and the Alpaca Paper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Create the pipeline package and its config.yaml (universe, strategy parameters, risk limits, costs, secret names), build a validating configuration loader and a market-clock module, and run `python -m pipeline check` against the Alpaca paper account or the offline simulator.</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Set up Python and your AI coding assistant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Store Alpaca PAPER keys outside the code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Write the pipeline configuration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configuration loader with safety validation</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market clock for US and Singapore time</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The pipeline skeleton: config.yaml, risk limits and a verified Alpaca paper account (or simulator).</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Data-Validation Stage: Cross-Check Pipeline Bars against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K5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Read daily bars for SGX:D05 and NASDAQ:AAPL from the TradingView Data Window, record them, and build a validation stage that compares TradingView with the pipeline's raw and dividend-adjusted bars and writes a validation report.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data-check panel to SGX:D05</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Repeat for NASDAQ:AAPL and switch the adjustment</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Record what TradingView shows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validation stage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validation stage</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data-validation report reconciling pipeline bars with TradingView for SGX:D05 and AAPL.</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02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2_validation.png"/>
          <p:cNvPicPr>
            <a:picLocks noChangeAspect="1"/>
          </p:cNvPicPr>
          <p:nvPr/>
        </p:nvPicPr>
        <p:blipFill>
          <a:blip r:embed="rId2"/>
          <a:stretch>
            <a:fillRect/>
          </a:stretch>
        </p:blipFill>
        <p:spPr>
          <a:xfrm>
            <a:off x="778611" y="1828800"/>
            <a:ext cx="10634472" cy="3517681"/>
          </a:xfrm>
          <a:prstGeom prst="rect">
            <a:avLst/>
          </a:prstGeom>
        </p:spPr>
      </p:pic>
      <p:sp>
        <p:nvSpPr>
          <p:cNvPr id="8" name="Rectangle 7"/>
          <p:cNvSpPr/>
          <p:nvPr/>
        </p:nvSpPr>
        <p:spPr>
          <a:xfrm>
            <a:off x="767638" y="1817827"/>
            <a:ext cx="10656417" cy="3539626"/>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92785"/>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492785"/>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492785"/>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Lab02-tradingview-charts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Ingestion Stage: Multi-Timeframe Bars, Headlines and Data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A6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ingest` to fetch and cache daily, weekly, monthly and hourly bars for the universe, run automated data-quality checks, ingest headlines as unstructured data, and describe the forms of data and the 3 Vs of big data.</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Understand how bars are requested</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cache and load_bars()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automated data-quality checks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Ingest an unstructured source: news headlines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ingest run with the report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ingestion stage caching multi-timeframe bars and headlines with automated data-quality checks.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03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3_market_data.png"/>
          <p:cNvPicPr>
            <a:picLocks noChangeAspect="1"/>
          </p:cNvPicPr>
          <p:nvPr/>
        </p:nvPicPr>
        <p:blipFill>
          <a:blip r:embed="rId2"/>
          <a:stretch>
            <a:fillRect/>
          </a:stretch>
        </p:blipFill>
        <p:spPr>
          <a:xfrm>
            <a:off x="3102867" y="1828800"/>
            <a:ext cx="5985960" cy="3794760"/>
          </a:xfrm>
          <a:prstGeom prst="rect">
            <a:avLst/>
          </a:prstGeom>
        </p:spPr>
      </p:pic>
      <p:sp>
        <p:nvSpPr>
          <p:cNvPr id="8" name="Rectangle 7"/>
          <p:cNvSpPr/>
          <p:nvPr/>
        </p:nvSpPr>
        <p:spPr>
          <a:xfrm>
            <a:off x="3091894" y="1817827"/>
            <a:ext cx="6007905"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Lab03-alpaca-market-data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Hypothesis Stage: from a Written Card to an Automated Statistical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A1  A6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Write a falsifiable hypothesis card in YAML (H1, H0, signal known at the close, outcome, test, decision rule, big-data use case) and build `python -m pipeline hypothesis` to test it with a Welch t-test, a bootstrap confidence interval and a robustness grid.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hypothesis card</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Write a card for your own idea</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test engine</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robustness grid, chart and result file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test on the desk's card</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hypothesis card and an automated statistical test of the SPY dip-after-streak hypothesis.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04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4_hypothesis.png"/>
          <p:cNvPicPr>
            <a:picLocks noChangeAspect="1"/>
          </p:cNvPicPr>
          <p:nvPr/>
        </p:nvPicPr>
        <p:blipFill>
          <a:blip r:embed="rId2"/>
          <a:stretch>
            <a:fillRect/>
          </a:stretch>
        </p:blipFill>
        <p:spPr>
          <a:xfrm>
            <a:off x="2265950" y="1828800"/>
            <a:ext cx="7659793" cy="3794760"/>
          </a:xfrm>
          <a:prstGeom prst="rect">
            <a:avLst/>
          </a:prstGeom>
        </p:spPr>
      </p:pic>
      <p:sp>
        <p:nvSpPr>
          <p:cNvPr id="8" name="Rectangle 7"/>
          <p:cNvSpPr/>
          <p:nvPr/>
        </p:nvSpPr>
        <p:spPr>
          <a:xfrm>
            <a:off x="2254978" y="1817827"/>
            <a:ext cx="7681738"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Lab04-trading-hypothesis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1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F6FEB"/>
                </a:solidFill>
                <a:latin typeface="Arial"/>
              </a:rPr>
              <a:t>A1  A6  K1  K9</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0B981"/>
                </a:solidFill>
                <a:latin typeface="Arial"/>
              </a:rPr>
              <a:t>TOPIC 2</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Indicators, Strategies and Metrics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0B981"/>
                </a:solidFill>
                <a:latin typeface="Arial"/>
              </a:rPr>
              <a:t>LEARNING OUTCOME</a:t>
            </a:r>
          </a:p>
          <a:p>
            <a:pPr algn="l">
              <a:spcAft>
                <a:spcPts val="400"/>
              </a:spcAft>
            </a:pPr>
            <a:r>
              <a:rPr sz="1350" b="0">
                <a:solidFill>
                  <a:srgbClr val="161B26"/>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A2, A3  ·  Knowledge K3, K5, K7   ·   Day 1   ·   Labs 5–9   ·   Assessed by PP Task 2 and WA Q3, Q5, Q7</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Trend and Momentum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SMA / EMA</a:t>
            </a:r>
          </a:p>
          <a:p>
            <a:pPr algn="l">
              <a:spcAft>
                <a:spcPts val="300"/>
              </a:spcAft>
            </a:pPr>
            <a:r>
              <a:rPr sz="1150" b="0">
                <a:solidFill>
                  <a:srgbClr val="5B6372"/>
                </a:solidFill>
                <a:latin typeface="Arial"/>
              </a:rPr>
              <a:t>Average close over n bars; EMA weights recent bars by 2/(n+1).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MACD</a:t>
            </a:r>
          </a:p>
          <a:p>
            <a:pPr algn="l">
              <a:spcAft>
                <a:spcPts val="300"/>
              </a:spcAft>
            </a:pPr>
            <a:r>
              <a:rPr sz="1150" b="0">
                <a:solidFill>
                  <a:srgbClr val="5B6372"/>
                </a:solidFill>
                <a:latin typeface="Arial"/>
              </a:rPr>
              <a:t>EMA12 − EMA26 with a 9-EMA signal line; crosses flag momentum.</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RSI (14)</a:t>
            </a:r>
          </a:p>
          <a:p>
            <a:pPr algn="l">
              <a:spcAft>
                <a:spcPts val="300"/>
              </a:spcAft>
            </a:pPr>
            <a:r>
              <a:rPr sz="1150" b="0">
                <a:solidFill>
                  <a:srgbClr val="5B6372"/>
                </a:solidFill>
                <a:latin typeface="Arial"/>
              </a:rPr>
              <a:t>100 − 100/(1+RS); above 70 overbought, below 30 oversold.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Donchian channel</a:t>
            </a:r>
          </a:p>
          <a:p>
            <a:pPr algn="l">
              <a:spcAft>
                <a:spcPts val="300"/>
              </a:spcAft>
            </a:pPr>
            <a:r>
              <a:rPr sz="1150" b="0">
                <a:solidFill>
                  <a:srgbClr val="5B6372"/>
                </a:solidFill>
                <a:latin typeface="Arial"/>
              </a:rPr>
              <a:t>Highest high / lowest low of n bars — the breakout level.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Volatility and Volume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Bollinger Bands</a:t>
            </a:r>
          </a:p>
          <a:p>
            <a:pPr algn="l">
              <a:spcAft>
                <a:spcPts val="300"/>
              </a:spcAft>
            </a:pPr>
            <a:r>
              <a:rPr sz="1150" b="0">
                <a:solidFill>
                  <a:srgbClr val="5B6372"/>
                </a:solidFill>
                <a:latin typeface="Arial"/>
              </a:rPr>
              <a:t>SMA20 ± 2 standard deviations; width tracks volatility.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ATR (14)</a:t>
            </a:r>
          </a:p>
          <a:p>
            <a:pPr algn="l">
              <a:spcAft>
                <a:spcPts val="300"/>
              </a:spcAft>
            </a:pPr>
            <a:r>
              <a:rPr sz="1150" b="0">
                <a:solidFill>
                  <a:srgbClr val="5B6372"/>
                </a:solidFill>
                <a:latin typeface="Arial"/>
              </a:rPr>
              <a:t>Average true range — position sizing and volatility stops.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VWAP</a:t>
            </a:r>
          </a:p>
          <a:p>
            <a:pPr algn="l">
              <a:spcAft>
                <a:spcPts val="300"/>
              </a:spcAft>
            </a:pPr>
            <a:r>
              <a:rPr sz="1150" b="0">
                <a:solidFill>
                  <a:srgbClr val="5B6372"/>
                </a:solidFill>
                <a:latin typeface="Arial"/>
              </a:rPr>
              <a:t>Volume-weighted average price — the execution benchmark.</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OBV</a:t>
            </a:r>
          </a:p>
          <a:p>
            <a:pPr algn="l">
              <a:spcAft>
                <a:spcPts val="300"/>
              </a:spcAft>
            </a:pPr>
            <a:r>
              <a:rPr sz="1150" b="0">
                <a:solidFill>
                  <a:srgbClr val="5B6372"/>
                </a:solidFill>
                <a:latin typeface="Arial"/>
              </a:rPr>
              <a:t>Adds volume on up days, subtracts on down days.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Matching the Method to the Hypothesis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'Does the signal beat the benchmark?'</a:t>
            </a:r>
          </a:p>
          <a:p>
            <a:pPr algn="l">
              <a:spcAft>
                <a:spcPts val="300"/>
              </a:spcAft>
            </a:pPr>
            <a:r>
              <a:rPr sz="1150" b="0">
                <a:solidFill>
                  <a:srgbClr val="5B6372"/>
                </a:solidFill>
                <a:latin typeface="Arial"/>
              </a:rPr>
              <a:t>Backtest + t-test or bootstrap on returns.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'Will tomorrow be up?'</a:t>
            </a:r>
          </a:p>
          <a:p>
            <a:pPr algn="l">
              <a:spcAft>
                <a:spcPts val="300"/>
              </a:spcAft>
            </a:pPr>
            <a:r>
              <a:rPr sz="1150" b="0">
                <a:solidFill>
                  <a:srgbClr val="5B6372"/>
                </a:solidFill>
                <a:latin typeface="Arial"/>
              </a:rPr>
              <a:t>Classifier: logistic regression, random forest, XGBoost.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'What state is the market in?'</a:t>
            </a:r>
          </a:p>
          <a:p>
            <a:pPr algn="l">
              <a:spcAft>
                <a:spcPts val="300"/>
              </a:spcAft>
            </a:pPr>
            <a:r>
              <a:rPr sz="1150" b="0">
                <a:solidFill>
                  <a:srgbClr val="5B6372"/>
                </a:solidFill>
                <a:latin typeface="Arial"/>
              </a:rPr>
              <a:t>Clustering: K-means on return and volatility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'Which parameters?'</a:t>
            </a:r>
          </a:p>
          <a:p>
            <a:pPr algn="l">
              <a:spcAft>
                <a:spcPts val="300"/>
              </a:spcAft>
            </a:pPr>
            <a:r>
              <a:rPr sz="1150" b="0">
                <a:solidFill>
                  <a:srgbClr val="5B6372"/>
                </a:solidFill>
                <a:latin typeface="Arial"/>
              </a:rPr>
              <a:t>Grid search in-sample, confirm out-of-sample.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Coding Languages for Algorithms and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Pine Script v6</a:t>
            </a:r>
          </a:p>
          <a:p>
            <a:pPr algn="l">
              <a:spcAft>
                <a:spcPts val="300"/>
              </a:spcAft>
            </a:pPr>
            <a:r>
              <a:rPr sz="1150" b="0">
                <a:solidFill>
                  <a:srgbClr val="5B6372"/>
                </a:solidFill>
                <a:latin typeface="Arial"/>
              </a:rPr>
              <a:t>//@version=6 · ta.ema · ta.crossover · strategy.entry.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Python</a:t>
            </a:r>
          </a:p>
          <a:p>
            <a:pPr algn="l">
              <a:spcAft>
                <a:spcPts val="300"/>
              </a:spcAft>
            </a:pPr>
            <a:r>
              <a:rPr sz="1150" b="0">
                <a:solidFill>
                  <a:srgbClr val="5B6372"/>
                </a:solidFill>
                <a:latin typeface="Arial"/>
              </a:rPr>
              <a:t>Signals as pandas Series of +1 / 0 / −1 aligned to bars.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 / Java</a:t>
            </a:r>
          </a:p>
          <a:p>
            <a:pPr algn="l">
              <a:spcAft>
                <a:spcPts val="300"/>
              </a:spcAft>
            </a:pPr>
            <a:r>
              <a:rPr sz="1150" b="0">
                <a:solidFill>
                  <a:srgbClr val="5B6372"/>
                </a:solidFill>
                <a:latin typeface="Arial"/>
              </a:rPr>
              <a:t>Low-latency execution engines and exchange gateways.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 SQL, MQL</a:t>
            </a:r>
          </a:p>
          <a:p>
            <a:pPr algn="l">
              <a:spcAft>
                <a:spcPts val="300"/>
              </a:spcAft>
            </a:pPr>
            <a:r>
              <a:rPr sz="1150" b="0">
                <a:solidFill>
                  <a:srgbClr val="5B6372"/>
                </a:solidFill>
                <a:latin typeface="Arial"/>
              </a:rPr>
              <a:t>Statistics, data stores, MetaTrader expert advisors.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Order Types and Time in Force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and limit</a:t>
            </a:r>
          </a:p>
          <a:p>
            <a:pPr algn="l">
              <a:spcAft>
                <a:spcPts val="300"/>
              </a:spcAft>
            </a:pPr>
            <a:r>
              <a:rPr sz="1150" b="0">
                <a:solidFill>
                  <a:srgbClr val="5B6372"/>
                </a:solidFill>
                <a:latin typeface="Arial"/>
              </a:rPr>
              <a:t>Certainty of fill versus control of price.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Stop, stop-limit, trailing stop</a:t>
            </a:r>
          </a:p>
          <a:p>
            <a:pPr algn="l">
              <a:spcAft>
                <a:spcPts val="300"/>
              </a:spcAft>
            </a:pPr>
            <a:r>
              <a:rPr sz="1150" b="0">
                <a:solidFill>
                  <a:srgbClr val="5B6372"/>
                </a:solidFill>
                <a:latin typeface="Arial"/>
              </a:rPr>
              <a:t>Trigger on a price; protect or enter on breaks.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Bracket / OCO / OTO</a:t>
            </a:r>
          </a:p>
          <a:p>
            <a:pPr algn="l">
              <a:spcAft>
                <a:spcPts val="300"/>
              </a:spcAft>
            </a:pPr>
            <a:r>
              <a:rPr sz="1150" b="0">
                <a:solidFill>
                  <a:srgbClr val="5B6372"/>
                </a:solidFill>
                <a:latin typeface="Arial"/>
              </a:rPr>
              <a:t>Entry with attached take-profit and stop-loss.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day · gtc · opg · cls · ioc · fok</a:t>
            </a:r>
          </a:p>
          <a:p>
            <a:pPr algn="l">
              <a:spcAft>
                <a:spcPts val="300"/>
              </a:spcAft>
            </a:pPr>
            <a:r>
              <a:rPr sz="1150" b="0">
                <a:solidFill>
                  <a:srgbClr val="5B6372"/>
                </a:solidFill>
                <a:latin typeface="Arial"/>
              </a:rPr>
              <a:t>How long an order stays working.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Performance and Risk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a:t>
            </a:r>
          </a:p>
          <a:p>
            <a:pPr algn="l">
              <a:spcAft>
                <a:spcPts val="300"/>
              </a:spcAft>
            </a:pPr>
            <a:r>
              <a:rPr sz="1150" b="0">
                <a:solidFill>
                  <a:srgbClr val="5B6372"/>
                </a:solidFill>
                <a:latin typeface="Arial"/>
              </a:rPr>
              <a:t>Total return · CAGR = (end/start)^(1/years) − 1.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t>
            </a:r>
          </a:p>
          <a:p>
            <a:pPr algn="l">
              <a:spcAft>
                <a:spcPts val="300"/>
              </a:spcAft>
            </a:pPr>
            <a:r>
              <a:rPr sz="1150" b="0">
                <a:solidFill>
                  <a:srgbClr val="5B6372"/>
                </a:solidFill>
                <a:latin typeface="Arial"/>
              </a:rPr>
              <a:t>Volatility = σ(daily) × √252 · maximum drawdown.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Risk-adjusted</a:t>
            </a:r>
          </a:p>
          <a:p>
            <a:pPr algn="l">
              <a:spcAft>
                <a:spcPts val="300"/>
              </a:spcAft>
            </a:pPr>
            <a:r>
              <a:rPr sz="1150" b="0">
                <a:solidFill>
                  <a:srgbClr val="5B6372"/>
                </a:solidFill>
                <a:latin typeface="Arial"/>
              </a:rPr>
              <a:t>Sharpe · Sortino · Calmar = CAGR / |MaxDD|.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Trade quality</a:t>
            </a:r>
          </a:p>
          <a:p>
            <a:pPr algn="l">
              <a:spcAft>
                <a:spcPts val="300"/>
              </a:spcAft>
            </a:pPr>
            <a:r>
              <a:rPr sz="1150" b="0">
                <a:solidFill>
                  <a:srgbClr val="5B6372"/>
                </a:solidFill>
                <a:latin typeface="Arial"/>
              </a:rPr>
              <a:t>Win rate · profit factor · expectancy · turnover · exposure.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of Trading Algorithms by Purpose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Purpose</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Examples</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Execution algorithms</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Work a large order at low cost and market impact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VWAP, TWAP, POV, implementation shortfall, iceberg, smart order routing</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Market making</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Quote bids and offers, earn the spread, manage inventory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Passive market making with resting limit orders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Arbitrage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Capture mispricing between related products or markets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ETF versus its basket, index futures versus stocks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Directional / alpha</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Take a view on the direction of price</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Trend following, momentum, breakout, mean reversion, news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Statistical arbitrage and pairs</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Hedged: long one asset, short a related one; trade the spread</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Pairs trading, cointegration, market-neutral baskets</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Factor and portfolio</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Build and rebalance portfolios from return drivers and risk</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Value, momentum, size factors; mean-variance optimisation</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Hedging and risk</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Offset unwanted exposure and enforce limits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Delta hedging, beta hedging, pairs hedge, kill switch</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SEC Classification of High-Frequency Strategies (2010)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Passive market making</a:t>
            </a:r>
          </a:p>
          <a:p>
            <a:pPr algn="l">
              <a:spcAft>
                <a:spcPts val="300"/>
              </a:spcAft>
            </a:pPr>
            <a:r>
              <a:rPr sz="1050" b="0">
                <a:solidFill>
                  <a:srgbClr val="5B6372"/>
                </a:solidFill>
                <a:latin typeface="Arial"/>
              </a:rPr>
              <a:t>Submits non-marketable resting bids and offers that provide liquidity at specified prices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Arbitrage</a:t>
            </a:r>
          </a:p>
          <a:p>
            <a:pPr algn="l">
              <a:spcAft>
                <a:spcPts val="300"/>
              </a:spcAft>
            </a:pPr>
            <a:r>
              <a:rPr sz="1050" b="0">
                <a:solidFill>
                  <a:srgbClr val="5B6372"/>
                </a:solidFill>
                <a:latin typeface="Arial"/>
              </a:rPr>
              <a:t>Captures pricing inefficiencies between related products or markets, e.g. an ETF and its basket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Structural</a:t>
            </a:r>
          </a:p>
          <a:p>
            <a:pPr algn="l">
              <a:spcAft>
                <a:spcPts val="300"/>
              </a:spcAft>
            </a:pPr>
            <a:r>
              <a:rPr sz="1050" b="0">
                <a:solidFill>
                  <a:srgbClr val="5B6372"/>
                </a:solidFill>
                <a:latin typeface="Arial"/>
              </a:rPr>
              <a:t>Exploits structural vulnerabilities in the market or its participants, e.g. stale quotes via faster data</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Directional</a:t>
            </a:r>
          </a:p>
          <a:p>
            <a:pPr algn="l">
              <a:spcAft>
                <a:spcPts val="300"/>
              </a:spcAft>
            </a:pPr>
            <a:r>
              <a:rPr sz="1050" b="0">
                <a:solidFill>
                  <a:srgbClr val="5B6372"/>
                </a:solidFill>
                <a:latin typeface="Arial"/>
              </a:rPr>
              <a:t>Takes a short-term position anticipating an intraday price move in a particular direction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Holding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Horizon</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Typical algorithms</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High-frequency</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Microseconds to seconds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Market making, ETF and latency arbitrage</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Intraday</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Minutes to hours</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VWAP / TWAP execution, intraday momentum</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Swing</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Days to weeks</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Mean reversion, pairs trading</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Position</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Weeks to months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Trend following, factor portfolios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Model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Rule-based</a:t>
            </a:r>
          </a:p>
          <a:p>
            <a:pPr algn="l">
              <a:spcAft>
                <a:spcPts val="300"/>
              </a:spcAft>
            </a:pPr>
            <a:r>
              <a:rPr sz="1050" b="0">
                <a:solidFill>
                  <a:srgbClr val="5B6372"/>
                </a:solidFill>
                <a:latin typeface="Arial"/>
              </a:rPr>
              <a:t>Fixed if-then rules on indicators, e.g. a moving-average crossover</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Statistical</a:t>
            </a:r>
          </a:p>
          <a:p>
            <a:pPr algn="l">
              <a:spcAft>
                <a:spcPts val="300"/>
              </a:spcAft>
            </a:pPr>
            <a:r>
              <a:rPr sz="1050" b="0">
                <a:solidFill>
                  <a:srgbClr val="5B6372"/>
                </a:solidFill>
                <a:latin typeface="Arial"/>
              </a:rPr>
              <a:t>Econometric tests and models: cointegration, regression, t-tests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Machine learning</a:t>
            </a:r>
          </a:p>
          <a:p>
            <a:pPr algn="l">
              <a:spcAft>
                <a:spcPts val="300"/>
              </a:spcAft>
            </a:pPr>
            <a:r>
              <a:rPr sz="1050" b="0">
                <a:solidFill>
                  <a:srgbClr val="5B6372"/>
                </a:solidFill>
                <a:latin typeface="Arial"/>
              </a:rPr>
              <a:t>Models learn from labelled data: logistic regression, random forest, XGBoost</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Reinforcement learning</a:t>
            </a:r>
          </a:p>
          <a:p>
            <a:pPr algn="l">
              <a:spcAft>
                <a:spcPts val="300"/>
              </a:spcAft>
            </a:pPr>
            <a:r>
              <a:rPr sz="1050" b="0">
                <a:solidFill>
                  <a:srgbClr val="5B6372"/>
                </a:solidFill>
                <a:latin typeface="Arial"/>
              </a:rPr>
              <a:t>Learns a policy from rewards, e.g. order-execution research</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LLM and agentic</a:t>
            </a:r>
          </a:p>
          <a:p>
            <a:pPr algn="l">
              <a:spcAft>
                <a:spcPts val="300"/>
              </a:spcAft>
            </a:pPr>
            <a:r>
              <a:rPr sz="1050" b="0">
                <a:solidFill>
                  <a:srgbClr val="5B6372"/>
                </a:solidFill>
                <a:latin typeface="Arial"/>
              </a:rPr>
              <a:t>Language models read text and agents plan, code and act under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Trend following</a:t>
            </a:r>
          </a:p>
          <a:p>
            <a:pPr algn="l">
              <a:spcAft>
                <a:spcPts val="300"/>
              </a:spcAft>
            </a:pPr>
            <a:r>
              <a:rPr sz="1000" b="0">
                <a:solidFill>
                  <a:srgbClr val="5B6372"/>
                </a:solidFill>
                <a:latin typeface="Arial"/>
              </a:rPr>
              <a:t>Rides sustained moves in the direction of the trend; cuts losers quickly  -  e.g. Buy when the 50-day moving average crosses above the 200-day</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Mean reversion</a:t>
            </a:r>
          </a:p>
          <a:p>
            <a:pPr algn="l">
              <a:spcAft>
                <a:spcPts val="300"/>
              </a:spcAft>
            </a:pPr>
            <a:r>
              <a:rPr sz="1000" b="0">
                <a:solidFill>
                  <a:srgbClr val="5B6372"/>
                </a:solidFill>
                <a:latin typeface="Arial"/>
              </a:rPr>
              <a:t>Bets that prices stretched far from their average will snap back  -  e.g. Buy when price closes below the lower Bollinger Band (20-day, 2 std dev)</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Momentum and breakout</a:t>
            </a:r>
          </a:p>
          <a:p>
            <a:pPr algn="l">
              <a:spcAft>
                <a:spcPts val="300"/>
              </a:spcAft>
            </a:pPr>
            <a:r>
              <a:rPr sz="1000" b="0">
                <a:solidFill>
                  <a:srgbClr val="5B6372"/>
                </a:solidFill>
                <a:latin typeface="Arial"/>
              </a:rPr>
              <a:t>Buys recent winners or prices breaking out of a range, expecting them to keep going  -  e.g. Buy on a close above the 20-day high (Donchian channel breakout)</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Statistical / pairs arbitrage</a:t>
            </a:r>
          </a:p>
          <a:p>
            <a:pPr algn="l">
              <a:spcAft>
                <a:spcPts val="300"/>
              </a:spcAft>
            </a:pPr>
            <a:r>
              <a:rPr sz="1000" b="0">
                <a:solidFill>
                  <a:srgbClr val="5B6372"/>
                </a:solidFill>
                <a:latin typeface="Arial"/>
              </a:rPr>
              <a:t>Trades the spread between two related assets when it drifts from its normal level  -  e.g. Short the rich leg, buy the cheap leg when the spread z-score exceeds 2</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Execution algorithms</a:t>
            </a:r>
          </a:p>
          <a:p>
            <a:pPr algn="l">
              <a:spcAft>
                <a:spcPts val="300"/>
              </a:spcAft>
            </a:pPr>
            <a:r>
              <a:rPr sz="1000" b="0">
                <a:solidFill>
                  <a:srgbClr val="5B6372"/>
                </a:solidFill>
                <a:latin typeface="Arial"/>
              </a:rPr>
              <a:t>Split a large order to minimise cost and market impact: VWAP, TWAP, POV, implementation shortfall  -  e.g. POV: trade 10% of market volume until the order is filled</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Market making</a:t>
            </a:r>
          </a:p>
          <a:p>
            <a:pPr algn="l">
              <a:spcAft>
                <a:spcPts val="300"/>
              </a:spcAft>
            </a:pPr>
            <a:r>
              <a:rPr sz="1000" b="0">
                <a:solidFill>
                  <a:srgbClr val="5B6372"/>
                </a:solidFill>
                <a:latin typeface="Arial"/>
              </a:rPr>
              <a:t>Continuously quotes buy and sell prices, earning the spread while managing inventory  -  e.g. Quote bid and ask around mid-price; skew quotes as inventory builds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Index rebalancing / event-driven</a:t>
            </a:r>
          </a:p>
          <a:p>
            <a:pPr algn="l">
              <a:spcAft>
                <a:spcPts val="300"/>
              </a:spcAft>
            </a:pPr>
            <a:r>
              <a:rPr sz="1000" b="0">
                <a:solidFill>
                  <a:srgbClr val="5B6372"/>
                </a:solidFill>
                <a:latin typeface="Arial"/>
              </a:rPr>
              <a:t>Trades predictable flows around index changes, earnings and corporate events  -  e.g. Position ahead of announced index inclusions on the rebalance date</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Sentiment / NLP</a:t>
            </a:r>
          </a:p>
          <a:p>
            <a:pPr algn="l">
              <a:spcAft>
                <a:spcPts val="300"/>
              </a:spcAft>
            </a:pPr>
            <a:r>
              <a:rPr sz="1000" b="0">
                <a:solidFill>
                  <a:srgbClr val="5B6372"/>
                </a:solidFill>
                <a:latin typeface="Arial"/>
              </a:rPr>
              <a:t>Turns news, filings and social media text into trading signals using NLP or LLMs  -  e.g. Go long when the average FinBERT headline sentiment is strongly positive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TOPIC 2 · HOW THE ALGORITHMS WORK</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Concepts over code</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algorithm below is coded for you - by the simulator or an AI assistant. Learn what it does, when it works and what can go wrong; let AI handle the syntax.</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Moving-Average Crossover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_crossover.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Two moving averages of the close: a fast one reacts quickly, a slow one shows the trend.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Fast crosses ABOVE slow (golden cross): buy. Fast crosses BELOW (death cross): sell or go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Markets trend for months - it rides the move and cuts losers when the trend turns.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Whipsaws in sideways markets; signals lag; trade on the next bar, not the crossing bar.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Bollinger Band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ollinger.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Bands = 20-day mean +/- 2 standard deviations. A close outside the band is 'stretched'.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below the lower band: buy. Exit when the price returns to the middle band (the mean).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Range-bound markets where over-reactions snap back, e.g. a defensive stock such as KO.</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Strong trends keep 'stretching' - add a stop-loss or a trend filter; many small wins, rare big losses.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RSI and MACD Momentum Oscillators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rsi_macd.png"/>
          <p:cNvPicPr>
            <a:picLocks noChangeAspect="1"/>
          </p:cNvPicPr>
          <p:nvPr/>
        </p:nvPicPr>
        <p:blipFill>
          <a:blip r:embed="rId2"/>
          <a:stretch>
            <a:fillRect/>
          </a:stretch>
        </p:blipFill>
        <p:spPr>
          <a:xfrm>
            <a:off x="777240" y="2012079"/>
            <a:ext cx="6172200" cy="397684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RSI = 100 - 100/(1+RS), RS = average gain / average loss over 14 bars. MACD = EMA12 - EMA26.</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RSI &lt; 30 oversold / &gt; 70 overbought. MACD crossing above its 9-EMA signal line = momentum buy.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As filters or confirmation for a trend or mean-reversion rule, not as stand-alone predictors.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Oscillators can stay overbought in strong trends; RSI and MACD are highly correlated with price.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Cross-Sectional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omentum.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Rank a universe by past return (e.g. 12 months, skipping the last month) each month.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Hold the top-ranked assets, avoid or short the bottom-ranked; rebalance monthly.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Information spreads slowly and winners keep winning for several months.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Sharp 'momentum crashes' when markets reverse; turnover costs at every rebalance.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Donchian Channel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reakout.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Track the highest high and lowest low of the last n bars (n = 20 here).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above the 20-day high: buy the breakout. Exit below the 20-day low (or a trailing stop).</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New trends start with a break of a range - the rule used by the 1980s 'Turtle Traders'.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False breakouts in choppy markets; the channel must use PREVIOUS bars only (no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VWAP and TWAP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vwap_t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Split a large parent order into child orders through the day to reduce market impact.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TWAP: equal slices per time interval. VWAP: slices proportional to the typical volume curve.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Working client or fund orders too large to trade at once; benchmarked to the day's VWAP.</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VWAP relies on a volume forecast; both are predictable to other traders - add randomisation.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Market Making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rket_mak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Quote a bid below and an ask above the mid price at the same time.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Earn the spread when both sides fill; skew quotes down when long, up when short, to cut inventory.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Liquid markets with steady two-way flow - the business of quant market makers.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Adverse selection by better-informed traders; inventory risk in fast moves; needs low latency.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versus Alpaca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TradingView</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Alpaca</a:t>
            </a:r>
          </a:p>
        </p:txBody>
      </p:sp>
      <p:sp>
        <p:nvSpPr>
          <p:cNvPr id="14" name="Rectangle 13"/>
          <p:cNvSpPr/>
          <p:nvPr/>
        </p:nvSpPr>
        <p:spPr>
          <a:xfrm>
            <a:off x="777240" y="228600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Charting and strategy-design platform</a:t>
            </a:r>
          </a:p>
        </p:txBody>
      </p:sp>
      <p:sp>
        <p:nvSpPr>
          <p:cNvPr id="17" name="TextBox 16"/>
          <p:cNvSpPr txBox="1"/>
          <p:nvPr/>
        </p:nvSpPr>
        <p:spPr>
          <a:xfrm>
            <a:off x="7260336" y="228600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API-first US broker for automated trading</a:t>
            </a:r>
          </a:p>
        </p:txBody>
      </p:sp>
      <p:sp>
        <p:nvSpPr>
          <p:cNvPr id="18" name="TextBox 17"/>
          <p:cNvSpPr txBox="1"/>
          <p:nvPr/>
        </p:nvSpPr>
        <p:spPr>
          <a:xfrm>
            <a:off x="886968" y="272796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Markets</a:t>
            </a:r>
          </a:p>
        </p:txBody>
      </p:sp>
      <p:sp>
        <p:nvSpPr>
          <p:cNvPr id="19" name="TextBox 18"/>
          <p:cNvSpPr txBox="1"/>
          <p:nvPr/>
        </p:nvSpPr>
        <p:spPr>
          <a:xfrm>
            <a:off x="3017520" y="272796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Global charts incl. SGX, US, FX, crypto</a:t>
            </a:r>
          </a:p>
        </p:txBody>
      </p:sp>
      <p:sp>
        <p:nvSpPr>
          <p:cNvPr id="20" name="TextBox 19"/>
          <p:cNvSpPr txBox="1"/>
          <p:nvPr/>
        </p:nvSpPr>
        <p:spPr>
          <a:xfrm>
            <a:off x="7260336" y="272796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US stocks and ETFs, options, crypto</a:t>
            </a:r>
          </a:p>
        </p:txBody>
      </p:sp>
      <p:sp>
        <p:nvSpPr>
          <p:cNvPr id="21" name="Rectangle 20"/>
          <p:cNvSpPr/>
          <p:nvPr/>
        </p:nvSpPr>
        <p:spPr>
          <a:xfrm>
            <a:off x="777240" y="316992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1699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Strategy design</a:t>
            </a:r>
          </a:p>
        </p:txBody>
      </p:sp>
      <p:sp>
        <p:nvSpPr>
          <p:cNvPr id="23" name="TextBox 22"/>
          <p:cNvSpPr txBox="1"/>
          <p:nvPr/>
        </p:nvSpPr>
        <p:spPr>
          <a:xfrm>
            <a:off x="3017520" y="31699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Pine Script v6 indicators and strategies</a:t>
            </a:r>
          </a:p>
        </p:txBody>
      </p:sp>
      <p:sp>
        <p:nvSpPr>
          <p:cNvPr id="24" name="TextBox 23"/>
          <p:cNvSpPr txBox="1"/>
          <p:nvPr/>
        </p:nvSpPr>
        <p:spPr>
          <a:xfrm>
            <a:off x="7260336" y="31699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Write it yourself in Python (alpaca-py)</a:t>
            </a:r>
          </a:p>
        </p:txBody>
      </p:sp>
      <p:sp>
        <p:nvSpPr>
          <p:cNvPr id="25" name="TextBox 24"/>
          <p:cNvSpPr txBox="1"/>
          <p:nvPr/>
        </p:nvSpPr>
        <p:spPr>
          <a:xfrm>
            <a:off x="886968" y="361187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Backtesting</a:t>
            </a:r>
          </a:p>
        </p:txBody>
      </p:sp>
      <p:sp>
        <p:nvSpPr>
          <p:cNvPr id="26" name="TextBox 25"/>
          <p:cNvSpPr txBox="1"/>
          <p:nvPr/>
        </p:nvSpPr>
        <p:spPr>
          <a:xfrm>
            <a:off x="3017520" y="361187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Strategy Tester (simplified costs and fills)</a:t>
            </a:r>
          </a:p>
        </p:txBody>
      </p:sp>
      <p:sp>
        <p:nvSpPr>
          <p:cNvPr id="27" name="TextBox 26"/>
          <p:cNvSpPr txBox="1"/>
          <p:nvPr/>
        </p:nvSpPr>
        <p:spPr>
          <a:xfrm>
            <a:off x="7260336" y="361187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None built in - you build a cost-aware backtest</a:t>
            </a:r>
          </a:p>
        </p:txBody>
      </p:sp>
      <p:sp>
        <p:nvSpPr>
          <p:cNvPr id="28" name="Rectangle 27"/>
          <p:cNvSpPr/>
          <p:nvPr/>
        </p:nvSpPr>
        <p:spPr>
          <a:xfrm>
            <a:off x="777240" y="405384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05384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Paper trading</a:t>
            </a:r>
          </a:p>
        </p:txBody>
      </p:sp>
      <p:sp>
        <p:nvSpPr>
          <p:cNvPr id="30" name="TextBox 29"/>
          <p:cNvSpPr txBox="1"/>
          <p:nvPr/>
        </p:nvSpPr>
        <p:spPr>
          <a:xfrm>
            <a:off x="3017520" y="405384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Built-in Paper Trading account from the chart</a:t>
            </a:r>
          </a:p>
        </p:txBody>
      </p:sp>
      <p:sp>
        <p:nvSpPr>
          <p:cNvPr id="31" name="TextBox 30"/>
          <p:cNvSpPr txBox="1"/>
          <p:nvPr/>
        </p:nvSpPr>
        <p:spPr>
          <a:xfrm>
            <a:off x="7260336" y="405384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Paper account mirroring the live API</a:t>
            </a:r>
          </a:p>
        </p:txBody>
      </p:sp>
      <p:sp>
        <p:nvSpPr>
          <p:cNvPr id="32" name="TextBox 31"/>
          <p:cNvSpPr txBox="1"/>
          <p:nvPr/>
        </p:nvSpPr>
        <p:spPr>
          <a:xfrm>
            <a:off x="886968" y="449579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Automation</a:t>
            </a:r>
          </a:p>
        </p:txBody>
      </p:sp>
      <p:sp>
        <p:nvSpPr>
          <p:cNvPr id="33" name="TextBox 32"/>
          <p:cNvSpPr txBox="1"/>
          <p:nvPr/>
        </p:nvSpPr>
        <p:spPr>
          <a:xfrm>
            <a:off x="3017520" y="449579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Alerts; webhooks on paid plans</a:t>
            </a:r>
          </a:p>
        </p:txBody>
      </p:sp>
      <p:sp>
        <p:nvSpPr>
          <p:cNvPr id="34" name="TextBox 33"/>
          <p:cNvSpPr txBox="1"/>
          <p:nvPr/>
        </p:nvSpPr>
        <p:spPr>
          <a:xfrm>
            <a:off x="7260336" y="449579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Trading API: orders, positions, clock; 24/5 trading</a:t>
            </a:r>
          </a:p>
        </p:txBody>
      </p:sp>
      <p:sp>
        <p:nvSpPr>
          <p:cNvPr id="35" name="Rectangle 34"/>
          <p:cNvSpPr/>
          <p:nvPr/>
        </p:nvSpPr>
        <p:spPr>
          <a:xfrm>
            <a:off x="777240" y="4937759"/>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493775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Data</a:t>
            </a:r>
          </a:p>
        </p:txBody>
      </p:sp>
      <p:sp>
        <p:nvSpPr>
          <p:cNvPr id="37" name="TextBox 36"/>
          <p:cNvSpPr txBox="1"/>
          <p:nvPr/>
        </p:nvSpPr>
        <p:spPr>
          <a:xfrm>
            <a:off x="3017520" y="493775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Charts and Data Window</a:t>
            </a:r>
          </a:p>
        </p:txBody>
      </p:sp>
      <p:sp>
        <p:nvSpPr>
          <p:cNvPr id="38" name="TextBox 37"/>
          <p:cNvSpPr txBox="1"/>
          <p:nvPr/>
        </p:nvSpPr>
        <p:spPr>
          <a:xfrm>
            <a:off x="7260336" y="493775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Market Data API: bars, quotes, trades, news (IEX free)</a:t>
            </a:r>
          </a:p>
        </p:txBody>
      </p:sp>
      <p:sp>
        <p:nvSpPr>
          <p:cNvPr id="39" name="TextBox 38"/>
          <p:cNvSpPr txBox="1"/>
          <p:nvPr/>
        </p:nvSpPr>
        <p:spPr>
          <a:xfrm>
            <a:off x="886968" y="53797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Machine learning</a:t>
            </a:r>
          </a:p>
        </p:txBody>
      </p:sp>
      <p:sp>
        <p:nvSpPr>
          <p:cNvPr id="40" name="TextBox 39"/>
          <p:cNvSpPr txBox="1"/>
          <p:nvPr/>
        </p:nvSpPr>
        <p:spPr>
          <a:xfrm>
            <a:off x="3017520" y="53797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Not supported</a:t>
            </a:r>
          </a:p>
        </p:txBody>
      </p:sp>
      <p:sp>
        <p:nvSpPr>
          <p:cNvPr id="41" name="TextBox 40"/>
          <p:cNvSpPr txBox="1"/>
          <p:nvPr/>
        </p:nvSpPr>
        <p:spPr>
          <a:xfrm>
            <a:off x="7260336" y="53797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Any Python library (scikit-learn, XGBoost)</a:t>
            </a:r>
          </a:p>
        </p:txBody>
      </p:sp>
      <p:sp>
        <p:nvSpPr>
          <p:cNvPr id="42" name="Rectangle 41"/>
          <p:cNvSpPr/>
          <p:nvPr/>
        </p:nvSpPr>
        <p:spPr>
          <a:xfrm>
            <a:off x="777240" y="582168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6968" y="582168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Best used for</a:t>
            </a:r>
          </a:p>
        </p:txBody>
      </p:sp>
      <p:sp>
        <p:nvSpPr>
          <p:cNvPr id="44" name="TextBox 43"/>
          <p:cNvSpPr txBox="1"/>
          <p:nvPr/>
        </p:nvSpPr>
        <p:spPr>
          <a:xfrm>
            <a:off x="3017520" y="582168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Designing, visualising and first-testing a rule</a:t>
            </a:r>
          </a:p>
        </p:txBody>
      </p:sp>
      <p:sp>
        <p:nvSpPr>
          <p:cNvPr id="45" name="TextBox 44"/>
          <p:cNvSpPr txBox="1"/>
          <p:nvPr/>
        </p:nvSpPr>
        <p:spPr>
          <a:xfrm>
            <a:off x="7260336" y="582168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Executing and forward-testing it automatically</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Paper Trading on TradingView,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Supercharts &gt; Trade &gt; Paper Trading &gt; Connect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starting capital and commission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Order ticket: side, quantity, Market / Limit / Stop</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stop loss and take profit; place order</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Track Positions, Orders, Account History</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Close the position; reset when done</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Paper fills use TradingView's prices but cannot show your own market impact - compare them with the backtest's assumed costs.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Paper Trading on Alpaca, Step by Step - Manual and Automated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Dashboard: Paper account &gt; search SPY &gt; Buy</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Watch Orders: new &gt; accepted &gt; filled</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Outside US hours: extended-hours LIMIT orders</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python -m pipeline execute (order manager)</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python -m pipeline run --loop --live-paper</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Check dashboard; kill switch to stop</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From Singapore the US regular session is 21:30-04:00 (22:30-05:00 in northern winter); class-time orders use Alpaca's 24/5 extended-hours limit orders.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Order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program must read the status — never assume a fill.</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new</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accepted</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partially filled</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filled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cancelled / expired / rejected</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Bracket orders protect a position even if your program stops running.</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Idea to Tested Rule on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A3</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Chart the instrument and timeframe</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indicators (Pine)</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Write the strategy() script</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commission and slippage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Read the Strategy Tester</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buy-and-hold</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Strategy Tester is a first filter; the full test with costs runs in Python.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Indicator Stage: Pine Script v6 Indicators and their Python Twins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Add the desk's Pine Script v6 indicators to a TradingView chart, build pipeline/indicators.py with twins of ta.ema, ta.sma, ta.rsi, ta.bb, ta.atr, ta.macd, ta.crossover and ta.crossunder, and cross-check the values against the TradingView Data Window.</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trend and bands indicator</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RSI pane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Record the TradingView values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Pine twins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cross-check run</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Pine Script v6 indicators on TradingView and their Python twins, cross-checked value by value.</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5_pine_preview.png"/>
          <p:cNvPicPr>
            <a:picLocks noChangeAspect="1"/>
          </p:cNvPicPr>
          <p:nvPr/>
        </p:nvPicPr>
        <p:blipFill>
          <a:blip r:embed="rId2"/>
          <a:stretch>
            <a:fillRect/>
          </a:stretch>
        </p:blipFill>
        <p:spPr>
          <a:xfrm>
            <a:off x="2870033" y="1828800"/>
            <a:ext cx="6451628" cy="3794760"/>
          </a:xfrm>
          <a:prstGeom prst="rect">
            <a:avLst/>
          </a:prstGeom>
        </p:spPr>
      </p:pic>
      <p:sp>
        <p:nvSpPr>
          <p:cNvPr id="8" name="Rectangle 7"/>
          <p:cNvSpPr/>
          <p:nvPr/>
        </p:nvSpPr>
        <p:spPr>
          <a:xfrm>
            <a:off x="2859060" y="1817827"/>
            <a:ext cx="6473574"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Lab05-pine-indicators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 Prototype: TradingView Strategy Tester, Paper Trading from the Chart and Pipeline Reconciliation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Configure a Pine Script v6 strategy with costs, read the Strategy Tester, build `python -m pipeline reconcile` to check the Pine settings and reproduce the results, and place and manage paper trades from the chart with TradingView Paper Trading (and optionally an Alpaca paper account).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strategy code</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it in the Strategy Tester and record the results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reconciliation stage</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Reconcile TradingView with the pipeline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Explain the differences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+5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Pine MA-crossover strategy with costs, reconciled with the pipeline and paper-traded from the chart.</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06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6_crosscheck.png"/>
          <p:cNvPicPr>
            <a:picLocks noChangeAspect="1"/>
          </p:cNvPicPr>
          <p:nvPr/>
        </p:nvPicPr>
        <p:blipFill>
          <a:blip r:embed="rId2"/>
          <a:stretch>
            <a:fillRect/>
          </a:stretch>
        </p:blipFill>
        <p:spPr>
          <a:xfrm>
            <a:off x="2918027" y="1828800"/>
            <a:ext cx="6355640" cy="3794760"/>
          </a:xfrm>
          <a:prstGeom prst="rect">
            <a:avLst/>
          </a:prstGeom>
        </p:spPr>
      </p:pic>
      <p:sp>
        <p:nvSpPr>
          <p:cNvPr id="8" name="Rectangle 7"/>
          <p:cNvSpPr/>
          <p:nvPr/>
        </p:nvSpPr>
        <p:spPr>
          <a:xfrm>
            <a:off x="2907054" y="1817827"/>
            <a:ext cx="637758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Lab06-pine-strategy-tester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15 minutes  ·  see you at 15:40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Signal Stage: a Library of Trend, Mean-Reversion, Momentum and Breakout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pipeline/signals.py with trend, mean-reversion, momentum and breakout signals that return target positions with next-bar alignment, a registry, an automated look-ahead test and a universe target file for the execution stage.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Agree the signal contract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trend signals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mean-reversion, momentum and breakout signals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registry, next-bar alignment and the look-ahead test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signals command</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signal library (trend, mean reversion, momentum, breakout) with next-bar alignment and look-ahead tests.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07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7_signals.png"/>
          <p:cNvPicPr>
            <a:picLocks noChangeAspect="1"/>
          </p:cNvPicPr>
          <p:nvPr/>
        </p:nvPicPr>
        <p:blipFill>
          <a:blip r:embed="rId2"/>
          <a:stretch>
            <a:fillRect/>
          </a:stretch>
        </p:blipFill>
        <p:spPr>
          <a:xfrm>
            <a:off x="3635598" y="1828800"/>
            <a:ext cx="4920497" cy="3794760"/>
          </a:xfrm>
          <a:prstGeom prst="rect">
            <a:avLst/>
          </a:prstGeom>
        </p:spPr>
      </p:pic>
      <p:sp>
        <p:nvSpPr>
          <p:cNvPr id="8" name="Rectangle 7"/>
          <p:cNvSpPr/>
          <p:nvPr/>
        </p:nvSpPr>
        <p:spPr>
          <a:xfrm>
            <a:off x="3624625" y="1817827"/>
            <a:ext cx="4942443"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Lab07-python-indicators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Execution Stage: an Order Manager that Trades the Paper Account in Any Session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pipeline/execution.py: a session-aware, idempotent order manager that sizes orders from target weights, sends market, extended-hours limit, GTC-queued or bracket PAPER orders, polls their lifecycle, cancels protective legs before exits, and falls back safely when an order is rejected.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Learn the order rules for each session</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planning logic: target vs actual</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session-aware, idempotent order submission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polling, protective-order handling and safe fallbacks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order manager in the current session</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+5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order manager that turns target positions into paper orders in regular or extended hours.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Evaluation Stage: Performance and Risk Metrics with a Benchmark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K3</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evaluate` to compute total return, CAGR, volatility, Sharpe, Sortino, maximum drawdown, Calmar, win rate, profit factor, exposure, turnover, alpha and beta for every signal against a buy-and-hold benchmark, and interpret the ranking.</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metric formulas</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evaluation stage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evaluation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Check one metric by hand</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Interpret trade and market metrics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evaluation stage producing the metrics and benchmark table for every strategy.</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9_metrics.png"/>
          <p:cNvPicPr>
            <a:picLocks noChangeAspect="1"/>
          </p:cNvPicPr>
          <p:nvPr/>
        </p:nvPicPr>
        <p:blipFill>
          <a:blip r:embed="rId2"/>
          <a:stretch>
            <a:fillRect/>
          </a:stretch>
        </p:blipFill>
        <p:spPr>
          <a:xfrm>
            <a:off x="2918027" y="1828800"/>
            <a:ext cx="6355640" cy="3794760"/>
          </a:xfrm>
          <a:prstGeom prst="rect">
            <a:avLst/>
          </a:prstGeom>
        </p:spPr>
      </p:pic>
      <p:sp>
        <p:nvSpPr>
          <p:cNvPr id="8" name="Rectangle 7"/>
          <p:cNvSpPr/>
          <p:nvPr/>
        </p:nvSpPr>
        <p:spPr>
          <a:xfrm>
            <a:off x="2907054" y="1817827"/>
            <a:ext cx="637758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Lab09-performance-metrics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2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K5  K7</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See you at 09:00 tomorrow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7C3AED"/>
                </a:solidFill>
                <a:latin typeface="Arial"/>
              </a:rPr>
              <a:t>TOPIC 3</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ML Models and A/B Testing</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7C3AED"/>
                </a:solidFill>
                <a:latin typeface="Arial"/>
              </a:rPr>
              <a:t>LEARNING OUTCOME</a:t>
            </a:r>
          </a:p>
          <a:p>
            <a:pPr algn="l">
              <a:spcAft>
                <a:spcPts val="400"/>
              </a:spcAft>
            </a:pPr>
            <a:r>
              <a:rPr sz="1350" b="0">
                <a:solidFill>
                  <a:srgbClr val="161B26"/>
                </a:solidFill>
                <a:latin typeface="Arial"/>
              </a:rPr>
              <a:t>Conduct statistical modelling of market data with machine learning models to derive patterns and solutions, and perform A/B testing of trading strategies based on different hypotheses.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A4, A5  ·  Knowledge K2, K4, K6   ·   Day 2   ·   Labs 10–14   ·   Assessed by PP Task 3 and WA Q2, Q4, Q6</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Statistical Analyses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Descriptive</a:t>
            </a:r>
          </a:p>
          <a:p>
            <a:pPr algn="l">
              <a:spcAft>
                <a:spcPts val="300"/>
              </a:spcAft>
            </a:pPr>
            <a:r>
              <a:rPr sz="1150" b="0">
                <a:solidFill>
                  <a:srgbClr val="5B6372"/>
                </a:solidFill>
                <a:latin typeface="Arial"/>
              </a:rPr>
              <a:t>What happened — mean return, volatility, skew, correlation.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Inferential</a:t>
            </a:r>
          </a:p>
          <a:p>
            <a:pPr algn="l">
              <a:spcAft>
                <a:spcPts val="300"/>
              </a:spcAft>
            </a:pPr>
            <a:r>
              <a:rPr sz="1150" b="0">
                <a:solidFill>
                  <a:srgbClr val="5B6372"/>
                </a:solidFill>
                <a:latin typeface="Arial"/>
              </a:rPr>
              <a:t>Is it real? — t-test, bootstrap, confidence intervals.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Predictive</a:t>
            </a:r>
          </a:p>
          <a:p>
            <a:pPr algn="l">
              <a:spcAft>
                <a:spcPts val="300"/>
              </a:spcAft>
            </a:pPr>
            <a:r>
              <a:rPr sz="1150" b="0">
                <a:solidFill>
                  <a:srgbClr val="5B6372"/>
                </a:solidFill>
                <a:latin typeface="Arial"/>
              </a:rPr>
              <a:t>What next? — regression, classification.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Prescriptive</a:t>
            </a:r>
          </a:p>
          <a:p>
            <a:pPr algn="l">
              <a:spcAft>
                <a:spcPts val="300"/>
              </a:spcAft>
            </a:pPr>
            <a:r>
              <a:rPr sz="1150" b="0">
                <a:solidFill>
                  <a:srgbClr val="5B6372"/>
                </a:solidFill>
                <a:latin typeface="Arial"/>
              </a:rPr>
              <a:t>What to do? — optimisation, position sizing.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Families of Learning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Supervised</a:t>
            </a:r>
          </a:p>
          <a:p>
            <a:pPr algn="l">
              <a:spcAft>
                <a:spcPts val="300"/>
              </a:spcAft>
            </a:pPr>
            <a:r>
              <a:rPr sz="1150" b="0">
                <a:solidFill>
                  <a:srgbClr val="5B6372"/>
                </a:solidFill>
                <a:latin typeface="Arial"/>
              </a:rPr>
              <a:t>Features → known target: up/down, next return.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Unsupervised</a:t>
            </a:r>
          </a:p>
          <a:p>
            <a:pPr algn="l">
              <a:spcAft>
                <a:spcPts val="300"/>
              </a:spcAft>
            </a:pPr>
            <a:r>
              <a:rPr sz="1150" b="0">
                <a:solidFill>
                  <a:srgbClr val="5B6372"/>
                </a:solidFill>
                <a:latin typeface="Arial"/>
              </a:rPr>
              <a:t>Structure without a target: regimes, PCA factors.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Reinforcement</a:t>
            </a:r>
          </a:p>
          <a:p>
            <a:pPr algn="l">
              <a:spcAft>
                <a:spcPts val="300"/>
              </a:spcAft>
            </a:pPr>
            <a:r>
              <a:rPr sz="1150" b="0">
                <a:solidFill>
                  <a:srgbClr val="5B6372"/>
                </a:solidFill>
                <a:latin typeface="Arial"/>
              </a:rPr>
              <a:t>Learn a policy from rewards — execution research.</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Search &amp; simulation</a:t>
            </a:r>
          </a:p>
          <a:p>
            <a:pPr algn="l">
              <a:spcAft>
                <a:spcPts val="300"/>
              </a:spcAft>
            </a:pPr>
            <a:r>
              <a:rPr sz="1150" b="0">
                <a:solidFill>
                  <a:srgbClr val="5B6372"/>
                </a:solidFill>
                <a:latin typeface="Arial"/>
              </a:rPr>
              <a:t>Grid search, Monte Carlo, bootstrap, walk-forward.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Supervised Models for Trading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Linear / logistic regression</a:t>
            </a:r>
          </a:p>
          <a:p>
            <a:pPr algn="l">
              <a:spcAft>
                <a:spcPts val="300"/>
              </a:spcAft>
            </a:pPr>
            <a:r>
              <a:rPr sz="1150" b="0">
                <a:solidFill>
                  <a:srgbClr val="5B6372"/>
                </a:solidFill>
                <a:latin typeface="Arial"/>
              </a:rPr>
              <a:t>Interpretable baselines; P(up) from a weighted sum.</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Decision tree &amp; random forest</a:t>
            </a:r>
          </a:p>
          <a:p>
            <a:pPr algn="l">
              <a:spcAft>
                <a:spcPts val="300"/>
              </a:spcAft>
            </a:pPr>
            <a:r>
              <a:rPr sz="1150" b="0">
                <a:solidFill>
                  <a:srgbClr val="5B6372"/>
                </a:solidFill>
                <a:latin typeface="Arial"/>
              </a:rPr>
              <a:t>Threshold splits; averaged trees reduce variance.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XGBoost</a:t>
            </a:r>
          </a:p>
          <a:p>
            <a:pPr algn="l">
              <a:spcAft>
                <a:spcPts val="300"/>
              </a:spcAft>
            </a:pPr>
            <a:r>
              <a:rPr sz="1150" b="0">
                <a:solidFill>
                  <a:srgbClr val="5B6372"/>
                </a:solidFill>
                <a:latin typeface="Arial"/>
              </a:rPr>
              <a:t>Sequential boosted trees — strongest on tabular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Neural networks</a:t>
            </a:r>
          </a:p>
          <a:p>
            <a:pPr algn="l">
              <a:spcAft>
                <a:spcPts val="300"/>
              </a:spcAft>
            </a:pPr>
            <a:r>
              <a:rPr sz="1150" b="0">
                <a:solidFill>
                  <a:srgbClr val="5B6372"/>
                </a:solidFill>
                <a:latin typeface="Arial"/>
              </a:rPr>
              <a:t>MLP, LSTM, Transformer — data-hungry, easy to overfit.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Unsupervised Models for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K-means</a:t>
            </a:r>
          </a:p>
          <a:p>
            <a:pPr algn="l">
              <a:spcAft>
                <a:spcPts val="300"/>
              </a:spcAft>
            </a:pPr>
            <a:r>
              <a:rPr sz="1150" b="0">
                <a:solidFill>
                  <a:srgbClr val="5B6372"/>
                </a:solidFill>
                <a:latin typeface="Arial"/>
              </a:rPr>
              <a:t>Minimise within-cluster variance; choose k by elbow or silhouette.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Hierarchical clustering</a:t>
            </a:r>
          </a:p>
          <a:p>
            <a:pPr algn="l">
              <a:spcAft>
                <a:spcPts val="300"/>
              </a:spcAft>
            </a:pPr>
            <a:r>
              <a:rPr sz="1150" b="0">
                <a:solidFill>
                  <a:srgbClr val="5B6372"/>
                </a:solidFill>
                <a:latin typeface="Arial"/>
              </a:rPr>
              <a:t>Dendrogram of similar assets for diversification.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PCA</a:t>
            </a:r>
          </a:p>
          <a:p>
            <a:pPr algn="l">
              <a:spcAft>
                <a:spcPts val="300"/>
              </a:spcAft>
            </a:pPr>
            <a:r>
              <a:rPr sz="1150" b="0">
                <a:solidFill>
                  <a:srgbClr val="5B6372"/>
                </a:solidFill>
                <a:latin typeface="Arial"/>
              </a:rPr>
              <a:t>First component ≈ the market; yield curve = level, slope, curvature.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Fit on the past only</a:t>
            </a:r>
          </a:p>
          <a:p>
            <a:pPr algn="l">
              <a:spcAft>
                <a:spcPts val="300"/>
              </a:spcAft>
            </a:pPr>
            <a:r>
              <a:rPr sz="1150" b="0">
                <a:solidFill>
                  <a:srgbClr val="5B6372"/>
                </a:solidFill>
                <a:latin typeface="Arial"/>
              </a:rPr>
              <a:t>Assign new days to regimes as they arrive.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Statistical Modelling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Returns, not prices</a:t>
            </a:r>
          </a:p>
          <a:p>
            <a:pPr algn="l">
              <a:spcAft>
                <a:spcPts val="300"/>
              </a:spcAft>
            </a:pPr>
            <a:r>
              <a:rPr sz="1150" b="0">
                <a:solidFill>
                  <a:srgbClr val="5B6372"/>
                </a:solidFill>
                <a:latin typeface="Arial"/>
              </a:rPr>
              <a:t>Closer to stationary; avoids spurious regression.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Time-ordered validation</a:t>
            </a:r>
          </a:p>
          <a:p>
            <a:pPr algn="l">
              <a:spcAft>
                <a:spcPts val="300"/>
              </a:spcAft>
            </a:pPr>
            <a:r>
              <a:rPr sz="1150" b="0">
                <a:solidFill>
                  <a:srgbClr val="5B6372"/>
                </a:solidFill>
                <a:latin typeface="Arial"/>
              </a:rPr>
              <a:t>TimeSeriesSplit and walk-forward — never shuffle.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Leak-free features</a:t>
            </a:r>
          </a:p>
          <a:p>
            <a:pPr algn="l">
              <a:spcAft>
                <a:spcPts val="300"/>
              </a:spcAft>
            </a:pPr>
            <a:r>
              <a:rPr sz="1150" b="0">
                <a:solidFill>
                  <a:srgbClr val="5B6372"/>
                </a:solidFill>
                <a:latin typeface="Arial"/>
              </a:rPr>
              <a:t>Lags and rolling windows known at decision time.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Regularise</a:t>
            </a:r>
          </a:p>
          <a:p>
            <a:pPr algn="l">
              <a:spcAft>
                <a:spcPts val="300"/>
              </a:spcAft>
            </a:pPr>
            <a:r>
              <a:rPr sz="1150" b="0">
                <a:solidFill>
                  <a:srgbClr val="5B6372"/>
                </a:solidFill>
                <a:latin typeface="Arial"/>
              </a:rPr>
              <a:t>L1/L2, depth limits, early stopping, fewer features.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State H0 and H1 first</a:t>
            </a:r>
          </a:p>
          <a:p>
            <a:pPr algn="l">
              <a:spcAft>
                <a:spcPts val="300"/>
              </a:spcAft>
            </a:pPr>
            <a:r>
              <a:rPr sz="1150" b="0">
                <a:solidFill>
                  <a:srgbClr val="5B6372"/>
                </a:solidFill>
                <a:latin typeface="Arial"/>
              </a:rPr>
              <a:t>H0: equal mean returns; H1: B is higher. α = 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Welch's t-test</a:t>
            </a:r>
          </a:p>
          <a:p>
            <a:pPr algn="l">
              <a:spcAft>
                <a:spcPts val="300"/>
              </a:spcAft>
            </a:pPr>
            <a:r>
              <a:rPr sz="1150" b="0">
                <a:solidFill>
                  <a:srgbClr val="5B6372"/>
                </a:solidFill>
                <a:latin typeface="Arial"/>
              </a:rPr>
              <a:t>Compare mean daily returns with unequal variances.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Bootstrap the Sharpe difference</a:t>
            </a:r>
          </a:p>
          <a:p>
            <a:pPr algn="l">
              <a:spcAft>
                <a:spcPts val="300"/>
              </a:spcAft>
            </a:pPr>
            <a:r>
              <a:rPr sz="1150" b="0">
                <a:solidFill>
                  <a:srgbClr val="5B6372"/>
                </a:solidFill>
                <a:latin typeface="Arial"/>
              </a:rPr>
              <a:t>Resample returns; 95% CI excluding 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Mind multiple testing</a:t>
            </a:r>
          </a:p>
          <a:p>
            <a:pPr algn="l">
              <a:spcAft>
                <a:spcPts val="300"/>
              </a:spcAft>
            </a:pPr>
            <a:r>
              <a:rPr sz="1150" b="0">
                <a:solidFill>
                  <a:srgbClr val="5B6372"/>
                </a:solidFill>
                <a:latin typeface="Arial"/>
              </a:rPr>
              <a:t>100 variants → ~5 false 'winners' by chance.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Logistic Regression for Direction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logistic.png"/>
          <p:cNvPicPr>
            <a:picLocks noChangeAspect="1"/>
          </p:cNvPicPr>
          <p:nvPr/>
        </p:nvPicPr>
        <p:blipFill>
          <a:blip r:embed="rId2"/>
          <a:stretch>
            <a:fillRect/>
          </a:stretch>
        </p:blipFill>
        <p:spPr>
          <a:xfrm>
            <a:off x="777240" y="2529219"/>
            <a:ext cx="6172200" cy="294256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Fits P(up tomorrow) = 1 / (1 + e^-(b0 + b1 x1 + ...)) from features known today.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Go long when P(up) exceeds a threshold such as 0.55; otherwise stay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 transparent baseline: each coefficient shows how a feature moves the probability.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Only linear effects unless you engineer features; daily direction is close to a coin toss.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Decision Tree and Random Forest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tree.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A tree splits the data on feature thresholds (e.g. RSI &lt; 30) into leaves with an up/down share.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A random forest averages hundreds of trees, each grown on a random sample of rows and features.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Non-linear, interacting signals - e.g. oversold AND low volatility.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Deep trees memorise noise; limit depth and leaf size and validate walk-forward.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Gradient Boosting (XGBoost)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boost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Builds trees one after another; each new tree corrects the errors of the ensemble so far.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Prediction = sum of many small trees x learning rate; stop early when test loss stops falling.</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Tabular features such as returns, indicators and volatility - usually the strongest model.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Training loss keeps falling while test loss rises: classic overfitting (see the chart).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K-Means Clustering for Market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kmeans.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Groups days into k clusters by minimising the distance of each day to its cluster centre.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Features: rolling return and volatility (standardised). Name clusters by their averages.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Switching or sizing strategies by regime: trend in calm markets, cut risk when stressed.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Fit on past data only; choose k with the elbow or silhouette method; regimes shift.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Principal Component Analysis (PCA)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pca.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Finds uncorrelated combinations of assets that explain the most variance of returns.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PC1 of a stock universe is 'the market'; later PCs are sector or style factors.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Reducing many correlated features; building factor-neutral and pairs portfolios.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Standardise first; components change over time; PCs are statistical, not economic, factors.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Walk-Forward Validation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walk_forward.png"/>
          <p:cNvPicPr>
            <a:picLocks noChangeAspect="1"/>
          </p:cNvPicPr>
          <p:nvPr/>
        </p:nvPicPr>
        <p:blipFill>
          <a:blip r:embed="rId2"/>
          <a:stretch>
            <a:fillRect/>
          </a:stretch>
        </p:blipFill>
        <p:spPr>
          <a:xfrm>
            <a:off x="777240" y="2633240"/>
            <a:ext cx="6172200" cy="273451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Train on a past window, test on the next unseen block, then roll forward and repeat.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Never shuffle time series; each test block is genuinely out of sample.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Estimating how a model or parameter set would really have performed live.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Overlapping targets leak information - leave a gap between train and test.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pic>
        <p:nvPicPr>
          <p:cNvPr id="10" name="Picture 9" descr="algo_ab_test.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Compare variant A and B on the same days: H0 'no difference' vs H1 'B is better'.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Welch / paired t-test on daily returns; bootstrap a 95% CI of the Sharpe difference.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Deciding which parameter set or filter to promote to paper trading.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If the CI contains 0, do not reject H0; testing 100 variants gives ~5 false winners.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Build leak-free features</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Train on past window</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Predict P(up) for tomorrow</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Long if P(up) &gt; 0.55, else flat</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net of costs</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Judge the model by the net-of-cost strategy, not by accuracy alone.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Pairs Trading: a Hedging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Why it is a hedge</a:t>
            </a:r>
          </a:p>
          <a:p>
            <a:pPr algn="l">
              <a:spcAft>
                <a:spcPts val="300"/>
              </a:spcAft>
            </a:pPr>
            <a:r>
              <a:rPr sz="1000" b="0">
                <a:solidFill>
                  <a:srgbClr val="5B6372"/>
                </a:solidFill>
                <a:latin typeface="Arial"/>
              </a:rPr>
              <a:t>Long the cheap stock, short the rich one in hedge-ratio proportion: market moves largely cancel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Choose the pair</a:t>
            </a:r>
          </a:p>
          <a:p>
            <a:pPr algn="l">
              <a:spcAft>
                <a:spcPts val="300"/>
              </a:spcAft>
            </a:pPr>
            <a:r>
              <a:rPr sz="1000" b="0">
                <a:solidFill>
                  <a:srgbClr val="5B6372"/>
                </a:solidFill>
                <a:latin typeface="Arial"/>
              </a:rPr>
              <a:t>Economically linked stocks (e.g. KO and PEP) that are cointegrated, not merely correlated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Hedge ratio and spread</a:t>
            </a:r>
          </a:p>
          <a:p>
            <a:pPr algn="l">
              <a:spcAft>
                <a:spcPts val="300"/>
              </a:spcAft>
            </a:pPr>
            <a:r>
              <a:rPr sz="1000" b="0">
                <a:solidFill>
                  <a:srgbClr val="5B6372"/>
                </a:solidFill>
                <a:latin typeface="Arial"/>
              </a:rPr>
              <a:t>Regress log price A on log price B: slope = hedge ratio, residual = the spread (Engle-Granger)</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Test the spread</a:t>
            </a:r>
          </a:p>
          <a:p>
            <a:pPr algn="l">
              <a:spcAft>
                <a:spcPts val="300"/>
              </a:spcAft>
            </a:pPr>
            <a:r>
              <a:rPr sz="1000" b="0">
                <a:solidFill>
                  <a:srgbClr val="5B6372"/>
                </a:solidFill>
                <a:latin typeface="Arial"/>
              </a:rPr>
              <a:t>ADF test on the residual: a stationary spread tends to revert to its mean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Trade the z-score</a:t>
            </a:r>
          </a:p>
          <a:p>
            <a:pPr algn="l">
              <a:spcAft>
                <a:spcPts val="300"/>
              </a:spcAft>
            </a:pPr>
            <a:r>
              <a:rPr sz="1000" b="0">
                <a:solidFill>
                  <a:srgbClr val="5B6372"/>
                </a:solidFill>
                <a:latin typeface="Arial"/>
              </a:rPr>
              <a:t>Enter when |z| &gt; 2, exit as z returns towards 0; trade both legs on the next bar</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Risks</a:t>
            </a:r>
          </a:p>
          <a:p>
            <a:pPr algn="l">
              <a:spcAft>
                <a:spcPts val="300"/>
              </a:spcAft>
            </a:pPr>
            <a:r>
              <a:rPr sz="1000" b="0">
                <a:solidFill>
                  <a:srgbClr val="5B6372"/>
                </a:solidFill>
                <a:latin typeface="Arial"/>
              </a:rPr>
              <a:t>Cointegration breaks, hedge ratio drifts, double costs, short-borrow, multiple testing</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Pairs-Trading Algorithm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Select an economically linked pair</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Estimate the hedge ratio (OLS)</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cointegration (ADF on residual)</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Compute the spread z-score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Enter / exit both legs</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re-test</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Gatev, Goetzmann and Rouwenhorst (2006): a simple pairs rule on US stocks earned average annualised excess returns of up to 11% (1962-2002); later studies find smaller and less consistent profits.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Pairs Trading (Hedged Statistical Arbitrage)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pairs.png"/>
          <p:cNvPicPr>
            <a:picLocks noChangeAspect="1"/>
          </p:cNvPicPr>
          <p:nvPr/>
        </p:nvPicPr>
        <p:blipFill>
          <a:blip r:embed="rId2"/>
          <a:stretch>
            <a:fillRect/>
          </a:stretch>
        </p:blipFill>
        <p:spPr>
          <a:xfrm>
            <a:off x="777240" y="2083742"/>
            <a:ext cx="6172200" cy="383351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Long one stock, short a cointegrated partner in hedge-ratio proportion: market moves cancel.</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Spread z &gt; +2: short A / long B. z &lt; -2: long A / short B. Exit as z returns to 0.</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Economically linked stocks (KO/PEP) whose spread has a stable mean.</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Cointegration can break; costs on both legs; short-borrow; screening many pairs.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Strategy-Search Stage: Grid Search, Out-of-Sample Ranking and Decay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A4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search` to grid-search three signal families, rank parameter sets in sample, measure out-of-sample decay, prefer a robust parameter region, and decide whether anything deserves promotion into config.yaml.</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Define the search space</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grid search</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ranking, robustness and the decay report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search</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overfitting evidence</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strategy-search stage: grid search, out-of-sample ranking and the decay report.</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0_grid_heatmap.png"/>
          <p:cNvPicPr>
            <a:picLocks noChangeAspect="1"/>
          </p:cNvPicPr>
          <p:nvPr/>
        </p:nvPicPr>
        <p:blipFill>
          <a:blip r:embed="rId2"/>
          <a:stretch>
            <a:fillRect/>
          </a:stretch>
        </p:blipFill>
        <p:spPr>
          <a:xfrm>
            <a:off x="1212295" y="1828800"/>
            <a:ext cx="9767103" cy="3794760"/>
          </a:xfrm>
          <a:prstGeom prst="rect">
            <a:avLst/>
          </a:prstGeom>
        </p:spPr>
      </p:pic>
      <p:sp>
        <p:nvSpPr>
          <p:cNvPr id="8" name="Rectangle 7"/>
          <p:cNvSpPr/>
          <p:nvPr/>
        </p:nvSpPr>
        <p:spPr>
          <a:xfrm>
            <a:off x="1201322" y="1817827"/>
            <a:ext cx="9789049"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Lab10-strategy-grid-search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ML-Signal Stage: a Walk-Forward Classifier 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pipeline/ml.py: engineer causal features, train logistic regression, random forest and XGBoost with walk-forward TimeSeriesSplit validation, turn P(up) into a target position and backtest it after costs.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causal features and the label</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walk-forward validation</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Turn probability into a position and backtest it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ML stage</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strategy result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walk-forward ML signal stage from predicted probability to position, with a leakage check.</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1_ml_strategy.png"/>
          <p:cNvPicPr>
            <a:picLocks noChangeAspect="1"/>
          </p:cNvPicPr>
          <p:nvPr/>
        </p:nvPicPr>
        <p:blipFill>
          <a:blip r:embed="rId2"/>
          <a:stretch>
            <a:fillRect/>
          </a:stretch>
        </p:blipFill>
        <p:spPr>
          <a:xfrm>
            <a:off x="984220" y="1828800"/>
            <a:ext cx="10223254" cy="3794760"/>
          </a:xfrm>
          <a:prstGeom prst="rect">
            <a:avLst/>
          </a:prstGeom>
        </p:spPr>
      </p:pic>
      <p:sp>
        <p:nvSpPr>
          <p:cNvPr id="8" name="Rectangle 7"/>
          <p:cNvSpPr/>
          <p:nvPr/>
        </p:nvSpPr>
        <p:spPr>
          <a:xfrm>
            <a:off x="973247" y="1817827"/>
            <a:ext cx="10245200"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Lab11-ml-signal-classifier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Regime-Filter Stage: PCA and K-Means as a Gate on the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pipeline/regime.py: PCA on the universe's returns, K-means regimes on backward-looking SPY features, walk-forward regime labels, and a gate that forces signals flat in the stress regime, evaluated after costs.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PCA and the regime features</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walk-forward labels and the gate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regime stage and read the PCA</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regime profiles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Check the walk-forward labels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PCA / K-means regime gate applied to the signals, with before-and-after performance.</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2_regimes.png"/>
          <p:cNvPicPr>
            <a:picLocks noChangeAspect="1"/>
          </p:cNvPicPr>
          <p:nvPr/>
        </p:nvPicPr>
        <p:blipFill>
          <a:blip r:embed="rId2"/>
          <a:stretch>
            <a:fillRect/>
          </a:stretch>
        </p:blipFill>
        <p:spPr>
          <a:xfrm>
            <a:off x="778611" y="1828800"/>
            <a:ext cx="10634472" cy="3011589"/>
          </a:xfrm>
          <a:prstGeom prst="rect">
            <a:avLst/>
          </a:prstGeom>
        </p:spPr>
      </p:pic>
      <p:sp>
        <p:nvSpPr>
          <p:cNvPr id="8" name="Rectangle 7"/>
          <p:cNvSpPr/>
          <p:nvPr/>
        </p:nvSpPr>
        <p:spPr>
          <a:xfrm>
            <a:off x="767638" y="1817827"/>
            <a:ext cx="10656417" cy="303353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4986693"/>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4986693"/>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986693"/>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Lab12-market-regimes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A/B-Test Stage: a Statistical Decision before Capital Moves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A5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abtest` to compare any two library signals with a Welch t-test, a paired t-test and a block-bootstrap confidence interval for the Sharpe difference, and to record an accept or reject decision with a multiple-testing caution.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State the hypotheses</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statistics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A/B command</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A/B test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Compare the independent and paired tests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A/B-test stage that issues a statistical decision before capital moves.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3_ab_test.png"/>
          <p:cNvPicPr>
            <a:picLocks noChangeAspect="1"/>
          </p:cNvPicPr>
          <p:nvPr/>
        </p:nvPicPr>
        <p:blipFill>
          <a:blip r:embed="rId2"/>
          <a:stretch>
            <a:fillRect/>
          </a:stretch>
        </p:blipFill>
        <p:spPr>
          <a:xfrm>
            <a:off x="778611" y="1828800"/>
            <a:ext cx="10634472" cy="3679916"/>
          </a:xfrm>
          <a:prstGeom prst="rect">
            <a:avLst/>
          </a:prstGeom>
        </p:spPr>
      </p:pic>
      <p:sp>
        <p:nvSpPr>
          <p:cNvPr id="8" name="Rectangle 7"/>
          <p:cNvSpPr/>
          <p:nvPr/>
        </p:nvSpPr>
        <p:spPr>
          <a:xfrm>
            <a:off x="767638" y="1817827"/>
            <a:ext cx="10656417" cy="3701861"/>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655020"/>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655020"/>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655020"/>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Lab13-ab-testing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Pairs Stage: a Hedged, Market-Neutral Statistical-Arbitrage Sleeve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pipeline/pairs.py: screen pairs with the Engle-Granger cointegration test, estimate the hedge ratio, trade the spread z-score out of sample with next-bar execution and costs on both legs, confirm market neutrality and output leg targets.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method</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cointegration tools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spread trading rules and leg targets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pair screen</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Interpret the hedge ratio</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hedged pairs sleeve: cointegration screen, hedge ratio and a market-neutral spread strategy.</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4_pairs_trading.png"/>
          <p:cNvPicPr>
            <a:picLocks noChangeAspect="1"/>
          </p:cNvPicPr>
          <p:nvPr/>
        </p:nvPicPr>
        <p:blipFill>
          <a:blip r:embed="rId2"/>
          <a:stretch>
            <a:fillRect/>
          </a:stretch>
        </p:blipFill>
        <p:spPr>
          <a:xfrm>
            <a:off x="3860746" y="1828800"/>
            <a:ext cx="4470202" cy="3794760"/>
          </a:xfrm>
          <a:prstGeom prst="rect">
            <a:avLst/>
          </a:prstGeom>
        </p:spPr>
      </p:pic>
      <p:sp>
        <p:nvSpPr>
          <p:cNvPr id="8" name="Rectangle 7"/>
          <p:cNvSpPr/>
          <p:nvPr/>
        </p:nvSpPr>
        <p:spPr>
          <a:xfrm>
            <a:off x="3849773" y="1817827"/>
            <a:ext cx="4492148"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Lab14-pairs-trading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3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7C3AED"/>
                </a:solidFill>
                <a:latin typeface="Arial"/>
              </a:rPr>
              <a:t>A4  A5  K2  K4  K6</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F59E0B"/>
                </a:solidFill>
                <a:latin typeface="Arial"/>
              </a:rPr>
              <a:t>TOPIC 4</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End-to-End Trading Pipeline</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F59E0B"/>
                </a:solidFill>
                <a:latin typeface="Arial"/>
              </a:rPr>
              <a:t>LEARNING OUTCOME</a:t>
            </a:r>
          </a:p>
          <a:p>
            <a:pPr algn="l">
              <a:spcAft>
                <a:spcPts val="400"/>
              </a:spcAft>
            </a:pPr>
            <a:r>
              <a:rPr sz="1350" b="0">
                <a:solidFill>
                  <a:srgbClr val="161B26"/>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A7, A8, A9, A10  ·  Knowledge K7, K8   ·   Day 2   ·   Labs 15–20   ·   Assessed by PP Task 4 and WA Q7, Q8</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Pre-Trade Risk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Position and order limits</a:t>
            </a:r>
          </a:p>
          <a:p>
            <a:pPr algn="l">
              <a:spcAft>
                <a:spcPts val="300"/>
              </a:spcAft>
            </a:pPr>
            <a:r>
              <a:rPr sz="1150" b="0">
                <a:solidFill>
                  <a:srgbClr val="5B6372"/>
                </a:solidFill>
                <a:latin typeface="Arial"/>
              </a:rPr>
              <a:t>Maximum shares, maximum order value per symbol.</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Maximum daily loss</a:t>
            </a:r>
          </a:p>
          <a:p>
            <a:pPr algn="l">
              <a:spcAft>
                <a:spcPts val="300"/>
              </a:spcAft>
            </a:pPr>
            <a:r>
              <a:rPr sz="1150" b="0">
                <a:solidFill>
                  <a:srgbClr val="5B6372"/>
                </a:solidFill>
                <a:latin typeface="Arial"/>
              </a:rPr>
              <a:t>Stop trading for the day when breached.</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Market-hours and duplicate checks</a:t>
            </a:r>
          </a:p>
          <a:p>
            <a:pPr algn="l">
              <a:spcAft>
                <a:spcPts val="300"/>
              </a:spcAft>
            </a:pPr>
            <a:r>
              <a:rPr sz="1150" b="0">
                <a:solidFill>
                  <a:srgbClr val="5B6372"/>
                </a:solidFill>
                <a:latin typeface="Arial"/>
              </a:rPr>
              <a:t>Alpaca clock; never resend an open order.</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Kill switch</a:t>
            </a:r>
          </a:p>
          <a:p>
            <a:pPr algn="l">
              <a:spcAft>
                <a:spcPts val="300"/>
              </a:spcAft>
            </a:pPr>
            <a:r>
              <a:rPr sz="1150" b="0">
                <a:solidFill>
                  <a:srgbClr val="5B6372"/>
                </a:solidFill>
                <a:latin typeface="Arial"/>
              </a:rPr>
              <a:t>One file or flag halts all trading immediately.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 Costs You Must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Commission</a:t>
            </a:r>
          </a:p>
          <a:p>
            <a:pPr algn="l">
              <a:spcAft>
                <a:spcPts val="300"/>
              </a:spcAft>
            </a:pPr>
            <a:r>
              <a:rPr sz="1150" b="0">
                <a:solidFill>
                  <a:srgbClr val="5B6372"/>
                </a:solidFill>
                <a:latin typeface="Arial"/>
              </a:rPr>
              <a:t>Zero on Alpaca US equities — not on most brokers.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Spread and slippage</a:t>
            </a:r>
          </a:p>
          <a:p>
            <a:pPr algn="l">
              <a:spcAft>
                <a:spcPts val="300"/>
              </a:spcAft>
            </a:pPr>
            <a:r>
              <a:rPr sz="1150" b="0">
                <a:solidFill>
                  <a:srgbClr val="5B6372"/>
                </a:solidFill>
                <a:latin typeface="Arial"/>
              </a:rPr>
              <a:t>Half-spread + slippage on every fill, in bps.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Regulatory fees on sells</a:t>
            </a:r>
          </a:p>
          <a:p>
            <a:pPr algn="l">
              <a:spcAft>
                <a:spcPts val="300"/>
              </a:spcAft>
            </a:pPr>
            <a:r>
              <a:rPr sz="1150" b="0">
                <a:solidFill>
                  <a:srgbClr val="5B6372"/>
                </a:solidFill>
                <a:latin typeface="Arial"/>
              </a:rPr>
              <a:t>SEC Section 31 fee and FINRA TAF.</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Borrow and impact</a:t>
            </a:r>
          </a:p>
          <a:p>
            <a:pPr algn="l">
              <a:spcAft>
                <a:spcPts val="300"/>
              </a:spcAft>
            </a:pPr>
            <a:r>
              <a:rPr sz="1150" b="0">
                <a:solidFill>
                  <a:srgbClr val="5B6372"/>
                </a:solidFill>
                <a:latin typeface="Arial"/>
              </a:rPr>
              <a:t>Short-borrow costs; your own market impact.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Potential Reasons for Unintended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K8</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Overfitting and data snooping</a:t>
            </a:r>
          </a:p>
          <a:p>
            <a:pPr algn="l">
              <a:spcAft>
                <a:spcPts val="300"/>
              </a:spcAft>
            </a:pPr>
            <a:r>
              <a:rPr sz="1150" b="0">
                <a:solidFill>
                  <a:srgbClr val="5B6372"/>
                </a:solidFill>
                <a:latin typeface="Arial"/>
              </a:rPr>
              <a:t>Great in-sample, collapses out of sample.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Look-ahead and survivorship bias</a:t>
            </a:r>
          </a:p>
          <a:p>
            <a:pPr algn="l">
              <a:spcAft>
                <a:spcPts val="300"/>
              </a:spcAft>
            </a:pPr>
            <a:r>
              <a:rPr sz="1150" b="0">
                <a:solidFill>
                  <a:srgbClr val="5B6372"/>
                </a:solidFill>
                <a:latin typeface="Arial"/>
              </a:rPr>
              <a:t>Same-bar fills; only today's survivors.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Cost and execution drag</a:t>
            </a:r>
          </a:p>
          <a:p>
            <a:pPr algn="l">
              <a:spcAft>
                <a:spcPts val="300"/>
              </a:spcAft>
            </a:pPr>
            <a:r>
              <a:rPr sz="1150" b="0">
                <a:solidFill>
                  <a:srgbClr val="5B6372"/>
                </a:solidFill>
                <a:latin typeface="Arial"/>
              </a:rPr>
              <a:t>Live returns trail the backtest by turnover × cost.</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change, data and code errors</a:t>
            </a:r>
          </a:p>
          <a:p>
            <a:pPr algn="l">
              <a:spcAft>
                <a:spcPts val="300"/>
              </a:spcAft>
            </a:pPr>
            <a:r>
              <a:rPr sz="1150" b="0">
                <a:solidFill>
                  <a:srgbClr val="5B6372"/>
                </a:solidFill>
                <a:latin typeface="Arial"/>
              </a:rPr>
              <a:t>Drift, bad splits, time zones, duplicate orders.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Goes on a Tearsheet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A10</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Equity versus benchmark</a:t>
            </a:r>
          </a:p>
          <a:p>
            <a:pPr algn="l">
              <a:spcAft>
                <a:spcPts val="300"/>
              </a:spcAft>
            </a:pPr>
            <a:r>
              <a:rPr sz="1150" b="0">
                <a:solidFill>
                  <a:srgbClr val="5B6372"/>
                </a:solidFill>
                <a:latin typeface="Arial"/>
              </a:rPr>
              <a:t>Growth of USD 100,000, strategy and buy-and-hold.</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Drawdown and rolling Sharpe</a:t>
            </a:r>
          </a:p>
          <a:p>
            <a:pPr algn="l">
              <a:spcAft>
                <a:spcPts val="300"/>
              </a:spcAft>
            </a:pPr>
            <a:r>
              <a:rPr sz="1150" b="0">
                <a:solidFill>
                  <a:srgbClr val="5B6372"/>
                </a:solidFill>
                <a:latin typeface="Arial"/>
              </a:rPr>
              <a:t>Depth, length and stability of the edge.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Monthly returns heatmap</a:t>
            </a:r>
          </a:p>
          <a:p>
            <a:pPr algn="l">
              <a:spcAft>
                <a:spcPts val="300"/>
              </a:spcAft>
            </a:pPr>
            <a:r>
              <a:rPr sz="1150" b="0">
                <a:solidFill>
                  <a:srgbClr val="5B6372"/>
                </a:solidFill>
                <a:latin typeface="Arial"/>
              </a:rPr>
              <a:t>When did it make — and lose — money?</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Metrics and cost table</a:t>
            </a:r>
          </a:p>
          <a:p>
            <a:pPr algn="l">
              <a:spcAft>
                <a:spcPts val="300"/>
              </a:spcAft>
            </a:pPr>
            <a:r>
              <a:rPr sz="1150" b="0">
                <a:solidFill>
                  <a:srgbClr val="5B6372"/>
                </a:solidFill>
                <a:latin typeface="Arial"/>
              </a:rPr>
              <a:t>Gross versus net; backtest versus 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End-to-End Algorithmic Trading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52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52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Strategy search</a:t>
            </a:r>
          </a:p>
        </p:txBody>
      </p:sp>
      <p:sp>
        <p:nvSpPr>
          <p:cNvPr id="15" name="TextBox 14"/>
          <p:cNvSpPr txBox="1"/>
          <p:nvPr/>
        </p:nvSpPr>
        <p:spPr>
          <a:xfrm>
            <a:off x="1848231"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140839"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40839"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288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288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268855"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Data ingestion</a:t>
            </a:r>
          </a:p>
        </p:txBody>
      </p:sp>
      <p:sp>
        <p:nvSpPr>
          <p:cNvPr id="21" name="TextBox 20"/>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3504438"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504438"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924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924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3632454"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Signal</a:t>
            </a:r>
          </a:p>
        </p:txBody>
      </p:sp>
      <p:sp>
        <p:nvSpPr>
          <p:cNvPr id="27" name="TextBox 26"/>
          <p:cNvSpPr txBox="1"/>
          <p:nvPr/>
        </p:nvSpPr>
        <p:spPr>
          <a:xfrm>
            <a:off x="4575429"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4868037"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68037"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05606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5606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4996053"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Backtest with costs</a:t>
            </a:r>
          </a:p>
        </p:txBody>
      </p:sp>
      <p:sp>
        <p:nvSpPr>
          <p:cNvPr id="33" name="TextBox 32"/>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6231636"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31636"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196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6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6359652"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9" name="TextBox 38"/>
          <p:cNvSpPr txBox="1"/>
          <p:nvPr/>
        </p:nvSpPr>
        <p:spPr>
          <a:xfrm>
            <a:off x="7302627"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0" name="Rectangle 39"/>
          <p:cNvSpPr/>
          <p:nvPr/>
        </p:nvSpPr>
        <p:spPr>
          <a:xfrm>
            <a:off x="7595235"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95235"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7832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832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7723251"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Order execution</a:t>
            </a:r>
          </a:p>
        </p:txBody>
      </p:sp>
      <p:sp>
        <p:nvSpPr>
          <p:cNvPr id="45" name="TextBox 44"/>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6" name="Rectangle 45"/>
          <p:cNvSpPr/>
          <p:nvPr/>
        </p:nvSpPr>
        <p:spPr>
          <a:xfrm>
            <a:off x="8958834"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58834"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46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6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9086850"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a:t>
            </a:r>
          </a:p>
        </p:txBody>
      </p:sp>
      <p:sp>
        <p:nvSpPr>
          <p:cNvPr id="51" name="TextBox 50"/>
          <p:cNvSpPr txBox="1"/>
          <p:nvPr/>
        </p:nvSpPr>
        <p:spPr>
          <a:xfrm>
            <a:off x="10029825"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52" name="Rectangle 51"/>
          <p:cNvSpPr/>
          <p:nvPr/>
        </p:nvSpPr>
        <p:spPr>
          <a:xfrm>
            <a:off x="10322433"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322433"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51045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1045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8</a:t>
            </a:r>
          </a:p>
        </p:txBody>
      </p:sp>
      <p:sp>
        <p:nvSpPr>
          <p:cNvPr id="56" name="TextBox 55"/>
          <p:cNvSpPr txBox="1"/>
          <p:nvPr/>
        </p:nvSpPr>
        <p:spPr>
          <a:xfrm>
            <a:off x="10450449"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report</a:t>
            </a:r>
          </a:p>
        </p:txBody>
      </p:sp>
      <p:sp>
        <p:nvSpPr>
          <p:cNvPr id="57" name="Rectangle 5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Configuration — symbols, parameters, limits, keys — lives outside the code.</a:t>
            </a:r>
          </a:p>
        </p:txBody>
      </p:sp>
      <p:sp>
        <p:nvSpPr>
          <p:cNvPr id="60" name="TextBox 5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61" name="TextBox 6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2" name="TextBox 6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Automated Paper-Trading Bot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A8</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One cycle per closed bar.</a:t>
            </a:r>
          </a:p>
        </p:txBody>
      </p:sp>
      <p:sp>
        <p:nvSpPr>
          <p:cNvPr id="11" name="Rectangle 10"/>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26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Bar closes</a:t>
            </a:r>
          </a:p>
        </p:txBody>
      </p:sp>
      <p:sp>
        <p:nvSpPr>
          <p:cNvPr id="16" name="TextBox 15"/>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3563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210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Fetch latest bars</a:t>
            </a:r>
          </a:p>
        </p:txBody>
      </p:sp>
      <p:sp>
        <p:nvSpPr>
          <p:cNvPr id="22" name="TextBox 21"/>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94036"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794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Compute signal</a:t>
            </a:r>
          </a:p>
        </p:txBody>
      </p:sp>
      <p:sp>
        <p:nvSpPr>
          <p:cNvPr id="28" name="TextBox 27"/>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52434"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737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Run risk checks</a:t>
            </a:r>
          </a:p>
        </p:txBody>
      </p:sp>
      <p:sp>
        <p:nvSpPr>
          <p:cNvPr id="34" name="TextBox 33"/>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10832"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9625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Target vs actual position</a:t>
            </a:r>
          </a:p>
        </p:txBody>
      </p:sp>
      <p:sp>
        <p:nvSpPr>
          <p:cNvPr id="40" name="TextBox 39"/>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6923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85465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Submit order; read status</a:t>
            </a:r>
          </a:p>
        </p:txBody>
      </p:sp>
      <p:sp>
        <p:nvSpPr>
          <p:cNvPr id="46" name="TextBox 45"/>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7" name="Rectangle 46"/>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12762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41305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1" name="TextBox 50"/>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Log and sleep</a:t>
            </a:r>
          </a:p>
        </p:txBody>
      </p:sp>
      <p:sp>
        <p:nvSpPr>
          <p:cNvPr id="52" name="Rectangle 51"/>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Every cycle writes to the trade log — the evidence for performance and audit.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Alert to Alpaca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Webhook-driven execution.</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Pine strategy fires alert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TradingView POSTs JSON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Your server checks secret</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alpaca-py submits paper order</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Log and respond 200</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Webhook alerts need a paid TradingView plan and a public URL (e.g. a tunnel).</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Diagnosing an Unintended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A9</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Reproduce the result</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Isolate the first divergent step</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Data · signal · order · fill?</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a known-good run</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Fix and re-test</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Read the first failure, not the last — everything after it is a consequence.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Backtest-Engine Stage: Cost Models, Execution Timing and Break-Even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pipeline/backtest.py around the common backtester: run any library signal under every cost scenario (and a custom one), break the cost into commission, spread, slippage and regulatory fees, find each strategy's break-even cost and test next-open versus next-close execution.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cost model</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engine helpers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scenario report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cost scenarios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Analyse the cost breakdown</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+2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backtest engine with three cost models, execution timing and break-even cost.</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5_costs.png"/>
          <p:cNvPicPr>
            <a:picLocks noChangeAspect="1"/>
          </p:cNvPicPr>
          <p:nvPr/>
        </p:nvPicPr>
        <p:blipFill>
          <a:blip r:embed="rId2"/>
          <a:stretch>
            <a:fillRect/>
          </a:stretch>
        </p:blipFill>
        <p:spPr>
          <a:xfrm>
            <a:off x="984220" y="1828800"/>
            <a:ext cx="10223254" cy="3794760"/>
          </a:xfrm>
          <a:prstGeom prst="rect">
            <a:avLst/>
          </a:prstGeom>
        </p:spPr>
      </p:pic>
      <p:sp>
        <p:nvSpPr>
          <p:cNvPr id="8" name="Rectangle 7"/>
          <p:cNvSpPr/>
          <p:nvPr/>
        </p:nvSpPr>
        <p:spPr>
          <a:xfrm>
            <a:off x="973247" y="1817827"/>
            <a:ext cx="10245200"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Lab15-trading-costs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Automation Stage: a Scheduled, Risk-Checked Forward Test and Live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pipeline/risk.py and pipeline/runner.py: `python -m pipeline run --once | --loop` with the market clock, risk checks, kill switch and trade log; run a 2025 forward test; run the strategy live on the paper account for a few cycles; and schedule it with cron, launchd or Windows Task Scheduler.</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risk layer and the kill switch</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one decision cycle</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forward-test replay and the logs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the live paper loop and scheduling</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2025 forward test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+4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scheduled, risk-checked bot trading the paper account live, with a trade log and kill switch.</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6_forward_test.png"/>
          <p:cNvPicPr>
            <a:picLocks noChangeAspect="1"/>
          </p:cNvPicPr>
          <p:nvPr/>
        </p:nvPicPr>
        <p:blipFill>
          <a:blip r:embed="rId2"/>
          <a:stretch>
            <a:fillRect/>
          </a:stretch>
        </p:blipFill>
        <p:spPr>
          <a:xfrm>
            <a:off x="1299692" y="1828800"/>
            <a:ext cx="9592310" cy="3794760"/>
          </a:xfrm>
          <a:prstGeom prst="rect">
            <a:avLst/>
          </a:prstGeom>
        </p:spPr>
      </p:pic>
      <p:sp>
        <p:nvSpPr>
          <p:cNvPr id="8" name="Rectangle 7"/>
          <p:cNvSpPr/>
          <p:nvPr/>
        </p:nvSpPr>
        <p:spPr>
          <a:xfrm>
            <a:off x="1288719" y="1817827"/>
            <a:ext cx="9614255"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Lab16-paper-trading-bot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Event-Driven Automation: TradingView Webhook to Signal, Risk and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K5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pipeline/webhook.py: a webhook receiver that turns TradingView alert JSON into a pipeline decision (validation -&gt; signal -&gt; risk -&gt; execution), test it with a local alert simulator and a self-test, and configure a real TradingView strategy alert.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Set the shared secret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alert validation</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Route valid alerts through signal, risk and execution</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server, the simulator and the self-test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self-test</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+4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Event-driven automation: TradingView alert to webhook to signal, risk and paper execution.</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Diagnostics Stage: Automated Bias Checks before Go-Live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A9  K8</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diagnose` to run automated look-ahead (features and execution), cost-drag, overfitting and survivorship checks on any strategy and on the junior quant's exhibit, and write a PASS / WARN / FAIL report with a go-live verdict.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suspicious backtest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Find the problems</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look-ahead checks</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cost, overfitting and survivorship checks</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diagnostics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Automated bias diagnostics (look-ahead, costs, overfitting, survivorship) before go-live.</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8_bias_comparison.png"/>
          <p:cNvPicPr>
            <a:picLocks noChangeAspect="1"/>
          </p:cNvPicPr>
          <p:nvPr/>
        </p:nvPicPr>
        <p:blipFill>
          <a:blip r:embed="rId2"/>
          <a:stretch>
            <a:fillRect/>
          </a:stretch>
        </p:blipFill>
        <p:spPr>
          <a:xfrm>
            <a:off x="1841352" y="1828800"/>
            <a:ext cx="8508989" cy="3794760"/>
          </a:xfrm>
          <a:prstGeom prst="rect">
            <a:avLst/>
          </a:prstGeom>
        </p:spPr>
      </p:pic>
      <p:sp>
        <p:nvSpPr>
          <p:cNvPr id="8" name="Rectangle 7"/>
          <p:cNvSpPr/>
          <p:nvPr/>
        </p:nvSpPr>
        <p:spPr>
          <a:xfrm>
            <a:off x="1830380" y="1817827"/>
            <a:ext cx="8530935"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Lab18-diagnose-bias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Monitoring and Reporting Stage: Automated Tearsheet and Backtest-vs-Forward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A8  A10</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`python -m pipeline report` to compare the research backtest with the runner's forward-test logs, run monitoring checks with thresholds, and generate a tearsheet and a markdown report with data-driven insights and a recommendation.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Make sure the forward-test logs exist</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backtest-vs-forward comparison</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Add monitoring checks, the tearsheet and the report</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Generate the report</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monitoring checks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+3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automated tearsheet and backtest-versus-forward-test report with monitoring checks.</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9_tearsheet.png"/>
          <p:cNvPicPr>
            <a:picLocks noChangeAspect="1"/>
          </p:cNvPicPr>
          <p:nvPr/>
        </p:nvPicPr>
        <p:blipFill>
          <a:blip r:embed="rId2"/>
          <a:stretch>
            <a:fillRect/>
          </a:stretch>
        </p:blipFill>
        <p:spPr>
          <a:xfrm>
            <a:off x="3832362" y="1828800"/>
            <a:ext cx="4526970" cy="3794760"/>
          </a:xfrm>
          <a:prstGeom prst="rect">
            <a:avLst/>
          </a:prstGeom>
        </p:spPr>
      </p:pic>
      <p:sp>
        <p:nvSpPr>
          <p:cNvPr id="8" name="Rectangle 7"/>
          <p:cNvSpPr/>
          <p:nvPr/>
        </p:nvSpPr>
        <p:spPr>
          <a:xfrm>
            <a:off x="3821389" y="1817827"/>
            <a:ext cx="454891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Lab19-performance-report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Capstone: One Command Runs the Pipeline End to End, with an Agentic Layer and Human Approval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A10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20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Build pipeline/agents.py (analyst, researcher, trader and risk agents; rule-based by default, Claude optional) and pipeline/e2e.py (`python -m pipeline e2e`) that runs every stage in order with gates, then evaluate the pipeline and the role of human oversight.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5407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407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agent layer</a:t>
            </a:r>
          </a:p>
        </p:txBody>
      </p:sp>
      <p:sp>
        <p:nvSpPr>
          <p:cNvPr id="19" name="TextBox 18"/>
          <p:cNvSpPr txBox="1"/>
          <p:nvPr/>
        </p:nvSpPr>
        <p:spPr>
          <a:xfrm>
            <a:off x="230581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589276"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89276"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2699004"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Build the end-to-end orchestrator</a:t>
            </a:r>
          </a:p>
        </p:txBody>
      </p:sp>
      <p:sp>
        <p:nvSpPr>
          <p:cNvPr id="25" name="TextBox 24"/>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4401312"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1312"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97814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7814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4511040"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Run the whole pipeline</a:t>
            </a:r>
          </a:p>
        </p:txBody>
      </p:sp>
      <p:sp>
        <p:nvSpPr>
          <p:cNvPr id="31" name="TextBox 30"/>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6213348"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3348"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79018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9018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6323076"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Trace the run</a:t>
            </a:r>
          </a:p>
        </p:txBody>
      </p:sp>
      <p:sp>
        <p:nvSpPr>
          <p:cNvPr id="37" name="TextBox 36"/>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8025384"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25384"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8135112"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Read the agents' decisions</a:t>
            </a:r>
          </a:p>
        </p:txBody>
      </p:sp>
      <p:sp>
        <p:nvSpPr>
          <p:cNvPr id="43" name="TextBox 42"/>
          <p:cNvSpPr txBox="1"/>
          <p:nvPr/>
        </p:nvSpPr>
        <p:spPr>
          <a:xfrm>
            <a:off x="9553956"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44" name="Rectangle 43"/>
          <p:cNvSpPr/>
          <p:nvPr/>
        </p:nvSpPr>
        <p:spPr>
          <a:xfrm>
            <a:off x="9837420" y="3456432"/>
            <a:ext cx="1574292"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837420" y="3456432"/>
            <a:ext cx="1574292"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41425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1425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6</a:t>
            </a:r>
          </a:p>
        </p:txBody>
      </p:sp>
      <p:sp>
        <p:nvSpPr>
          <p:cNvPr id="48" name="TextBox 47"/>
          <p:cNvSpPr txBox="1"/>
          <p:nvPr/>
        </p:nvSpPr>
        <p:spPr>
          <a:xfrm>
            <a:off x="9947148" y="4114800"/>
            <a:ext cx="1354836" cy="877824"/>
          </a:xfrm>
          <a:prstGeom prst="rect">
            <a:avLst/>
          </a:prstGeom>
          <a:noFill/>
        </p:spPr>
        <p:txBody>
          <a:bodyPr wrap="square" anchor="t">
            <a:spAutoFit/>
          </a:bodyPr>
          <a:lstStyle/>
          <a:p>
            <a:pPr algn="ctr">
              <a:spcAft>
                <a:spcPts val="400"/>
              </a:spcAft>
            </a:pPr>
            <a:r>
              <a:rPr sz="1050" b="0">
                <a:solidFill>
                  <a:srgbClr val="161B26"/>
                </a:solidFill>
                <a:latin typeface="Arial"/>
              </a:rPr>
              <a:t>+5 more — see the Learner Guide</a:t>
            </a:r>
          </a:p>
        </p:txBody>
      </p:sp>
      <p:sp>
        <p:nvSpPr>
          <p:cNvPr id="49" name="Rectangle 48"/>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52" name="TextBox 51"/>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One command running the whole pipeline end to end, with a human-approved agentic layer.</a:t>
            </a:r>
          </a:p>
        </p:txBody>
      </p:sp>
      <p:sp>
        <p:nvSpPr>
          <p:cNvPr id="53" name="TextBox 52"/>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What You Should See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20_e2e_pipeline.png"/>
          <p:cNvPicPr>
            <a:picLocks noChangeAspect="1"/>
          </p:cNvPicPr>
          <p:nvPr/>
        </p:nvPicPr>
        <p:blipFill>
          <a:blip r:embed="rId2"/>
          <a:stretch>
            <a:fillRect/>
          </a:stretch>
        </p:blipFill>
        <p:spPr>
          <a:xfrm>
            <a:off x="2388212" y="1828800"/>
            <a:ext cx="7415270" cy="3794760"/>
          </a:xfrm>
          <a:prstGeom prst="rect">
            <a:avLst/>
          </a:prstGeom>
        </p:spPr>
      </p:pic>
      <p:sp>
        <p:nvSpPr>
          <p:cNvPr id="8" name="Rectangle 7"/>
          <p:cNvSpPr/>
          <p:nvPr/>
        </p:nvSpPr>
        <p:spPr>
          <a:xfrm>
            <a:off x="2377239" y="1817827"/>
            <a:ext cx="7437216" cy="381670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6986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6986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6986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Output of Lab20-agentic-capstone in offline mode (bundled data). With Alpaca keys set, the same script uses live paper-trading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4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23376" y="475488"/>
            <a:ext cx="268833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72337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23376" y="475488"/>
            <a:ext cx="2688336" cy="310896"/>
          </a:xfrm>
          <a:prstGeom prst="rect">
            <a:avLst/>
          </a:prstGeom>
          <a:noFill/>
        </p:spPr>
        <p:txBody>
          <a:bodyPr wrap="square" anchor="ctr">
            <a:spAutoFit/>
          </a:bodyPr>
          <a:lstStyle/>
          <a:p>
            <a:pPr algn="ctr">
              <a:spcAft>
                <a:spcPts val="400"/>
              </a:spcAft>
            </a:pPr>
            <a:r>
              <a:rPr sz="1100" b="1">
                <a:solidFill>
                  <a:srgbClr val="F59E0B"/>
                </a:solidFill>
                <a:latin typeface="Arial"/>
              </a:rPr>
              <a:t>A7  A8  A9  A10  K7  K8</a:t>
            </a:r>
          </a:p>
        </p:txBody>
      </p:sp>
      <p:sp>
        <p:nvSpPr>
          <p:cNvPr id="10" name="Rectangle 9"/>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A7</a:t>
            </a:r>
          </a:p>
          <a:p>
            <a:pPr algn="l">
              <a:spcAft>
                <a:spcPts val="300"/>
              </a:spcAft>
            </a:pPr>
            <a:r>
              <a:rPr sz="900" b="0">
                <a:solidFill>
                  <a:srgbClr val="5B6372"/>
                </a:solidFill>
                <a:latin typeface="Arial"/>
              </a:rPr>
              <a:t>Perform coding and configuration of software agents or programs based on selected models or algorithms</a:t>
            </a:r>
          </a:p>
        </p:txBody>
      </p:sp>
      <p:sp>
        <p:nvSpPr>
          <p:cNvPr id="15" name="Rectangle 14"/>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679192"/>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A8</a:t>
            </a:r>
          </a:p>
          <a:p>
            <a:pPr algn="l">
              <a:spcAft>
                <a:spcPts val="300"/>
              </a:spcAft>
            </a:pPr>
            <a:r>
              <a:rPr sz="900" b="0">
                <a:solidFill>
                  <a:srgbClr val="5B6372"/>
                </a:solidFill>
                <a:latin typeface="Arial"/>
              </a:rPr>
              <a:t>Conduct tests on the actions taken and outcomes to assess effectiveness of the models</a:t>
            </a:r>
          </a:p>
        </p:txBody>
      </p:sp>
      <p:sp>
        <p:nvSpPr>
          <p:cNvPr id="20" name="Rectangle 19"/>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A9</a:t>
            </a:r>
          </a:p>
          <a:p>
            <a:pPr algn="l">
              <a:spcAft>
                <a:spcPts val="300"/>
              </a:spcAft>
            </a:pPr>
            <a:r>
              <a:rPr sz="900" b="0">
                <a:solidFill>
                  <a:srgbClr val="5B6372"/>
                </a:solidFill>
                <a:latin typeface="Arial"/>
              </a:rPr>
              <a:t>Diagnose unintended outcomes produced by statistical models</a:t>
            </a:r>
          </a:p>
        </p:txBody>
      </p:sp>
      <p:sp>
        <p:nvSpPr>
          <p:cNvPr id="25" name="Rectangle 24"/>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215384"/>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A10</a:t>
            </a:r>
          </a:p>
          <a:p>
            <a:pPr algn="l">
              <a:spcAft>
                <a:spcPts val="300"/>
              </a:spcAft>
            </a:pPr>
            <a:r>
              <a:rPr sz="900" b="0">
                <a:solidFill>
                  <a:srgbClr val="5B6372"/>
                </a:solidFill>
                <a:latin typeface="Arial"/>
              </a:rPr>
              <a:t>Draw relevant trends and insights from data analysis to support decisions and report accordingly</a:t>
            </a:r>
          </a:p>
        </p:txBody>
      </p:sp>
      <p:sp>
        <p:nvSpPr>
          <p:cNvPr id="30" name="Rectangle 29"/>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K7</a:t>
            </a:r>
          </a:p>
          <a:p>
            <a:pPr algn="l">
              <a:spcAft>
                <a:spcPts val="300"/>
              </a:spcAft>
            </a:pPr>
            <a:r>
              <a:rPr sz="900" b="0">
                <a:solidFill>
                  <a:srgbClr val="5B6372"/>
                </a:solidFill>
                <a:latin typeface="Arial"/>
              </a:rPr>
              <a:t>Coding languages for programming of algorithms and signals</a:t>
            </a:r>
          </a:p>
        </p:txBody>
      </p:sp>
      <p:sp>
        <p:nvSpPr>
          <p:cNvPr id="35" name="Rectangle 34"/>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1764792" y="575157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K8</a:t>
            </a:r>
          </a:p>
          <a:p>
            <a:pPr algn="l">
              <a:spcAft>
                <a:spcPts val="300"/>
              </a:spcAft>
            </a:pPr>
            <a:r>
              <a:rPr sz="900" b="0">
                <a:solidFill>
                  <a:srgbClr val="5B6372"/>
                </a:solidFill>
                <a:latin typeface="Arial"/>
              </a:rPr>
              <a:t>Potential reasons for unintended outcomes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Framed testable hypotheses</a:t>
            </a:r>
          </a:p>
          <a:p>
            <a:pPr algn="l">
              <a:spcAft>
                <a:spcPts val="300"/>
              </a:spcAft>
            </a:pPr>
            <a:r>
              <a:rPr sz="1300" b="0">
                <a:solidFill>
                  <a:srgbClr val="5B6372"/>
                </a:solidFill>
                <a:latin typeface="Arial"/>
              </a:rPr>
              <a:t>Instrument, signal, holding period, effect, benchmark.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Coded indicators and strategies</a:t>
            </a:r>
          </a:p>
          <a:p>
            <a:pPr algn="l">
              <a:spcAft>
                <a:spcPts val="300"/>
              </a:spcAft>
            </a:pPr>
            <a:r>
              <a:rPr sz="1300" b="0">
                <a:solidFill>
                  <a:srgbClr val="5B6372"/>
                </a:solidFill>
                <a:latin typeface="Arial"/>
              </a:rPr>
              <a:t>Pine Script on TradingView; Python on Alpaca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Modelled and A/B-tested</a:t>
            </a:r>
          </a:p>
          <a:p>
            <a:pPr algn="l">
              <a:spcAft>
                <a:spcPts val="300"/>
              </a:spcAft>
            </a:pPr>
            <a:r>
              <a:rPr sz="1300" b="0">
                <a:solidFill>
                  <a:srgbClr val="5B6372"/>
                </a:solidFill>
                <a:latin typeface="Arial"/>
              </a:rPr>
              <a:t>ML classifiers, regimes, Welch's t-test and bootstrap.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Backtested net of costs</a:t>
            </a:r>
          </a:p>
          <a:p>
            <a:pPr algn="l">
              <a:spcAft>
                <a:spcPts val="300"/>
              </a:spcAft>
            </a:pPr>
            <a:r>
              <a:rPr sz="1300" b="0">
                <a:solidFill>
                  <a:srgbClr val="5B6372"/>
                </a:solidFill>
                <a:latin typeface="Arial"/>
              </a:rPr>
              <a:t>Commission, spread, slippage and regulatory fees.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Forward-tested automatically</a:t>
            </a:r>
          </a:p>
          <a:p>
            <a:pPr algn="l">
              <a:spcAft>
                <a:spcPts val="300"/>
              </a:spcAft>
            </a:pPr>
            <a:r>
              <a:rPr sz="1300" b="0">
                <a:solidFill>
                  <a:srgbClr val="5B6372"/>
                </a:solidFill>
                <a:latin typeface="Arial"/>
              </a:rPr>
              <a:t>A paper-trading bot with risk checks and a trade log.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Diagnosed and reported</a:t>
            </a:r>
          </a:p>
          <a:p>
            <a:pPr algn="l">
              <a:spcAft>
                <a:spcPts val="300"/>
              </a:spcAft>
            </a:pPr>
            <a:r>
              <a:rPr sz="1300" b="0">
                <a:solidFill>
                  <a:srgbClr val="5B6372"/>
                </a:solidFill>
                <a:latin typeface="Arial"/>
              </a:rPr>
              <a:t>Found the bias, fixed it, and wrote the recommendation.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Courseware &amp;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8" name="Rectangle 7"/>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240279" y="251460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79" y="2514600"/>
            <a:ext cx="822960" cy="822960"/>
          </a:xfrm>
          <a:prstGeom prst="rect">
            <a:avLst/>
          </a:prstGeom>
          <a:noFill/>
        </p:spPr>
        <p:txBody>
          <a:bodyPr wrap="square" anchor="ctr">
            <a:spAutoFit/>
          </a:bodyPr>
          <a:lstStyle/>
          <a:p>
            <a:pPr algn="ctr">
              <a:spcAft>
                <a:spcPts val="400"/>
              </a:spcAft>
            </a:pPr>
            <a:r>
              <a:rPr sz="3200" b="1">
                <a:solidFill>
                  <a:srgbClr val="0F2A5F"/>
                </a:solidFill>
                <a:latin typeface="Arial"/>
              </a:rPr>
              <a:t>T</a:t>
            </a:r>
          </a:p>
        </p:txBody>
      </p:sp>
      <p:sp>
        <p:nvSpPr>
          <p:cNvPr id="11" name="TextBox 10"/>
          <p:cNvSpPr txBox="1"/>
          <p:nvPr/>
        </p:nvSpPr>
        <p:spPr>
          <a:xfrm>
            <a:off x="777240" y="3520440"/>
            <a:ext cx="3749039" cy="457200"/>
          </a:xfrm>
          <a:prstGeom prst="rect">
            <a:avLst/>
          </a:prstGeom>
          <a:noFill/>
        </p:spPr>
        <p:txBody>
          <a:bodyPr wrap="square" anchor="t">
            <a:spAutoFit/>
          </a:bodyPr>
          <a:lstStyle/>
          <a:p>
            <a:pPr algn="ctr">
              <a:spcAft>
                <a:spcPts val="400"/>
              </a:spcAft>
            </a:pPr>
            <a:r>
              <a:rPr sz="1700" b="1">
                <a:solidFill>
                  <a:srgbClr val="FFFFFF"/>
                </a:solidFill>
                <a:latin typeface="Arial"/>
              </a:rPr>
              <a:t>Tertiary Infotech Academy</a:t>
            </a:r>
          </a:p>
        </p:txBody>
      </p:sp>
      <p:sp>
        <p:nvSpPr>
          <p:cNvPr id="12" name="TextBox 11"/>
          <p:cNvSpPr txBox="1"/>
          <p:nvPr/>
        </p:nvSpPr>
        <p:spPr>
          <a:xfrm>
            <a:off x="777240" y="397764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for IBF-STS courses</a:t>
            </a:r>
          </a:p>
        </p:txBody>
      </p:sp>
      <p:sp>
        <p:nvSpPr>
          <p:cNvPr id="13" name="Rectangle 12"/>
          <p:cNvSpPr/>
          <p:nvPr/>
        </p:nvSpPr>
        <p:spPr>
          <a:xfrm>
            <a:off x="1737360" y="45262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45262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5" name="TextBox 14"/>
          <p:cNvSpPr txBox="1"/>
          <p:nvPr/>
        </p:nvSpPr>
        <p:spPr>
          <a:xfrm>
            <a:off x="777240" y="516636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6" name="Rectangle 15"/>
          <p:cNvSpPr/>
          <p:nvPr/>
        </p:nvSpPr>
        <p:spPr>
          <a:xfrm>
            <a:off x="4846320" y="2148840"/>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214884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120640" y="235915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2359152"/>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20" name="TextBox 19"/>
          <p:cNvSpPr txBox="1"/>
          <p:nvPr/>
        </p:nvSpPr>
        <p:spPr>
          <a:xfrm>
            <a:off x="5715000" y="2148840"/>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50" b="0">
                <a:solidFill>
                  <a:srgbClr val="5B6372"/>
                </a:solidFill>
                <a:latin typeface="Arial"/>
              </a:rPr>
              <a:t>Log in with your registered email (OTP or password).</a:t>
            </a:r>
          </a:p>
        </p:txBody>
      </p:sp>
      <p:sp>
        <p:nvSpPr>
          <p:cNvPr id="21" name="Rectangle 20"/>
          <p:cNvSpPr/>
          <p:nvPr/>
        </p:nvSpPr>
        <p:spPr>
          <a:xfrm>
            <a:off x="4846320" y="3072384"/>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46320" y="3072384"/>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120640" y="3282696"/>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3282696"/>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5" name="TextBox 24"/>
          <p:cNvSpPr txBox="1"/>
          <p:nvPr/>
        </p:nvSpPr>
        <p:spPr>
          <a:xfrm>
            <a:off x="5715000" y="3072384"/>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Download the courseware</a:t>
            </a:r>
          </a:p>
          <a:p>
            <a:pPr algn="l">
              <a:spcAft>
                <a:spcPts val="200"/>
              </a:spcAft>
            </a:pPr>
            <a:r>
              <a:rPr sz="1150" b="0">
                <a:solidFill>
                  <a:srgbClr val="5B6372"/>
                </a:solidFill>
                <a:latin typeface="Arial"/>
              </a:rPr>
              <a:t>Trainer slides, Learner Guide and lab artefacts.</a:t>
            </a:r>
          </a:p>
        </p:txBody>
      </p:sp>
      <p:sp>
        <p:nvSpPr>
          <p:cNvPr id="26" name="Rectangle 25"/>
          <p:cNvSpPr/>
          <p:nvPr/>
        </p:nvSpPr>
        <p:spPr>
          <a:xfrm>
            <a:off x="4846320" y="3995928"/>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46320" y="3995928"/>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20640" y="4206240"/>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0640" y="4206240"/>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30" name="TextBox 29"/>
          <p:cNvSpPr txBox="1"/>
          <p:nvPr/>
        </p:nvSpPr>
        <p:spPr>
          <a:xfrm>
            <a:off x="5715000" y="3995928"/>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Mark attendance</a:t>
            </a:r>
          </a:p>
          <a:p>
            <a:pPr algn="l">
              <a:spcAft>
                <a:spcPts val="200"/>
              </a:spcAft>
            </a:pPr>
            <a:r>
              <a:rPr sz="1150" b="0">
                <a:solidFill>
                  <a:srgbClr val="5B6372"/>
                </a:solidFill>
                <a:latin typeface="Arial"/>
              </a:rPr>
              <a:t>Sign in for each session — IBF-STS funding needs 75% attendance.</a:t>
            </a:r>
          </a:p>
        </p:txBody>
      </p:sp>
      <p:sp>
        <p:nvSpPr>
          <p:cNvPr id="31" name="Rectangle 30"/>
          <p:cNvSpPr/>
          <p:nvPr/>
        </p:nvSpPr>
        <p:spPr>
          <a:xfrm>
            <a:off x="4846320" y="4919472"/>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846320" y="4919472"/>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120640" y="5129784"/>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20640" y="5129784"/>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5715000" y="4919472"/>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Submit the assessment</a:t>
            </a:r>
          </a:p>
          <a:p>
            <a:pPr algn="l">
              <a:spcAft>
                <a:spcPts val="200"/>
              </a:spcAft>
            </a:pPr>
            <a:r>
              <a:rPr sz="1150" b="0">
                <a:solidFill>
                  <a:srgbClr val="5B6372"/>
                </a:solidFill>
                <a:latin typeface="Arial"/>
              </a:rPr>
              <a:t>Upload your WA answers and PP evidence here.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 Reminder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45 minutes · open book · 9 short-answer questions covering K1 - K9.</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75 minutes · open book · 4 tasks in Python with Alpaca paper trading, A1 - A10.</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Sign the assessment attendance record BEFORE you begin. Submit on the LMS.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CLOSING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Before You Leave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Make sure every session is signed — 75% is required for IBF-STS funding.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feedback</a:t>
            </a:r>
          </a:p>
          <a:p>
            <a:pPr algn="l">
              <a:spcAft>
                <a:spcPts val="300"/>
              </a:spcAft>
            </a:pPr>
            <a:r>
              <a:rPr sz="1300" b="0">
                <a:solidFill>
                  <a:srgbClr val="5B6372"/>
                </a:solidFill>
                <a:latin typeface="Arial"/>
              </a:rPr>
              <a:t>Complete the feedback form on the LMS.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Keep practising on paper</a:t>
            </a:r>
          </a:p>
          <a:p>
            <a:pPr algn="l">
              <a:spcAft>
                <a:spcPts val="300"/>
              </a:spcAft>
            </a:pPr>
            <a:r>
              <a:rPr sz="1300" b="0">
                <a:solidFill>
                  <a:srgbClr val="5B6372"/>
                </a:solidFill>
                <a:latin typeface="Arial"/>
              </a:rPr>
              <a:t>Your Alpaca paper account and lab code are yours to keep.</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Scenarios are fictitious; trade real money only with proper advice.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651760"/>
            <a:ext cx="12191695" cy="1097280"/>
          </a:xfrm>
          <a:prstGeom prst="rect">
            <a:avLst/>
          </a:prstGeom>
          <a:noFill/>
        </p:spPr>
        <p:txBody>
          <a:bodyPr wrap="square" anchor="t">
            <a:spAutoFit/>
          </a:bodyPr>
          <a:lstStyle/>
          <a:p>
            <a:pPr algn="ctr">
              <a:spcAft>
                <a:spcPts val="400"/>
              </a:spcAft>
            </a:pPr>
            <a:r>
              <a:rPr sz="5400" b="1">
                <a:solidFill>
                  <a:srgbClr val="161B26"/>
                </a:solidFill>
                <a:latin typeface="Arial"/>
              </a:rPr>
              <a:t>Thank You</a:t>
            </a:r>
          </a:p>
        </p:txBody>
      </p:sp>
      <p:sp>
        <p:nvSpPr>
          <p:cNvPr id="6" name="TextBox 5"/>
          <p:cNvSpPr txBox="1"/>
          <p:nvPr/>
        </p:nvSpPr>
        <p:spPr>
          <a:xfrm>
            <a:off x="0" y="3840480"/>
            <a:ext cx="12191695" cy="548640"/>
          </a:xfrm>
          <a:prstGeom prst="rect">
            <a:avLst/>
          </a:prstGeom>
          <a:noFill/>
        </p:spPr>
        <p:txBody>
          <a:bodyPr wrap="square" anchor="t">
            <a:spAutoFit/>
          </a:bodyPr>
          <a:lstStyle/>
          <a:p>
            <a:pPr algn="ctr">
              <a:spcAft>
                <a:spcPts val="400"/>
              </a:spcAft>
            </a:pPr>
            <a:r>
              <a:rPr sz="1600" b="0">
                <a:solidFill>
                  <a:srgbClr val="5B6372"/>
                </a:solidFill>
                <a:latin typeface="Arial"/>
              </a:rPr>
              <a:t>Machine Learning 101 for Financial Trading  ·  FSE-DAT-3019-1.1</a:t>
            </a:r>
          </a:p>
        </p:txBody>
      </p:sp>
      <p:sp>
        <p:nvSpPr>
          <p:cNvPr id="7" name="TextBox 6"/>
          <p:cNvSpPr txBox="1"/>
          <p:nvPr/>
        </p:nvSpPr>
        <p:spPr>
          <a:xfrm>
            <a:off x="0" y="4434840"/>
            <a:ext cx="12191695" cy="548640"/>
          </a:xfrm>
          <a:prstGeom prst="rect">
            <a:avLst/>
          </a:prstGeom>
          <a:noFill/>
        </p:spPr>
        <p:txBody>
          <a:bodyPr wrap="square" anchor="t">
            <a:spAutoFit/>
          </a:bodyPr>
          <a:lstStyle/>
          <a:p>
            <a:pPr algn="ctr">
              <a:spcAft>
                <a:spcPts val="400"/>
              </a:spcAft>
            </a:pPr>
            <a:r>
              <a:rPr sz="1300" b="0">
                <a:solidFill>
                  <a:srgbClr val="5B6372"/>
                </a:solidFill>
                <a:latin typeface="Arial"/>
              </a:rPr>
              <a:t>Tertiary Infotech Academy Pte Ltd  ·  UEN 201200696W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v2.0</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